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078992"/>
            <a:ext cx="1078992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6344E"/>
                </a:solidFill>
                <a:latin typeface="Microsoft YaHei"/>
              </a:rPr>
              <a:t>主配微电网分区解耦与潮流计算并行高效求解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4B5563"/>
                </a:solidFill>
                <a:latin typeface="Microsoft YaHei"/>
              </a:rPr>
              <a:t>阶段进展汇报 | API化封装、十万级异构算例、Soft-ADMM协同计算与接口交付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657600"/>
            <a:ext cx="2103120" cy="960120"/>
          </a:xfrm>
          <a:prstGeom prst="roundRect">
            <a:avLst>
              <a:gd name="adj" fmla="val 8000"/>
            </a:avLst>
          </a:prstGeom>
          <a:solidFill>
            <a:srgbClr val="EEF6FF"/>
          </a:solidFill>
          <a:ln>
            <a:solidFill>
              <a:srgbClr val="C2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2563EB"/>
                </a:solidFill>
                <a:latin typeface="Microsoft YaHei"/>
              </a:rPr>
              <a:t>100,500</a:t>
            </a:r>
          </a:p>
          <a:p>
            <a:pPr algn="ctr"/>
            <a:r>
              <a:rPr sz="1000">
                <a:solidFill>
                  <a:srgbClr val="4B5563"/>
                </a:solidFill>
                <a:latin typeface="Microsoft YaHei"/>
              </a:rPr>
              <a:t>总节点规模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54680" y="3657600"/>
            <a:ext cx="2103120" cy="960120"/>
          </a:xfrm>
          <a:prstGeom prst="roundRect">
            <a:avLst>
              <a:gd name="adj" fmla="val 8000"/>
            </a:avLst>
          </a:prstGeom>
          <a:solidFill>
            <a:srgbClr val="EEF6FF"/>
          </a:solidFill>
          <a:ln>
            <a:solidFill>
              <a:srgbClr val="C2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147E7A"/>
                </a:solidFill>
                <a:latin typeface="Microsoft YaHei"/>
              </a:rPr>
              <a:t>500</a:t>
            </a:r>
          </a:p>
          <a:p>
            <a:pPr algn="ctr"/>
            <a:r>
              <a:rPr sz="1000">
                <a:solidFill>
                  <a:srgbClr val="4B5563"/>
                </a:solidFill>
                <a:latin typeface="Microsoft YaHei"/>
              </a:rPr>
              <a:t>主配接口数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0" y="3657600"/>
            <a:ext cx="2103120" cy="960120"/>
          </a:xfrm>
          <a:prstGeom prst="roundRect">
            <a:avLst>
              <a:gd name="adj" fmla="val 8000"/>
            </a:avLst>
          </a:prstGeom>
          <a:solidFill>
            <a:srgbClr val="EEF6FF"/>
          </a:solidFill>
          <a:ln>
            <a:solidFill>
              <a:srgbClr val="C2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16A34A"/>
                </a:solidFill>
                <a:latin typeface="Microsoft YaHei"/>
              </a:rPr>
              <a:t>1,500</a:t>
            </a:r>
          </a:p>
          <a:p>
            <a:pPr algn="ctr"/>
            <a:r>
              <a:rPr sz="1000">
                <a:solidFill>
                  <a:srgbClr val="4B5563"/>
                </a:solidFill>
                <a:latin typeface="Microsoft YaHei"/>
              </a:rPr>
              <a:t>微网数量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3657600"/>
            <a:ext cx="2103120" cy="960120"/>
          </a:xfrm>
          <a:prstGeom prst="roundRect">
            <a:avLst>
              <a:gd name="adj" fmla="val 8000"/>
            </a:avLst>
          </a:prstGeom>
          <a:solidFill>
            <a:srgbClr val="EEF6FF"/>
          </a:solidFill>
          <a:ln>
            <a:solidFill>
              <a:srgbClr val="C2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D97706"/>
                </a:solidFill>
                <a:latin typeface="Microsoft YaHei"/>
              </a:rPr>
              <a:t>15轮</a:t>
            </a:r>
          </a:p>
          <a:p>
            <a:pPr algn="ctr"/>
            <a:r>
              <a:rPr sz="1000">
                <a:solidFill>
                  <a:srgbClr val="4B5563"/>
                </a:solidFill>
                <a:latin typeface="Microsoft YaHei"/>
              </a:rPr>
              <a:t>Soft模式收敛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016752"/>
            <a:ext cx="10515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B5563"/>
                </a:solidFill>
                <a:latin typeface="Microsoft YaHei"/>
              </a:rPr>
              <a:t>汇报依据：reference/周报阶段材料 + 当前API联调与收敛测试结果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6510528"/>
            <a:ext cx="11155680" cy="9144"/>
          </a:xfrm>
          <a:prstGeom prst="rect">
            <a:avLst/>
          </a:prstGeom>
          <a:solidFill>
            <a:srgbClr val="DAE1E9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47104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4B5563"/>
                </a:solidFill>
                <a:latin typeface="Microsoft YaHei"/>
              </a:rPr>
              <a:t>课题1 | 主配微电网分区解耦与并行潮流计算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547104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4B5563"/>
                </a:solidFill>
                <a:latin typeface="Microsoft YaHe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01752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6344E"/>
                </a:solidFill>
                <a:latin typeface="Microsoft YaHei"/>
              </a:rPr>
              <a:t>一、阶段总体进展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868680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4B5563"/>
                </a:solidFill>
                <a:latin typeface="Microsoft YaHei"/>
              </a:rPr>
              <a:t>围绕周报中“接口封装、分区并行、长时序压测、跨模块联调”的连续工作，当前已形成可运行API服务与标准返回契约。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34440"/>
            <a:ext cx="3611880" cy="452628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34440"/>
            <a:ext cx="73152" cy="452628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380744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6344E"/>
                </a:solidFill>
                <a:latin typeface="Microsoft YaHei"/>
              </a:rPr>
              <a:t>研发主线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1801368"/>
            <a:ext cx="3227832" cy="3867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111827"/>
                </a:solidFill>
                <a:latin typeface="Microsoft YaHei"/>
              </a:defRPr>
            </a:pPr>
            <a:r>
              <a:t>主网-配网-微网三层异构模型接入与统一调度</a:t>
            </a:r>
          </a:p>
          <a:p>
            <a:pPr>
              <a:spcAft>
                <a:spcPts val="400"/>
              </a:spcAft>
              <a:defRPr sz="1150">
                <a:solidFill>
                  <a:srgbClr val="111827"/>
                </a:solidFill>
                <a:latin typeface="Microsoft YaHei"/>
              </a:defRPr>
            </a:pPr>
            <a:r>
              <a:t>OpenDSS 与 pandapower 仿真引擎的数据交互封装</a:t>
            </a:r>
          </a:p>
          <a:p>
            <a:pPr>
              <a:spcAft>
                <a:spcPts val="400"/>
              </a:spcAft>
              <a:defRPr sz="1150">
                <a:solidFill>
                  <a:srgbClr val="111827"/>
                </a:solidFill>
                <a:latin typeface="Microsoft YaHei"/>
              </a:defRPr>
            </a:pPr>
            <a:r>
              <a:t>分区解耦 + ADMM 边界协调 + 并行潮流求解</a:t>
            </a:r>
          </a:p>
          <a:p>
            <a:pPr>
              <a:spcAft>
                <a:spcPts val="400"/>
              </a:spcAft>
              <a:defRPr sz="1150">
                <a:solidFill>
                  <a:srgbClr val="111827"/>
                </a:solidFill>
                <a:latin typeface="Microsoft YaHei"/>
              </a:defRPr>
            </a:pPr>
            <a:r>
              <a:t>面向软件集成的 HTTP API 与输入输出契约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234440"/>
            <a:ext cx="3611880" cy="452628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234440"/>
            <a:ext cx="73152" cy="4526280"/>
          </a:xfrm>
          <a:prstGeom prst="rect">
            <a:avLst/>
          </a:prstGeom>
          <a:solidFill>
            <a:srgbClr val="147E7A"/>
          </a:solidFill>
          <a:ln>
            <a:solidFill>
              <a:srgbClr val="14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380744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6344E"/>
                </a:solidFill>
                <a:latin typeface="Microsoft YaHei"/>
              </a:rPr>
              <a:t>当前状态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2856" y="1801368"/>
            <a:ext cx="3227832" cy="3867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111827"/>
                </a:solidFill>
                <a:latin typeface="Microsoft YaHei"/>
              </a:defRPr>
            </a:pPr>
            <a:r>
              <a:t>已完成十万级主配微测试算例组织：T+D+MG 共 100,500 节点</a:t>
            </a:r>
          </a:p>
          <a:p>
            <a:pPr>
              <a:spcAft>
                <a:spcPts val="400"/>
              </a:spcAft>
              <a:defRPr sz="1150">
                <a:solidFill>
                  <a:srgbClr val="111827"/>
                </a:solidFill>
                <a:latin typeface="Microsoft YaHei"/>
              </a:defRPr>
            </a:pPr>
            <a:r>
              <a:t>已完成 soft 边界模式与 notebook 入口参数对齐</a:t>
            </a:r>
          </a:p>
          <a:p>
            <a:pPr>
              <a:spcAft>
                <a:spcPts val="400"/>
              </a:spcAft>
              <a:defRPr sz="1150">
                <a:solidFill>
                  <a:srgbClr val="111827"/>
                </a:solidFill>
                <a:latin typeface="Microsoft YaHei"/>
              </a:defRPr>
            </a:pPr>
            <a:r>
              <a:t>API 已支持 normalize/run/health/contract 四类调用</a:t>
            </a:r>
          </a:p>
          <a:p>
            <a:pPr>
              <a:spcAft>
                <a:spcPts val="400"/>
              </a:spcAft>
              <a:defRPr sz="1150">
                <a:solidFill>
                  <a:srgbClr val="111827"/>
                </a:solidFill>
                <a:latin typeface="Microsoft YaHei"/>
              </a:defRPr>
            </a:pPr>
            <a:r>
              <a:t>对外返回已去除本机路径，仅保留业务结果与收敛摘要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234440"/>
            <a:ext cx="3520440" cy="452628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234440"/>
            <a:ext cx="73152" cy="452628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8" y="1380744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6344E"/>
                </a:solidFill>
                <a:latin typeface="Microsoft YaHei"/>
              </a:rPr>
              <a:t>阶段成效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7616" y="1801368"/>
            <a:ext cx="3136392" cy="3867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111827"/>
                </a:solidFill>
                <a:latin typeface="Microsoft YaHei"/>
              </a:defRPr>
            </a:pPr>
            <a:r>
              <a:t>Soft-ADMM 模式 15 次外层迭代达到收敛阈值</a:t>
            </a:r>
          </a:p>
          <a:p>
            <a:pPr>
              <a:spcAft>
                <a:spcPts val="400"/>
              </a:spcAft>
              <a:defRPr sz="1150">
                <a:solidFill>
                  <a:srgbClr val="111827"/>
                </a:solidFill>
                <a:latin typeface="Microsoft YaHei"/>
              </a:defRPr>
            </a:pPr>
            <a:r>
              <a:t>结果字段按 500 个主配接口完整返回</a:t>
            </a:r>
          </a:p>
          <a:p>
            <a:pPr>
              <a:spcAft>
                <a:spcPts val="400"/>
              </a:spcAft>
              <a:defRPr sz="1150">
                <a:solidFill>
                  <a:srgbClr val="111827"/>
                </a:solidFill>
                <a:latin typeface="Microsoft YaHei"/>
              </a:defRPr>
            </a:pPr>
            <a:r>
              <a:t>运行数据统一归集至 data/，参考材料归集至 reference/</a:t>
            </a:r>
          </a:p>
          <a:p>
            <a:pPr>
              <a:spcAft>
                <a:spcPts val="400"/>
              </a:spcAft>
              <a:defRPr sz="1150">
                <a:solidFill>
                  <a:srgbClr val="111827"/>
                </a:solidFill>
                <a:latin typeface="Microsoft YaHei"/>
              </a:defRPr>
            </a:pPr>
            <a:r>
              <a:t>具备向动态安全分析、多尺度优化等模块提供断面算力支撑的基础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510528"/>
            <a:ext cx="11155680" cy="9144"/>
          </a:xfrm>
          <a:prstGeom prst="rect">
            <a:avLst/>
          </a:prstGeom>
          <a:solidFill>
            <a:srgbClr val="DAE1E9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6547104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4B5563"/>
                </a:solidFill>
                <a:latin typeface="Microsoft YaHei"/>
              </a:rPr>
              <a:t>课题1 | 主配微电网分区解耦与并行潮流计算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547104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4B5563"/>
                </a:solidFill>
                <a:latin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01752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6344E"/>
                </a:solidFill>
                <a:latin typeface="Microsoft YaHei"/>
              </a:rPr>
              <a:t>二、已完成工作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868680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4B5563"/>
                </a:solidFill>
                <a:latin typeface="Microsoft YaHei"/>
              </a:rPr>
              <a:t>结合周报阶段记录与本次API化联调，已完成工作可归纳为模型、算法、软件、验证四类。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34440"/>
            <a:ext cx="1965960" cy="621792"/>
          </a:xfrm>
          <a:prstGeom prst="rect">
            <a:avLst/>
          </a:prstGeom>
          <a:solidFill>
            <a:srgbClr val="16344E"/>
          </a:solidFill>
          <a:ln>
            <a:solidFill>
              <a:srgbClr val="1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3500" rIns="63500" tIns="38100" bIns="38100"/>
          <a:lstStyle/>
          <a:p>
            <a:pPr algn="ctr"/>
            <a:r>
              <a:rPr sz="1019" b="1">
                <a:solidFill>
                  <a:srgbClr val="FFFFFF"/>
                </a:solidFill>
                <a:latin typeface="Microsoft YaHei"/>
              </a:rPr>
              <a:t>类别</a:t>
            </a:r>
          </a:p>
        </p:txBody>
      </p:sp>
      <p:sp>
        <p:nvSpPr>
          <p:cNvPr id="7" name="Rectangle 6"/>
          <p:cNvSpPr/>
          <p:nvPr/>
        </p:nvSpPr>
        <p:spPr>
          <a:xfrm>
            <a:off x="2532888" y="1234440"/>
            <a:ext cx="9006840" cy="621792"/>
          </a:xfrm>
          <a:prstGeom prst="rect">
            <a:avLst/>
          </a:prstGeom>
          <a:solidFill>
            <a:srgbClr val="16344E"/>
          </a:solidFill>
          <a:ln>
            <a:solidFill>
              <a:srgbClr val="1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3500" rIns="63500" tIns="38100" bIns="38100"/>
          <a:lstStyle/>
          <a:p>
            <a:pPr algn="ctr"/>
            <a:r>
              <a:rPr sz="1019" b="1">
                <a:solidFill>
                  <a:srgbClr val="FFFFFF"/>
                </a:solidFill>
                <a:latin typeface="Microsoft YaHei"/>
              </a:rPr>
              <a:t>已完成内容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856232"/>
            <a:ext cx="1965960" cy="62179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019">
                <a:solidFill>
                  <a:srgbClr val="111827"/>
                </a:solidFill>
                <a:latin typeface="Microsoft YaHei"/>
              </a:rPr>
              <a:t>模型与数据</a:t>
            </a:r>
          </a:p>
        </p:txBody>
      </p:sp>
      <p:sp>
        <p:nvSpPr>
          <p:cNvPr id="9" name="Rectangle 8"/>
          <p:cNvSpPr/>
          <p:nvPr/>
        </p:nvSpPr>
        <p:spPr>
          <a:xfrm>
            <a:off x="2532888" y="1856232"/>
            <a:ext cx="9006840" cy="62179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019">
                <a:solidFill>
                  <a:srgbClr val="111827"/>
                </a:solidFill>
                <a:latin typeface="Microsoft YaHei"/>
              </a:rPr>
              <a:t>完成 ACTIVSg25k 主网、IEEE13 配网、46节点微网模板接入；构建 500 个配网、1500 个微网的主配微测试数据集。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478024"/>
            <a:ext cx="1965960" cy="62179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019">
                <a:solidFill>
                  <a:srgbClr val="111827"/>
                </a:solidFill>
                <a:latin typeface="Microsoft YaHei"/>
              </a:rPr>
              <a:t>算法主流程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32888" y="2478024"/>
            <a:ext cx="9006840" cy="62179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019">
                <a:solidFill>
                  <a:srgbClr val="111827"/>
                </a:solidFill>
                <a:latin typeface="Microsoft YaHei"/>
              </a:rPr>
              <a:t>完成主配微协同外环迭代、主网分区解耦、soft 边界 ADMM 协调、动态松弛系数 alpha/beta 更新。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3099816"/>
            <a:ext cx="1965960" cy="62179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019">
                <a:solidFill>
                  <a:srgbClr val="111827"/>
                </a:solidFill>
                <a:latin typeface="Microsoft YaHei"/>
              </a:rPr>
              <a:t>并行计算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32888" y="3099816"/>
            <a:ext cx="9006840" cy="62179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019">
                <a:solidFill>
                  <a:srgbClr val="111827"/>
                </a:solidFill>
                <a:latin typeface="Microsoft YaHei"/>
              </a:rPr>
              <a:t>完成主网分区子问题、配网 OpenDSS、微网 pandapower 的多进程调度，支撑高并发潮流计算。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3721608"/>
            <a:ext cx="1965960" cy="62179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019">
                <a:solidFill>
                  <a:srgbClr val="111827"/>
                </a:solidFill>
                <a:latin typeface="Microsoft YaHei"/>
              </a:rPr>
              <a:t>API封装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32888" y="3721608"/>
            <a:ext cx="9006840" cy="62179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019">
                <a:solidFill>
                  <a:srgbClr val="111827"/>
                </a:solidFill>
                <a:latin typeface="Microsoft YaHei"/>
              </a:rPr>
              <a:t>完成 Python 服务层、HTTP接口、请求归一化、外部响应简化；解决跨模块数据字段不对齐与超时问题。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4343400"/>
            <a:ext cx="1965960" cy="62179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019">
                <a:solidFill>
                  <a:srgbClr val="111827"/>
                </a:solidFill>
                <a:latin typeface="Microsoft YaHei"/>
              </a:rPr>
              <a:t>长时序与内存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32888" y="4343400"/>
            <a:ext cx="9006840" cy="62179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019">
                <a:solidFill>
                  <a:srgbClr val="111827"/>
                </a:solidFill>
                <a:latin typeface="Microsoft YaHei"/>
              </a:rPr>
              <a:t>周报阶段完成24小时/72小时压测、内存复用与对象生命周期管理；本次进一步整理运行数据目录。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4965192"/>
            <a:ext cx="1965960" cy="62179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019">
                <a:solidFill>
                  <a:srgbClr val="111827"/>
                </a:solidFill>
                <a:latin typeface="Microsoft YaHei"/>
              </a:rPr>
              <a:t>交付可用性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32888" y="4965192"/>
            <a:ext cx="9006840" cy="62179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019">
                <a:solidFill>
                  <a:srgbClr val="111827"/>
                </a:solidFill>
                <a:latin typeface="Microsoft YaHei"/>
              </a:rPr>
              <a:t>完成返回路径脱敏、收敛状态显式化、接口契约文档化，便于电网公司或上层模块直接调用。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6510528"/>
            <a:ext cx="11155680" cy="9144"/>
          </a:xfrm>
          <a:prstGeom prst="rect">
            <a:avLst/>
          </a:prstGeom>
          <a:solidFill>
            <a:srgbClr val="DAE1E9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6547104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4B5563"/>
                </a:solidFill>
                <a:latin typeface="Microsoft YaHei"/>
              </a:rPr>
              <a:t>课题1 | 主配微电网分区解耦与并行潮流计算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547104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4B5563"/>
                </a:solidFill>
                <a:latin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01752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6344E"/>
                </a:solidFill>
                <a:latin typeface="Microsoft YaHei"/>
              </a:rPr>
              <a:t>三、技术路线与运行流程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868680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4B5563"/>
                </a:solidFill>
                <a:latin typeface="Microsoft YaHei"/>
              </a:rPr>
              <a:t>形成“数据合成-主网求解-配网求解-微网响应-边界更新-收敛判定”的闭环流程。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34440"/>
            <a:ext cx="3429000" cy="1078992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234440"/>
            <a:ext cx="73152" cy="107899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380744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6344E"/>
                </a:solidFill>
                <a:latin typeface="Microsoft YaHei"/>
              </a:rPr>
              <a:t>1 数据合成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1801368"/>
            <a:ext cx="304495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60">
                <a:solidFill>
                  <a:srgbClr val="111827"/>
                </a:solidFill>
                <a:latin typeface="Microsoft YaHei"/>
              </a:defRPr>
            </a:pPr>
            <a:r>
              <a:t>读取主网/配网/微网模板，生成 T-D-MG 连接关系与缓存索引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234440"/>
            <a:ext cx="3429000" cy="1078992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234440"/>
            <a:ext cx="73152" cy="1078992"/>
          </a:xfrm>
          <a:prstGeom prst="rect">
            <a:avLst/>
          </a:prstGeom>
          <a:solidFill>
            <a:srgbClr val="147E7A"/>
          </a:solidFill>
          <a:ln>
            <a:solidFill>
              <a:srgbClr val="14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380744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6344E"/>
                </a:solidFill>
                <a:latin typeface="Microsoft YaHei"/>
              </a:rPr>
              <a:t>2 主网分区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2856" y="1801368"/>
            <a:ext cx="304495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60">
                <a:solidFill>
                  <a:srgbClr val="111827"/>
                </a:solidFill>
                <a:latin typeface="Microsoft YaHei"/>
              </a:defRPr>
            </a:pPr>
            <a:r>
              <a:t>对主网进行 4 区划分，soft 边界下执行 ADMM 协调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234440"/>
            <a:ext cx="3429000" cy="1078992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234440"/>
            <a:ext cx="73152" cy="1078992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1380744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6344E"/>
                </a:solidFill>
                <a:latin typeface="Microsoft YaHei"/>
              </a:rPr>
              <a:t>3 配网潮流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1896" y="1801368"/>
            <a:ext cx="304495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60">
                <a:solidFill>
                  <a:srgbClr val="111827"/>
                </a:solidFill>
                <a:latin typeface="Microsoft YaHei"/>
              </a:defRPr>
            </a:pPr>
            <a:r>
              <a:t>500个配网读取主网边界电压，OpenDSS并行求解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2642616"/>
            <a:ext cx="3429000" cy="1078992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4360" y="2642616"/>
            <a:ext cx="73152" cy="1078992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" y="2788920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6344E"/>
                </a:solidFill>
                <a:latin typeface="Microsoft YaHei"/>
              </a:rPr>
              <a:t>4 微网响应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" y="3209544"/>
            <a:ext cx="304495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60">
                <a:solidFill>
                  <a:srgbClr val="111827"/>
                </a:solidFill>
                <a:latin typeface="Microsoft YaHei"/>
              </a:defRPr>
            </a:pPr>
            <a:r>
              <a:t>1500个微网根据PCC电压计算聚合有功/无功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2642616"/>
            <a:ext cx="3429000" cy="1078992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43400" y="2642616"/>
            <a:ext cx="73152" cy="107899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44568" y="2788920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6344E"/>
                </a:solidFill>
                <a:latin typeface="Microsoft YaHei"/>
              </a:rPr>
              <a:t>5 边界更新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2856" y="3209544"/>
            <a:ext cx="304495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60">
                <a:solidFill>
                  <a:srgbClr val="111827"/>
                </a:solidFill>
                <a:latin typeface="Microsoft YaHei"/>
              </a:defRPr>
            </a:pPr>
            <a:r>
              <a:t>按alpha/beta松弛更新 MG 出力与 T-D 边界功率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2642616"/>
            <a:ext cx="3429000" cy="1078992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92440" y="2642616"/>
            <a:ext cx="73152" cy="1078992"/>
          </a:xfrm>
          <a:prstGeom prst="rect">
            <a:avLst/>
          </a:prstGeom>
          <a:solidFill>
            <a:srgbClr val="147E7A"/>
          </a:solidFill>
          <a:ln>
            <a:solidFill>
              <a:srgbClr val="14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93608" y="2788920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6344E"/>
                </a:solidFill>
                <a:latin typeface="Microsoft YaHei"/>
              </a:rPr>
              <a:t>6 收敛输出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11896" y="3209544"/>
            <a:ext cx="304495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60">
                <a:solidFill>
                  <a:srgbClr val="111827"/>
                </a:solidFill>
                <a:latin typeface="Microsoft YaHei"/>
              </a:defRPr>
            </a:pPr>
            <a:r>
              <a:t>满足功率残差与电压变化阈值后返回标准JSON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4434840"/>
            <a:ext cx="10972800" cy="111556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4360" y="4434840"/>
            <a:ext cx="73152" cy="1115568"/>
          </a:xfrm>
          <a:prstGeom prst="rect">
            <a:avLst/>
          </a:prstGeom>
          <a:solidFill>
            <a:srgbClr val="16344E"/>
          </a:solidFill>
          <a:ln>
            <a:solidFill>
              <a:srgbClr val="1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5528" y="4581144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6344E"/>
                </a:solidFill>
                <a:latin typeface="Microsoft YaHei"/>
              </a:rPr>
              <a:t>关键参数与当前配置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" y="5001768"/>
            <a:ext cx="10588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19">
                <a:solidFill>
                  <a:srgbClr val="111827"/>
                </a:solidFill>
                <a:latin typeface="Microsoft YaHei"/>
              </a:defRPr>
            </a:pPr>
            <a:r>
              <a:t>t_solver=partitioned；t_partition_mode=soft；t_n_parts=4；t_use_monolithic_warm_start=True；t_admm_max_iter=8；alpha=0.6；beta=0.6；max_iter=50。</a:t>
            </a:r>
          </a:p>
          <a:p>
            <a:pPr>
              <a:spcAft>
                <a:spcPts val="400"/>
              </a:spcAft>
              <a:defRPr sz="1019">
                <a:solidFill>
                  <a:srgbClr val="111827"/>
                </a:solidFill>
                <a:latin typeface="Microsoft YaHei"/>
              </a:defRPr>
            </a:pPr>
            <a:r>
              <a:t>本配置已与 reference/power_flow_fixed.ipynb 当前入口保持一致，API客户端默认即使用该配置。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6510528"/>
            <a:ext cx="11155680" cy="9144"/>
          </a:xfrm>
          <a:prstGeom prst="rect">
            <a:avLst/>
          </a:prstGeom>
          <a:solidFill>
            <a:srgbClr val="DAE1E9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6547104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4B5563"/>
                </a:solidFill>
                <a:latin typeface="Microsoft YaHei"/>
              </a:rPr>
              <a:t>课题1 | 主配微电网分区解耦与并行潮流计算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64240" y="6547104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4B5563"/>
                </a:solidFill>
                <a:latin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01752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6344E"/>
                </a:solidFill>
                <a:latin typeface="Microsoft YaHei"/>
              </a:rPr>
              <a:t>四、API输入与输出格式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868680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4B5563"/>
                </a:solidFill>
                <a:latin typeface="Microsoft YaHei"/>
              </a:rPr>
              <a:t>本页单独明确对外调用契约：输入为紧凑JSON，输出为收敛摘要 + 500个接口点完整结果。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097280"/>
            <a:ext cx="2926080" cy="310896"/>
          </a:xfrm>
          <a:prstGeom prst="roundRect">
            <a:avLst>
              <a:gd name="adj" fmla="val 15000"/>
            </a:avLst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输入 JSON（POST /api/v1/gmss/run）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463040"/>
            <a:ext cx="2240280" cy="310896"/>
          </a:xfrm>
          <a:prstGeom prst="rect">
            <a:avLst/>
          </a:prstGeom>
          <a:solidFill>
            <a:srgbClr val="16344E"/>
          </a:solidFill>
          <a:ln>
            <a:solidFill>
              <a:srgbClr val="1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3500" rIns="63500" tIns="38100" bIns="38100"/>
          <a:lstStyle/>
          <a:p>
            <a:pPr algn="ctr"/>
            <a:r>
              <a:rPr sz="740" b="1">
                <a:solidFill>
                  <a:srgbClr val="FFFFFF"/>
                </a:solidFill>
                <a:latin typeface="Microsoft YaHei"/>
              </a:rPr>
              <a:t>字段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40" y="1463040"/>
            <a:ext cx="2834640" cy="310896"/>
          </a:xfrm>
          <a:prstGeom prst="rect">
            <a:avLst/>
          </a:prstGeom>
          <a:solidFill>
            <a:srgbClr val="16344E"/>
          </a:solidFill>
          <a:ln>
            <a:solidFill>
              <a:srgbClr val="1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3500" rIns="63500" tIns="38100" bIns="38100"/>
          <a:lstStyle/>
          <a:p>
            <a:pPr algn="ctr"/>
            <a:r>
              <a:rPr sz="740" b="1">
                <a:solidFill>
                  <a:srgbClr val="FFFFFF"/>
                </a:solidFill>
                <a:latin typeface="Microsoft YaHei"/>
              </a:rPr>
              <a:t>含义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0" y="1463040"/>
            <a:ext cx="1371600" cy="310896"/>
          </a:xfrm>
          <a:prstGeom prst="rect">
            <a:avLst/>
          </a:prstGeom>
          <a:solidFill>
            <a:srgbClr val="16344E"/>
          </a:solidFill>
          <a:ln>
            <a:solidFill>
              <a:srgbClr val="1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3500" rIns="63500" tIns="38100" bIns="38100"/>
          <a:lstStyle/>
          <a:p>
            <a:pPr algn="ctr"/>
            <a:r>
              <a:rPr sz="740" b="1">
                <a:solidFill>
                  <a:srgbClr val="FFFFFF"/>
                </a:solidFill>
                <a:latin typeface="Microsoft YaHei"/>
              </a:rPr>
              <a:t>当前值/类型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773936"/>
            <a:ext cx="2240280" cy="310896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740">
                <a:solidFill>
                  <a:srgbClr val="111827"/>
                </a:solidFill>
                <a:latin typeface="Microsoft YaHei"/>
              </a:rPr>
              <a:t>task_id/model_id/scenario_id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34640" y="1773936"/>
            <a:ext cx="2834640" cy="310896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740">
                <a:solidFill>
                  <a:srgbClr val="111827"/>
                </a:solidFill>
                <a:latin typeface="Microsoft YaHei"/>
              </a:rPr>
              <a:t>任务、模型、场景标识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0" y="1773936"/>
            <a:ext cx="1371600" cy="310896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740">
                <a:solidFill>
                  <a:srgbClr val="111827"/>
                </a:solidFill>
                <a:latin typeface="Microsoft YaHei"/>
              </a:rPr>
              <a:t>字符串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084832"/>
            <a:ext cx="2240280" cy="310896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740">
                <a:solidFill>
                  <a:srgbClr val="111827"/>
                </a:solidFill>
                <a:latin typeface="Microsoft YaHei"/>
              </a:rPr>
              <a:t>t_case_file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34640" y="2084832"/>
            <a:ext cx="2834640" cy="310896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740">
                <a:solidFill>
                  <a:srgbClr val="111827"/>
                </a:solidFill>
                <a:latin typeface="Microsoft YaHei"/>
              </a:rPr>
              <a:t>主网 MATPOWER 文件名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0" y="2084832"/>
            <a:ext cx="13716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740">
                <a:solidFill>
                  <a:srgbClr val="111827"/>
                </a:solidFill>
                <a:latin typeface="Microsoft YaHei"/>
              </a:rPr>
              <a:t>case_ACTIVSg25k.m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2395728"/>
            <a:ext cx="2240280" cy="310896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740">
                <a:solidFill>
                  <a:srgbClr val="111827"/>
                </a:solidFill>
                <a:latin typeface="Microsoft YaHei"/>
              </a:rPr>
              <a:t>nD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34640" y="2395728"/>
            <a:ext cx="2834640" cy="310896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740">
                <a:solidFill>
                  <a:srgbClr val="111827"/>
                </a:solidFill>
                <a:latin typeface="Microsoft YaHei"/>
              </a:rPr>
              <a:t>配网数量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0" y="2395728"/>
            <a:ext cx="1371600" cy="310896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740">
                <a:solidFill>
                  <a:srgbClr val="111827"/>
                </a:solidFill>
                <a:latin typeface="Microsoft YaHei"/>
              </a:rPr>
              <a:t>500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2706624"/>
            <a:ext cx="2240280" cy="310896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740">
                <a:solidFill>
                  <a:srgbClr val="111827"/>
                </a:solidFill>
                <a:latin typeface="Microsoft YaHei"/>
              </a:rPr>
              <a:t>mg_per_D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34640" y="2706624"/>
            <a:ext cx="2834640" cy="310896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740">
                <a:solidFill>
                  <a:srgbClr val="111827"/>
                </a:solidFill>
                <a:latin typeface="Microsoft YaHei"/>
              </a:rPr>
              <a:t>每个配网挂接微网数量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0" y="2706624"/>
            <a:ext cx="13716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740">
                <a:solidFill>
                  <a:srgbClr val="111827"/>
                </a:solidFill>
                <a:latin typeface="Microsoft YaHei"/>
              </a:rPr>
              <a:t>3 或 list[int]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3017520"/>
            <a:ext cx="2240280" cy="310896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740">
                <a:solidFill>
                  <a:srgbClr val="111827"/>
                </a:solidFill>
                <a:latin typeface="Microsoft YaHei"/>
              </a:rPr>
              <a:t>mg_bus_count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34640" y="3017520"/>
            <a:ext cx="2834640" cy="310896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740">
                <a:solidFill>
                  <a:srgbClr val="111827"/>
                </a:solidFill>
                <a:latin typeface="Microsoft YaHei"/>
              </a:rPr>
              <a:t>微网节点数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0" y="3017520"/>
            <a:ext cx="1371600" cy="310896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740">
                <a:solidFill>
                  <a:srgbClr val="111827"/>
                </a:solidFill>
                <a:latin typeface="Microsoft YaHei"/>
              </a:rPr>
              <a:t>46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3328416"/>
            <a:ext cx="2240280" cy="310896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740">
                <a:solidFill>
                  <a:srgbClr val="111827"/>
                </a:solidFill>
                <a:latin typeface="Microsoft YaHei"/>
              </a:rPr>
              <a:t>target_total_nodes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34640" y="3328416"/>
            <a:ext cx="2834640" cy="310896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740">
                <a:solidFill>
                  <a:srgbClr val="111827"/>
                </a:solidFill>
                <a:latin typeface="Microsoft YaHei"/>
              </a:rPr>
              <a:t>目标总节点规模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0" y="3328416"/>
            <a:ext cx="13716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740">
                <a:solidFill>
                  <a:srgbClr val="111827"/>
                </a:solidFill>
                <a:latin typeface="Microsoft YaHei"/>
              </a:rPr>
              <a:t>100000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3639312"/>
            <a:ext cx="2240280" cy="310896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740">
                <a:solidFill>
                  <a:srgbClr val="111827"/>
                </a:solidFill>
                <a:latin typeface="Microsoft YaHei"/>
              </a:rPr>
              <a:t>n_parts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34640" y="3639312"/>
            <a:ext cx="2834640" cy="310896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740">
                <a:solidFill>
                  <a:srgbClr val="111827"/>
                </a:solidFill>
                <a:latin typeface="Microsoft YaHei"/>
              </a:rPr>
              <a:t>主网分区数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0" y="3639312"/>
            <a:ext cx="1371600" cy="310896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740">
                <a:solidFill>
                  <a:srgbClr val="111827"/>
                </a:solidFill>
                <a:latin typeface="Microsoft YaHei"/>
              </a:rPr>
              <a:t>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3950208"/>
            <a:ext cx="2240280" cy="310896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740">
                <a:solidFill>
                  <a:srgbClr val="111827"/>
                </a:solidFill>
                <a:latin typeface="Microsoft YaHei"/>
              </a:rPr>
              <a:t>t_partition_mode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34640" y="3950208"/>
            <a:ext cx="2834640" cy="310896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740">
                <a:solidFill>
                  <a:srgbClr val="111827"/>
                </a:solidFill>
                <a:latin typeface="Microsoft YaHei"/>
              </a:rPr>
              <a:t>边界协调模式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0" y="3950208"/>
            <a:ext cx="13716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740">
                <a:solidFill>
                  <a:srgbClr val="111827"/>
                </a:solidFill>
                <a:latin typeface="Microsoft YaHei"/>
              </a:rPr>
              <a:t>soft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" y="4261104"/>
            <a:ext cx="2240280" cy="310896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740">
                <a:solidFill>
                  <a:srgbClr val="111827"/>
                </a:solidFill>
                <a:latin typeface="Microsoft YaHei"/>
              </a:rPr>
              <a:t>t_use_monolithic_warm_start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834640" y="4261104"/>
            <a:ext cx="2834640" cy="310896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740">
                <a:solidFill>
                  <a:srgbClr val="111827"/>
                </a:solidFill>
                <a:latin typeface="Microsoft YaHei"/>
              </a:rPr>
              <a:t>主网整体潮流预热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0" y="4261104"/>
            <a:ext cx="1371600" cy="310896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740">
                <a:solidFill>
                  <a:srgbClr val="111827"/>
                </a:solidFill>
                <a:latin typeface="Microsoft YaHei"/>
              </a:rPr>
              <a:t>true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" y="4572000"/>
            <a:ext cx="2240280" cy="310896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740">
                <a:solidFill>
                  <a:srgbClr val="111827"/>
                </a:solidFill>
                <a:latin typeface="Microsoft YaHei"/>
              </a:rPr>
              <a:t>t_admm_max_iter/tol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834640" y="4572000"/>
            <a:ext cx="2834640" cy="310896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740">
                <a:solidFill>
                  <a:srgbClr val="111827"/>
                </a:solidFill>
                <a:latin typeface="Microsoft YaHei"/>
              </a:rPr>
              <a:t>ADMM迭代与容差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0" y="4572000"/>
            <a:ext cx="13716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740">
                <a:solidFill>
                  <a:srgbClr val="111827"/>
                </a:solidFill>
                <a:latin typeface="Microsoft YaHei"/>
              </a:rPr>
              <a:t>8 / 0.002 / 0.2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4360" y="4882896"/>
            <a:ext cx="2240280" cy="310896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740">
                <a:solidFill>
                  <a:srgbClr val="111827"/>
                </a:solidFill>
                <a:latin typeface="Microsoft YaHei"/>
              </a:rPr>
              <a:t>alpha/beta/max_iter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834640" y="4882896"/>
            <a:ext cx="2834640" cy="310896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740">
                <a:solidFill>
                  <a:srgbClr val="111827"/>
                </a:solidFill>
                <a:latin typeface="Microsoft YaHei"/>
              </a:rPr>
              <a:t>外环松弛与最大迭代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0" y="4882896"/>
            <a:ext cx="1371600" cy="310896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740">
                <a:solidFill>
                  <a:srgbClr val="111827"/>
                </a:solidFill>
                <a:latin typeface="Microsoft YaHei"/>
              </a:rPr>
              <a:t>0.6 / 0.6 / 50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269480" y="1097280"/>
            <a:ext cx="1325880" cy="310896"/>
          </a:xfrm>
          <a:prstGeom prst="roundRect">
            <a:avLst>
              <a:gd name="adj" fmla="val 15000"/>
            </a:avLst>
          </a:prstGeom>
          <a:solidFill>
            <a:srgbClr val="147E7A"/>
          </a:solidFill>
          <a:ln>
            <a:solidFill>
              <a:srgbClr val="14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输出 JSON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269480" y="1463040"/>
            <a:ext cx="2514600" cy="356616"/>
          </a:xfrm>
          <a:prstGeom prst="rect">
            <a:avLst/>
          </a:prstGeom>
          <a:solidFill>
            <a:srgbClr val="16344E"/>
          </a:solidFill>
          <a:ln>
            <a:solidFill>
              <a:srgbClr val="1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3500" rIns="63500" tIns="38100" bIns="38100"/>
          <a:lstStyle/>
          <a:p>
            <a:pPr algn="ctr"/>
            <a:r>
              <a:rPr sz="760" b="1">
                <a:solidFill>
                  <a:srgbClr val="FFFFFF"/>
                </a:solidFill>
                <a:latin typeface="Microsoft YaHei"/>
              </a:rPr>
              <a:t>字段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784080" y="1463040"/>
            <a:ext cx="1828800" cy="356616"/>
          </a:xfrm>
          <a:prstGeom prst="rect">
            <a:avLst/>
          </a:prstGeom>
          <a:solidFill>
            <a:srgbClr val="16344E"/>
          </a:solidFill>
          <a:ln>
            <a:solidFill>
              <a:srgbClr val="1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3500" rIns="63500" tIns="38100" bIns="38100"/>
          <a:lstStyle/>
          <a:p>
            <a:pPr algn="ctr"/>
            <a:r>
              <a:rPr sz="760" b="1">
                <a:solidFill>
                  <a:srgbClr val="FFFFFF"/>
                </a:solidFill>
                <a:latin typeface="Microsoft YaHei"/>
              </a:rPr>
              <a:t>含义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69480" y="1819656"/>
            <a:ext cx="2514600" cy="356616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760">
                <a:solidFill>
                  <a:srgbClr val="111827"/>
                </a:solidFill>
                <a:latin typeface="Microsoft YaHei"/>
              </a:rPr>
              <a:t>schema_version/status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784080" y="1819656"/>
            <a:ext cx="1828800" cy="356616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760">
                <a:solidFill>
                  <a:srgbClr val="111827"/>
                </a:solidFill>
                <a:latin typeface="Microsoft YaHei"/>
              </a:rPr>
              <a:t>接口版本与执行状态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269480" y="2176272"/>
            <a:ext cx="2514600" cy="356616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760">
                <a:solidFill>
                  <a:srgbClr val="111827"/>
                </a:solidFill>
                <a:latin typeface="Microsoft YaHei"/>
              </a:rPr>
              <a:t>task_id/model_id/scenario_id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784080" y="2176272"/>
            <a:ext cx="1828800" cy="356616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760">
                <a:solidFill>
                  <a:srgbClr val="111827"/>
                </a:solidFill>
                <a:latin typeface="Microsoft YaHei"/>
              </a:rPr>
              <a:t>回传调用标识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269480" y="2532888"/>
            <a:ext cx="2514600" cy="356616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760">
                <a:solidFill>
                  <a:srgbClr val="111827"/>
                </a:solidFill>
                <a:latin typeface="Microsoft YaHei"/>
              </a:rPr>
              <a:t>summary.nD/total_mg/total_nodes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784080" y="2532888"/>
            <a:ext cx="1828800" cy="356616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760">
                <a:solidFill>
                  <a:srgbClr val="111827"/>
                </a:solidFill>
                <a:latin typeface="Microsoft YaHei"/>
              </a:rPr>
              <a:t>数据规模摘要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269480" y="2889504"/>
            <a:ext cx="2514600" cy="356616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760">
                <a:solidFill>
                  <a:srgbClr val="111827"/>
                </a:solidFill>
                <a:latin typeface="Microsoft YaHei"/>
              </a:rPr>
              <a:t>summary.t_solver/t_partition_mode/t_n_parts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784080" y="2889504"/>
            <a:ext cx="1828800" cy="356616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760">
                <a:solidFill>
                  <a:srgbClr val="111827"/>
                </a:solidFill>
                <a:latin typeface="Microsoft YaHei"/>
              </a:rPr>
              <a:t>求解方式摘要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269480" y="3246120"/>
            <a:ext cx="2514600" cy="356616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760">
                <a:solidFill>
                  <a:srgbClr val="111827"/>
                </a:solidFill>
                <a:latin typeface="Microsoft YaHei"/>
              </a:rPr>
              <a:t>summary.converged/completion_status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784080" y="3246120"/>
            <a:ext cx="1828800" cy="356616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760">
                <a:solidFill>
                  <a:srgbClr val="111827"/>
                </a:solidFill>
                <a:latin typeface="Microsoft YaHei"/>
              </a:rPr>
              <a:t>是否严格收敛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69480" y="3602736"/>
            <a:ext cx="2514600" cy="356616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760">
                <a:solidFill>
                  <a:srgbClr val="111827"/>
                </a:solidFill>
                <a:latin typeface="Microsoft YaHei"/>
              </a:rPr>
              <a:t>summary.iterations/final_residual/final_delta_v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784080" y="3602736"/>
            <a:ext cx="1828800" cy="356616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760">
                <a:solidFill>
                  <a:srgbClr val="111827"/>
                </a:solidFill>
                <a:latin typeface="Microsoft YaHei"/>
              </a:rPr>
              <a:t>迭代次数与最终残差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269480" y="3959352"/>
            <a:ext cx="2514600" cy="356616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760">
                <a:solidFill>
                  <a:srgbClr val="111827"/>
                </a:solidFill>
                <a:latin typeface="Microsoft YaHei"/>
              </a:rPr>
              <a:t>result.T_boundary_V_pu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784080" y="3959352"/>
            <a:ext cx="1828800" cy="356616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760">
                <a:solidFill>
                  <a:srgbClr val="111827"/>
                </a:solidFill>
                <a:latin typeface="Microsoft YaHei"/>
              </a:rPr>
              <a:t>500个主配接口电压pu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269480" y="4315968"/>
            <a:ext cx="2514600" cy="356616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760">
                <a:solidFill>
                  <a:srgbClr val="111827"/>
                </a:solidFill>
                <a:latin typeface="Microsoft YaHei"/>
              </a:rPr>
              <a:t>result.T_boundary_Va_deg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784080" y="4315968"/>
            <a:ext cx="1828800" cy="356616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760">
                <a:solidFill>
                  <a:srgbClr val="111827"/>
                </a:solidFill>
                <a:latin typeface="Microsoft YaHei"/>
              </a:rPr>
              <a:t>500个主配接口相角deg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269480" y="4672584"/>
            <a:ext cx="2514600" cy="356616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760">
                <a:solidFill>
                  <a:srgbClr val="111827"/>
                </a:solidFill>
                <a:latin typeface="Microsoft YaHei"/>
              </a:rPr>
              <a:t>result.S_boundary_MW_Mvar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784080" y="4672584"/>
            <a:ext cx="1828800" cy="356616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760">
                <a:solidFill>
                  <a:srgbClr val="111827"/>
                </a:solidFill>
                <a:latin typeface="Microsoft YaHei"/>
              </a:rPr>
              <a:t>500组边界P/Q功率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269480" y="5029200"/>
            <a:ext cx="2514600" cy="356616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760">
                <a:solidFill>
                  <a:srgbClr val="111827"/>
                </a:solidFill>
                <a:latin typeface="Microsoft YaHei"/>
              </a:rPr>
              <a:t>result.MG_P_MW / MG_Q_Mvar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784080" y="5029200"/>
            <a:ext cx="1828800" cy="356616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760">
                <a:solidFill>
                  <a:srgbClr val="111827"/>
                </a:solidFill>
                <a:latin typeface="Microsoft YaHei"/>
              </a:rPr>
              <a:t>500个配网下微网聚合有功/无功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94360" y="5623560"/>
            <a:ext cx="10972800" cy="621792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94360" y="5623560"/>
            <a:ext cx="73152" cy="621792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95528" y="5769864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6344E"/>
                </a:solidFill>
                <a:latin typeface="Microsoft YaHei"/>
              </a:rPr>
              <a:t>说明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13816" y="6190488"/>
            <a:ext cx="10588752" cy="-36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111827"/>
                </a:solidFill>
                <a:latin typeface="Microsoft YaHei"/>
              </a:defRPr>
            </a:pPr>
            <a:r>
              <a:t>客户端不加 --full 时只显示 result_preview 前3项；API完整返回 result 数组长度均为500。对外响应不包含服务器本机路径。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02920" y="6510528"/>
            <a:ext cx="11155680" cy="9144"/>
          </a:xfrm>
          <a:prstGeom prst="rect">
            <a:avLst/>
          </a:prstGeom>
          <a:solidFill>
            <a:srgbClr val="DAE1E9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02920" y="6547104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4B5563"/>
                </a:solidFill>
                <a:latin typeface="Microsoft YaHei"/>
              </a:rPr>
              <a:t>课题1 | 主配微电网分区解耦与并行潮流计算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064240" y="6547104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4B5563"/>
                </a:solidFill>
                <a:latin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01752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6344E"/>
                </a:solidFill>
                <a:latin typeface="Microsoft YaHei"/>
              </a:rPr>
              <a:t>五、最新联调与收敛测试结果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868680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4B5563"/>
                </a:solidFill>
                <a:latin typeface="Microsoft YaHei"/>
              </a:rPr>
              <a:t>本次采用与 notebook 一致的 soft 边界配置重新运行 API，请求成功并达到严格收敛。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2057400" cy="914400"/>
          </a:xfrm>
          <a:prstGeom prst="roundRect">
            <a:avLst>
              <a:gd name="adj" fmla="val 8000"/>
            </a:avLst>
          </a:prstGeom>
          <a:solidFill>
            <a:srgbClr val="EEF6FF"/>
          </a:solidFill>
          <a:ln>
            <a:solidFill>
              <a:srgbClr val="C2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2563EB"/>
                </a:solidFill>
                <a:latin typeface="Microsoft YaHei"/>
              </a:rPr>
              <a:t>soft</a:t>
            </a:r>
          </a:p>
          <a:p>
            <a:pPr algn="ctr"/>
            <a:r>
              <a:rPr sz="1000">
                <a:solidFill>
                  <a:srgbClr val="4B5563"/>
                </a:solidFill>
                <a:latin typeface="Microsoft YaHei"/>
              </a:rPr>
              <a:t>边界协调模式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360" y="1234440"/>
            <a:ext cx="2057400" cy="914400"/>
          </a:xfrm>
          <a:prstGeom prst="roundRect">
            <a:avLst>
              <a:gd name="adj" fmla="val 8000"/>
            </a:avLst>
          </a:prstGeom>
          <a:solidFill>
            <a:srgbClr val="EEF6FF"/>
          </a:solidFill>
          <a:ln>
            <a:solidFill>
              <a:srgbClr val="C2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147E7A"/>
                </a:solidFill>
                <a:latin typeface="Microsoft YaHei"/>
              </a:rPr>
              <a:t>15</a:t>
            </a:r>
          </a:p>
          <a:p>
            <a:pPr algn="ctr"/>
            <a:r>
              <a:rPr sz="1000">
                <a:solidFill>
                  <a:srgbClr val="4B5563"/>
                </a:solidFill>
                <a:latin typeface="Microsoft YaHei"/>
              </a:rPr>
              <a:t>外层收敛迭代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1234440"/>
            <a:ext cx="2057400" cy="914400"/>
          </a:xfrm>
          <a:prstGeom prst="roundRect">
            <a:avLst>
              <a:gd name="adj" fmla="val 8000"/>
            </a:avLst>
          </a:prstGeom>
          <a:solidFill>
            <a:srgbClr val="EEF6FF"/>
          </a:solidFill>
          <a:ln>
            <a:solidFill>
              <a:srgbClr val="C2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16A34A"/>
                </a:solidFill>
                <a:latin typeface="Microsoft YaHei"/>
              </a:rPr>
              <a:t>9.81e-4</a:t>
            </a:r>
          </a:p>
          <a:p>
            <a:pPr algn="ctr"/>
            <a:r>
              <a:rPr sz="1000">
                <a:solidFill>
                  <a:srgbClr val="4B5563"/>
                </a:solidFill>
                <a:latin typeface="Microsoft YaHei"/>
              </a:rPr>
              <a:t>功率残差阈值内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60920" y="1234440"/>
            <a:ext cx="2057400" cy="914400"/>
          </a:xfrm>
          <a:prstGeom prst="roundRect">
            <a:avLst>
              <a:gd name="adj" fmla="val 8000"/>
            </a:avLst>
          </a:prstGeom>
          <a:solidFill>
            <a:srgbClr val="EEF6FF"/>
          </a:solidFill>
          <a:ln>
            <a:solidFill>
              <a:srgbClr val="C2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D97706"/>
                </a:solidFill>
                <a:latin typeface="Microsoft YaHei"/>
              </a:rPr>
              <a:t>2.79e-6</a:t>
            </a:r>
          </a:p>
          <a:p>
            <a:pPr algn="ctr"/>
            <a:r>
              <a:rPr sz="1000">
                <a:solidFill>
                  <a:srgbClr val="4B5563"/>
                </a:solidFill>
                <a:latin typeface="Microsoft YaHei"/>
              </a:rPr>
              <a:t>电压变化阈值内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0" y="1234440"/>
            <a:ext cx="2057400" cy="914400"/>
          </a:xfrm>
          <a:prstGeom prst="roundRect">
            <a:avLst>
              <a:gd name="adj" fmla="val 8000"/>
            </a:avLst>
          </a:prstGeom>
          <a:solidFill>
            <a:srgbClr val="EEF6FF"/>
          </a:solidFill>
          <a:ln>
            <a:solidFill>
              <a:srgbClr val="C2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2563EB"/>
                </a:solidFill>
                <a:latin typeface="Microsoft YaHei"/>
              </a:rPr>
              <a:t>500</a:t>
            </a:r>
          </a:p>
          <a:p>
            <a:pPr algn="ctr"/>
            <a:r>
              <a:rPr sz="1000">
                <a:solidFill>
                  <a:srgbClr val="4B5563"/>
                </a:solidFill>
                <a:latin typeface="Microsoft YaHei"/>
              </a:rPr>
              <a:t>每类结果长度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514600"/>
            <a:ext cx="5394960" cy="25146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514600"/>
            <a:ext cx="73152" cy="2514600"/>
          </a:xfrm>
          <a:prstGeom prst="rect">
            <a:avLst/>
          </a:prstGeom>
          <a:solidFill>
            <a:srgbClr val="16344E"/>
          </a:solidFill>
          <a:ln>
            <a:solidFill>
              <a:srgbClr val="1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2660904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6344E"/>
                </a:solidFill>
                <a:latin typeface="Microsoft YaHei"/>
              </a:rPr>
              <a:t>运行命令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3081528"/>
            <a:ext cx="5010912" cy="185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11827"/>
                </a:solidFill>
                <a:latin typeface="Microsoft YaHei"/>
              </a:defRPr>
            </a:pPr>
            <a:r>
              <a:t>~/miniconda3/envs/powerflow/bin/python clients/send_request.py --run --timeout 7200</a:t>
            </a:r>
          </a:p>
          <a:p>
            <a:pPr>
              <a:spcAft>
                <a:spcPts val="400"/>
              </a:spcAft>
              <a:defRPr sz="1100">
                <a:solidFill>
                  <a:srgbClr val="111827"/>
                </a:solidFill>
                <a:latin typeface="Microsoft YaHei"/>
              </a:defRPr>
            </a:pPr>
            <a:r>
              <a:t>API服务：POST /api/v1/gmss/run</a:t>
            </a:r>
          </a:p>
          <a:p>
            <a:pPr>
              <a:spcAft>
                <a:spcPts val="400"/>
              </a:spcAft>
              <a:defRPr sz="1100">
                <a:solidFill>
                  <a:srgbClr val="111827"/>
                </a:solidFill>
                <a:latin typeface="Microsoft YaHei"/>
              </a:defRPr>
            </a:pPr>
            <a:r>
              <a:t>运行目录：/home/y/Desktop/power_flow；数据目录：data/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514600"/>
            <a:ext cx="5394960" cy="25146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2514600"/>
            <a:ext cx="73152" cy="251460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4808" y="2660904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6344E"/>
                </a:solidFill>
                <a:latin typeface="Microsoft YaHei"/>
              </a:rPr>
              <a:t>返回摘要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3096" y="3081528"/>
            <a:ext cx="5010912" cy="185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11827"/>
                </a:solidFill>
                <a:latin typeface="Microsoft YaHei"/>
              </a:defRPr>
            </a:pPr>
            <a:r>
              <a:t>status=ok；converged=true；completion_status=converged</a:t>
            </a:r>
          </a:p>
          <a:p>
            <a:pPr>
              <a:spcAft>
                <a:spcPts val="400"/>
              </a:spcAft>
              <a:defRPr sz="1100">
                <a:solidFill>
                  <a:srgbClr val="111827"/>
                </a:solidFill>
                <a:latin typeface="Microsoft YaHei"/>
              </a:defRPr>
            </a:pPr>
            <a:r>
              <a:t>t_solver=partitioned；t_partition_mode=soft；t_n_parts=4</a:t>
            </a:r>
          </a:p>
          <a:p>
            <a:pPr>
              <a:spcAft>
                <a:spcPts val="400"/>
              </a:spcAft>
              <a:defRPr sz="1100">
                <a:solidFill>
                  <a:srgbClr val="111827"/>
                </a:solidFill>
                <a:latin typeface="Microsoft YaHei"/>
              </a:defRPr>
            </a:pPr>
            <a:r>
              <a:t>result包含T_boundary_V_pu、T_boundary_Va_deg、S_boundary_MW_Mvar、MG_P_MW、MG_Q_Mvar五类完整数组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6510528"/>
            <a:ext cx="11155680" cy="9144"/>
          </a:xfrm>
          <a:prstGeom prst="rect">
            <a:avLst/>
          </a:prstGeom>
          <a:solidFill>
            <a:srgbClr val="DAE1E9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6547104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4B5563"/>
                </a:solidFill>
                <a:latin typeface="Microsoft YaHei"/>
              </a:rPr>
              <a:t>课题1 | 主配微电网分区解耦与并行潮流计算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547104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4B5563"/>
                </a:solidFill>
                <a:latin typeface="Microsoft Ya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01752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6344E"/>
                </a:solidFill>
                <a:latin typeface="Microsoft YaHei"/>
              </a:rPr>
              <a:t>六、仍需完成的工作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868680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4B5563"/>
                </a:solidFill>
                <a:latin typeface="Microsoft YaHei"/>
              </a:rPr>
              <a:t>下一阶段重点从工程集成、算法鲁棒性、文档交付和验收材料四个方向推进。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143000"/>
            <a:ext cx="5349240" cy="20574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143000"/>
            <a:ext cx="73152" cy="20574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289304"/>
            <a:ext cx="4983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6344E"/>
                </a:solidFill>
                <a:latin typeface="Microsoft YaHei"/>
              </a:rPr>
              <a:t>1. 工程集成与现场适配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1709928"/>
            <a:ext cx="4965192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111827"/>
                </a:solidFill>
                <a:latin typeface="Microsoft YaHei"/>
              </a:defRPr>
            </a:pPr>
            <a:r>
              <a:t>对接电网公司/南瑞软件测试工具，完成真实工程数据导入与字段映射校验。</a:t>
            </a:r>
          </a:p>
          <a:p>
            <a:pPr>
              <a:spcAft>
                <a:spcPts val="400"/>
              </a:spcAft>
              <a:defRPr sz="1150">
                <a:solidFill>
                  <a:srgbClr val="111827"/>
                </a:solidFill>
                <a:latin typeface="Microsoft YaHei"/>
              </a:defRPr>
            </a:pPr>
            <a:r>
              <a:t>补齐异常码、超时策略、日志追踪与批量任务管理，满足系统级调用要求。</a:t>
            </a:r>
          </a:p>
          <a:p>
            <a:pPr>
              <a:spcAft>
                <a:spcPts val="400"/>
              </a:spcAft>
              <a:defRPr sz="1150">
                <a:solidFill>
                  <a:srgbClr val="111827"/>
                </a:solidFill>
                <a:latin typeface="Microsoft YaHei"/>
              </a:defRPr>
            </a:pPr>
            <a:r>
              <a:t>将API契约整理为正式接口文档和集成测试用例。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143000"/>
            <a:ext cx="5349240" cy="20574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143000"/>
            <a:ext cx="73152" cy="2057400"/>
          </a:xfrm>
          <a:prstGeom prst="rect">
            <a:avLst/>
          </a:prstGeom>
          <a:solidFill>
            <a:srgbClr val="147E7A"/>
          </a:solidFill>
          <a:ln>
            <a:solidFill>
              <a:srgbClr val="14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1289304"/>
            <a:ext cx="4983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6344E"/>
                </a:solidFill>
                <a:latin typeface="Microsoft YaHei"/>
              </a:rPr>
              <a:t>2. 算法鲁棒性与边界验证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1709928"/>
            <a:ext cx="4965192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111827"/>
                </a:solidFill>
                <a:latin typeface="Microsoft YaHei"/>
              </a:defRPr>
            </a:pPr>
            <a:r>
              <a:t>开展多网架、多源荷波动、拓扑突变等场景下的soft/hard对比测试。</a:t>
            </a:r>
          </a:p>
          <a:p>
            <a:pPr>
              <a:spcAft>
                <a:spcPts val="400"/>
              </a:spcAft>
              <a:defRPr sz="1150">
                <a:solidFill>
                  <a:srgbClr val="111827"/>
                </a:solidFill>
                <a:latin typeface="Microsoft YaHei"/>
              </a:defRPr>
            </a:pPr>
            <a:r>
              <a:t>记录ADMM容差、松弛参数、分区数对收敛速度与精度的影响。</a:t>
            </a:r>
          </a:p>
          <a:p>
            <a:pPr>
              <a:spcAft>
                <a:spcPts val="400"/>
              </a:spcAft>
              <a:defRPr sz="1150">
                <a:solidFill>
                  <a:srgbClr val="111827"/>
                </a:solidFill>
                <a:latin typeface="Microsoft YaHei"/>
              </a:defRPr>
            </a:pPr>
            <a:r>
              <a:t>补充monolithic基准对照，量化分区结果误差。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520440"/>
            <a:ext cx="5349240" cy="20574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3520440"/>
            <a:ext cx="73152" cy="205740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3666744"/>
            <a:ext cx="4983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6344E"/>
                </a:solidFill>
                <a:latin typeface="Microsoft YaHei"/>
              </a:rPr>
              <a:t>3. 性能与长时序压测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" y="4087368"/>
            <a:ext cx="4965192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111827"/>
                </a:solidFill>
                <a:latin typeface="Microsoft YaHei"/>
              </a:defRPr>
            </a:pPr>
            <a:r>
              <a:t>延续周报中24h/72h压测，进一步开展多断面连续运行与内存曲线记录。</a:t>
            </a:r>
          </a:p>
          <a:p>
            <a:pPr>
              <a:spcAft>
                <a:spcPts val="400"/>
              </a:spcAft>
              <a:defRPr sz="1150">
                <a:solidFill>
                  <a:srgbClr val="111827"/>
                </a:solidFill>
                <a:latin typeface="Microsoft YaHei"/>
              </a:defRPr>
            </a:pPr>
            <a:r>
              <a:t>优化跨模块I/O与大批量结果传输，降低高频调用延迟。</a:t>
            </a:r>
          </a:p>
          <a:p>
            <a:pPr>
              <a:spcAft>
                <a:spcPts val="400"/>
              </a:spcAft>
              <a:defRPr sz="1150">
                <a:solidFill>
                  <a:srgbClr val="111827"/>
                </a:solidFill>
                <a:latin typeface="Microsoft YaHei"/>
              </a:defRPr>
            </a:pPr>
            <a:r>
              <a:t>形成面向验收的性能指标表。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520440"/>
            <a:ext cx="5349240" cy="20574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3520440"/>
            <a:ext cx="73152" cy="205740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64808" y="3666744"/>
            <a:ext cx="4983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6344E"/>
                </a:solidFill>
                <a:latin typeface="Microsoft YaHei"/>
              </a:rPr>
              <a:t>4. 与其他模块协同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83096" y="4087368"/>
            <a:ext cx="4965192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111827"/>
                </a:solidFill>
                <a:latin typeface="Microsoft YaHei"/>
              </a:defRPr>
            </a:pPr>
            <a:r>
              <a:t>向动态安全分析模块提供节点电压、边界功率等断面结果。</a:t>
            </a:r>
          </a:p>
          <a:p>
            <a:pPr>
              <a:spcAft>
                <a:spcPts val="400"/>
              </a:spcAft>
              <a:defRPr sz="1150">
                <a:solidFill>
                  <a:srgbClr val="111827"/>
                </a:solidFill>
                <a:latin typeface="Microsoft YaHei"/>
              </a:defRPr>
            </a:pPr>
            <a:r>
              <a:t>向多时间尺度优化模块提供主配微聚合出力与约束边界。</a:t>
            </a:r>
          </a:p>
          <a:p>
            <a:pPr>
              <a:spcAft>
                <a:spcPts val="400"/>
              </a:spcAft>
              <a:defRPr sz="1150">
                <a:solidFill>
                  <a:srgbClr val="111827"/>
                </a:solidFill>
                <a:latin typeface="Microsoft YaHei"/>
              </a:defRPr>
            </a:pPr>
            <a:r>
              <a:t>配合计算分析软件完成前后端展示、任务管理和结果归档。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510528"/>
            <a:ext cx="11155680" cy="9144"/>
          </a:xfrm>
          <a:prstGeom prst="rect">
            <a:avLst/>
          </a:prstGeom>
          <a:solidFill>
            <a:srgbClr val="DAE1E9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47104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4B5563"/>
                </a:solidFill>
                <a:latin typeface="Microsoft YaHei"/>
              </a:rPr>
              <a:t>课题1 | 主配微电网分区解耦与并行潮流计算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547104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4B5563"/>
                </a:solidFill>
                <a:latin typeface="Microsoft Ya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01752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6344E"/>
                </a:solidFill>
                <a:latin typeface="Microsoft YaHei"/>
              </a:rPr>
              <a:t>七、近期工作计划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868680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4B5563"/>
                </a:solidFill>
                <a:latin typeface="Microsoft YaHei"/>
              </a:rPr>
              <a:t>围绕“可交付、可联调、可验收”形成近期任务闭环。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1143000" cy="713232"/>
          </a:xfrm>
          <a:prstGeom prst="rect">
            <a:avLst/>
          </a:prstGeom>
          <a:solidFill>
            <a:srgbClr val="16344E"/>
          </a:solidFill>
          <a:ln>
            <a:solidFill>
              <a:srgbClr val="1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3500" rIns="63500" tIns="38100" bIns="38100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时间</a:t>
            </a:r>
          </a:p>
        </p:txBody>
      </p:sp>
      <p:sp>
        <p:nvSpPr>
          <p:cNvPr id="7" name="Rectangle 6"/>
          <p:cNvSpPr/>
          <p:nvPr/>
        </p:nvSpPr>
        <p:spPr>
          <a:xfrm>
            <a:off x="1874520" y="1325880"/>
            <a:ext cx="2834640" cy="713232"/>
          </a:xfrm>
          <a:prstGeom prst="rect">
            <a:avLst/>
          </a:prstGeom>
          <a:solidFill>
            <a:srgbClr val="16344E"/>
          </a:solidFill>
          <a:ln>
            <a:solidFill>
              <a:srgbClr val="1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3500" rIns="63500" tIns="38100" bIns="38100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任务</a:t>
            </a:r>
          </a:p>
        </p:txBody>
      </p:sp>
      <p:sp>
        <p:nvSpPr>
          <p:cNvPr id="8" name="Rectangle 7"/>
          <p:cNvSpPr/>
          <p:nvPr/>
        </p:nvSpPr>
        <p:spPr>
          <a:xfrm>
            <a:off x="4709160" y="1325880"/>
            <a:ext cx="6675120" cy="713232"/>
          </a:xfrm>
          <a:prstGeom prst="rect">
            <a:avLst/>
          </a:prstGeom>
          <a:solidFill>
            <a:srgbClr val="16344E"/>
          </a:solidFill>
          <a:ln>
            <a:solidFill>
              <a:srgbClr val="1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3500" rIns="63500" tIns="38100" bIns="38100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预期输出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039112"/>
            <a:ext cx="1143000" cy="71323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050">
                <a:solidFill>
                  <a:srgbClr val="111827"/>
                </a:solidFill>
                <a:latin typeface="Microsoft YaHei"/>
              </a:rPr>
              <a:t>第1周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74520" y="2039112"/>
            <a:ext cx="28346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050">
                <a:solidFill>
                  <a:srgbClr val="111827"/>
                </a:solidFill>
                <a:latin typeface="Microsoft YaHei"/>
              </a:rPr>
              <a:t>接口文档与样例完善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09160" y="2039112"/>
            <a:ext cx="6675120" cy="71323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050">
                <a:solidFill>
                  <a:srgbClr val="111827"/>
                </a:solidFill>
                <a:latin typeface="Microsoft YaHei"/>
              </a:rPr>
              <a:t>输出正式JSON输入/输出说明、curl/Python调用样例、异常返回说明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752344"/>
            <a:ext cx="1143000" cy="71323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050">
                <a:solidFill>
                  <a:srgbClr val="111827"/>
                </a:solidFill>
                <a:latin typeface="Microsoft YaHei"/>
              </a:rPr>
              <a:t>第2周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74520" y="2752344"/>
            <a:ext cx="2834640" cy="71323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050">
                <a:solidFill>
                  <a:srgbClr val="111827"/>
                </a:solidFill>
                <a:latin typeface="Microsoft YaHei"/>
              </a:rPr>
              <a:t>真实算例接入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09160" y="2752344"/>
            <a:ext cx="6675120" cy="71323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050">
                <a:solidFill>
                  <a:srgbClr val="111827"/>
                </a:solidFill>
                <a:latin typeface="Microsoft YaHei"/>
              </a:rPr>
              <a:t>适配现场数据字段，完成一次真实网架断面联调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465576"/>
            <a:ext cx="1143000" cy="71323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050">
                <a:solidFill>
                  <a:srgbClr val="111827"/>
                </a:solidFill>
                <a:latin typeface="Microsoft YaHei"/>
              </a:rPr>
              <a:t>第3周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74520" y="3465576"/>
            <a:ext cx="28346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050">
                <a:solidFill>
                  <a:srgbClr val="111827"/>
                </a:solidFill>
                <a:latin typeface="Microsoft YaHei"/>
              </a:rPr>
              <a:t>稳定性与性能测试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09160" y="3465576"/>
            <a:ext cx="6675120" cy="71323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050">
                <a:solidFill>
                  <a:srgbClr val="111827"/>
                </a:solidFill>
                <a:latin typeface="Microsoft YaHei"/>
              </a:rPr>
              <a:t>开展多场景参数扫描，形成soft/hard/monolithic对比结果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178808"/>
            <a:ext cx="1143000" cy="71323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050">
                <a:solidFill>
                  <a:srgbClr val="111827"/>
                </a:solidFill>
                <a:latin typeface="Microsoft YaHei"/>
              </a:rPr>
              <a:t>第4周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74520" y="4178808"/>
            <a:ext cx="2834640" cy="71323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050">
                <a:solidFill>
                  <a:srgbClr val="111827"/>
                </a:solidFill>
                <a:latin typeface="Microsoft YaHei"/>
              </a:rPr>
              <a:t>集成与验收材料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09160" y="4178808"/>
            <a:ext cx="6675120" cy="71323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050">
                <a:solidFill>
                  <a:srgbClr val="111827"/>
                </a:solidFill>
                <a:latin typeface="Microsoft YaHei"/>
              </a:rPr>
              <a:t>配合软件平台联调，整理测试报告、白盒审查材料与演示脚本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800600"/>
            <a:ext cx="10652760" cy="9601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4800600"/>
            <a:ext cx="73152" cy="9601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" y="4946904"/>
            <a:ext cx="10287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6344E"/>
                </a:solidFill>
                <a:latin typeface="Microsoft YaHei"/>
              </a:rPr>
              <a:t>交付重点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" y="5367528"/>
            <a:ext cx="1026871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11827"/>
                </a:solidFill>
                <a:latin typeface="Microsoft YaHei"/>
              </a:defRPr>
            </a:pPr>
            <a:r>
              <a:t>以本次已跑通的soft API为基础，优先保证输入输出契约稳定、真实数据适配顺畅、收敛状态可解释、结果可被下游模块直接消费。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6510528"/>
            <a:ext cx="11155680" cy="9144"/>
          </a:xfrm>
          <a:prstGeom prst="rect">
            <a:avLst/>
          </a:prstGeom>
          <a:solidFill>
            <a:srgbClr val="DAE1E9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6547104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4B5563"/>
                </a:solidFill>
                <a:latin typeface="Microsoft YaHei"/>
              </a:rPr>
              <a:t>课题1 | 主配微电网分区解耦与并行潮流计算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547104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4B5563"/>
                </a:solidFill>
                <a:latin typeface="Microsoft Ya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01752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6344E"/>
                </a:solidFill>
                <a:latin typeface="Microsoft YaHei"/>
              </a:rPr>
              <a:t>八、阶段结论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868680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4B5563"/>
                </a:solidFill>
                <a:latin typeface="Microsoft YaHei"/>
              </a:rPr>
              <a:t>主配微分区解耦潮流计算已从脚本验证推进到可调用API服务，下一步进入真实数据联调与验收指标固化。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10972800" cy="11430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325880"/>
            <a:ext cx="73152" cy="114300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472184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6344E"/>
                </a:solidFill>
                <a:latin typeface="Microsoft YaHei"/>
              </a:rPr>
              <a:t>阶段判断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1892808"/>
            <a:ext cx="1058875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11827"/>
                </a:solidFill>
                <a:latin typeface="Microsoft YaHei"/>
              </a:defRPr>
            </a:pPr>
            <a:r>
              <a:t>当前已具备十万级异构算例构建、soft边界分区协调、OpenDSS/pandapower并行求解、标准HTTP API返回的完整闭环。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743200"/>
            <a:ext cx="5303520" cy="1874519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743200"/>
            <a:ext cx="73152" cy="1874519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2889504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6344E"/>
                </a:solidFill>
                <a:latin typeface="Microsoft YaHei"/>
              </a:rPr>
              <a:t>可汇报亮点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3310128"/>
            <a:ext cx="4919472" cy="1216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11827"/>
                </a:solidFill>
                <a:latin typeface="Microsoft YaHei"/>
              </a:defRPr>
            </a:pPr>
            <a:r>
              <a:t>soft模式与notebook入口完全对齐</a:t>
            </a:r>
          </a:p>
          <a:p>
            <a:pPr>
              <a:spcAft>
                <a:spcPts val="400"/>
              </a:spcAft>
              <a:defRPr sz="1200">
                <a:solidFill>
                  <a:srgbClr val="111827"/>
                </a:solidFill>
                <a:latin typeface="Microsoft YaHei"/>
              </a:defRPr>
            </a:pPr>
            <a:r>
              <a:t>15轮达到严格收敛，结果字段完整</a:t>
            </a:r>
          </a:p>
          <a:p>
            <a:pPr>
              <a:spcAft>
                <a:spcPts val="400"/>
              </a:spcAft>
              <a:defRPr sz="1200">
                <a:solidFill>
                  <a:srgbClr val="111827"/>
                </a:solidFill>
                <a:latin typeface="Microsoft YaHei"/>
              </a:defRPr>
            </a:pPr>
            <a:r>
              <a:t>对外返回不暴露服务器路径</a:t>
            </a:r>
          </a:p>
          <a:p>
            <a:pPr>
              <a:spcAft>
                <a:spcPts val="400"/>
              </a:spcAft>
              <a:defRPr sz="1200">
                <a:solidFill>
                  <a:srgbClr val="111827"/>
                </a:solidFill>
                <a:latin typeface="Microsoft YaHei"/>
              </a:defRPr>
            </a:pPr>
            <a:r>
              <a:t>数据与参考材料目录已整理清晰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2743200"/>
            <a:ext cx="5303520" cy="1874519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5080" y="2743200"/>
            <a:ext cx="73152" cy="1874519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6248" y="2889504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6344E"/>
                </a:solidFill>
                <a:latin typeface="Microsoft YaHei"/>
              </a:rPr>
              <a:t>下一步抓手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74536" y="3310128"/>
            <a:ext cx="4919472" cy="1216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11827"/>
                </a:solidFill>
                <a:latin typeface="Microsoft YaHei"/>
              </a:defRPr>
            </a:pPr>
            <a:r>
              <a:t>真实工程数据适配</a:t>
            </a:r>
          </a:p>
          <a:p>
            <a:pPr>
              <a:spcAft>
                <a:spcPts val="400"/>
              </a:spcAft>
              <a:defRPr sz="1200">
                <a:solidFill>
                  <a:srgbClr val="111827"/>
                </a:solidFill>
                <a:latin typeface="Microsoft YaHei"/>
              </a:defRPr>
            </a:pPr>
            <a:r>
              <a:t>多工况鲁棒性验证</a:t>
            </a:r>
          </a:p>
          <a:p>
            <a:pPr>
              <a:spcAft>
                <a:spcPts val="400"/>
              </a:spcAft>
              <a:defRPr sz="1200">
                <a:solidFill>
                  <a:srgbClr val="111827"/>
                </a:solidFill>
                <a:latin typeface="Microsoft YaHei"/>
              </a:defRPr>
            </a:pPr>
            <a:r>
              <a:t>接口文档与测试用例固化</a:t>
            </a:r>
          </a:p>
          <a:p>
            <a:pPr>
              <a:spcAft>
                <a:spcPts val="400"/>
              </a:spcAft>
              <a:defRPr sz="1200">
                <a:solidFill>
                  <a:srgbClr val="111827"/>
                </a:solidFill>
                <a:latin typeface="Microsoft YaHei"/>
              </a:defRPr>
            </a:pPr>
            <a:r>
              <a:t>支撑动态安全分析和多尺度优化模块联调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71500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6344E"/>
                </a:solidFill>
                <a:latin typeface="Microsoft YaHei"/>
              </a:rPr>
              <a:t>谢谢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6510528"/>
            <a:ext cx="11155680" cy="9144"/>
          </a:xfrm>
          <a:prstGeom prst="rect">
            <a:avLst/>
          </a:prstGeom>
          <a:solidFill>
            <a:srgbClr val="DAE1E9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6547104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4B5563"/>
                </a:solidFill>
                <a:latin typeface="Microsoft YaHei"/>
              </a:rPr>
              <a:t>课题1 | 主配微电网分区解耦与并行潮流计算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547104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4B5563"/>
                </a:solidFill>
                <a:latin typeface="Microsoft YaHei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