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7" r:id="rId28"/>
    <p:sldId id="274" r:id="rId24"/>
    <p:sldId id="275" r:id="rId25"/>
    <p:sldId id="276" r:id="rId2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presProps" Target="presProps.xml"/><Relationship Id="rId28"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rgbClr val="000000"/>
                </a:solidFill>
                <a:latin typeface="等线"/>
              </a:rPr>
              <a:t>Click to move the slide</a:t>
            </a:r>
            <a:endParaRPr b="0" lang="en-US" sz="1800" spc="-1" strike="noStrike">
              <a:solidFill>
                <a:srgbClr val="000000"/>
              </a:solidFill>
              <a:latin typeface="等线"/>
            </a:endParaRPr>
          </a:p>
        </p:txBody>
      </p:sp>
      <p:sp>
        <p:nvSpPr>
          <p:cNvPr id="11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a:t>
            </a:r>
            <a:r>
              <a:rPr b="0" lang="en-US" sz="2000" spc="-1" strike="noStrike">
                <a:latin typeface="Arial"/>
              </a:rPr>
              <a:t>format</a:t>
            </a:r>
            <a:endParaRPr b="0" lang="en-US" sz="2000" spc="-1" strike="noStrike">
              <a:latin typeface="Arial"/>
            </a:endParaRPr>
          </a:p>
        </p:txBody>
      </p:sp>
      <p:sp>
        <p:nvSpPr>
          <p:cNvPr id="120"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21" name="PlaceHolder 4"/>
          <p:cNvSpPr>
            <a:spLocks noGrp="1"/>
          </p:cNvSpPr>
          <p:nvPr>
            <p:ph type="dt" idx="5"/>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22" name="PlaceHolder 5"/>
          <p:cNvSpPr>
            <a:spLocks noGrp="1"/>
          </p:cNvSpPr>
          <p:nvPr>
            <p:ph type="ftr" idx="6"/>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23" name="PlaceHolder 6"/>
          <p:cNvSpPr>
            <a:spLocks noGrp="1"/>
          </p:cNvSpPr>
          <p:nvPr>
            <p:ph type="sldNum" idx="7"/>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9787862C-2623-4612-B0B2-14921AD2C3B5}"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4" name="PlaceHolder 1"/>
          <p:cNvSpPr>
            <a:spLocks noGrp="1"/>
          </p:cNvSpPr>
          <p:nvPr>
            <p:ph type="sldImg"/>
          </p:nvPr>
        </p:nvSpPr>
        <p:spPr>
          <a:xfrm>
            <a:off x="685800" y="1143000"/>
            <a:ext cx="5486040" cy="3085920"/>
          </a:xfrm>
          <a:prstGeom prst="rect">
            <a:avLst/>
          </a:prstGeom>
          <a:ln w="0">
            <a:noFill/>
          </a:ln>
        </p:spPr>
      </p:sp>
      <p:sp>
        <p:nvSpPr>
          <p:cNvPr id="135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1356"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defRPr b="0" lang="en-US" sz="2400" spc="-1" strike="noStrike">
                <a:latin typeface="Times New Roman"/>
              </a:defRPr>
            </a:lvl1pPr>
          </a:lstStyle>
          <a:p>
            <a:endParaRPr b="0" lang="en-US" sz="24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7" name="PlaceHolder 1"/>
          <p:cNvSpPr>
            <a:spLocks noGrp="1"/>
          </p:cNvSpPr>
          <p:nvPr>
            <p:ph type="sldImg"/>
          </p:nvPr>
        </p:nvSpPr>
        <p:spPr>
          <a:xfrm>
            <a:off x="685800" y="1143000"/>
            <a:ext cx="5486040" cy="3085920"/>
          </a:xfrm>
          <a:prstGeom prst="rect">
            <a:avLst/>
          </a:prstGeom>
          <a:ln w="0">
            <a:noFill/>
          </a:ln>
        </p:spPr>
      </p:sp>
      <p:sp>
        <p:nvSpPr>
          <p:cNvPr id="135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1359"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defRPr b="0" lang="en-US" sz="2400" spc="-1" strike="noStrike">
                <a:latin typeface="Times New Roman"/>
              </a:defRPr>
            </a:lvl1pPr>
          </a:lstStyle>
          <a:p>
            <a:endParaRPr b="0" lang="en-US" sz="24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0" name="PlaceHolder 1"/>
          <p:cNvSpPr>
            <a:spLocks noGrp="1"/>
          </p:cNvSpPr>
          <p:nvPr>
            <p:ph type="sldImg"/>
          </p:nvPr>
        </p:nvSpPr>
        <p:spPr>
          <a:xfrm>
            <a:off x="685800" y="1143000"/>
            <a:ext cx="5486040" cy="3085920"/>
          </a:xfrm>
          <a:prstGeom prst="rect">
            <a:avLst/>
          </a:prstGeom>
          <a:ln w="0">
            <a:noFill/>
          </a:ln>
        </p:spPr>
      </p:sp>
      <p:sp>
        <p:nvSpPr>
          <p:cNvPr id="136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1362"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defRPr b="0" lang="en-US" sz="2400" spc="-1" strike="noStrike">
                <a:latin typeface="Times New Roman"/>
              </a:defRPr>
            </a:lvl1pPr>
          </a:lstStyle>
          <a:p>
            <a:endParaRPr b="0" lang="en-US" sz="24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3" name="PlaceHolder 1"/>
          <p:cNvSpPr>
            <a:spLocks noGrp="1"/>
          </p:cNvSpPr>
          <p:nvPr>
            <p:ph type="sldImg"/>
          </p:nvPr>
        </p:nvSpPr>
        <p:spPr>
          <a:xfrm>
            <a:off x="685800" y="1143000"/>
            <a:ext cx="5486040" cy="3085920"/>
          </a:xfrm>
          <a:prstGeom prst="rect">
            <a:avLst/>
          </a:prstGeom>
          <a:ln w="0">
            <a:noFill/>
          </a:ln>
        </p:spPr>
      </p:sp>
      <p:sp>
        <p:nvSpPr>
          <p:cNvPr id="136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1365"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defRPr b="0" lang="en-US" sz="2400" spc="-1" strike="noStrike">
                <a:latin typeface="Times New Roman"/>
              </a:defRPr>
            </a:lvl1pPr>
          </a:lstStyle>
          <a:p>
            <a:endParaRPr b="0" lang="en-US" sz="24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6" name="PlaceHolder 1"/>
          <p:cNvSpPr>
            <a:spLocks noGrp="1"/>
          </p:cNvSpPr>
          <p:nvPr>
            <p:ph type="sldImg"/>
          </p:nvPr>
        </p:nvSpPr>
        <p:spPr>
          <a:xfrm>
            <a:off x="685800" y="1143000"/>
            <a:ext cx="5486040" cy="3085920"/>
          </a:xfrm>
          <a:prstGeom prst="rect">
            <a:avLst/>
          </a:prstGeom>
          <a:ln w="0">
            <a:noFill/>
          </a:ln>
        </p:spPr>
      </p:sp>
      <p:sp>
        <p:nvSpPr>
          <p:cNvPr id="136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1368"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defRPr b="0" lang="en-US" sz="2400" spc="-1" strike="noStrike">
                <a:latin typeface="Times New Roman"/>
              </a:defRPr>
            </a:lvl1pPr>
          </a:lstStyle>
          <a:p>
            <a:endParaRPr b="0" lang="en-US" sz="2400" spc="-1" strike="noStrike">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4" name="PlaceHolder 3"/>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5" name="PlaceHolder 4"/>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3" name="PlaceHolder 2"/>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715680" y="1972080"/>
            <a:ext cx="10415880" cy="3927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1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 name="PlaceHolder 5"/>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1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 name="PlaceHolder 5"/>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2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2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 name="PlaceHolder 5"/>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2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2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5" name="PlaceHolder 4"/>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2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2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3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3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7" name="PlaceHolder 6"/>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3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3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3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3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3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3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9" name="PlaceHolder 8"/>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4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4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4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4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8"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9" name="PlaceHolder 1"/>
          <p:cNvSpPr>
            <a:spLocks noGrp="1"/>
          </p:cNvSpPr>
          <p:nvPr>
            <p:ph type="subTitle"/>
          </p:nvPr>
        </p:nvSpPr>
        <p:spPr>
          <a:xfrm>
            <a:off x="715680" y="1972080"/>
            <a:ext cx="10415880" cy="3927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5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5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5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5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57"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5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1"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63"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4"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6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9"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71"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72"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73"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74"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75"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76"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D9776334-0D17-4DFB-90A6-FC6B6A34A5D2}" type="slidenum">
              <a:t>&lt;#&gt;</a:t>
            </a:fld>
          </a:p>
        </p:txBody>
      </p:sp>
      <p:sp>
        <p:nvSpPr>
          <p:cNvPr id="4" name="PlaceHolder 3"/>
          <p:cNvSpPr>
            <a:spLocks noGrp="1"/>
          </p:cNvSpPr>
          <p:nvPr>
            <p:ph type="dt" idx="2"/>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8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4"/>
          </p:nvPr>
        </p:nvSpPr>
        <p:spPr/>
        <p:txBody>
          <a:bodyPr/>
          <a:p>
            <a:fld id="{66594C5A-4707-407C-97E5-FC5DE848D4CB}" type="slidenum">
              <a:t>&lt;#&gt;</a:t>
            </a:fld>
          </a:p>
        </p:txBody>
      </p:sp>
      <p:sp>
        <p:nvSpPr>
          <p:cNvPr id="6" name="PlaceHolder 5"/>
          <p:cNvSpPr>
            <a:spLocks noGrp="1"/>
          </p:cNvSpPr>
          <p:nvPr>
            <p:ph type="dt" idx="2"/>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8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4"/>
          </p:nvPr>
        </p:nvSpPr>
        <p:spPr/>
        <p:txBody>
          <a:bodyPr/>
          <a:p>
            <a:fld id="{D26ACACC-52A1-4206-B337-AEDAE4C63130}" type="slidenum">
              <a:t>&lt;#&gt;</a:t>
            </a:fld>
          </a:p>
        </p:txBody>
      </p:sp>
      <p:sp>
        <p:nvSpPr>
          <p:cNvPr id="6" name="PlaceHolder 5"/>
          <p:cNvSpPr>
            <a:spLocks noGrp="1"/>
          </p:cNvSpPr>
          <p:nvPr>
            <p:ph type="dt" idx="2"/>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8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8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4"/>
          </p:nvPr>
        </p:nvSpPr>
        <p:spPr/>
        <p:txBody>
          <a:bodyPr/>
          <a:p>
            <a:fld id="{65A0C12A-A008-4C0A-B924-6CEC2B5A6E2D}" type="slidenum">
              <a:t>&lt;#&gt;</a:t>
            </a:fld>
          </a:p>
        </p:txBody>
      </p:sp>
      <p:sp>
        <p:nvSpPr>
          <p:cNvPr id="7" name="PlaceHolder 6"/>
          <p:cNvSpPr>
            <a:spLocks noGrp="1"/>
          </p:cNvSpPr>
          <p:nvPr>
            <p:ph type="dt" idx="2"/>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4"/>
          </p:nvPr>
        </p:nvSpPr>
        <p:spPr/>
        <p:txBody>
          <a:bodyPr/>
          <a:p>
            <a:fld id="{9B863AC3-987C-4F18-BF28-77A04FADAE54}" type="slidenum">
              <a:t>&lt;#&gt;</a:t>
            </a:fld>
          </a:p>
        </p:txBody>
      </p:sp>
      <p:sp>
        <p:nvSpPr>
          <p:cNvPr id="5" name="PlaceHolder 4"/>
          <p:cNvSpPr>
            <a:spLocks noGrp="1"/>
          </p:cNvSpPr>
          <p:nvPr>
            <p:ph type="dt" idx="2"/>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715680" y="1972080"/>
            <a:ext cx="10415880" cy="3927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4"/>
          </p:nvPr>
        </p:nvSpPr>
        <p:spPr/>
        <p:txBody>
          <a:bodyPr/>
          <a:p>
            <a:fld id="{26916BFC-E6F3-465C-AFE7-BAB258FBD2A0}" type="slidenum">
              <a:t>&lt;#&gt;</a:t>
            </a:fld>
          </a:p>
        </p:txBody>
      </p:sp>
      <p:sp>
        <p:nvSpPr>
          <p:cNvPr id="5" name="PlaceHolder 4"/>
          <p:cNvSpPr>
            <a:spLocks noGrp="1"/>
          </p:cNvSpPr>
          <p:nvPr>
            <p:ph type="dt" idx="2"/>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9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9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9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4"/>
          </p:nvPr>
        </p:nvSpPr>
        <p:spPr/>
        <p:txBody>
          <a:bodyPr/>
          <a:p>
            <a:fld id="{85997395-C24D-4B65-B9E7-3EE12845334D}" type="slidenum">
              <a:t>&lt;#&gt;</a:t>
            </a:fld>
          </a:p>
        </p:txBody>
      </p:sp>
      <p:sp>
        <p:nvSpPr>
          <p:cNvPr id="8" name="PlaceHolder 7"/>
          <p:cNvSpPr>
            <a:spLocks noGrp="1"/>
          </p:cNvSpPr>
          <p:nvPr>
            <p:ph type="dt" idx="2"/>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9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9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9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4"/>
          </p:nvPr>
        </p:nvSpPr>
        <p:spPr/>
        <p:txBody>
          <a:bodyPr/>
          <a:p>
            <a:fld id="{6E3CBEBD-F817-4AC5-A160-1757FDC8FBF1}" type="slidenum">
              <a:t>&lt;#&gt;</a:t>
            </a:fld>
          </a:p>
        </p:txBody>
      </p:sp>
      <p:sp>
        <p:nvSpPr>
          <p:cNvPr id="8" name="PlaceHolder 7"/>
          <p:cNvSpPr>
            <a:spLocks noGrp="1"/>
          </p:cNvSpPr>
          <p:nvPr>
            <p:ph type="dt" idx="2"/>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10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0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0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4"/>
          </p:nvPr>
        </p:nvSpPr>
        <p:spPr/>
        <p:txBody>
          <a:bodyPr/>
          <a:p>
            <a:fld id="{B1D4497C-06C0-4CDE-8F5B-9838F7E1199B}" type="slidenum">
              <a:t>&lt;#&gt;</a:t>
            </a:fld>
          </a:p>
        </p:txBody>
      </p:sp>
      <p:sp>
        <p:nvSpPr>
          <p:cNvPr id="8" name="PlaceHolder 7"/>
          <p:cNvSpPr>
            <a:spLocks noGrp="1"/>
          </p:cNvSpPr>
          <p:nvPr>
            <p:ph type="dt" idx="2"/>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10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0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4"/>
          </p:nvPr>
        </p:nvSpPr>
        <p:spPr/>
        <p:txBody>
          <a:bodyPr/>
          <a:p>
            <a:fld id="{F5C8FBA4-2A0E-4B3E-9A8A-5B5C534B15F3}" type="slidenum">
              <a:t>&lt;#&gt;</a:t>
            </a:fld>
          </a:p>
        </p:txBody>
      </p:sp>
      <p:sp>
        <p:nvSpPr>
          <p:cNvPr id="7" name="PlaceHolder 6"/>
          <p:cNvSpPr>
            <a:spLocks noGrp="1"/>
          </p:cNvSpPr>
          <p:nvPr>
            <p:ph type="dt" idx="2"/>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10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0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0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1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7" name="PlaceHolder 6"/>
          <p:cNvSpPr>
            <a:spLocks noGrp="1"/>
          </p:cNvSpPr>
          <p:nvPr>
            <p:ph type="ftr" idx="3"/>
          </p:nvPr>
        </p:nvSpPr>
        <p:spPr/>
        <p:txBody>
          <a:bodyPr/>
          <a:p>
            <a:r>
              <a:t>Footer</a:t>
            </a:r>
          </a:p>
        </p:txBody>
      </p:sp>
      <p:sp>
        <p:nvSpPr>
          <p:cNvPr id="8" name="PlaceHolder 7"/>
          <p:cNvSpPr>
            <a:spLocks noGrp="1"/>
          </p:cNvSpPr>
          <p:nvPr>
            <p:ph type="sldNum" idx="4"/>
          </p:nvPr>
        </p:nvSpPr>
        <p:spPr/>
        <p:txBody>
          <a:bodyPr/>
          <a:p>
            <a:fld id="{50A5ED8C-AC12-45D1-9DBE-D43562B3C5AA}" type="slidenum">
              <a:t>&lt;#&gt;</a:t>
            </a:fld>
          </a:p>
        </p:txBody>
      </p:sp>
      <p:sp>
        <p:nvSpPr>
          <p:cNvPr id="9" name="PlaceHolder 8"/>
          <p:cNvSpPr>
            <a:spLocks noGrp="1"/>
          </p:cNvSpPr>
          <p:nvPr>
            <p:ph type="dt" idx="2"/>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715680" y="1972080"/>
            <a:ext cx="10415880" cy="847080"/>
          </a:xfrm>
          <a:prstGeom prst="rect">
            <a:avLst/>
          </a:prstGeom>
          <a:noFill/>
          <a:ln w="0">
            <a:noFill/>
          </a:ln>
        </p:spPr>
        <p:txBody>
          <a:bodyPr lIns="0" rIns="0" tIns="0" bIns="0" anchor="ctr">
            <a:noAutofit/>
          </a:bodyPr>
          <a:p>
            <a:endParaRPr b="0" lang="en-US" sz="1800" spc="-1" strike="noStrike">
              <a:solidFill>
                <a:srgbClr val="000000"/>
              </a:solidFill>
              <a:latin typeface="等线"/>
            </a:endParaRPr>
          </a:p>
        </p:txBody>
      </p:sp>
      <p:sp>
        <p:nvSpPr>
          <p:cNvPr id="11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1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1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1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1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11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等线"/>
            </a:endParaRPr>
          </a:p>
        </p:txBody>
      </p:sp>
      <p:sp>
        <p:nvSpPr>
          <p:cNvPr id="9" name="PlaceHolder 8"/>
          <p:cNvSpPr>
            <a:spLocks noGrp="1"/>
          </p:cNvSpPr>
          <p:nvPr>
            <p:ph type="ftr" idx="3"/>
          </p:nvPr>
        </p:nvSpPr>
        <p:spPr/>
        <p:txBody>
          <a:bodyPr/>
          <a:p>
            <a:r>
              <a:t>Footer</a:t>
            </a:r>
          </a:p>
        </p:txBody>
      </p:sp>
      <p:sp>
        <p:nvSpPr>
          <p:cNvPr id="10" name="PlaceHolder 9"/>
          <p:cNvSpPr>
            <a:spLocks noGrp="1"/>
          </p:cNvSpPr>
          <p:nvPr>
            <p:ph type="sldNum" idx="4"/>
          </p:nvPr>
        </p:nvSpPr>
        <p:spPr/>
        <p:txBody>
          <a:bodyPr/>
          <a:p>
            <a:fld id="{C750117B-4EAD-45F9-8C73-61D51EDE87C4}" type="slidenum">
              <a:t>&lt;#&gt;</a:t>
            </a:fld>
          </a:p>
        </p:txBody>
      </p:sp>
      <p:sp>
        <p:nvSpPr>
          <p:cNvPr id="11" name="PlaceHolder 10"/>
          <p:cNvSpPr>
            <a:spLocks noGrp="1"/>
          </p:cNvSpPr>
          <p:nvPr>
            <p:ph type="dt" idx="2"/>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15680" y="1972080"/>
            <a:ext cx="10415880" cy="847080"/>
          </a:xfrm>
          <a:prstGeom prst="rect">
            <a:avLst/>
          </a:prstGeom>
          <a:noFill/>
          <a:ln w="0">
            <a:noFill/>
          </a:ln>
        </p:spPr>
        <p:txBody>
          <a:bodyPr anchor="ctr">
            <a:noAutofit/>
          </a:bodyPr>
          <a:p>
            <a:pPr algn="ctr">
              <a:lnSpc>
                <a:spcPct val="90000"/>
              </a:lnSpc>
              <a:buNone/>
            </a:pPr>
            <a:r>
              <a:rPr b="0" lang="zh-CN" sz="4500" spc="-1" strike="noStrike">
                <a:solidFill>
                  <a:srgbClr val="ffffff"/>
                </a:solidFill>
                <a:latin typeface="微软雅黑"/>
                <a:ea typeface="微软雅黑"/>
              </a:rPr>
              <a:t>单击此处编辑母版标题样式</a:t>
            </a:r>
            <a:endParaRPr b="0" lang="en-US" sz="4500" spc="-1" strike="noStrike">
              <a:solidFill>
                <a:srgbClr val="000000"/>
              </a:solidFill>
              <a:latin typeface="等线"/>
            </a:endParaRPr>
          </a:p>
        </p:txBody>
      </p:sp>
      <p:sp>
        <p:nvSpPr>
          <p:cNvPr id="1" name="PlaceHolder 2"/>
          <p:cNvSpPr>
            <a:spLocks noGrp="1"/>
          </p:cNvSpPr>
          <p:nvPr>
            <p:ph type="dt" idx="1"/>
          </p:nvPr>
        </p:nvSpPr>
        <p:spPr>
          <a:xfrm>
            <a:off x="4934880" y="6265080"/>
            <a:ext cx="2742840" cy="364680"/>
          </a:xfrm>
          <a:prstGeom prst="rect">
            <a:avLst/>
          </a:prstGeom>
          <a:noFill/>
          <a:ln w="0">
            <a:noFill/>
          </a:ln>
        </p:spPr>
        <p:txBody>
          <a:bodyPr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2"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rgbClr val="000000"/>
                </a:solidFill>
                <a:latin typeface="等线"/>
              </a:rPr>
              <a:t>Click to edit the outline text format</a:t>
            </a:r>
            <a:endParaRPr b="0" lang="en-US" sz="2800" spc="-1" strike="noStrike">
              <a:solidFill>
                <a:srgbClr val="000000"/>
              </a:solidFill>
              <a:latin typeface="等线"/>
            </a:endParaRPr>
          </a:p>
          <a:p>
            <a:pPr lvl="1" marL="864000" indent="-324000">
              <a:lnSpc>
                <a:spcPct val="90000"/>
              </a:lnSpc>
              <a:spcBef>
                <a:spcPts val="1134"/>
              </a:spcBef>
              <a:buClr>
                <a:srgbClr val="000000"/>
              </a:buClr>
              <a:buSzPct val="75000"/>
              <a:buFont typeface="Symbol" charset="2"/>
              <a:buChar char=""/>
            </a:pPr>
            <a:r>
              <a:rPr b="0" lang="en-US" sz="2000" spc="-1" strike="noStrike">
                <a:solidFill>
                  <a:srgbClr val="000000"/>
                </a:solidFill>
                <a:latin typeface="等线"/>
              </a:rPr>
              <a:t>Second Outline Level</a:t>
            </a:r>
            <a:endParaRPr b="0" lang="en-US" sz="2000" spc="-1" strike="noStrike">
              <a:solidFill>
                <a:srgbClr val="000000"/>
              </a:solidFill>
              <a:latin typeface="等线"/>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rgbClr val="000000"/>
                </a:solidFill>
                <a:latin typeface="等线"/>
              </a:rPr>
              <a:t>Third Outline Level</a:t>
            </a:r>
            <a:endParaRPr b="0" lang="en-US" sz="1800" spc="-1" strike="noStrike">
              <a:solidFill>
                <a:srgbClr val="000000"/>
              </a:solidFill>
              <a:latin typeface="等线"/>
            </a:endParaRPr>
          </a:p>
          <a:p>
            <a:pPr lvl="3" marL="1728000" indent="-216000">
              <a:lnSpc>
                <a:spcPct val="90000"/>
              </a:lnSpc>
              <a:spcBef>
                <a:spcPts val="567"/>
              </a:spcBef>
              <a:buClr>
                <a:srgbClr val="000000"/>
              </a:buClr>
              <a:buSzPct val="75000"/>
              <a:buFont typeface="Symbol" charset="2"/>
              <a:buChar char=""/>
            </a:pPr>
            <a:r>
              <a:rPr b="0" lang="en-US" sz="1800" spc="-1" strike="noStrike">
                <a:solidFill>
                  <a:srgbClr val="000000"/>
                </a:solidFill>
                <a:latin typeface="等线"/>
              </a:rPr>
              <a:t>Fourth Outline Level</a:t>
            </a:r>
            <a:endParaRPr b="0" lang="en-US" sz="1800" spc="-1" strike="noStrike">
              <a:solidFill>
                <a:srgbClr val="000000"/>
              </a:solidFill>
              <a:latin typeface="等线"/>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等线"/>
              </a:rPr>
              <a:t>Fifth Outline Level</a:t>
            </a:r>
            <a:endParaRPr b="0" lang="en-US" sz="2000" spc="-1" strike="noStrike">
              <a:solidFill>
                <a:srgbClr val="000000"/>
              </a:solidFill>
              <a:latin typeface="等线"/>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等线"/>
              </a:rPr>
              <a:t>Sixth Outline Level</a:t>
            </a:r>
            <a:endParaRPr b="0" lang="en-US" sz="2000" spc="-1" strike="noStrike">
              <a:solidFill>
                <a:srgbClr val="000000"/>
              </a:solidFill>
              <a:latin typeface="等线"/>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等线"/>
              </a:rPr>
              <a:t>Seventh Outline Level</a:t>
            </a:r>
            <a:endParaRPr b="0" lang="en-US" sz="2000" spc="-1" strike="noStrike">
              <a:solidFill>
                <a:srgbClr val="000000"/>
              </a:solidFill>
              <a:latin typeface="等线"/>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r>
              <a:rPr b="0" lang="en-US" sz="1800" spc="-1" strike="noStrike">
                <a:solidFill>
                  <a:srgbClr val="000000"/>
                </a:solidFill>
                <a:latin typeface="等线"/>
              </a:rPr>
              <a:t>Click to edit the title text format</a:t>
            </a:r>
            <a:endParaRPr b="0" lang="en-US" sz="1800" spc="-1" strike="noStrike">
              <a:solidFill>
                <a:srgbClr val="000000"/>
              </a:solidFill>
              <a:latin typeface="等线"/>
            </a:endParaRPr>
          </a:p>
        </p:txBody>
      </p:sp>
      <p:sp>
        <p:nvSpPr>
          <p:cNvPr id="4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rgbClr val="000000"/>
                </a:solidFill>
                <a:latin typeface="等线"/>
              </a:rPr>
              <a:t>Click to edit the outline text format</a:t>
            </a:r>
            <a:endParaRPr b="0" lang="en-US" sz="2800" spc="-1" strike="noStrike">
              <a:solidFill>
                <a:srgbClr val="000000"/>
              </a:solidFill>
              <a:latin typeface="等线"/>
            </a:endParaRPr>
          </a:p>
          <a:p>
            <a:pPr lvl="1" marL="864000" indent="-324000">
              <a:lnSpc>
                <a:spcPct val="90000"/>
              </a:lnSpc>
              <a:spcBef>
                <a:spcPts val="1134"/>
              </a:spcBef>
              <a:buClr>
                <a:srgbClr val="000000"/>
              </a:buClr>
              <a:buSzPct val="75000"/>
              <a:buFont typeface="Symbol" charset="2"/>
              <a:buChar char=""/>
            </a:pPr>
            <a:r>
              <a:rPr b="0" lang="en-US" sz="2000" spc="-1" strike="noStrike">
                <a:solidFill>
                  <a:srgbClr val="000000"/>
                </a:solidFill>
                <a:latin typeface="等线"/>
              </a:rPr>
              <a:t>Second Outline Level</a:t>
            </a:r>
            <a:endParaRPr b="0" lang="en-US" sz="2000" spc="-1" strike="noStrike">
              <a:solidFill>
                <a:srgbClr val="000000"/>
              </a:solidFill>
              <a:latin typeface="等线"/>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rgbClr val="000000"/>
                </a:solidFill>
                <a:latin typeface="等线"/>
              </a:rPr>
              <a:t>Third Outline Level</a:t>
            </a:r>
            <a:endParaRPr b="0" lang="en-US" sz="1800" spc="-1" strike="noStrike">
              <a:solidFill>
                <a:srgbClr val="000000"/>
              </a:solidFill>
              <a:latin typeface="等线"/>
            </a:endParaRPr>
          </a:p>
          <a:p>
            <a:pPr lvl="3" marL="1728000" indent="-216000">
              <a:lnSpc>
                <a:spcPct val="90000"/>
              </a:lnSpc>
              <a:spcBef>
                <a:spcPts val="567"/>
              </a:spcBef>
              <a:buClr>
                <a:srgbClr val="000000"/>
              </a:buClr>
              <a:buSzPct val="75000"/>
              <a:buFont typeface="Symbol" charset="2"/>
              <a:buChar char=""/>
            </a:pPr>
            <a:r>
              <a:rPr b="0" lang="en-US" sz="1800" spc="-1" strike="noStrike">
                <a:solidFill>
                  <a:srgbClr val="000000"/>
                </a:solidFill>
                <a:latin typeface="等线"/>
              </a:rPr>
              <a:t>Fourth Outline Level</a:t>
            </a:r>
            <a:endParaRPr b="0" lang="en-US" sz="1800" spc="-1" strike="noStrike">
              <a:solidFill>
                <a:srgbClr val="000000"/>
              </a:solidFill>
              <a:latin typeface="等线"/>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等线"/>
              </a:rPr>
              <a:t>Fifth Outline Level</a:t>
            </a:r>
            <a:endParaRPr b="0" lang="en-US" sz="2000" spc="-1" strike="noStrike">
              <a:solidFill>
                <a:srgbClr val="000000"/>
              </a:solidFill>
              <a:latin typeface="等线"/>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等线"/>
              </a:rPr>
              <a:t>Sixth Outline Level</a:t>
            </a:r>
            <a:endParaRPr b="0" lang="en-US" sz="2000" spc="-1" strike="noStrike">
              <a:solidFill>
                <a:srgbClr val="000000"/>
              </a:solidFill>
              <a:latin typeface="等线"/>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等线"/>
              </a:rPr>
              <a:t>Seventh Outline Level</a:t>
            </a:r>
            <a:endParaRPr b="0" lang="en-US" sz="2000" spc="-1" strike="noStrike">
              <a:solidFill>
                <a:srgbClr val="000000"/>
              </a:solidFill>
              <a:latin typeface="等线"/>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1523880" y="1122480"/>
            <a:ext cx="9143640" cy="2387160"/>
          </a:xfrm>
          <a:prstGeom prst="rect">
            <a:avLst/>
          </a:prstGeom>
          <a:noFill/>
          <a:ln w="0">
            <a:noFill/>
          </a:ln>
        </p:spPr>
        <p:txBody>
          <a:bodyPr anchor="b">
            <a:noAutofit/>
          </a:bodyPr>
          <a:p>
            <a:pPr algn="ctr">
              <a:lnSpc>
                <a:spcPct val="90000"/>
              </a:lnSpc>
              <a:buNone/>
            </a:pPr>
            <a:r>
              <a:rPr b="0" lang="zh-CN" sz="6000" spc="-1" strike="noStrike">
                <a:solidFill>
                  <a:srgbClr val="000000"/>
                </a:solidFill>
                <a:latin typeface="等线 Light"/>
              </a:rPr>
              <a:t>单击此</a:t>
            </a:r>
            <a:r>
              <a:rPr b="0" lang="zh-CN" sz="6000" spc="-1" strike="noStrike">
                <a:solidFill>
                  <a:srgbClr val="000000"/>
                </a:solidFill>
                <a:latin typeface="等线 Light"/>
              </a:rPr>
              <a:t>处编辑</a:t>
            </a:r>
            <a:r>
              <a:rPr b="0" lang="zh-CN" sz="6000" spc="-1" strike="noStrike">
                <a:solidFill>
                  <a:srgbClr val="000000"/>
                </a:solidFill>
                <a:latin typeface="等线 Light"/>
              </a:rPr>
              <a:t>母版标</a:t>
            </a:r>
            <a:r>
              <a:rPr b="0" lang="zh-CN" sz="6000" spc="-1" strike="noStrike">
                <a:solidFill>
                  <a:srgbClr val="000000"/>
                </a:solidFill>
                <a:latin typeface="等线 Light"/>
              </a:rPr>
              <a:t>题样式</a:t>
            </a:r>
            <a:endParaRPr b="0" lang="en-US" sz="6000" spc="-1" strike="noStrike">
              <a:solidFill>
                <a:srgbClr val="000000"/>
              </a:solidFill>
              <a:latin typeface="等线"/>
            </a:endParaRPr>
          </a:p>
        </p:txBody>
      </p:sp>
      <p:sp>
        <p:nvSpPr>
          <p:cNvPr id="78" name="PlaceHolder 2"/>
          <p:cNvSpPr>
            <a:spLocks noGrp="1"/>
          </p:cNvSpPr>
          <p:nvPr>
            <p:ph type="dt" idx="2"/>
          </p:nvPr>
        </p:nvSpPr>
        <p:spPr>
          <a:xfrm>
            <a:off x="838080" y="6356520"/>
            <a:ext cx="2742840" cy="364680"/>
          </a:xfrm>
          <a:prstGeom prst="rect">
            <a:avLst/>
          </a:prstGeom>
          <a:noFill/>
          <a:ln w="0">
            <a:noFill/>
          </a:ln>
        </p:spPr>
        <p:txBody>
          <a:bodyPr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79" name="PlaceHolder 3"/>
          <p:cNvSpPr>
            <a:spLocks noGrp="1"/>
          </p:cNvSpPr>
          <p:nvPr>
            <p:ph type="ftr" idx="3"/>
          </p:nvPr>
        </p:nvSpPr>
        <p:spPr>
          <a:xfrm>
            <a:off x="4038480" y="6356520"/>
            <a:ext cx="411444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80" name="PlaceHolder 4"/>
          <p:cNvSpPr>
            <a:spLocks noGrp="1"/>
          </p:cNvSpPr>
          <p:nvPr>
            <p:ph type="sldNum" idx="4"/>
          </p:nvPr>
        </p:nvSpPr>
        <p:spPr>
          <a:xfrm>
            <a:off x="8610480" y="6356520"/>
            <a:ext cx="2742840" cy="364680"/>
          </a:xfrm>
          <a:prstGeom prst="rect">
            <a:avLst/>
          </a:prstGeom>
          <a:noFill/>
          <a:ln w="0">
            <a:noFill/>
          </a:ln>
        </p:spPr>
        <p:txBody>
          <a:bodyPr anchor="ctr">
            <a:noAutofit/>
          </a:bodyPr>
          <a:lstStyle>
            <a:lvl1pPr>
              <a:defRPr b="0" lang="en-US" sz="2400" spc="-1" strike="noStrike">
                <a:latin typeface="Times New Roman"/>
              </a:defRPr>
            </a:lvl1pPr>
          </a:lstStyle>
          <a:p>
            <a:endParaRPr b="0" lang="en-US" sz="2400" spc="-1" strike="noStrike">
              <a:latin typeface="Times New Roman"/>
            </a:endParaRPr>
          </a:p>
        </p:txBody>
      </p:sp>
      <p:sp>
        <p:nvSpPr>
          <p:cNvPr id="8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rgbClr val="000000"/>
                </a:solidFill>
                <a:latin typeface="等线"/>
              </a:rPr>
              <a:t>Click to edit the outline text format</a:t>
            </a:r>
            <a:endParaRPr b="0" lang="en-US" sz="2800" spc="-1" strike="noStrike">
              <a:solidFill>
                <a:srgbClr val="000000"/>
              </a:solidFill>
              <a:latin typeface="等线"/>
            </a:endParaRPr>
          </a:p>
          <a:p>
            <a:pPr lvl="1" marL="864000" indent="-324000">
              <a:lnSpc>
                <a:spcPct val="90000"/>
              </a:lnSpc>
              <a:spcBef>
                <a:spcPts val="1134"/>
              </a:spcBef>
              <a:buClr>
                <a:srgbClr val="000000"/>
              </a:buClr>
              <a:buSzPct val="75000"/>
              <a:buFont typeface="Symbol" charset="2"/>
              <a:buChar char=""/>
            </a:pPr>
            <a:r>
              <a:rPr b="0" lang="en-US" sz="2000" spc="-1" strike="noStrike">
                <a:solidFill>
                  <a:srgbClr val="000000"/>
                </a:solidFill>
                <a:latin typeface="等线"/>
              </a:rPr>
              <a:t>Second Outline Level</a:t>
            </a:r>
            <a:endParaRPr b="0" lang="en-US" sz="2000" spc="-1" strike="noStrike">
              <a:solidFill>
                <a:srgbClr val="000000"/>
              </a:solidFill>
              <a:latin typeface="等线"/>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rgbClr val="000000"/>
                </a:solidFill>
                <a:latin typeface="等线"/>
              </a:rPr>
              <a:t>Third Outline Level</a:t>
            </a:r>
            <a:endParaRPr b="0" lang="en-US" sz="1800" spc="-1" strike="noStrike">
              <a:solidFill>
                <a:srgbClr val="000000"/>
              </a:solidFill>
              <a:latin typeface="等线"/>
            </a:endParaRPr>
          </a:p>
          <a:p>
            <a:pPr lvl="3" marL="1728000" indent="-216000">
              <a:lnSpc>
                <a:spcPct val="90000"/>
              </a:lnSpc>
              <a:spcBef>
                <a:spcPts val="567"/>
              </a:spcBef>
              <a:buClr>
                <a:srgbClr val="000000"/>
              </a:buClr>
              <a:buSzPct val="75000"/>
              <a:buFont typeface="Symbol" charset="2"/>
              <a:buChar char=""/>
            </a:pPr>
            <a:r>
              <a:rPr b="0" lang="en-US" sz="1800" spc="-1" strike="noStrike">
                <a:solidFill>
                  <a:srgbClr val="000000"/>
                </a:solidFill>
                <a:latin typeface="等线"/>
              </a:rPr>
              <a:t>Fourth Outline Level</a:t>
            </a:r>
            <a:endParaRPr b="0" lang="en-US" sz="1800" spc="-1" strike="noStrike">
              <a:solidFill>
                <a:srgbClr val="000000"/>
              </a:solidFill>
              <a:latin typeface="等线"/>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等线"/>
              </a:rPr>
              <a:t>Fifth Outline Level</a:t>
            </a:r>
            <a:endParaRPr b="0" lang="en-US" sz="2000" spc="-1" strike="noStrike">
              <a:solidFill>
                <a:srgbClr val="000000"/>
              </a:solidFill>
              <a:latin typeface="等线"/>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等线"/>
              </a:rPr>
              <a:t>Sixth Outline Level</a:t>
            </a:r>
            <a:endParaRPr b="0" lang="en-US" sz="2000" spc="-1" strike="noStrike">
              <a:solidFill>
                <a:srgbClr val="000000"/>
              </a:solidFill>
              <a:latin typeface="等线"/>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等线"/>
              </a:rPr>
              <a:t>Seventh Outline Level</a:t>
            </a:r>
            <a:endParaRPr b="0" lang="en-US" sz="2000" spc="-1" strike="noStrike">
              <a:solidFill>
                <a:srgbClr val="000000"/>
              </a:solidFill>
              <a:latin typeface="等线"/>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7.xml.rels><?xml version='1.0' encoding='UTF-8' standalone='yes'?>
<Relationships xmlns="http://schemas.openxmlformats.org/package/2006/relationships"><Relationship Id="rId1" Type="http://schemas.openxmlformats.org/officeDocument/2006/relationships/image" Target="../media/image3.wmf"/><Relationship Id="rId2" Type="http://schemas.openxmlformats.org/officeDocument/2006/relationships/image" Target="../media/image4.wmf"/><Relationship Id="rId3" Type="http://schemas.openxmlformats.org/officeDocument/2006/relationships/image" Target="../media/image5.wmf"/><Relationship Id="rId4"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jpeg"/><Relationship Id="rId5" Type="http://schemas.openxmlformats.org/officeDocument/2006/relationships/image" Target="../media/image10.png"/><Relationship Id="rId6"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6.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slideLayout" Target="../slideLayouts/slideLayout26.xml"/>
</Relationships>
</file>

<file path=ppt/slides/_rels/slide12.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6.xml"/>
</Relationships>
</file>

<file path=ppt/slides/_rels/slide13.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slideLayout" Target="../slideLayouts/slideLayout26.xml"/>
</Relationships>
</file>

<file path=ppt/slides/_rels/slide1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slideLayout" Target="../slideLayouts/slideLayout26.xml"/>
</Relationships>
</file>

<file path=ppt/slides/_rels/slide15.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slideLayout" Target="../slideLayouts/slideLayout26.xml"/></Relationships>
</file>

<file path=ppt/slides/_rels/slide16.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slideLayout" Target="../slideLayouts/slideLayout2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4.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22.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4" name="Group 33"/>
          <p:cNvGraphicFramePr/>
          <p:nvPr/>
        </p:nvGraphicFramePr>
        <p:xfrm>
          <a:off x="3351600" y="4676760"/>
          <a:ext cx="8030520" cy="399600"/>
        </p:xfrm>
        <a:graphic>
          <a:graphicData uri="http://schemas.openxmlformats.org/drawingml/2006/table">
            <a:tbl>
              <a:tblPr/>
              <a:tblGrid>
                <a:gridCol w="1987200"/>
                <a:gridCol w="6043320"/>
              </a:tblGrid>
              <a:tr h="421920">
                <a:tc>
                  <a:txBody>
                    <a:bodyPr tIns="45360" bIns="45360" anchor="ctr">
                      <a:noAutofit/>
                    </a:bodyPr>
                    <a:p>
                      <a:pPr>
                        <a:lnSpc>
                          <a:spcPct val="100000"/>
                        </a:lnSpc>
                        <a:spcBef>
                          <a:spcPts val="300"/>
                        </a:spcBef>
                        <a:buNone/>
                        <a:tabLst>
                          <a:tab algn="l" pos="0"/>
                        </a:tabLst>
                      </a:pPr>
                      <a:r>
                        <a:rPr b="1" lang="zh-CN" sz="1800" spc="-1" strike="noStrike">
                          <a:solidFill>
                            <a:srgbClr val="000000"/>
                          </a:solidFill>
                          <a:latin typeface="微软雅黑"/>
                          <a:ea typeface="微软雅黑"/>
                        </a:rPr>
                        <a:t>任务负责人：</a:t>
                      </a:r>
                      <a:endParaRPr b="0" lang="en-US" sz="1800" spc="-1" strike="noStrike">
                        <a:latin typeface="Arial"/>
                      </a:endParaRPr>
                    </a:p>
                  </a:txBody>
                  <a:tcPr anchor="ctr" marL="91440" marR="91440">
                    <a:lnL w="12240">
                      <a:noFill/>
                    </a:lnL>
                    <a:lnR w="12240">
                      <a:noFill/>
                    </a:lnR>
                    <a:lnT w="12240">
                      <a:noFill/>
                    </a:lnT>
                    <a:lnB w="12240">
                      <a:noFill/>
                    </a:lnB>
                    <a:noFill/>
                  </a:tcPr>
                </a:tc>
                <a:tc>
                  <a:txBody>
                    <a:bodyPr tIns="45360" bIns="45360" anchor="ctr">
                      <a:noAutofit/>
                    </a:bodyPr>
                    <a:p>
                      <a:pPr>
                        <a:lnSpc>
                          <a:spcPct val="100000"/>
                        </a:lnSpc>
                        <a:spcBef>
                          <a:spcPts val="300"/>
                        </a:spcBef>
                        <a:buNone/>
                        <a:tabLst>
                          <a:tab algn="l" pos="0"/>
                        </a:tabLst>
                      </a:pPr>
                      <a:r>
                        <a:rPr b="1" lang="zh-CN" sz="1800" spc="-1" strike="noStrike">
                          <a:solidFill>
                            <a:srgbClr val="000000"/>
                          </a:solidFill>
                          <a:latin typeface="微软雅黑"/>
                          <a:ea typeface="微软雅黑"/>
                        </a:rPr>
                        <a:t>陈星延</a:t>
                      </a:r>
                      <a:endParaRPr b="0" lang="en-US" sz="1800" spc="-1" strike="noStrike">
                        <a:latin typeface="Arial"/>
                      </a:endParaRPr>
                    </a:p>
                  </a:txBody>
                  <a:tcPr anchor="ctr" marL="91440" marR="91440">
                    <a:lnL w="12240">
                      <a:noFill/>
                    </a:lnL>
                    <a:lnR w="12240">
                      <a:noFill/>
                    </a:lnR>
                    <a:lnT w="12240">
                      <a:noFill/>
                    </a:lnT>
                    <a:lnB w="12240">
                      <a:noFill/>
                    </a:lnB>
                    <a:noFill/>
                  </a:tcPr>
                </a:tc>
              </a:tr>
              <a:tr h="421920">
                <a:tc>
                  <a:txBody>
                    <a:bodyPr tIns="45360" bIns="45360" anchor="ctr">
                      <a:noAutofit/>
                    </a:bodyPr>
                    <a:p>
                      <a:pPr>
                        <a:lnSpc>
                          <a:spcPct val="100000"/>
                        </a:lnSpc>
                        <a:spcBef>
                          <a:spcPts val="300"/>
                        </a:spcBef>
                        <a:buNone/>
                        <a:tabLst>
                          <a:tab algn="l" pos="0"/>
                        </a:tabLst>
                      </a:pPr>
                      <a:r>
                        <a:rPr b="1" lang="zh-CN" sz="1800" spc="-1" strike="noStrike">
                          <a:solidFill>
                            <a:srgbClr val="000000"/>
                          </a:solidFill>
                          <a:latin typeface="微软雅黑"/>
                          <a:ea typeface="微软雅黑"/>
                        </a:rPr>
                        <a:t>任务承担单位：</a:t>
                      </a:r>
                      <a:endParaRPr b="0" lang="en-US" sz="1800" spc="-1" strike="noStrike">
                        <a:latin typeface="Arial"/>
                      </a:endParaRPr>
                    </a:p>
                  </a:txBody>
                  <a:tcPr anchor="ctr" marL="91440" marR="91440">
                    <a:lnL w="12240">
                      <a:noFill/>
                    </a:lnL>
                    <a:lnR w="12240">
                      <a:noFill/>
                    </a:lnR>
                    <a:lnT w="12240">
                      <a:noFill/>
                    </a:lnT>
                    <a:lnB w="12240">
                      <a:noFill/>
                    </a:lnB>
                    <a:noFill/>
                  </a:tcPr>
                </a:tc>
                <a:tc>
                  <a:txBody>
                    <a:bodyPr tIns="45360" bIns="45360" anchor="ctr">
                      <a:noAutofit/>
                    </a:bodyPr>
                    <a:p>
                      <a:pPr>
                        <a:lnSpc>
                          <a:spcPct val="100000"/>
                        </a:lnSpc>
                        <a:spcBef>
                          <a:spcPts val="300"/>
                        </a:spcBef>
                        <a:buNone/>
                        <a:tabLst>
                          <a:tab algn="l" pos="0"/>
                        </a:tabLst>
                      </a:pPr>
                      <a:r>
                        <a:rPr b="1" lang="zh-CN" sz="1800" spc="-1" strike="noStrike">
                          <a:solidFill>
                            <a:srgbClr val="000000"/>
                          </a:solidFill>
                          <a:latin typeface="微软雅黑"/>
                          <a:ea typeface="微软雅黑"/>
                        </a:rPr>
                        <a:t>北京邮电大学</a:t>
                      </a:r>
                      <a:endParaRPr b="0" lang="en-US" sz="1800" spc="-1" strike="noStrike">
                        <a:latin typeface="Arial"/>
                      </a:endParaRPr>
                    </a:p>
                  </a:txBody>
                  <a:tcPr anchor="ctr" marL="91440" marR="91440">
                    <a:lnL w="12240">
                      <a:noFill/>
                    </a:lnL>
                    <a:lnR w="12240">
                      <a:noFill/>
                    </a:lnR>
                    <a:lnT w="12240">
                      <a:noFill/>
                    </a:lnT>
                    <a:lnB w="12240">
                      <a:noFill/>
                    </a:lnB>
                    <a:noFill/>
                  </a:tcPr>
                </a:tc>
              </a:tr>
            </a:tbl>
          </a:graphicData>
        </a:graphic>
      </p:graphicFrame>
      <p:sp>
        <p:nvSpPr>
          <p:cNvPr id="125" name="矩形 7"/>
          <p:cNvSpPr/>
          <p:nvPr/>
        </p:nvSpPr>
        <p:spPr>
          <a:xfrm>
            <a:off x="0" y="1359720"/>
            <a:ext cx="12191760" cy="2429640"/>
          </a:xfrm>
          <a:prstGeom prst="rect">
            <a:avLst/>
          </a:prstGeom>
          <a:solidFill>
            <a:srgbClr val="006f6b"/>
          </a:solidFill>
          <a:ln>
            <a:solidFill>
              <a:srgbClr val="006f6b"/>
            </a:solidFill>
          </a:ln>
        </p:spPr>
        <p:style>
          <a:lnRef idx="2">
            <a:schemeClr val="accent1">
              <a:shade val="50000"/>
            </a:schemeClr>
          </a:lnRef>
          <a:fillRef idx="1">
            <a:schemeClr val="accent1"/>
          </a:fillRef>
          <a:effectRef idx="0">
            <a:schemeClr val="accent1"/>
          </a:effectRef>
          <a:fontRef idx="minor"/>
        </p:style>
      </p:sp>
      <p:sp>
        <p:nvSpPr>
          <p:cNvPr id="126" name="Rectangle 2"/>
          <p:cNvSpPr/>
          <p:nvPr/>
        </p:nvSpPr>
        <p:spPr>
          <a:xfrm>
            <a:off x="0" y="3205800"/>
            <a:ext cx="12240720" cy="540720"/>
          </a:xfrm>
          <a:prstGeom prst="rect">
            <a:avLst/>
          </a:prstGeom>
          <a:noFill/>
          <a:ln w="0">
            <a:noFill/>
          </a:ln>
        </p:spPr>
        <p:style>
          <a:lnRef idx="0"/>
          <a:fillRef idx="0"/>
          <a:effectRef idx="0"/>
          <a:fontRef idx="minor"/>
        </p:style>
        <p:txBody>
          <a:bodyPr lIns="84240" rIns="84240" tIns="42120" bIns="42120" anchor="b">
            <a:spAutoFit/>
          </a:bodyPr>
          <a:p>
            <a:pPr algn="ctr">
              <a:lnSpc>
                <a:spcPct val="100000"/>
              </a:lnSpc>
              <a:spcAft>
                <a:spcPts val="1199"/>
              </a:spcAft>
              <a:buNone/>
            </a:pPr>
            <a:r>
              <a:rPr b="1" lang="zh-CN" sz="3000" spc="-1" strike="noStrike">
                <a:solidFill>
                  <a:srgbClr val="ffe699"/>
                </a:solidFill>
                <a:latin typeface="微软雅黑"/>
                <a:ea typeface="微软雅黑"/>
              </a:rPr>
              <a:t>任务</a:t>
            </a:r>
            <a:r>
              <a:rPr b="1" lang="en-US" sz="3000" spc="-1" strike="noStrike">
                <a:solidFill>
                  <a:srgbClr val="ffe699"/>
                </a:solidFill>
                <a:latin typeface="微软雅黑"/>
                <a:ea typeface="微软雅黑"/>
              </a:rPr>
              <a:t>2</a:t>
            </a:r>
            <a:r>
              <a:rPr b="1" lang="zh-CN" sz="3000" spc="-1" strike="noStrike">
                <a:solidFill>
                  <a:srgbClr val="ffe699"/>
                </a:solidFill>
                <a:latin typeface="微软雅黑"/>
                <a:ea typeface="微软雅黑"/>
              </a:rPr>
              <a:t>：主配微电网分区解耦与潮流计算并行高效求解方法</a:t>
            </a:r>
            <a:endParaRPr b="0" lang="en-US" sz="3000" spc="-1" strike="noStrike">
              <a:latin typeface="Arial"/>
            </a:endParaRPr>
          </a:p>
        </p:txBody>
      </p:sp>
      <p:pic>
        <p:nvPicPr>
          <p:cNvPr id="127" name="图片 6" descr=""/>
          <p:cNvPicPr/>
          <p:nvPr/>
        </p:nvPicPr>
        <p:blipFill>
          <a:blip r:embed="rId1"/>
          <a:srcRect l="0" t="0" r="64444" b="-12552"/>
          <a:stretch/>
        </p:blipFill>
        <p:spPr>
          <a:xfrm>
            <a:off x="101520" y="126000"/>
            <a:ext cx="1137960" cy="1043280"/>
          </a:xfrm>
          <a:prstGeom prst="rect">
            <a:avLst/>
          </a:prstGeom>
          <a:ln w="0">
            <a:noFill/>
          </a:ln>
        </p:spPr>
      </p:pic>
      <p:sp>
        <p:nvSpPr>
          <p:cNvPr id="128" name="Rectangle 2"/>
          <p:cNvSpPr/>
          <p:nvPr/>
        </p:nvSpPr>
        <p:spPr>
          <a:xfrm>
            <a:off x="0" y="1486440"/>
            <a:ext cx="12191760" cy="1333440"/>
          </a:xfrm>
          <a:prstGeom prst="rect">
            <a:avLst/>
          </a:prstGeom>
          <a:noFill/>
          <a:ln w="0">
            <a:noFill/>
          </a:ln>
        </p:spPr>
        <p:style>
          <a:lnRef idx="0"/>
          <a:fillRef idx="0"/>
          <a:effectRef idx="0"/>
          <a:fontRef idx="minor"/>
        </p:style>
        <p:txBody>
          <a:bodyPr lIns="84240" rIns="84240" tIns="42120" bIns="42120" anchor="b">
            <a:spAutoFit/>
          </a:bodyPr>
          <a:p>
            <a:pPr algn="ctr">
              <a:lnSpc>
                <a:spcPct val="100000"/>
              </a:lnSpc>
              <a:spcAft>
                <a:spcPts val="1199"/>
              </a:spcAft>
              <a:buNone/>
            </a:pPr>
            <a:r>
              <a:rPr b="1" lang="zh-CN" sz="3600" spc="-1" strike="noStrike">
                <a:solidFill>
                  <a:srgbClr val="ffffff"/>
                </a:solidFill>
                <a:latin typeface="微软雅黑"/>
                <a:ea typeface="微软雅黑"/>
              </a:rPr>
              <a:t>多点分散源荷不确定性下主配微多时间尺度潮流优化</a:t>
            </a:r>
            <a:endParaRPr b="0" lang="en-US" sz="3600" spc="-1" strike="noStrike">
              <a:latin typeface="Arial"/>
            </a:endParaRPr>
          </a:p>
          <a:p>
            <a:pPr algn="ctr">
              <a:lnSpc>
                <a:spcPct val="100000"/>
              </a:lnSpc>
              <a:spcAft>
                <a:spcPts val="1199"/>
              </a:spcAft>
              <a:buNone/>
            </a:pPr>
            <a:r>
              <a:rPr b="1" lang="zh-CN" sz="3600" spc="-1" strike="noStrike">
                <a:solidFill>
                  <a:srgbClr val="ffffff"/>
                </a:solidFill>
                <a:latin typeface="微软雅黑"/>
                <a:ea typeface="微软雅黑"/>
              </a:rPr>
              <a:t>与安全分析技术</a:t>
            </a:r>
            <a:endParaRPr b="0" lang="en-US" sz="3600" spc="-1" strike="noStrike">
              <a:latin typeface="Arial"/>
            </a:endParaRPr>
          </a:p>
        </p:txBody>
      </p:sp>
      <p:sp>
        <p:nvSpPr>
          <p:cNvPr id="129" name="PlaceHolder 1"/>
          <p:cNvSpPr>
            <a:spLocks noGrp="1"/>
          </p:cNvSpPr>
          <p:nvPr>
            <p:ph type="sldNum" idx="8"/>
          </p:nvPr>
        </p:nvSpPr>
        <p:spPr>
          <a:xfrm>
            <a:off x="11765880" y="6507360"/>
            <a:ext cx="425880" cy="364680"/>
          </a:xfrm>
          <a:prstGeom prst="rect">
            <a:avLst/>
          </a:prstGeom>
          <a:noFill/>
          <a:ln w="0">
            <a:noFill/>
          </a:ln>
        </p:spPr>
        <p:txBody>
          <a:bodyPr anchor="ctr">
            <a:noAutofit/>
          </a:bodyPr>
          <a:lstStyle>
            <a:lvl1pPr>
              <a:defRPr b="0" lang="en-US" sz="2400" spc="-1" strike="noStrike">
                <a:latin typeface="Times New Roman"/>
              </a:defRPr>
            </a:lvl1pPr>
          </a:lstStyle>
          <a:p>
            <a:endParaRPr b="0" lang="en-US" sz="2400" spc="-1" strike="noStrike">
              <a:latin typeface="Times New Roman"/>
            </a:endParaRPr>
          </a:p>
        </p:txBody>
      </p:sp>
      <p:sp>
        <p:nvSpPr>
          <p:cNvPr id="130" name="矩形 1"/>
          <p:cNvSpPr/>
          <p:nvPr/>
        </p:nvSpPr>
        <p:spPr>
          <a:xfrm>
            <a:off x="1069560" y="400320"/>
            <a:ext cx="10052280" cy="5162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spcAft>
                <a:spcPts val="601"/>
              </a:spcAft>
              <a:buNone/>
            </a:pPr>
            <a:r>
              <a:rPr b="1" lang="zh-CN" sz="2800" spc="-1" strike="noStrike">
                <a:solidFill>
                  <a:srgbClr val="006f6b"/>
                </a:solidFill>
                <a:latin typeface="微软雅黑"/>
                <a:ea typeface="微软雅黑"/>
              </a:rPr>
              <a:t>智能电网国家科技重大专项</a:t>
            </a:r>
            <a:r>
              <a:rPr b="1" lang="en-US" sz="2800" spc="-1" strike="noStrike">
                <a:solidFill>
                  <a:srgbClr val="006f6b"/>
                </a:solidFill>
                <a:latin typeface="微软雅黑"/>
                <a:ea typeface="微软雅黑"/>
              </a:rPr>
              <a:t>——课题</a:t>
            </a:r>
            <a:r>
              <a:rPr b="1" lang="en-US" sz="2800" spc="-1" strike="noStrike">
                <a:solidFill>
                  <a:srgbClr val="006f6b"/>
                </a:solidFill>
                <a:latin typeface="微软雅黑"/>
                <a:ea typeface="微软雅黑"/>
              </a:rPr>
              <a:t>1</a:t>
            </a:r>
            <a:r>
              <a:rPr b="1" lang="zh-CN" sz="2800" spc="-1" strike="noStrike">
                <a:solidFill>
                  <a:srgbClr val="006f6b"/>
                </a:solidFill>
                <a:latin typeface="微软雅黑"/>
                <a:ea typeface="微软雅黑"/>
              </a:rPr>
              <a:t>月度推进会</a:t>
            </a:r>
            <a:endParaRPr b="0" lang="en-US" sz="2800" spc="-1" strike="noStrike">
              <a:latin typeface="Arial"/>
            </a:endParaRPr>
          </a:p>
        </p:txBody>
      </p:sp>
      <p:sp>
        <p:nvSpPr>
          <p:cNvPr id="131" name="直接连接符 9"/>
          <p:cNvSpPr/>
          <p:nvPr/>
        </p:nvSpPr>
        <p:spPr>
          <a:xfrm>
            <a:off x="1069560" y="985680"/>
            <a:ext cx="7794720" cy="360"/>
          </a:xfrm>
          <a:prstGeom prst="line">
            <a:avLst/>
          </a:prstGeom>
          <a:ln w="19050">
            <a:solidFill>
              <a:srgbClr val="006666"/>
            </a:solidFill>
          </a:ln>
        </p:spPr>
        <p:style>
          <a:lnRef idx="1">
            <a:schemeClr val="accent1"/>
          </a:lnRef>
          <a:fillRef idx="0">
            <a:schemeClr val="accent1"/>
          </a:fillRef>
          <a:effectRef idx="0">
            <a:schemeClr val="accent1"/>
          </a:effectRef>
          <a:fontRef idx="minor"/>
        </p:style>
      </p:sp>
      <p:sp>
        <p:nvSpPr>
          <p:cNvPr id="132" name="Rectangle 2"/>
          <p:cNvSpPr/>
          <p:nvPr/>
        </p:nvSpPr>
        <p:spPr>
          <a:xfrm>
            <a:off x="5122080" y="6315120"/>
            <a:ext cx="1947600" cy="388800"/>
          </a:xfrm>
          <a:prstGeom prst="rect">
            <a:avLst/>
          </a:prstGeom>
          <a:noFill/>
          <a:ln w="0">
            <a:noFill/>
          </a:ln>
        </p:spPr>
        <p:style>
          <a:lnRef idx="0"/>
          <a:fillRef idx="0"/>
          <a:effectRef idx="0"/>
          <a:fontRef idx="minor"/>
        </p:style>
        <p:txBody>
          <a:bodyPr lIns="84240" rIns="84240" tIns="42120" bIns="42120" anchor="b">
            <a:spAutoFit/>
          </a:bodyPr>
          <a:p>
            <a:pPr algn="ctr">
              <a:lnSpc>
                <a:spcPct val="100000"/>
              </a:lnSpc>
              <a:spcAft>
                <a:spcPts val="1199"/>
              </a:spcAft>
              <a:buNone/>
            </a:pPr>
            <a:r>
              <a:rPr b="1" lang="en-US" sz="2000" spc="-1" strike="noStrike">
                <a:solidFill>
                  <a:srgbClr val="000000"/>
                </a:solidFill>
                <a:latin typeface="微软雅黑"/>
                <a:ea typeface="微软雅黑"/>
              </a:rPr>
              <a:t>2026.03.04</a:t>
            </a:r>
            <a:endParaRPr b="0" lang="en-US" sz="2000" spc="-1" strike="noStrike">
              <a:latin typeface="Arial"/>
            </a:endParaRPr>
          </a:p>
        </p:txBody>
      </p:sp>
    </p:spTree>
  </p:cSld>
  <mc:AlternateContent>
    <mc:Choice Requires="p14">
      <p:transition p14:dur="10"/>
    </mc:Choice>
    <mc:Fallback>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3" name="组合 18"/>
          <p:cNvGrpSpPr/>
          <p:nvPr/>
        </p:nvGrpSpPr>
        <p:grpSpPr>
          <a:xfrm>
            <a:off x="917640" y="2426400"/>
            <a:ext cx="1326240" cy="2004840"/>
            <a:chOff x="917640" y="2426400"/>
            <a:chExt cx="1326240" cy="2004840"/>
          </a:xfrm>
        </p:grpSpPr>
        <p:sp>
          <p:nvSpPr>
            <p:cNvPr id="134" name="矩形 19"/>
            <p:cNvSpPr/>
            <p:nvPr/>
          </p:nvSpPr>
          <p:spPr>
            <a:xfrm>
              <a:off x="917640" y="2426400"/>
              <a:ext cx="1197360" cy="2004840"/>
            </a:xfrm>
            <a:prstGeom prst="rect">
              <a:avLst/>
            </a:prstGeom>
            <a:noFill/>
            <a:ln w="3175">
              <a:solidFill>
                <a:srgbClr val="00367a">
                  <a:alpha val="70000"/>
                </a:srgbClr>
              </a:solidFill>
            </a:ln>
          </p:spPr>
          <p:style>
            <a:lnRef idx="2">
              <a:schemeClr val="accent1">
                <a:shade val="50000"/>
              </a:schemeClr>
            </a:lnRef>
            <a:fillRef idx="1">
              <a:schemeClr val="accent1"/>
            </a:fillRef>
            <a:effectRef idx="0">
              <a:schemeClr val="accent1"/>
            </a:effectRef>
            <a:fontRef idx="minor"/>
          </p:style>
        </p:sp>
        <p:sp>
          <p:nvSpPr>
            <p:cNvPr id="135" name="文本框 20"/>
            <p:cNvSpPr/>
            <p:nvPr/>
          </p:nvSpPr>
          <p:spPr>
            <a:xfrm>
              <a:off x="2002320" y="2649240"/>
              <a:ext cx="241560" cy="1576080"/>
            </a:xfrm>
            <a:prstGeom prst="rect">
              <a:avLst/>
            </a:prstGeom>
            <a:solidFill>
              <a:srgbClr val="006f6b"/>
            </a:solidFill>
            <a:ln w="0">
              <a:noFill/>
            </a:ln>
          </p:spPr>
          <p:style>
            <a:lnRef idx="0"/>
            <a:fillRef idx="0"/>
            <a:effectRef idx="0"/>
            <a:fontRef idx="minor"/>
          </p:style>
          <p:txBody>
            <a:bodyPr lIns="72000" rIns="72000" tIns="36000" bIns="36000" anchor="t" vert="vert" rot="5400000">
              <a:noAutofit/>
            </a:bodyPr>
            <a:p>
              <a:pPr algn="ctr">
                <a:lnSpc>
                  <a:spcPct val="100000"/>
                </a:lnSpc>
                <a:buNone/>
                <a:tabLst>
                  <a:tab algn="l" pos="0"/>
                </a:tabLst>
              </a:pPr>
              <a:r>
                <a:rPr b="1" lang="en-US" sz="1100" spc="398" strike="noStrike">
                  <a:solidFill>
                    <a:srgbClr val="ffffff"/>
                  </a:solidFill>
                  <a:latin typeface="等线"/>
                </a:rPr>
                <a:t>CONTENTS</a:t>
              </a:r>
              <a:endParaRPr b="0" lang="en-US" sz="1100" spc="-1" strike="noStrike">
                <a:latin typeface="Arial"/>
              </a:endParaRPr>
            </a:p>
          </p:txBody>
        </p:sp>
        <p:sp>
          <p:nvSpPr>
            <p:cNvPr id="136" name="文本框 4"/>
            <p:cNvSpPr/>
            <p:nvPr/>
          </p:nvSpPr>
          <p:spPr>
            <a:xfrm>
              <a:off x="990000" y="2647440"/>
              <a:ext cx="920880" cy="1580040"/>
            </a:xfrm>
            <a:prstGeom prst="rect">
              <a:avLst/>
            </a:prstGeom>
            <a:noFill/>
            <a:ln w="0">
              <a:noFill/>
            </a:ln>
          </p:spPr>
          <p:style>
            <a:lnRef idx="0"/>
            <a:fillRef idx="0"/>
            <a:effectRef idx="0"/>
            <a:fontRef idx="minor"/>
          </p:style>
          <p:txBody>
            <a:bodyPr lIns="90000" rIns="90000" tIns="45000" bIns="45000" anchor="t" vert="vert" rot="5400000">
              <a:noAutofit/>
            </a:bodyPr>
            <a:p>
              <a:pPr>
                <a:lnSpc>
                  <a:spcPct val="100000"/>
                </a:lnSpc>
                <a:buNone/>
                <a:tabLst>
                  <a:tab algn="l" pos="0"/>
                </a:tabLst>
              </a:pPr>
              <a:r>
                <a:rPr b="1" lang="zh-CN" sz="4800" spc="-1" strike="noStrike">
                  <a:solidFill>
                    <a:srgbClr val="000000"/>
                  </a:solidFill>
                  <a:latin typeface="等线"/>
                </a:rPr>
                <a:t>目录</a:t>
              </a:r>
              <a:endParaRPr b="0" lang="en-US" sz="4800" spc="-1" strike="noStrike">
                <a:latin typeface="Arial"/>
              </a:endParaRPr>
            </a:p>
          </p:txBody>
        </p:sp>
      </p:grpSp>
      <p:grpSp>
        <p:nvGrpSpPr>
          <p:cNvPr id="137" name="组合 8"/>
          <p:cNvGrpSpPr/>
          <p:nvPr/>
        </p:nvGrpSpPr>
        <p:grpSpPr>
          <a:xfrm>
            <a:off x="3227760" y="2949840"/>
            <a:ext cx="6627600" cy="722880"/>
            <a:chOff x="3227760" y="2949840"/>
            <a:chExt cx="6627600" cy="722880"/>
          </a:xfrm>
        </p:grpSpPr>
        <p:sp>
          <p:nvSpPr>
            <p:cNvPr id="138" name="矩形 34"/>
            <p:cNvSpPr/>
            <p:nvPr/>
          </p:nvSpPr>
          <p:spPr>
            <a:xfrm>
              <a:off x="3227760" y="2949840"/>
              <a:ext cx="1711080" cy="71892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gn="ctr">
                <a:lnSpc>
                  <a:spcPct val="100000"/>
                </a:lnSpc>
                <a:buNone/>
              </a:pPr>
              <a:r>
                <a:rPr b="1" lang="zh-CN" sz="1800" spc="299" strike="noStrike">
                  <a:solidFill>
                    <a:srgbClr val="ffffff"/>
                  </a:solidFill>
                  <a:latin typeface="微软雅黑"/>
                  <a:ea typeface="微软雅黑"/>
                </a:rPr>
                <a:t>第二部分</a:t>
              </a:r>
              <a:endParaRPr b="0" lang="en-US" sz="1800" spc="-1" strike="noStrike">
                <a:latin typeface="Arial"/>
              </a:endParaRPr>
            </a:p>
          </p:txBody>
        </p:sp>
        <p:sp>
          <p:nvSpPr>
            <p:cNvPr id="139" name="矩形 5"/>
            <p:cNvSpPr/>
            <p:nvPr/>
          </p:nvSpPr>
          <p:spPr>
            <a:xfrm>
              <a:off x="5079240" y="2953800"/>
              <a:ext cx="4776120" cy="718920"/>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nSpc>
                  <a:spcPct val="100000"/>
                </a:lnSpc>
                <a:buNone/>
              </a:pPr>
              <a:r>
                <a:rPr b="1" lang="zh-CN" sz="2000" spc="-1" strike="noStrike">
                  <a:solidFill>
                    <a:srgbClr val="a6a6a6"/>
                  </a:solidFill>
                  <a:latin typeface="微软雅黑"/>
                  <a:ea typeface="微软雅黑"/>
                </a:rPr>
                <a:t>任务进展情况</a:t>
              </a:r>
              <a:endParaRPr b="0" lang="en-US" sz="2000" spc="-1" strike="noStrike">
                <a:latin typeface="Arial"/>
              </a:endParaRPr>
            </a:p>
          </p:txBody>
        </p:sp>
      </p:grpSp>
      <p:grpSp>
        <p:nvGrpSpPr>
          <p:cNvPr id="140" name="组合 6"/>
          <p:cNvGrpSpPr/>
          <p:nvPr/>
        </p:nvGrpSpPr>
        <p:grpSpPr>
          <a:xfrm>
            <a:off x="3227760" y="1262160"/>
            <a:ext cx="6627600" cy="719640"/>
            <a:chOff x="3227760" y="1262160"/>
            <a:chExt cx="6627600" cy="719640"/>
          </a:xfrm>
        </p:grpSpPr>
        <p:sp>
          <p:nvSpPr>
            <p:cNvPr id="141" name="矩形 7"/>
            <p:cNvSpPr/>
            <p:nvPr/>
          </p:nvSpPr>
          <p:spPr>
            <a:xfrm>
              <a:off x="3227760" y="1262160"/>
              <a:ext cx="1710360" cy="71964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gn="ctr">
                <a:lnSpc>
                  <a:spcPct val="100000"/>
                </a:lnSpc>
                <a:buNone/>
              </a:pPr>
              <a:r>
                <a:rPr b="1" lang="zh-CN" sz="1800" spc="299" strike="noStrike">
                  <a:solidFill>
                    <a:srgbClr val="ffffff"/>
                  </a:solidFill>
                  <a:latin typeface="微软雅黑"/>
                  <a:ea typeface="微软雅黑"/>
                </a:rPr>
                <a:t>第一部分</a:t>
              </a:r>
              <a:endParaRPr b="0" lang="en-US" sz="1800" spc="-1" strike="noStrike">
                <a:latin typeface="Arial"/>
              </a:endParaRPr>
            </a:p>
          </p:txBody>
        </p:sp>
        <p:sp>
          <p:nvSpPr>
            <p:cNvPr id="142" name="矩形 11"/>
            <p:cNvSpPr/>
            <p:nvPr/>
          </p:nvSpPr>
          <p:spPr>
            <a:xfrm>
              <a:off x="5079240" y="1262160"/>
              <a:ext cx="4776120" cy="719640"/>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nSpc>
                  <a:spcPct val="100000"/>
                </a:lnSpc>
                <a:buNone/>
              </a:pPr>
              <a:r>
                <a:rPr b="1" lang="zh-CN" sz="2000" spc="-1" strike="noStrike">
                  <a:solidFill>
                    <a:srgbClr val="000000"/>
                  </a:solidFill>
                  <a:latin typeface="微软雅黑"/>
                  <a:ea typeface="微软雅黑"/>
                </a:rPr>
                <a:t>任务设置情况</a:t>
              </a:r>
              <a:endParaRPr b="0" lang="en-US" sz="2000" spc="-1" strike="noStrike">
                <a:latin typeface="Arial"/>
              </a:endParaRPr>
            </a:p>
          </p:txBody>
        </p:sp>
      </p:grpSp>
      <p:grpSp>
        <p:nvGrpSpPr>
          <p:cNvPr id="143" name="组合 9"/>
          <p:cNvGrpSpPr/>
          <p:nvPr/>
        </p:nvGrpSpPr>
        <p:grpSpPr>
          <a:xfrm>
            <a:off x="3227760" y="4641120"/>
            <a:ext cx="6627600" cy="726480"/>
            <a:chOff x="3227760" y="4641120"/>
            <a:chExt cx="6627600" cy="726480"/>
          </a:xfrm>
        </p:grpSpPr>
        <p:sp>
          <p:nvSpPr>
            <p:cNvPr id="144" name="矩形 1"/>
            <p:cNvSpPr/>
            <p:nvPr/>
          </p:nvSpPr>
          <p:spPr>
            <a:xfrm>
              <a:off x="3227760" y="4641120"/>
              <a:ext cx="1711080" cy="71892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gn="ctr">
                <a:lnSpc>
                  <a:spcPct val="100000"/>
                </a:lnSpc>
                <a:buNone/>
              </a:pPr>
              <a:r>
                <a:rPr b="1" lang="zh-CN" sz="1800" spc="299" strike="noStrike">
                  <a:solidFill>
                    <a:srgbClr val="ffffff"/>
                  </a:solidFill>
                  <a:latin typeface="微软雅黑"/>
                  <a:ea typeface="微软雅黑"/>
                </a:rPr>
                <a:t>第三部分</a:t>
              </a:r>
              <a:endParaRPr b="0" lang="en-US" sz="1800" spc="-1" strike="noStrike">
                <a:latin typeface="Arial"/>
              </a:endParaRPr>
            </a:p>
          </p:txBody>
        </p:sp>
        <p:sp>
          <p:nvSpPr>
            <p:cNvPr id="145" name="矩形 2"/>
            <p:cNvSpPr/>
            <p:nvPr/>
          </p:nvSpPr>
          <p:spPr>
            <a:xfrm>
              <a:off x="5079240" y="4648680"/>
              <a:ext cx="4776120" cy="718920"/>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nSpc>
                  <a:spcPct val="100000"/>
                </a:lnSpc>
                <a:buNone/>
              </a:pPr>
              <a:r>
                <a:rPr b="1" lang="zh-CN" sz="2000" spc="-1" strike="noStrike">
                  <a:solidFill>
                    <a:srgbClr val="a6a6a6"/>
                  </a:solidFill>
                  <a:latin typeface="微软雅黑"/>
                  <a:ea typeface="微软雅黑"/>
                </a:rPr>
                <a:t>下一步工作计划</a:t>
              </a:r>
              <a:endParaRPr b="0" lang="en-US" sz="2000" spc="-1" strike="noStrike">
                <a:latin typeface="Arial"/>
              </a:endParaRPr>
            </a:p>
          </p:txBody>
        </p:sp>
      </p:grpSp>
      <p:sp>
        <p:nvSpPr>
          <p:cNvPr id="146" name="PlaceHolder 1"/>
          <p:cNvSpPr>
            <a:spLocks noGrp="1"/>
          </p:cNvSpPr>
          <p:nvPr>
            <p:ph type="sldNum" idx="9"/>
          </p:nvPr>
        </p:nvSpPr>
        <p:spPr>
          <a:xfrm>
            <a:off x="11765880" y="6492960"/>
            <a:ext cx="425880" cy="364680"/>
          </a:xfrm>
          <a:prstGeom prst="rect">
            <a:avLst/>
          </a:prstGeom>
          <a:noFill/>
          <a:ln w="0">
            <a:noFill/>
          </a:ln>
        </p:spPr>
        <p:txBody>
          <a:bodyPr anchor="ctr">
            <a:noAutofit/>
          </a:bodyPr>
          <a:lstStyle>
            <a:lvl1pPr>
              <a:defRPr b="0" lang="en-US" sz="2400" spc="-1" strike="noStrike">
                <a:latin typeface="Times New Roman"/>
              </a:defRPr>
            </a:lvl1pPr>
          </a:lstStyle>
          <a:p>
            <a:endParaRPr b="0" lang="en-US" sz="24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148"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149" name="文本框 1"/>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一 、任务总体情况</a:t>
            </a:r>
            <a:endParaRPr b="0" lang="en-US" sz="2400" spc="-1" strike="noStrike">
              <a:latin typeface="Arial"/>
            </a:endParaRPr>
          </a:p>
        </p:txBody>
      </p:sp>
      <p:sp>
        <p:nvSpPr>
          <p:cNvPr id="150" name="矩形 113"/>
          <p:cNvSpPr/>
          <p:nvPr/>
        </p:nvSpPr>
        <p:spPr>
          <a:xfrm>
            <a:off x="255240" y="745560"/>
            <a:ext cx="2228400" cy="39636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gn="ctr">
              <a:lnSpc>
                <a:spcPct val="100000"/>
              </a:lnSpc>
              <a:buNone/>
              <a:tabLst>
                <a:tab algn="l" pos="0"/>
              </a:tabLst>
            </a:pPr>
            <a:r>
              <a:rPr b="1" lang="zh-CN" sz="2000" spc="-1" strike="noStrike">
                <a:solidFill>
                  <a:srgbClr val="ffffff"/>
                </a:solidFill>
                <a:latin typeface="微软雅黑"/>
                <a:ea typeface="微软雅黑"/>
              </a:rPr>
              <a:t>研究内容设置情况</a:t>
            </a:r>
            <a:endParaRPr b="0" lang="en-US" sz="2000" spc="-1" strike="noStrike">
              <a:latin typeface="Arial"/>
            </a:endParaRPr>
          </a:p>
        </p:txBody>
      </p:sp>
      <p:sp>
        <p:nvSpPr>
          <p:cNvPr id="151" name="矩形 3"/>
          <p:cNvSpPr/>
          <p:nvPr/>
        </p:nvSpPr>
        <p:spPr>
          <a:xfrm>
            <a:off x="437040" y="1237680"/>
            <a:ext cx="11521080" cy="1848240"/>
          </a:xfrm>
          <a:prstGeom prst="rect">
            <a:avLst/>
          </a:prstGeom>
          <a:solidFill>
            <a:schemeClr val="accent6">
              <a:lumMod val="20000"/>
              <a:lumOff val="80000"/>
              <a:alpha val="10000"/>
            </a:schemeClr>
          </a:solidFill>
          <a:ln w="12700">
            <a:solidFill>
              <a:srgbClr val="006f6b"/>
            </a:solidFill>
            <a:round/>
          </a:ln>
        </p:spPr>
        <p:style>
          <a:lnRef idx="0"/>
          <a:fillRef idx="0"/>
          <a:effectRef idx="0"/>
          <a:fontRef idx="minor"/>
        </p:style>
        <p:txBody>
          <a:bodyPr lIns="90000" rIns="90000" tIns="45000" bIns="45000" anchor="t">
            <a:noAutofit/>
          </a:bodyPr>
          <a:p>
            <a:pPr algn="just">
              <a:lnSpc>
                <a:spcPct val="150000"/>
              </a:lnSpc>
              <a:buNone/>
              <a:tabLst>
                <a:tab algn="l" pos="0"/>
              </a:tabLst>
            </a:pPr>
            <a:r>
              <a:rPr b="0" lang="zh-CN" sz="2000" spc="-1" strike="noStrike">
                <a:solidFill>
                  <a:srgbClr val="000000"/>
                </a:solidFill>
                <a:latin typeface="微软雅黑"/>
                <a:ea typeface="微软雅黑"/>
              </a:rPr>
              <a:t>任务</a:t>
            </a:r>
            <a:r>
              <a:rPr b="0" lang="en-US" sz="2000" spc="-1" strike="noStrike">
                <a:solidFill>
                  <a:srgbClr val="000000"/>
                </a:solidFill>
                <a:latin typeface="微软雅黑"/>
                <a:ea typeface="微软雅黑"/>
              </a:rPr>
              <a:t>2</a:t>
            </a:r>
            <a:r>
              <a:rPr b="0" lang="zh-CN" sz="2000" spc="-1" strike="noStrike">
                <a:solidFill>
                  <a:srgbClr val="000000"/>
                </a:solidFill>
                <a:latin typeface="微软雅黑"/>
                <a:ea typeface="微软雅黑"/>
              </a:rPr>
              <a:t>包含</a:t>
            </a:r>
            <a:r>
              <a:rPr b="0" lang="en-US" sz="2000" spc="-1" strike="noStrike">
                <a:solidFill>
                  <a:srgbClr val="000000"/>
                </a:solidFill>
                <a:latin typeface="微软雅黑"/>
                <a:ea typeface="微软雅黑"/>
              </a:rPr>
              <a:t>4</a:t>
            </a:r>
            <a:r>
              <a:rPr b="0" lang="zh-CN" sz="2000" spc="-1" strike="noStrike">
                <a:solidFill>
                  <a:srgbClr val="000000"/>
                </a:solidFill>
                <a:latin typeface="微软雅黑"/>
                <a:ea typeface="微软雅黑"/>
              </a:rPr>
              <a:t>项研究内容，解决主配微电网潮流计算收敛难、效率低等问题，子任务</a:t>
            </a:r>
            <a:r>
              <a:rPr b="0" lang="en-US" sz="2000" spc="-1" strike="noStrike">
                <a:solidFill>
                  <a:srgbClr val="000000"/>
                </a:solidFill>
                <a:latin typeface="微软雅黑"/>
                <a:ea typeface="微软雅黑"/>
              </a:rPr>
              <a:t>1</a:t>
            </a:r>
            <a:r>
              <a:rPr b="0" lang="zh-CN" sz="2000" spc="-1" strike="noStrike">
                <a:solidFill>
                  <a:srgbClr val="000000"/>
                </a:solidFill>
                <a:latin typeface="微软雅黑"/>
                <a:ea typeface="微软雅黑"/>
              </a:rPr>
              <a:t>构建边界表征对齐与序网特征解耦融合潮流计算模型，子任务</a:t>
            </a:r>
            <a:r>
              <a:rPr b="0" lang="en-US" sz="2000" spc="-1" strike="noStrike">
                <a:solidFill>
                  <a:srgbClr val="000000"/>
                </a:solidFill>
                <a:latin typeface="微软雅黑"/>
                <a:ea typeface="微软雅黑"/>
              </a:rPr>
              <a:t>2</a:t>
            </a:r>
            <a:r>
              <a:rPr b="0" lang="zh-CN" sz="2000" spc="-1" strike="noStrike">
                <a:solidFill>
                  <a:srgbClr val="000000"/>
                </a:solidFill>
                <a:latin typeface="微软雅黑"/>
                <a:ea typeface="微软雅黑"/>
              </a:rPr>
              <a:t>构建多因素影响下多时间尺度潮流计算分区解耦与分布式并行求解方法，子任务</a:t>
            </a:r>
            <a:r>
              <a:rPr b="0" lang="en-US" sz="2000" spc="-1" strike="noStrike">
                <a:solidFill>
                  <a:srgbClr val="000000"/>
                </a:solidFill>
                <a:latin typeface="微软雅黑"/>
                <a:ea typeface="微软雅黑"/>
              </a:rPr>
              <a:t>3</a:t>
            </a:r>
            <a:r>
              <a:rPr b="0" lang="zh-CN" sz="2000" spc="-1" strike="noStrike">
                <a:solidFill>
                  <a:srgbClr val="000000"/>
                </a:solidFill>
                <a:latin typeface="微软雅黑"/>
                <a:ea typeface="微软雅黑"/>
              </a:rPr>
              <a:t>构建基于分区贡献度量的潮流收敛性分析及提升方法，子任务</a:t>
            </a:r>
            <a:r>
              <a:rPr b="0" lang="en-US" sz="2000" spc="-1" strike="noStrike">
                <a:solidFill>
                  <a:srgbClr val="000000"/>
                </a:solidFill>
                <a:latin typeface="微软雅黑"/>
                <a:ea typeface="微软雅黑"/>
              </a:rPr>
              <a:t>4</a:t>
            </a:r>
            <a:r>
              <a:rPr b="0" lang="zh-CN" sz="2000" spc="-1" strike="noStrike">
                <a:solidFill>
                  <a:srgbClr val="000000"/>
                </a:solidFill>
                <a:latin typeface="微软雅黑"/>
                <a:ea typeface="微软雅黑"/>
              </a:rPr>
              <a:t>构建基于深度蒙特卡洛的随机</a:t>
            </a:r>
            <a:r>
              <a:rPr b="0" lang="en-US" sz="2000" spc="-1" strike="noStrike">
                <a:solidFill>
                  <a:srgbClr val="000000"/>
                </a:solidFill>
                <a:latin typeface="微软雅黑"/>
                <a:ea typeface="微软雅黑"/>
              </a:rPr>
              <a:t>-</a:t>
            </a:r>
            <a:r>
              <a:rPr b="0" lang="zh-CN" sz="2000" spc="-1" strike="noStrike">
                <a:solidFill>
                  <a:srgbClr val="000000"/>
                </a:solidFill>
                <a:latin typeface="微软雅黑"/>
                <a:ea typeface="微软雅黑"/>
              </a:rPr>
              <a:t>动态混合潮流计算模块，完成计及多源荷不确定性的主配微高效稳定潮流计算。</a:t>
            </a:r>
            <a:endParaRPr b="0" lang="en-US" sz="2000" spc="-1" strike="noStrike">
              <a:latin typeface="Arial"/>
            </a:endParaRPr>
          </a:p>
        </p:txBody>
      </p:sp>
      <p:sp>
        <p:nvSpPr>
          <p:cNvPr id="152" name="矩形: 圆角 2"/>
          <p:cNvSpPr/>
          <p:nvPr/>
        </p:nvSpPr>
        <p:spPr>
          <a:xfrm>
            <a:off x="4428720" y="-5673600"/>
            <a:ext cx="914040" cy="914040"/>
          </a:xfrm>
          <a:prstGeom prst="roundRect">
            <a:avLst>
              <a:gd name="adj" fmla="val 16667"/>
            </a:avLst>
          </a:prstGeom>
          <a:noFill/>
          <a:ln w="0">
            <a:noFill/>
          </a:ln>
        </p:spPr>
        <p:style>
          <a:lnRef idx="0"/>
          <a:fillRef idx="0"/>
          <a:effectRef idx="0"/>
          <a:fontRef idx="minor"/>
        </p:style>
      </p:sp>
      <p:sp>
        <p:nvSpPr>
          <p:cNvPr id="153" name="矩形: 圆角 86"/>
          <p:cNvSpPr/>
          <p:nvPr/>
        </p:nvSpPr>
        <p:spPr>
          <a:xfrm>
            <a:off x="230400" y="3953880"/>
            <a:ext cx="889920" cy="1240920"/>
          </a:xfrm>
          <a:prstGeom prst="roundRect">
            <a:avLst>
              <a:gd name="adj" fmla="val 16667"/>
            </a:avLst>
          </a:prstGeom>
          <a:solidFill>
            <a:srgbClr val="cccc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1" lang="zh-CN" sz="1800" spc="-1" strike="noStrike">
                <a:solidFill>
                  <a:srgbClr val="000000"/>
                </a:solidFill>
                <a:latin typeface="微软雅黑"/>
                <a:ea typeface="微软雅黑"/>
              </a:rPr>
              <a:t>任务</a:t>
            </a:r>
            <a:r>
              <a:rPr b="1" lang="en-US" sz="1800" spc="-1" strike="noStrike">
                <a:solidFill>
                  <a:srgbClr val="000000"/>
                </a:solidFill>
                <a:latin typeface="微软雅黑"/>
                <a:ea typeface="微软雅黑"/>
              </a:rPr>
              <a:t>3</a:t>
            </a:r>
            <a:endParaRPr b="0" lang="en-US" sz="1800" spc="-1" strike="noStrike">
              <a:latin typeface="Arial"/>
            </a:endParaRPr>
          </a:p>
          <a:p>
            <a:pPr algn="ctr">
              <a:lnSpc>
                <a:spcPct val="100000"/>
              </a:lnSpc>
              <a:buNone/>
            </a:pPr>
            <a:r>
              <a:rPr b="1" lang="zh-CN" sz="1800" spc="-1" strike="noStrike">
                <a:solidFill>
                  <a:srgbClr val="000000"/>
                </a:solidFill>
                <a:latin typeface="微软雅黑"/>
                <a:ea typeface="微软雅黑"/>
              </a:rPr>
              <a:t>研究内容</a:t>
            </a:r>
            <a:endParaRPr b="0" lang="en-US" sz="1800" spc="-1" strike="noStrike">
              <a:latin typeface="Arial"/>
            </a:endParaRPr>
          </a:p>
        </p:txBody>
      </p:sp>
      <p:sp>
        <p:nvSpPr>
          <p:cNvPr id="154" name="矩形: 圆角 87"/>
          <p:cNvSpPr/>
          <p:nvPr/>
        </p:nvSpPr>
        <p:spPr>
          <a:xfrm>
            <a:off x="220680" y="5956920"/>
            <a:ext cx="823680" cy="767160"/>
          </a:xfrm>
          <a:prstGeom prst="roundRect">
            <a:avLst>
              <a:gd name="adj" fmla="val 16667"/>
            </a:avLst>
          </a:prstGeom>
          <a:solidFill>
            <a:srgbClr val="cccc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1" lang="zh-CN" sz="1800" spc="-1" strike="noStrike">
                <a:solidFill>
                  <a:srgbClr val="000000"/>
                </a:solidFill>
                <a:latin typeface="微软雅黑"/>
                <a:ea typeface="微软雅黑"/>
              </a:rPr>
              <a:t>预期目标</a:t>
            </a:r>
            <a:endParaRPr b="0" lang="en-US" sz="1800" spc="-1" strike="noStrike">
              <a:latin typeface="Arial"/>
            </a:endParaRPr>
          </a:p>
        </p:txBody>
      </p:sp>
      <p:sp>
        <p:nvSpPr>
          <p:cNvPr id="155" name="文本框 89"/>
          <p:cNvSpPr/>
          <p:nvPr/>
        </p:nvSpPr>
        <p:spPr>
          <a:xfrm>
            <a:off x="1717560" y="6095520"/>
            <a:ext cx="10062360" cy="549000"/>
          </a:xfrm>
          <a:prstGeom prst="round1Rect">
            <a:avLst>
              <a:gd name="adj" fmla="val 0"/>
            </a:avLst>
          </a:prstGeom>
          <a:solidFill>
            <a:schemeClr val="accent5">
              <a:lumMod val="40000"/>
              <a:lumOff val="60000"/>
            </a:schemeClr>
          </a:solidFill>
          <a:ln w="0">
            <a:noFill/>
          </a:ln>
        </p:spPr>
        <p:style>
          <a:lnRef idx="0"/>
          <a:fillRef idx="0"/>
          <a:effectRef idx="0"/>
          <a:fontRef idx="minor"/>
        </p:style>
        <p:txBody>
          <a:bodyPr lIns="90000" rIns="90000" tIns="45000" bIns="45000" anchor="ctr" anchorCtr="1">
            <a:noAutofit/>
          </a:bodyPr>
          <a:p>
            <a:pPr algn="ctr">
              <a:lnSpc>
                <a:spcPct val="100000"/>
              </a:lnSpc>
              <a:buNone/>
            </a:pPr>
            <a:r>
              <a:rPr b="1" lang="zh-CN" sz="1800" spc="-1" strike="noStrike">
                <a:solidFill>
                  <a:srgbClr val="000000"/>
                </a:solidFill>
                <a:latin typeface="微软雅黑"/>
                <a:ea typeface="微软雅黑"/>
              </a:rPr>
              <a:t>计及多源荷不确定性的主配微高效稳定潮流计算</a:t>
            </a:r>
            <a:endParaRPr b="0" lang="en-US" sz="1800" spc="-1" strike="noStrike">
              <a:latin typeface="Arial"/>
            </a:endParaRPr>
          </a:p>
        </p:txBody>
      </p:sp>
      <p:sp>
        <p:nvSpPr>
          <p:cNvPr id="156" name="矩形: 圆角 90"/>
          <p:cNvSpPr/>
          <p:nvPr/>
        </p:nvSpPr>
        <p:spPr>
          <a:xfrm>
            <a:off x="1196280" y="3497400"/>
            <a:ext cx="10661760" cy="2325600"/>
          </a:xfrm>
          <a:prstGeom prst="roundRect">
            <a:avLst>
              <a:gd name="adj" fmla="val 4670"/>
            </a:avLst>
          </a:prstGeom>
          <a:noFill/>
          <a:ln w="19050">
            <a:solidFill>
              <a:srgbClr val="325490"/>
            </a:solidFill>
            <a:prstDash val="dash"/>
          </a:ln>
        </p:spPr>
        <p:style>
          <a:lnRef idx="2">
            <a:schemeClr val="accent1">
              <a:shade val="50000"/>
            </a:schemeClr>
          </a:lnRef>
          <a:fillRef idx="1">
            <a:schemeClr val="accent1"/>
          </a:fillRef>
          <a:effectRef idx="0">
            <a:schemeClr val="accent1"/>
          </a:effectRef>
          <a:fontRef idx="minor"/>
        </p:style>
      </p:sp>
      <p:sp>
        <p:nvSpPr>
          <p:cNvPr id="157" name="矩形 94"/>
          <p:cNvSpPr/>
          <p:nvPr/>
        </p:nvSpPr>
        <p:spPr>
          <a:xfrm>
            <a:off x="1635120" y="3729960"/>
            <a:ext cx="3960720" cy="614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1" lang="zh-CN" sz="1800" spc="-1" strike="noStrike">
                <a:solidFill>
                  <a:srgbClr val="c00000"/>
                </a:solidFill>
                <a:latin typeface="微软雅黑"/>
                <a:ea typeface="微软雅黑"/>
              </a:rPr>
              <a:t>子任务</a:t>
            </a:r>
            <a:r>
              <a:rPr b="1" lang="en-US" sz="1800" spc="-1" strike="noStrike">
                <a:solidFill>
                  <a:srgbClr val="c00000"/>
                </a:solidFill>
                <a:latin typeface="微软雅黑"/>
                <a:ea typeface="微软雅黑"/>
              </a:rPr>
              <a:t>1</a:t>
            </a:r>
            <a:r>
              <a:rPr b="1" lang="zh-CN" sz="1800" spc="-1" strike="noStrike">
                <a:solidFill>
                  <a:srgbClr val="c00000"/>
                </a:solidFill>
                <a:latin typeface="微软雅黑"/>
                <a:ea typeface="微软雅黑"/>
              </a:rPr>
              <a:t>：</a:t>
            </a:r>
            <a:r>
              <a:rPr b="0" lang="zh-CN" sz="1800" spc="-1" strike="noStrike">
                <a:solidFill>
                  <a:srgbClr val="000000"/>
                </a:solidFill>
                <a:latin typeface="微软雅黑"/>
                <a:ea typeface="微软雅黑"/>
              </a:rPr>
              <a:t>相序结合的混合潮流计算</a:t>
            </a:r>
            <a:endParaRPr b="0" lang="en-US" sz="1800" spc="-1" strike="noStrike">
              <a:latin typeface="Arial"/>
            </a:endParaRPr>
          </a:p>
        </p:txBody>
      </p:sp>
      <p:sp>
        <p:nvSpPr>
          <p:cNvPr id="158" name="矩形 95"/>
          <p:cNvSpPr/>
          <p:nvPr/>
        </p:nvSpPr>
        <p:spPr>
          <a:xfrm>
            <a:off x="1635120" y="4866480"/>
            <a:ext cx="3960720" cy="649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1" lang="zh-CN" sz="1800" spc="-1" strike="noStrike">
                <a:solidFill>
                  <a:srgbClr val="c00000"/>
                </a:solidFill>
                <a:latin typeface="微软雅黑"/>
                <a:ea typeface="微软雅黑"/>
              </a:rPr>
              <a:t>子任务</a:t>
            </a:r>
            <a:r>
              <a:rPr b="1" lang="en-US" sz="1800" spc="-1" strike="noStrike">
                <a:solidFill>
                  <a:srgbClr val="c00000"/>
                </a:solidFill>
                <a:latin typeface="微软雅黑"/>
                <a:ea typeface="微软雅黑"/>
              </a:rPr>
              <a:t>2</a:t>
            </a:r>
            <a:r>
              <a:rPr b="1" lang="zh-CN" sz="1800" spc="-1" strike="noStrike">
                <a:solidFill>
                  <a:srgbClr val="c00000"/>
                </a:solidFill>
                <a:latin typeface="微软雅黑"/>
                <a:ea typeface="微软雅黑"/>
              </a:rPr>
              <a:t>：</a:t>
            </a:r>
            <a:r>
              <a:rPr b="0" lang="zh-CN" sz="1800" spc="-1" strike="noStrike">
                <a:solidFill>
                  <a:srgbClr val="000000"/>
                </a:solidFill>
                <a:latin typeface="微软雅黑"/>
                <a:ea typeface="微软雅黑"/>
              </a:rPr>
              <a:t>多时间断面随机潮流计算</a:t>
            </a:r>
            <a:endParaRPr b="0" lang="en-US" sz="1800" spc="-1" strike="noStrike">
              <a:latin typeface="Arial"/>
            </a:endParaRPr>
          </a:p>
        </p:txBody>
      </p:sp>
      <p:sp>
        <p:nvSpPr>
          <p:cNvPr id="159" name="矩形 123"/>
          <p:cNvSpPr/>
          <p:nvPr/>
        </p:nvSpPr>
        <p:spPr>
          <a:xfrm>
            <a:off x="7456320" y="3723480"/>
            <a:ext cx="3795840" cy="6141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1" lang="zh-CN" sz="1800" spc="-1" strike="noStrike">
                <a:solidFill>
                  <a:srgbClr val="c00000"/>
                </a:solidFill>
                <a:latin typeface="微软雅黑"/>
                <a:ea typeface="微软雅黑"/>
              </a:rPr>
              <a:t>子任务</a:t>
            </a:r>
            <a:r>
              <a:rPr b="1" lang="en-US" sz="1800" spc="-1" strike="noStrike">
                <a:solidFill>
                  <a:srgbClr val="c00000"/>
                </a:solidFill>
                <a:latin typeface="微软雅黑"/>
                <a:ea typeface="微软雅黑"/>
              </a:rPr>
              <a:t>3</a:t>
            </a:r>
            <a:r>
              <a:rPr b="1" lang="zh-CN" sz="1800" spc="-1" strike="noStrike">
                <a:solidFill>
                  <a:srgbClr val="c00000"/>
                </a:solidFill>
                <a:latin typeface="微软雅黑"/>
                <a:ea typeface="微软雅黑"/>
              </a:rPr>
              <a:t>：</a:t>
            </a:r>
            <a:r>
              <a:rPr b="0" lang="zh-CN" sz="1800" spc="-1" strike="noStrike">
                <a:solidFill>
                  <a:srgbClr val="000000"/>
                </a:solidFill>
                <a:latin typeface="微软雅黑"/>
                <a:ea typeface="微软雅黑"/>
              </a:rPr>
              <a:t>分区解耦与并行求解方法</a:t>
            </a:r>
            <a:endParaRPr b="0" lang="en-US" sz="1800" spc="-1" strike="noStrike">
              <a:latin typeface="Arial"/>
            </a:endParaRPr>
          </a:p>
        </p:txBody>
      </p:sp>
      <p:sp>
        <p:nvSpPr>
          <p:cNvPr id="160" name="矩形 124"/>
          <p:cNvSpPr/>
          <p:nvPr/>
        </p:nvSpPr>
        <p:spPr>
          <a:xfrm>
            <a:off x="7485480" y="4847760"/>
            <a:ext cx="3767760" cy="649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1" lang="zh-CN" sz="1800" spc="-1" strike="noStrike">
                <a:solidFill>
                  <a:srgbClr val="c00000"/>
                </a:solidFill>
                <a:latin typeface="微软雅黑"/>
                <a:ea typeface="微软雅黑"/>
              </a:rPr>
              <a:t>子任务</a:t>
            </a:r>
            <a:r>
              <a:rPr b="1" lang="en-US" sz="1800" spc="-1" strike="noStrike">
                <a:solidFill>
                  <a:srgbClr val="c00000"/>
                </a:solidFill>
                <a:latin typeface="微软雅黑"/>
                <a:ea typeface="微软雅黑"/>
              </a:rPr>
              <a:t>4</a:t>
            </a:r>
            <a:r>
              <a:rPr b="1" lang="zh-CN" sz="1800" spc="-1" strike="noStrike">
                <a:solidFill>
                  <a:srgbClr val="c00000"/>
                </a:solidFill>
                <a:latin typeface="微软雅黑"/>
                <a:ea typeface="微软雅黑"/>
              </a:rPr>
              <a:t>：</a:t>
            </a:r>
            <a:r>
              <a:rPr b="0" lang="zh-CN" sz="1800" spc="-1" strike="noStrike">
                <a:solidFill>
                  <a:srgbClr val="000000"/>
                </a:solidFill>
                <a:latin typeface="微软雅黑"/>
                <a:ea typeface="微软雅黑"/>
              </a:rPr>
              <a:t>潮流收敛性分析及提升</a:t>
            </a:r>
            <a:endParaRPr b="0" lang="en-US" sz="1800" spc="-1" strike="noStrike">
              <a:latin typeface="Arial"/>
            </a:endParaRPr>
          </a:p>
        </p:txBody>
      </p:sp>
      <p:grpSp>
        <p:nvGrpSpPr>
          <p:cNvPr id="161" name="组合 134"/>
          <p:cNvGrpSpPr/>
          <p:nvPr/>
        </p:nvGrpSpPr>
        <p:grpSpPr>
          <a:xfrm>
            <a:off x="3459240" y="4446000"/>
            <a:ext cx="263880" cy="258480"/>
            <a:chOff x="3459240" y="4446000"/>
            <a:chExt cx="263880" cy="258480"/>
          </a:xfrm>
        </p:grpSpPr>
        <p:sp>
          <p:nvSpPr>
            <p:cNvPr id="162" name="直接连接符 127"/>
            <p:cNvSpPr/>
            <p:nvPr/>
          </p:nvSpPr>
          <p:spPr>
            <a:xfrm>
              <a:off x="3459240" y="4578120"/>
              <a:ext cx="263880" cy="360"/>
            </a:xfrm>
            <a:prstGeom prst="line">
              <a:avLst/>
            </a:prstGeom>
            <a:ln w="28575">
              <a:solidFill>
                <a:srgbClr val="4472c4"/>
              </a:solidFill>
            </a:ln>
          </p:spPr>
          <p:style>
            <a:lnRef idx="1">
              <a:schemeClr val="accent1"/>
            </a:lnRef>
            <a:fillRef idx="0">
              <a:schemeClr val="accent1"/>
            </a:fillRef>
            <a:effectRef idx="0">
              <a:schemeClr val="accent1"/>
            </a:effectRef>
            <a:fontRef idx="minor"/>
          </p:style>
        </p:sp>
        <p:sp>
          <p:nvSpPr>
            <p:cNvPr id="163" name="直接连接符 128"/>
            <p:cNvSpPr/>
            <p:nvPr/>
          </p:nvSpPr>
          <p:spPr>
            <a:xfrm flipV="1">
              <a:off x="3588480" y="4446000"/>
              <a:ext cx="360" cy="258480"/>
            </a:xfrm>
            <a:prstGeom prst="line">
              <a:avLst/>
            </a:prstGeom>
            <a:ln w="28575">
              <a:solidFill>
                <a:srgbClr val="4472c4"/>
              </a:solidFill>
            </a:ln>
          </p:spPr>
          <p:style>
            <a:lnRef idx="1">
              <a:schemeClr val="accent1"/>
            </a:lnRef>
            <a:fillRef idx="0">
              <a:schemeClr val="accent1"/>
            </a:fillRef>
            <a:effectRef idx="0">
              <a:schemeClr val="accent1"/>
            </a:effectRef>
            <a:fontRef idx="minor"/>
          </p:style>
        </p:sp>
      </p:grpSp>
      <p:grpSp>
        <p:nvGrpSpPr>
          <p:cNvPr id="164" name="组合 4"/>
          <p:cNvGrpSpPr/>
          <p:nvPr/>
        </p:nvGrpSpPr>
        <p:grpSpPr>
          <a:xfrm>
            <a:off x="6421680" y="3874680"/>
            <a:ext cx="263880" cy="258480"/>
            <a:chOff x="6421680" y="3874680"/>
            <a:chExt cx="263880" cy="258480"/>
          </a:xfrm>
        </p:grpSpPr>
        <p:sp>
          <p:nvSpPr>
            <p:cNvPr id="165" name="直接连接符 5"/>
            <p:cNvSpPr/>
            <p:nvPr/>
          </p:nvSpPr>
          <p:spPr>
            <a:xfrm>
              <a:off x="6421680" y="4006800"/>
              <a:ext cx="263880" cy="360"/>
            </a:xfrm>
            <a:prstGeom prst="line">
              <a:avLst/>
            </a:prstGeom>
            <a:ln w="28575">
              <a:solidFill>
                <a:srgbClr val="4472c4"/>
              </a:solidFill>
            </a:ln>
          </p:spPr>
          <p:style>
            <a:lnRef idx="1">
              <a:schemeClr val="accent1"/>
            </a:lnRef>
            <a:fillRef idx="0">
              <a:schemeClr val="accent1"/>
            </a:fillRef>
            <a:effectRef idx="0">
              <a:schemeClr val="accent1"/>
            </a:effectRef>
            <a:fontRef idx="minor"/>
          </p:style>
        </p:sp>
        <p:sp>
          <p:nvSpPr>
            <p:cNvPr id="166" name="直接连接符 6"/>
            <p:cNvSpPr/>
            <p:nvPr/>
          </p:nvSpPr>
          <p:spPr>
            <a:xfrm flipV="1">
              <a:off x="6550920" y="3874680"/>
              <a:ext cx="360" cy="258480"/>
            </a:xfrm>
            <a:prstGeom prst="line">
              <a:avLst/>
            </a:prstGeom>
            <a:ln w="28575">
              <a:solidFill>
                <a:srgbClr val="4472c4"/>
              </a:solidFill>
            </a:ln>
          </p:spPr>
          <p:style>
            <a:lnRef idx="1">
              <a:schemeClr val="accent1"/>
            </a:lnRef>
            <a:fillRef idx="0">
              <a:schemeClr val="accent1"/>
            </a:fillRef>
            <a:effectRef idx="0">
              <a:schemeClr val="accent1"/>
            </a:effectRef>
            <a:fontRef idx="minor"/>
          </p:style>
        </p:sp>
      </p:grpSp>
      <p:sp>
        <p:nvSpPr>
          <p:cNvPr id="167" name="下箭头 7"/>
          <p:cNvSpPr/>
          <p:nvPr/>
        </p:nvSpPr>
        <p:spPr>
          <a:xfrm>
            <a:off x="9127440" y="4498200"/>
            <a:ext cx="626400" cy="194760"/>
          </a:xfrm>
          <a:prstGeom prst="downArrow">
            <a:avLst>
              <a:gd name="adj1" fmla="val 50000"/>
              <a:gd name="adj2" fmla="val 50000"/>
            </a:avLst>
          </a:prstGeom>
          <a:solidFill>
            <a:schemeClr val="accent1"/>
          </a:solidFill>
          <a:ln w="0">
            <a:noFill/>
          </a:ln>
        </p:spPr>
        <p:style>
          <a:lnRef idx="0"/>
          <a:fillRef idx="0"/>
          <a:effectRef idx="0"/>
          <a:fontRef idx="minor"/>
        </p:style>
      </p:sp>
      <p:sp>
        <p:nvSpPr>
          <p:cNvPr id="168" name="下箭头 8"/>
          <p:cNvSpPr/>
          <p:nvPr/>
        </p:nvSpPr>
        <p:spPr>
          <a:xfrm rot="16200000">
            <a:off x="6193800" y="5089320"/>
            <a:ext cx="626400" cy="293040"/>
          </a:xfrm>
          <a:prstGeom prst="downArrow">
            <a:avLst>
              <a:gd name="adj1" fmla="val 50000"/>
              <a:gd name="adj2" fmla="val 50000"/>
            </a:avLst>
          </a:prstGeom>
          <a:solidFill>
            <a:schemeClr val="accent1"/>
          </a:solidFill>
          <a:ln w="0">
            <a:noFill/>
          </a:ln>
        </p:spPr>
        <p:style>
          <a:lnRef idx="0"/>
          <a:fillRef idx="0"/>
          <a:effectRef idx="0"/>
          <a:fontRef idx="minor"/>
        </p:style>
      </p:sp>
      <p:sp>
        <p:nvSpPr>
          <p:cNvPr id="169" name="下箭头 10"/>
          <p:cNvSpPr/>
          <p:nvPr/>
        </p:nvSpPr>
        <p:spPr>
          <a:xfrm rot="18180000">
            <a:off x="6134400" y="4444200"/>
            <a:ext cx="626400" cy="236520"/>
          </a:xfrm>
          <a:prstGeom prst="downArrow">
            <a:avLst>
              <a:gd name="adj1" fmla="val 50000"/>
              <a:gd name="adj2" fmla="val 50000"/>
            </a:avLst>
          </a:prstGeom>
          <a:solidFill>
            <a:schemeClr val="accent1"/>
          </a:solidFill>
          <a:ln w="0">
            <a:noFill/>
          </a:ln>
        </p:spPr>
        <p:style>
          <a:lnRef idx="0"/>
          <a:fillRef idx="0"/>
          <a:effectRef idx="0"/>
          <a:fontRef idx="minor"/>
        </p:style>
      </p:sp>
      <p:pic>
        <p:nvPicPr>
          <p:cNvPr id="170" name="图片 12" descr="日历&#10;&#10;AI 生成的内容可能不正确。"/>
          <p:cNvPicPr/>
          <p:nvPr/>
        </p:nvPicPr>
        <p:blipFill>
          <a:blip r:embed="rId1"/>
          <a:stretch/>
        </p:blipFill>
        <p:spPr>
          <a:xfrm>
            <a:off x="12019320" y="1243800"/>
            <a:ext cx="5814000" cy="3684600"/>
          </a:xfrm>
          <a:prstGeom prst="rect">
            <a:avLst/>
          </a:prstGeom>
          <a:ln w="0">
            <a:noFill/>
          </a:ln>
        </p:spPr>
      </p:pic>
    </p:spTree>
  </p:cSld>
  <mc:AlternateContent>
    <mc:Choice Requires="p14">
      <p:transition spd="slow" advTm="16000" p14:dur="2000"/>
    </mc:Choice>
    <mc:Fallback>
      <p:transition spd="slow" advTm="16000"/>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172"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173" name="文本框 1"/>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一 、任务总体情况</a:t>
            </a:r>
            <a:endParaRPr b="0" lang="en-US" sz="2400" spc="-1" strike="noStrike">
              <a:latin typeface="Arial"/>
            </a:endParaRPr>
          </a:p>
        </p:txBody>
      </p:sp>
      <p:sp>
        <p:nvSpPr>
          <p:cNvPr id="174" name="圆角矩形 11"/>
          <p:cNvSpPr/>
          <p:nvPr/>
        </p:nvSpPr>
        <p:spPr>
          <a:xfrm>
            <a:off x="345600" y="1410840"/>
            <a:ext cx="11614320" cy="1411920"/>
          </a:xfrm>
          <a:prstGeom prst="roundRect">
            <a:avLst>
              <a:gd name="adj" fmla="val 6180"/>
            </a:avLst>
          </a:prstGeom>
          <a:solidFill>
            <a:srgbClr val="ffffff"/>
          </a:solidFill>
          <a:ln w="9525">
            <a:solidFill>
              <a:srgbClr val="006f6b"/>
            </a:solidFill>
            <a:round/>
          </a:ln>
          <a:effectLst>
            <a:outerShdw algn="ctr" blurRad="63360" rotWithShape="0" sx="100500" sy="100500">
              <a:srgbClr val="000000">
                <a:alpha val="28000"/>
              </a:srgbClr>
            </a:outerShdw>
          </a:effectLst>
        </p:spPr>
        <p:style>
          <a:lnRef idx="0"/>
          <a:fillRef idx="0"/>
          <a:effectRef idx="0"/>
          <a:fontRef idx="minor"/>
        </p:style>
      </p:sp>
      <p:sp>
        <p:nvSpPr>
          <p:cNvPr id="175" name="矩形 113"/>
          <p:cNvSpPr/>
          <p:nvPr/>
        </p:nvSpPr>
        <p:spPr>
          <a:xfrm>
            <a:off x="270360" y="859680"/>
            <a:ext cx="2228400" cy="39636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gn="ctr">
              <a:lnSpc>
                <a:spcPct val="100000"/>
              </a:lnSpc>
              <a:buNone/>
              <a:tabLst>
                <a:tab algn="l" pos="0"/>
              </a:tabLst>
            </a:pPr>
            <a:r>
              <a:rPr b="1" lang="zh-CN" sz="2000" spc="-1" strike="noStrike">
                <a:solidFill>
                  <a:srgbClr val="ffffff"/>
                </a:solidFill>
                <a:latin typeface="微软雅黑"/>
                <a:ea typeface="微软雅黑"/>
              </a:rPr>
              <a:t>研究目标</a:t>
            </a:r>
            <a:endParaRPr b="0" lang="en-US" sz="2000" spc="-1" strike="noStrike">
              <a:latin typeface="Arial"/>
            </a:endParaRPr>
          </a:p>
        </p:txBody>
      </p:sp>
      <p:sp>
        <p:nvSpPr>
          <p:cNvPr id="176" name="矩形 2"/>
          <p:cNvSpPr/>
          <p:nvPr/>
        </p:nvSpPr>
        <p:spPr>
          <a:xfrm>
            <a:off x="286560" y="3194640"/>
            <a:ext cx="2228400" cy="39636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gn="ctr">
              <a:lnSpc>
                <a:spcPct val="100000"/>
              </a:lnSpc>
              <a:buNone/>
              <a:tabLst>
                <a:tab algn="l" pos="0"/>
              </a:tabLst>
            </a:pPr>
            <a:r>
              <a:rPr b="1" lang="zh-CN" sz="2000" spc="-1" strike="noStrike">
                <a:solidFill>
                  <a:srgbClr val="ffffff"/>
                </a:solidFill>
                <a:latin typeface="微软雅黑"/>
                <a:ea typeface="微软雅黑"/>
              </a:rPr>
              <a:t>考核指标</a:t>
            </a:r>
            <a:endParaRPr b="0" lang="en-US" sz="2000" spc="-1" strike="noStrike">
              <a:latin typeface="Arial"/>
            </a:endParaRPr>
          </a:p>
        </p:txBody>
      </p:sp>
      <p:sp>
        <p:nvSpPr>
          <p:cNvPr id="177" name="圆角矩形 11"/>
          <p:cNvSpPr/>
          <p:nvPr/>
        </p:nvSpPr>
        <p:spPr>
          <a:xfrm>
            <a:off x="335880" y="3837240"/>
            <a:ext cx="11614320" cy="2643840"/>
          </a:xfrm>
          <a:prstGeom prst="roundRect">
            <a:avLst>
              <a:gd name="adj" fmla="val 6180"/>
            </a:avLst>
          </a:prstGeom>
          <a:solidFill>
            <a:srgbClr val="ffffff"/>
          </a:solidFill>
          <a:ln w="9525">
            <a:solidFill>
              <a:srgbClr val="006f6b"/>
            </a:solidFill>
            <a:round/>
          </a:ln>
          <a:effectLst>
            <a:outerShdw algn="ctr" blurRad="63360" rotWithShape="0" sx="100500" sy="100500">
              <a:srgbClr val="000000">
                <a:alpha val="28000"/>
              </a:srgbClr>
            </a:outerShdw>
          </a:effectLst>
        </p:spPr>
        <p:style>
          <a:lnRef idx="0"/>
          <a:fillRef idx="0"/>
          <a:effectRef idx="0"/>
          <a:fontRef idx="minor"/>
        </p:style>
      </p:sp>
      <p:sp>
        <p:nvSpPr>
          <p:cNvPr id="178" name="文本框 4"/>
          <p:cNvSpPr/>
          <p:nvPr/>
        </p:nvSpPr>
        <p:spPr>
          <a:xfrm>
            <a:off x="345600" y="1355760"/>
            <a:ext cx="11616480" cy="1170720"/>
          </a:xfrm>
          <a:prstGeom prst="rect">
            <a:avLst/>
          </a:prstGeom>
          <a:noFill/>
          <a:ln w="0">
            <a:noFill/>
          </a:ln>
        </p:spPr>
        <p:style>
          <a:lnRef idx="0"/>
          <a:fillRef idx="0"/>
          <a:effectRef idx="0"/>
          <a:fontRef idx="minor"/>
        </p:style>
        <p:txBody>
          <a:bodyPr lIns="90000" rIns="90000" tIns="45000" bIns="45000" anchor="t">
            <a:noAutofit/>
          </a:bodyPr>
          <a:p>
            <a:pPr>
              <a:lnSpc>
                <a:spcPct val="150000"/>
              </a:lnSpc>
              <a:buNone/>
              <a:tabLst>
                <a:tab algn="l" pos="0"/>
              </a:tabLst>
            </a:pPr>
            <a:r>
              <a:rPr b="0" lang="zh-CN" sz="2000" spc="-1" strike="noStrike">
                <a:solidFill>
                  <a:srgbClr val="000000"/>
                </a:solidFill>
                <a:latin typeface="微软雅黑"/>
                <a:ea typeface="微软雅黑"/>
              </a:rPr>
              <a:t>本研究旨在揭示高比例分布式资源接入下的潮流波动与多维特征耦合机理，构建基于对比学习与多时间尺度分区解耦的三相</a:t>
            </a:r>
            <a:r>
              <a:rPr b="0" lang="en-US" sz="2000" spc="-1" strike="noStrike">
                <a:solidFill>
                  <a:srgbClr val="000000"/>
                </a:solidFill>
                <a:latin typeface="微软雅黑"/>
                <a:ea typeface="微软雅黑"/>
              </a:rPr>
              <a:t>-</a:t>
            </a:r>
            <a:r>
              <a:rPr b="0" lang="zh-CN" sz="2000" spc="-1" strike="noStrike">
                <a:solidFill>
                  <a:srgbClr val="000000"/>
                </a:solidFill>
                <a:latin typeface="微软雅黑"/>
                <a:ea typeface="微软雅黑"/>
              </a:rPr>
              <a:t>单相</a:t>
            </a:r>
            <a:r>
              <a:rPr b="0" lang="en-US" sz="2000" spc="-1" strike="noStrike">
                <a:solidFill>
                  <a:srgbClr val="000000"/>
                </a:solidFill>
                <a:latin typeface="微软雅黑"/>
                <a:ea typeface="微软雅黑"/>
              </a:rPr>
              <a:t>-</a:t>
            </a:r>
            <a:r>
              <a:rPr b="0" lang="zh-CN" sz="2000" spc="-1" strike="noStrike">
                <a:solidFill>
                  <a:srgbClr val="000000"/>
                </a:solidFill>
                <a:latin typeface="微软雅黑"/>
                <a:ea typeface="微软雅黑"/>
              </a:rPr>
              <a:t>序网融合潮流计算体系，研发基于信息熵评估与深度蒙特卡洛的分布式并行潮流求解模块，以提升主配微电网差异化拓扑下的潮流计算收敛性与不确定性量化效率。</a:t>
            </a:r>
            <a:endParaRPr b="0" lang="en-US" sz="2000" spc="-1" strike="noStrike">
              <a:latin typeface="Arial"/>
            </a:endParaRPr>
          </a:p>
        </p:txBody>
      </p:sp>
      <p:sp>
        <p:nvSpPr>
          <p:cNvPr id="179" name="文本框 6"/>
          <p:cNvSpPr/>
          <p:nvPr/>
        </p:nvSpPr>
        <p:spPr>
          <a:xfrm>
            <a:off x="412200" y="3882240"/>
            <a:ext cx="11449440" cy="2585520"/>
          </a:xfrm>
          <a:prstGeom prst="rect">
            <a:avLst/>
          </a:prstGeom>
          <a:noFill/>
          <a:ln w="0">
            <a:noFill/>
          </a:ln>
        </p:spPr>
        <p:style>
          <a:lnRef idx="0"/>
          <a:fillRef idx="0"/>
          <a:effectRef idx="0"/>
          <a:fontRef idx="minor"/>
        </p:style>
        <p:txBody>
          <a:bodyPr lIns="90000" rIns="90000" tIns="45000" bIns="45000" anchor="t">
            <a:noAutofit/>
          </a:bodyPr>
          <a:p>
            <a:pPr marL="285840" indent="-285840">
              <a:lnSpc>
                <a:spcPct val="150000"/>
              </a:lnSpc>
              <a:buClr>
                <a:srgbClr val="000000"/>
              </a:buClr>
              <a:buFont typeface="Wingdings" charset="2"/>
              <a:buChar char=""/>
            </a:pPr>
            <a:r>
              <a:rPr b="0" lang="zh-CN" sz="2000" spc="-1" strike="noStrike">
                <a:solidFill>
                  <a:srgbClr val="000000"/>
                </a:solidFill>
                <a:latin typeface="微软雅黑"/>
                <a:ea typeface="微软雅黑"/>
              </a:rPr>
              <a:t>申请发明专利</a:t>
            </a:r>
            <a:r>
              <a:rPr b="0" lang="en-US" sz="2000" spc="-1" strike="noStrike">
                <a:solidFill>
                  <a:srgbClr val="000000"/>
                </a:solidFill>
                <a:latin typeface="微软雅黑"/>
                <a:ea typeface="微软雅黑"/>
              </a:rPr>
              <a:t>2</a:t>
            </a:r>
            <a:r>
              <a:rPr b="0" lang="zh-CN" sz="2000" spc="-1" strike="noStrike">
                <a:solidFill>
                  <a:srgbClr val="000000"/>
                </a:solidFill>
                <a:latin typeface="微软雅黑"/>
                <a:ea typeface="微软雅黑"/>
              </a:rPr>
              <a:t>项，发表</a:t>
            </a:r>
            <a:r>
              <a:rPr b="0" lang="en-US" sz="2000" spc="-1" strike="noStrike">
                <a:solidFill>
                  <a:srgbClr val="000000"/>
                </a:solidFill>
                <a:latin typeface="微软雅黑"/>
                <a:ea typeface="微软雅黑"/>
              </a:rPr>
              <a:t>/</a:t>
            </a:r>
            <a:r>
              <a:rPr b="0" lang="zh-CN" sz="2000" spc="-1" strike="noStrike">
                <a:solidFill>
                  <a:srgbClr val="000000"/>
                </a:solidFill>
                <a:latin typeface="微软雅黑"/>
                <a:ea typeface="微软雅黑"/>
              </a:rPr>
              <a:t>录用</a:t>
            </a:r>
            <a:r>
              <a:rPr b="0" lang="en-US" sz="2000" spc="-1" strike="noStrike">
                <a:solidFill>
                  <a:srgbClr val="000000"/>
                </a:solidFill>
                <a:latin typeface="微软雅黑"/>
                <a:ea typeface="微软雅黑"/>
              </a:rPr>
              <a:t>SCI/EI</a:t>
            </a:r>
            <a:r>
              <a:rPr b="0" lang="zh-CN" sz="2000" spc="-1" strike="noStrike">
                <a:solidFill>
                  <a:srgbClr val="000000"/>
                </a:solidFill>
                <a:latin typeface="微软雅黑"/>
                <a:ea typeface="微软雅黑"/>
              </a:rPr>
              <a:t>检索或中文核心期刊论文</a:t>
            </a:r>
            <a:r>
              <a:rPr b="0" lang="en-US" sz="2000" spc="-1" strike="noStrike">
                <a:solidFill>
                  <a:srgbClr val="000000"/>
                </a:solidFill>
                <a:latin typeface="微软雅黑"/>
                <a:ea typeface="微软雅黑"/>
              </a:rPr>
              <a:t>2</a:t>
            </a:r>
            <a:r>
              <a:rPr b="0" lang="zh-CN" sz="2000" spc="-1" strike="noStrike">
                <a:solidFill>
                  <a:srgbClr val="000000"/>
                </a:solidFill>
                <a:latin typeface="微软雅黑"/>
                <a:ea typeface="微软雅黑"/>
              </a:rPr>
              <a:t>篇；</a:t>
            </a:r>
            <a:endParaRPr b="0" lang="en-US" sz="2000" spc="-1" strike="noStrike">
              <a:latin typeface="Arial"/>
            </a:endParaRPr>
          </a:p>
          <a:p>
            <a:pPr marL="285840" indent="-285840">
              <a:lnSpc>
                <a:spcPct val="150000"/>
              </a:lnSpc>
              <a:buClr>
                <a:srgbClr val="000000"/>
              </a:buClr>
              <a:buFont typeface="Wingdings" charset="2"/>
              <a:buChar char=""/>
            </a:pPr>
            <a:r>
              <a:rPr b="0" lang="zh-CN" sz="2000" spc="-1" strike="noStrike">
                <a:solidFill>
                  <a:srgbClr val="000000"/>
                </a:solidFill>
                <a:latin typeface="微软雅黑"/>
                <a:ea typeface="微软雅黑"/>
              </a:rPr>
              <a:t>研发主配微分区解耦与潮流并行计算功能模块，并集成到协同计算分析软件，登记软件著作权</a:t>
            </a:r>
            <a:r>
              <a:rPr b="0" lang="en-US" sz="2000" spc="-1" strike="noStrike">
                <a:solidFill>
                  <a:srgbClr val="000000"/>
                </a:solidFill>
                <a:latin typeface="微软雅黑"/>
                <a:ea typeface="微软雅黑"/>
              </a:rPr>
              <a:t>1</a:t>
            </a:r>
            <a:r>
              <a:rPr b="0" lang="zh-CN" sz="2000" spc="-1" strike="noStrike">
                <a:solidFill>
                  <a:srgbClr val="000000"/>
                </a:solidFill>
                <a:latin typeface="微软雅黑"/>
                <a:ea typeface="微软雅黑"/>
              </a:rPr>
              <a:t>项</a:t>
            </a:r>
            <a:r>
              <a:rPr b="0" lang="en-US" sz="2000" spc="-1" strike="noStrike">
                <a:solidFill>
                  <a:srgbClr val="000000"/>
                </a:solidFill>
                <a:latin typeface="微软雅黑"/>
                <a:ea typeface="微软雅黑"/>
              </a:rPr>
              <a:t>;</a:t>
            </a:r>
            <a:endParaRPr b="0" lang="en-US" sz="2000" spc="-1" strike="noStrike">
              <a:latin typeface="Arial"/>
            </a:endParaRPr>
          </a:p>
          <a:p>
            <a:pPr marL="285840" indent="-285840">
              <a:lnSpc>
                <a:spcPct val="150000"/>
              </a:lnSpc>
              <a:buClr>
                <a:srgbClr val="000000"/>
              </a:buClr>
              <a:buFont typeface="Wingdings" charset="2"/>
              <a:buChar char=""/>
            </a:pPr>
            <a:r>
              <a:rPr b="0" lang="zh-CN" sz="2000" spc="-1" strike="noStrike">
                <a:solidFill>
                  <a:srgbClr val="000000"/>
                </a:solidFill>
                <a:latin typeface="微软雅黑"/>
                <a:ea typeface="微软雅黑"/>
              </a:rPr>
              <a:t>培养硕士研究生</a:t>
            </a:r>
            <a:r>
              <a:rPr b="0" lang="en-US" sz="2000" spc="-1" strike="noStrike">
                <a:solidFill>
                  <a:srgbClr val="000000"/>
                </a:solidFill>
                <a:latin typeface="微软雅黑"/>
                <a:ea typeface="微软雅黑"/>
              </a:rPr>
              <a:t>3</a:t>
            </a:r>
            <a:r>
              <a:rPr b="0" lang="zh-CN" sz="2000" spc="-1" strike="noStrike">
                <a:solidFill>
                  <a:srgbClr val="000000"/>
                </a:solidFill>
                <a:latin typeface="微软雅黑"/>
                <a:ea typeface="微软雅黑"/>
              </a:rPr>
              <a:t>名；</a:t>
            </a:r>
            <a:endParaRPr b="0" lang="en-US" sz="2000" spc="-1" strike="noStrike">
              <a:latin typeface="Arial"/>
            </a:endParaRPr>
          </a:p>
          <a:p>
            <a:pPr marL="285840" indent="-285840">
              <a:lnSpc>
                <a:spcPct val="150000"/>
              </a:lnSpc>
              <a:buClr>
                <a:srgbClr val="000000"/>
              </a:buClr>
              <a:buFont typeface="Wingdings" charset="2"/>
              <a:buChar char=""/>
            </a:pPr>
            <a:r>
              <a:rPr b="0" lang="zh-CN" sz="2000" spc="-1" strike="noStrike">
                <a:solidFill>
                  <a:srgbClr val="000000"/>
                </a:solidFill>
                <a:latin typeface="微软雅黑"/>
                <a:ea typeface="微软雅黑"/>
              </a:rPr>
              <a:t>配合完成课题</a:t>
            </a:r>
            <a:r>
              <a:rPr b="0" lang="en-US" sz="2000" spc="-1" strike="noStrike">
                <a:solidFill>
                  <a:srgbClr val="000000"/>
                </a:solidFill>
                <a:latin typeface="微软雅黑"/>
                <a:ea typeface="微软雅黑"/>
              </a:rPr>
              <a:t>1</a:t>
            </a:r>
            <a:r>
              <a:rPr b="0" lang="zh-CN" sz="2000" spc="-1" strike="noStrike">
                <a:solidFill>
                  <a:srgbClr val="000000"/>
                </a:solidFill>
                <a:latin typeface="微软雅黑"/>
                <a:ea typeface="微软雅黑"/>
              </a:rPr>
              <a:t>任务书要求的相关技术报告。</a:t>
            </a:r>
            <a:endParaRPr b="0" lang="en-US" sz="2000" spc="-1" strike="noStrike">
              <a:latin typeface="Arial"/>
            </a:endParaRPr>
          </a:p>
          <a:p>
            <a:pPr>
              <a:lnSpc>
                <a:spcPct val="100000"/>
              </a:lnSpc>
              <a:buNone/>
            </a:pPr>
            <a:endParaRPr b="0" lang="en-US" sz="2000" spc="-1" strike="noStrike">
              <a:latin typeface="Arial"/>
            </a:endParaRPr>
          </a:p>
        </p:txBody>
      </p:sp>
    </p:spTree>
  </p:cSld>
  <mc:AlternateContent>
    <mc:Choice Requires="p14">
      <p:transition spd="slow" advTm="16000" p14:dur="2000"/>
    </mc:Choice>
    <mc:Fallback>
      <p:transition spd="slow" advTm="16000"/>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80" name="组合 18"/>
          <p:cNvGrpSpPr/>
          <p:nvPr/>
        </p:nvGrpSpPr>
        <p:grpSpPr>
          <a:xfrm>
            <a:off x="917640" y="2426400"/>
            <a:ext cx="1326240" cy="2004840"/>
            <a:chOff x="917640" y="2426400"/>
            <a:chExt cx="1326240" cy="2004840"/>
          </a:xfrm>
        </p:grpSpPr>
        <p:sp>
          <p:nvSpPr>
            <p:cNvPr id="181" name="矩形 19"/>
            <p:cNvSpPr/>
            <p:nvPr/>
          </p:nvSpPr>
          <p:spPr>
            <a:xfrm>
              <a:off x="917640" y="2426400"/>
              <a:ext cx="1197360" cy="2004840"/>
            </a:xfrm>
            <a:prstGeom prst="rect">
              <a:avLst/>
            </a:prstGeom>
            <a:noFill/>
            <a:ln w="3175">
              <a:solidFill>
                <a:srgbClr val="00367a">
                  <a:alpha val="70000"/>
                </a:srgbClr>
              </a:solidFill>
            </a:ln>
          </p:spPr>
          <p:style>
            <a:lnRef idx="2">
              <a:schemeClr val="accent1">
                <a:shade val="50000"/>
              </a:schemeClr>
            </a:lnRef>
            <a:fillRef idx="1">
              <a:schemeClr val="accent1"/>
            </a:fillRef>
            <a:effectRef idx="0">
              <a:schemeClr val="accent1"/>
            </a:effectRef>
            <a:fontRef idx="minor"/>
          </p:style>
        </p:sp>
        <p:sp>
          <p:nvSpPr>
            <p:cNvPr id="182" name="文本框 20"/>
            <p:cNvSpPr/>
            <p:nvPr/>
          </p:nvSpPr>
          <p:spPr>
            <a:xfrm>
              <a:off x="2002320" y="2649240"/>
              <a:ext cx="241560" cy="1576080"/>
            </a:xfrm>
            <a:prstGeom prst="rect">
              <a:avLst/>
            </a:prstGeom>
            <a:solidFill>
              <a:srgbClr val="006f6b"/>
            </a:solidFill>
            <a:ln w="0">
              <a:noFill/>
            </a:ln>
          </p:spPr>
          <p:style>
            <a:lnRef idx="0"/>
            <a:fillRef idx="0"/>
            <a:effectRef idx="0"/>
            <a:fontRef idx="minor"/>
          </p:style>
          <p:txBody>
            <a:bodyPr lIns="72000" rIns="72000" tIns="36000" bIns="36000" anchor="t" vert="vert" rot="5400000">
              <a:noAutofit/>
            </a:bodyPr>
            <a:p>
              <a:pPr algn="ctr">
                <a:lnSpc>
                  <a:spcPct val="100000"/>
                </a:lnSpc>
                <a:buNone/>
                <a:tabLst>
                  <a:tab algn="l" pos="0"/>
                </a:tabLst>
              </a:pPr>
              <a:r>
                <a:rPr b="1" lang="en-US" sz="1100" spc="398" strike="noStrike">
                  <a:solidFill>
                    <a:srgbClr val="ffffff"/>
                  </a:solidFill>
                  <a:latin typeface="等线"/>
                </a:rPr>
                <a:t>CONTENTS</a:t>
              </a:r>
              <a:endParaRPr b="0" lang="en-US" sz="1100" spc="-1" strike="noStrike">
                <a:latin typeface="Arial"/>
              </a:endParaRPr>
            </a:p>
          </p:txBody>
        </p:sp>
        <p:sp>
          <p:nvSpPr>
            <p:cNvPr id="183" name="文本框 4"/>
            <p:cNvSpPr/>
            <p:nvPr/>
          </p:nvSpPr>
          <p:spPr>
            <a:xfrm>
              <a:off x="990000" y="2647440"/>
              <a:ext cx="920880" cy="1580040"/>
            </a:xfrm>
            <a:prstGeom prst="rect">
              <a:avLst/>
            </a:prstGeom>
            <a:noFill/>
            <a:ln w="0">
              <a:noFill/>
            </a:ln>
          </p:spPr>
          <p:style>
            <a:lnRef idx="0"/>
            <a:fillRef idx="0"/>
            <a:effectRef idx="0"/>
            <a:fontRef idx="minor"/>
          </p:style>
          <p:txBody>
            <a:bodyPr lIns="90000" rIns="90000" tIns="45000" bIns="45000" anchor="t" vert="vert" rot="5400000">
              <a:noAutofit/>
            </a:bodyPr>
            <a:p>
              <a:pPr>
                <a:lnSpc>
                  <a:spcPct val="100000"/>
                </a:lnSpc>
                <a:buNone/>
                <a:tabLst>
                  <a:tab algn="l" pos="0"/>
                </a:tabLst>
              </a:pPr>
              <a:r>
                <a:rPr b="1" lang="zh-CN" sz="4800" spc="-1" strike="noStrike">
                  <a:solidFill>
                    <a:srgbClr val="000000"/>
                  </a:solidFill>
                  <a:latin typeface="等线"/>
                </a:rPr>
                <a:t>目录</a:t>
              </a:r>
              <a:endParaRPr b="0" lang="en-US" sz="4800" spc="-1" strike="noStrike">
                <a:latin typeface="Arial"/>
              </a:endParaRPr>
            </a:p>
          </p:txBody>
        </p:sp>
      </p:grpSp>
      <p:grpSp>
        <p:nvGrpSpPr>
          <p:cNvPr id="184" name="组合 8"/>
          <p:cNvGrpSpPr/>
          <p:nvPr/>
        </p:nvGrpSpPr>
        <p:grpSpPr>
          <a:xfrm>
            <a:off x="3316680" y="1486080"/>
            <a:ext cx="6627600" cy="722880"/>
            <a:chOff x="3316680" y="1486080"/>
            <a:chExt cx="6627600" cy="722880"/>
          </a:xfrm>
        </p:grpSpPr>
        <p:sp>
          <p:nvSpPr>
            <p:cNvPr id="185" name="矩形 34"/>
            <p:cNvSpPr/>
            <p:nvPr/>
          </p:nvSpPr>
          <p:spPr>
            <a:xfrm>
              <a:off x="3316680" y="1486080"/>
              <a:ext cx="1711080" cy="71892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gn="ctr">
                <a:lnSpc>
                  <a:spcPct val="100000"/>
                </a:lnSpc>
                <a:buNone/>
              </a:pPr>
              <a:r>
                <a:rPr b="1" lang="zh-CN" sz="1800" spc="299" strike="noStrike">
                  <a:solidFill>
                    <a:srgbClr val="ffffff"/>
                  </a:solidFill>
                  <a:latin typeface="微软雅黑"/>
                  <a:ea typeface="微软雅黑"/>
                </a:rPr>
                <a:t>第一部分</a:t>
              </a:r>
              <a:endParaRPr b="0" lang="en-US" sz="1800" spc="-1" strike="noStrike">
                <a:latin typeface="Arial"/>
              </a:endParaRPr>
            </a:p>
          </p:txBody>
        </p:sp>
        <p:sp>
          <p:nvSpPr>
            <p:cNvPr id="186" name="矩形 5"/>
            <p:cNvSpPr/>
            <p:nvPr/>
          </p:nvSpPr>
          <p:spPr>
            <a:xfrm>
              <a:off x="5168160" y="1490040"/>
              <a:ext cx="4776120" cy="718920"/>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nSpc>
                  <a:spcPct val="100000"/>
                </a:lnSpc>
                <a:buNone/>
              </a:pPr>
              <a:r>
                <a:rPr b="1" lang="zh-CN" sz="2000" spc="-1" strike="noStrike">
                  <a:solidFill>
                    <a:srgbClr val="a6a6a6"/>
                  </a:solidFill>
                  <a:latin typeface="微软雅黑"/>
                  <a:ea typeface="微软雅黑"/>
                </a:rPr>
                <a:t>任务设置情况</a:t>
              </a:r>
              <a:endParaRPr b="0" lang="en-US" sz="2000" spc="-1" strike="noStrike">
                <a:latin typeface="Arial"/>
              </a:endParaRPr>
            </a:p>
          </p:txBody>
        </p:sp>
      </p:grpSp>
      <p:grpSp>
        <p:nvGrpSpPr>
          <p:cNvPr id="187" name="组合 6"/>
          <p:cNvGrpSpPr/>
          <p:nvPr/>
        </p:nvGrpSpPr>
        <p:grpSpPr>
          <a:xfrm>
            <a:off x="3316680" y="3077640"/>
            <a:ext cx="6627600" cy="719640"/>
            <a:chOff x="3316680" y="3077640"/>
            <a:chExt cx="6627600" cy="719640"/>
          </a:xfrm>
        </p:grpSpPr>
        <p:sp>
          <p:nvSpPr>
            <p:cNvPr id="188" name="矩形 7"/>
            <p:cNvSpPr/>
            <p:nvPr/>
          </p:nvSpPr>
          <p:spPr>
            <a:xfrm>
              <a:off x="3316680" y="3077640"/>
              <a:ext cx="1710360" cy="71964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gn="ctr">
                <a:lnSpc>
                  <a:spcPct val="100000"/>
                </a:lnSpc>
                <a:buNone/>
              </a:pPr>
              <a:r>
                <a:rPr b="1" lang="zh-CN" sz="1800" spc="299" strike="noStrike">
                  <a:solidFill>
                    <a:srgbClr val="ffffff"/>
                  </a:solidFill>
                  <a:latin typeface="微软雅黑"/>
                  <a:ea typeface="微软雅黑"/>
                </a:rPr>
                <a:t>第二部分</a:t>
              </a:r>
              <a:endParaRPr b="0" lang="en-US" sz="1800" spc="-1" strike="noStrike">
                <a:latin typeface="Arial"/>
              </a:endParaRPr>
            </a:p>
          </p:txBody>
        </p:sp>
        <p:sp>
          <p:nvSpPr>
            <p:cNvPr id="189" name="矩形 11"/>
            <p:cNvSpPr/>
            <p:nvPr/>
          </p:nvSpPr>
          <p:spPr>
            <a:xfrm>
              <a:off x="5168160" y="3077640"/>
              <a:ext cx="4776120" cy="719640"/>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nSpc>
                  <a:spcPct val="100000"/>
                </a:lnSpc>
                <a:buNone/>
              </a:pPr>
              <a:r>
                <a:rPr b="1" lang="zh-CN" sz="2000" spc="-1" strike="noStrike">
                  <a:solidFill>
                    <a:srgbClr val="000000"/>
                  </a:solidFill>
                  <a:latin typeface="微软雅黑"/>
                  <a:ea typeface="微软雅黑"/>
                </a:rPr>
                <a:t>任务进展情况</a:t>
              </a:r>
              <a:endParaRPr b="0" lang="en-US" sz="2000" spc="-1" strike="noStrike">
                <a:latin typeface="Arial"/>
              </a:endParaRPr>
            </a:p>
          </p:txBody>
        </p:sp>
      </p:grpSp>
      <p:grpSp>
        <p:nvGrpSpPr>
          <p:cNvPr id="190" name="组合 9"/>
          <p:cNvGrpSpPr/>
          <p:nvPr/>
        </p:nvGrpSpPr>
        <p:grpSpPr>
          <a:xfrm>
            <a:off x="3227760" y="4641120"/>
            <a:ext cx="6627600" cy="726480"/>
            <a:chOff x="3227760" y="4641120"/>
            <a:chExt cx="6627600" cy="726480"/>
          </a:xfrm>
        </p:grpSpPr>
        <p:sp>
          <p:nvSpPr>
            <p:cNvPr id="191" name="矩形 1"/>
            <p:cNvSpPr/>
            <p:nvPr/>
          </p:nvSpPr>
          <p:spPr>
            <a:xfrm>
              <a:off x="3227760" y="4641120"/>
              <a:ext cx="1711080" cy="71892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gn="ctr">
                <a:lnSpc>
                  <a:spcPct val="100000"/>
                </a:lnSpc>
                <a:buNone/>
              </a:pPr>
              <a:r>
                <a:rPr b="1" lang="zh-CN" sz="1800" spc="299" strike="noStrike">
                  <a:solidFill>
                    <a:srgbClr val="ffffff"/>
                  </a:solidFill>
                  <a:latin typeface="微软雅黑"/>
                  <a:ea typeface="微软雅黑"/>
                </a:rPr>
                <a:t>第三部分</a:t>
              </a:r>
              <a:endParaRPr b="0" lang="en-US" sz="1800" spc="-1" strike="noStrike">
                <a:latin typeface="Arial"/>
              </a:endParaRPr>
            </a:p>
          </p:txBody>
        </p:sp>
        <p:sp>
          <p:nvSpPr>
            <p:cNvPr id="192" name="矩形 2"/>
            <p:cNvSpPr/>
            <p:nvPr/>
          </p:nvSpPr>
          <p:spPr>
            <a:xfrm>
              <a:off x="5079240" y="4648680"/>
              <a:ext cx="4776120" cy="718920"/>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p:style>
          <p:txBody>
            <a:bodyPr numCol="1" spcCol="0" horzOverflow="overflow" vertOverflow="overflow" lIns="90000" rIns="90000" tIns="45000" bIns="45000" anchor="ctr">
              <a:noAutofit/>
            </a:bodyPr>
            <a:p>
              <a:pPr>
                <a:lnSpc>
                  <a:spcPct val="100000"/>
                </a:lnSpc>
                <a:buNone/>
              </a:pPr>
              <a:r>
                <a:rPr b="1" lang="zh-CN" sz="2000" spc="-1" strike="noStrike">
                  <a:solidFill>
                    <a:srgbClr val="a6a6a6"/>
                  </a:solidFill>
                  <a:latin typeface="微软雅黑"/>
                  <a:ea typeface="微软雅黑"/>
                </a:rPr>
                <a:t>下一步工作计划</a:t>
              </a:r>
              <a:endParaRPr b="0" lang="en-US" sz="2000" spc="-1" strike="noStrike">
                <a:latin typeface="Arial"/>
              </a:endParaRPr>
            </a:p>
          </p:txBody>
        </p:sp>
      </p:grpSp>
      <p:sp>
        <p:nvSpPr>
          <p:cNvPr id="193" name="PlaceHolder 1"/>
          <p:cNvSpPr>
            <a:spLocks noGrp="1"/>
          </p:cNvSpPr>
          <p:nvPr>
            <p:ph type="sldNum" idx="10"/>
          </p:nvPr>
        </p:nvSpPr>
        <p:spPr>
          <a:xfrm>
            <a:off x="11765880" y="6492960"/>
            <a:ext cx="425880" cy="364680"/>
          </a:xfrm>
          <a:prstGeom prst="rect">
            <a:avLst/>
          </a:prstGeom>
          <a:noFill/>
          <a:ln w="0">
            <a:noFill/>
          </a:ln>
        </p:spPr>
        <p:txBody>
          <a:bodyPr anchor="ctr">
            <a:noAutofit/>
          </a:bodyPr>
          <a:lstStyle>
            <a:lvl1pPr>
              <a:defRPr b="0" lang="en-US" sz="2400" spc="-1" strike="noStrike">
                <a:latin typeface="Times New Roman"/>
              </a:defRPr>
            </a:lvl1pPr>
          </a:lstStyle>
          <a:p>
            <a:endParaRPr b="0" lang="en-US" sz="24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195"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196"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sp>
        <p:nvSpPr>
          <p:cNvPr id="197" name="灯片编号占位符 3"/>
          <p:cNvSpPr/>
          <p:nvPr/>
        </p:nvSpPr>
        <p:spPr>
          <a:xfrm>
            <a:off x="11790000" y="6546960"/>
            <a:ext cx="463320" cy="413640"/>
          </a:xfrm>
          <a:prstGeom prst="rect">
            <a:avLst/>
          </a:prstGeom>
          <a:noFill/>
          <a:ln w="0">
            <a:noFill/>
          </a:ln>
        </p:spPr>
        <p:style>
          <a:lnRef idx="0"/>
          <a:fillRef idx="0"/>
          <a:effectRef idx="0"/>
          <a:fontRef idx="minor"/>
        </p:style>
        <p:txBody>
          <a:bodyPr anchor="ctr">
            <a:noAutofit/>
          </a:bodyPr>
          <a:p>
            <a:pPr algn="r">
              <a:lnSpc>
                <a:spcPct val="100000"/>
              </a:lnSpc>
              <a:buNone/>
              <a:tabLst>
                <a:tab algn="l" pos="0"/>
              </a:tabLst>
            </a:pPr>
            <a:fld id="{F7A56343-0AB0-42D0-8BD9-11F6A73314CA}" type="slidenum">
              <a:rPr b="0" lang="en-US" sz="1600" spc="-1" strike="noStrike">
                <a:solidFill>
                  <a:srgbClr val="898989"/>
                </a:solidFill>
                <a:latin typeface="微软雅黑"/>
                <a:ea typeface="微软雅黑"/>
              </a:rPr>
              <a:t>&lt;number&gt;</a:t>
            </a:fld>
            <a:endParaRPr b="0" lang="en-US" sz="1600" spc="-1" strike="noStrike">
              <a:latin typeface="Arial"/>
            </a:endParaRPr>
          </a:p>
        </p:txBody>
      </p:sp>
      <p:sp>
        <p:nvSpPr>
          <p:cNvPr id="198" name="矩形 5"/>
          <p:cNvSpPr/>
          <p:nvPr/>
        </p:nvSpPr>
        <p:spPr>
          <a:xfrm>
            <a:off x="258480" y="1306080"/>
            <a:ext cx="11565360" cy="1082160"/>
          </a:xfrm>
          <a:prstGeom prst="rect">
            <a:avLst/>
          </a:prstGeom>
          <a:solidFill>
            <a:schemeClr val="accent6">
              <a:lumMod val="20000"/>
              <a:lumOff val="80000"/>
              <a:alpha val="10000"/>
            </a:schemeClr>
          </a:solidFill>
          <a:ln w="12700">
            <a:solidFill>
              <a:srgbClr val="006f6b"/>
            </a:solidFill>
            <a:round/>
          </a:ln>
        </p:spPr>
        <p:style>
          <a:lnRef idx="0"/>
          <a:fillRef idx="0"/>
          <a:effectRef idx="0"/>
          <a:fontRef idx="minor"/>
        </p:style>
        <p:txBody>
          <a:bodyPr lIns="90000" rIns="90000" tIns="45000" bIns="45000" anchor="t">
            <a:noAutofit/>
          </a:bodyPr>
          <a:p>
            <a:pPr algn="just">
              <a:lnSpc>
                <a:spcPct val="150000"/>
              </a:lnSpc>
              <a:buNone/>
              <a:tabLst>
                <a:tab algn="l" pos="0"/>
              </a:tabLst>
            </a:pPr>
            <a:r>
              <a:rPr b="0" lang="zh-CN" sz="2000" spc="-1" strike="noStrike">
                <a:solidFill>
                  <a:srgbClr val="000000"/>
                </a:solidFill>
                <a:latin typeface="微软雅黑"/>
                <a:ea typeface="微软雅黑"/>
              </a:rPr>
              <a:t>课题经费总计</a:t>
            </a:r>
            <a:r>
              <a:rPr b="0" lang="en-US" sz="2000" spc="-1" strike="noStrike">
                <a:solidFill>
                  <a:srgbClr val="000000"/>
                </a:solidFill>
                <a:latin typeface="微软雅黑"/>
                <a:ea typeface="微软雅黑"/>
              </a:rPr>
              <a:t>2388.8</a:t>
            </a:r>
            <a:r>
              <a:rPr b="0" lang="zh-CN" sz="2000" spc="-1" strike="noStrike">
                <a:solidFill>
                  <a:srgbClr val="000000"/>
                </a:solidFill>
                <a:latin typeface="微软雅黑"/>
                <a:ea typeface="微软雅黑"/>
              </a:rPr>
              <a:t>万元，其中中央财政专项资金</a:t>
            </a:r>
            <a:r>
              <a:rPr b="0" lang="en-US" sz="2000" spc="-1" strike="noStrike">
                <a:solidFill>
                  <a:srgbClr val="000000"/>
                </a:solidFill>
                <a:latin typeface="微软雅黑"/>
                <a:ea typeface="微软雅黑"/>
              </a:rPr>
              <a:t>488.8</a:t>
            </a:r>
            <a:r>
              <a:rPr b="0" lang="zh-CN" sz="2000" spc="-1" strike="noStrike">
                <a:solidFill>
                  <a:srgbClr val="000000"/>
                </a:solidFill>
                <a:latin typeface="微软雅黑"/>
                <a:ea typeface="微软雅黑"/>
              </a:rPr>
              <a:t>万元，配套经费</a:t>
            </a:r>
            <a:r>
              <a:rPr b="0" lang="en-US" sz="2000" spc="-1" strike="noStrike">
                <a:solidFill>
                  <a:srgbClr val="000000"/>
                </a:solidFill>
                <a:latin typeface="微软雅黑"/>
                <a:ea typeface="微软雅黑"/>
              </a:rPr>
              <a:t>1900</a:t>
            </a:r>
            <a:r>
              <a:rPr b="0" lang="zh-CN" sz="2000" spc="-1" strike="noStrike">
                <a:solidFill>
                  <a:srgbClr val="000000"/>
                </a:solidFill>
                <a:latin typeface="微软雅黑"/>
                <a:ea typeface="微软雅黑"/>
              </a:rPr>
              <a:t>万元。截止到</a:t>
            </a:r>
            <a:r>
              <a:rPr b="0" lang="en-US" sz="2000" spc="-1" strike="noStrike">
                <a:solidFill>
                  <a:srgbClr val="000000"/>
                </a:solidFill>
                <a:latin typeface="微软雅黑"/>
                <a:ea typeface="微软雅黑"/>
              </a:rPr>
              <a:t>2025</a:t>
            </a:r>
            <a:r>
              <a:rPr b="0" lang="zh-CN" sz="2000" spc="-1" strike="noStrike">
                <a:solidFill>
                  <a:srgbClr val="000000"/>
                </a:solidFill>
                <a:latin typeface="微软雅黑"/>
                <a:ea typeface="微软雅黑"/>
              </a:rPr>
              <a:t>年</a:t>
            </a:r>
            <a:r>
              <a:rPr b="0" lang="en-US" sz="2000" spc="-1" strike="noStrike">
                <a:solidFill>
                  <a:srgbClr val="000000"/>
                </a:solidFill>
                <a:latin typeface="微软雅黑"/>
                <a:ea typeface="微软雅黑"/>
              </a:rPr>
              <a:t>6</a:t>
            </a:r>
            <a:r>
              <a:rPr b="0" lang="zh-CN" sz="2000" spc="-1" strike="noStrike">
                <a:solidFill>
                  <a:srgbClr val="000000"/>
                </a:solidFill>
                <a:latin typeface="微软雅黑"/>
                <a:ea typeface="微软雅黑"/>
              </a:rPr>
              <a:t>月，已收到国拨经费到账</a:t>
            </a:r>
            <a:r>
              <a:rPr b="0" lang="en-US" sz="2000" spc="-1" strike="noStrike">
                <a:solidFill>
                  <a:srgbClr val="000000"/>
                </a:solidFill>
                <a:latin typeface="微软雅黑"/>
                <a:ea typeface="微软雅黑"/>
              </a:rPr>
              <a:t>169</a:t>
            </a:r>
            <a:r>
              <a:rPr b="0" lang="zh-CN" sz="2000" spc="-1" strike="noStrike">
                <a:solidFill>
                  <a:srgbClr val="000000"/>
                </a:solidFill>
                <a:latin typeface="微软雅黑"/>
                <a:ea typeface="微软雅黑"/>
              </a:rPr>
              <a:t>万元，自筹经费到账</a:t>
            </a:r>
            <a:r>
              <a:rPr b="0" lang="en-US" sz="2000" spc="-1" strike="noStrike">
                <a:solidFill>
                  <a:srgbClr val="000000"/>
                </a:solidFill>
                <a:latin typeface="微软雅黑"/>
                <a:ea typeface="微软雅黑"/>
              </a:rPr>
              <a:t>75</a:t>
            </a:r>
            <a:r>
              <a:rPr b="0" lang="zh-CN" sz="2000" spc="-1" strike="noStrike">
                <a:solidFill>
                  <a:srgbClr val="000000"/>
                </a:solidFill>
                <a:latin typeface="微软雅黑"/>
                <a:ea typeface="微软雅黑"/>
              </a:rPr>
              <a:t>万元，课题各单位经费完成情况如下。</a:t>
            </a:r>
            <a:endParaRPr b="0" lang="en-US" sz="2000" spc="-1" strike="noStrike">
              <a:latin typeface="Arial"/>
            </a:endParaRPr>
          </a:p>
        </p:txBody>
      </p:sp>
      <p:graphicFrame>
        <p:nvGraphicFramePr>
          <p:cNvPr id="199" name="表格 3"/>
          <p:cNvGraphicFramePr/>
          <p:nvPr/>
        </p:nvGraphicFramePr>
        <p:xfrm>
          <a:off x="258480" y="2563560"/>
          <a:ext cx="11595960" cy="3878280"/>
        </p:xfrm>
        <a:graphic>
          <a:graphicData uri="http://schemas.openxmlformats.org/drawingml/2006/table">
            <a:tbl>
              <a:tblPr/>
              <a:tblGrid>
                <a:gridCol w="647280"/>
                <a:gridCol w="912240"/>
                <a:gridCol w="912240"/>
                <a:gridCol w="912240"/>
                <a:gridCol w="912240"/>
                <a:gridCol w="912240"/>
                <a:gridCol w="912240"/>
                <a:gridCol w="912240"/>
                <a:gridCol w="912240"/>
                <a:gridCol w="912240"/>
                <a:gridCol w="912240"/>
                <a:gridCol w="912240"/>
                <a:gridCol w="914040"/>
              </a:tblGrid>
              <a:tr h="491400">
                <a:tc rowSpan="2">
                  <a:txBody>
                    <a:bodyPr lIns="12600" rIns="12600" tIns="12600" anchor="ctr">
                      <a:noAutofit/>
                    </a:bodyPr>
                    <a:p>
                      <a:pPr algn="ctr">
                        <a:lnSpc>
                          <a:spcPct val="100000"/>
                        </a:lnSpc>
                        <a:buNone/>
                        <a:tabLst>
                          <a:tab algn="l" pos="0"/>
                        </a:tabLst>
                      </a:pPr>
                      <a:r>
                        <a:rPr b="1" lang="zh-CN" sz="1600" spc="-1" strike="noStrike">
                          <a:solidFill>
                            <a:srgbClr val="ffffff"/>
                          </a:solidFill>
                          <a:latin typeface="微软雅黑"/>
                          <a:ea typeface="微软雅黑"/>
                        </a:rPr>
                        <a:t>单位</a:t>
                      </a:r>
                      <a:endParaRPr b="0" lang="en-US" sz="1600" spc="-1" strike="noStrike">
                        <a:latin typeface="Arial"/>
                      </a:endParaRPr>
                    </a:p>
                    <a:p>
                      <a:pPr algn="ctr">
                        <a:lnSpc>
                          <a:spcPct val="100000"/>
                        </a:lnSpc>
                        <a:buNone/>
                        <a:tabLst>
                          <a:tab algn="l" pos="0"/>
                        </a:tabLst>
                      </a:pPr>
                      <a:r>
                        <a:rPr b="1" lang="zh-CN" sz="1600" spc="-1" strike="noStrike">
                          <a:solidFill>
                            <a:srgbClr val="ffffff"/>
                          </a:solidFill>
                          <a:latin typeface="微软雅黑"/>
                          <a:ea typeface="微软雅黑"/>
                        </a:rPr>
                        <a:t>简称</a:t>
                      </a:r>
                      <a:endParaRPr b="0" lang="en-US" sz="16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gridSpan="4">
                  <a:txBody>
                    <a:bodyPr lIns="12600" rIns="12600" tIns="12600" anchor="ctr">
                      <a:noAutofit/>
                    </a:bodyPr>
                    <a:p>
                      <a:pPr algn="ctr">
                        <a:lnSpc>
                          <a:spcPct val="100000"/>
                        </a:lnSpc>
                        <a:buNone/>
                        <a:tabLst>
                          <a:tab algn="l" pos="0"/>
                        </a:tabLst>
                      </a:pPr>
                      <a:r>
                        <a:rPr b="1" lang="zh-CN" sz="1600" spc="-1" strike="noStrike">
                          <a:solidFill>
                            <a:srgbClr val="ffffff"/>
                          </a:solidFill>
                          <a:latin typeface="微软雅黑"/>
                          <a:ea typeface="微软雅黑"/>
                        </a:rPr>
                        <a:t>总经费</a:t>
                      </a:r>
                      <a:endParaRPr b="0" lang="en-US" sz="16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gridSpan="4">
                  <a:txBody>
                    <a:bodyPr lIns="12600" rIns="12600" tIns="12600" anchor="ctr">
                      <a:noAutofit/>
                    </a:bodyPr>
                    <a:p>
                      <a:pPr algn="ctr">
                        <a:lnSpc>
                          <a:spcPct val="100000"/>
                        </a:lnSpc>
                        <a:buNone/>
                        <a:tabLst>
                          <a:tab algn="l" pos="0"/>
                        </a:tabLst>
                      </a:pPr>
                      <a:r>
                        <a:rPr b="1" lang="zh-CN" sz="1600" spc="-1" strike="noStrike">
                          <a:solidFill>
                            <a:srgbClr val="ffffff"/>
                          </a:solidFill>
                          <a:latin typeface="微软雅黑"/>
                          <a:ea typeface="微软雅黑"/>
                        </a:rPr>
                        <a:t>专项经费</a:t>
                      </a:r>
                      <a:endParaRPr b="0" lang="en-US" sz="16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gridSpan="4">
                  <a:txBody>
                    <a:bodyPr lIns="12600" rIns="12600" tIns="12600" anchor="ctr">
                      <a:noAutofit/>
                    </a:bodyPr>
                    <a:p>
                      <a:pPr algn="ctr">
                        <a:lnSpc>
                          <a:spcPct val="100000"/>
                        </a:lnSpc>
                        <a:buNone/>
                        <a:tabLst>
                          <a:tab algn="l" pos="0"/>
                        </a:tabLst>
                      </a:pPr>
                      <a:r>
                        <a:rPr b="1" lang="zh-CN" sz="1600" spc="-1" strike="noStrike">
                          <a:solidFill>
                            <a:srgbClr val="ffffff"/>
                          </a:solidFill>
                          <a:latin typeface="微软雅黑"/>
                          <a:ea typeface="微软雅黑"/>
                        </a:rPr>
                        <a:t>配套经费</a:t>
                      </a:r>
                      <a:endParaRPr b="0" lang="en-US" sz="16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r>
              <a:tr h="545400">
                <a:tc vMerge="1">
                  <a:tcPr anchor="t" marL="90000" marR="90000">
                    <a:lnL>
                      <a:noFill/>
                    </a:lnL>
                    <a:lnR>
                      <a:noFill/>
                    </a:lnR>
                    <a:lnT>
                      <a:noFill/>
                    </a:lnT>
                    <a:lnB>
                      <a:noFill/>
                    </a:lnB>
                    <a:solidFill>
                      <a:srgbClr val="729fcf"/>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总金额</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到账数</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执行金额</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执行率</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总金额</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到账金额</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执行金额</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执行率</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总金额</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到账数</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执行金额</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c>
                  <a:txBody>
                    <a:bodyPr lIns="7560" rIns="7560" tIns="7560" bIns="0" anchor="ctr">
                      <a:noAutofit/>
                    </a:bodyPr>
                    <a:p>
                      <a:pPr algn="ctr">
                        <a:lnSpc>
                          <a:spcPct val="100000"/>
                        </a:lnSpc>
                        <a:buNone/>
                      </a:pPr>
                      <a:r>
                        <a:rPr b="0" lang="zh-CN" sz="1400" spc="-1" strike="noStrike">
                          <a:solidFill>
                            <a:srgbClr val="000000"/>
                          </a:solidFill>
                          <a:latin typeface="微软雅黑"/>
                          <a:ea typeface="微软雅黑"/>
                        </a:rPr>
                        <a:t>执行率</a:t>
                      </a:r>
                      <a:endParaRPr b="0" lang="en-US" sz="1400" spc="-1" strike="noStrike">
                        <a:latin typeface="Arial"/>
                      </a:endParaRPr>
                    </a:p>
                  </a:txBody>
                  <a:tcPr anchor="ctr" marL="7560" marR="7560">
                    <a:lnL w="12240">
                      <a:solidFill>
                        <a:srgbClr val="000000"/>
                      </a:solidFill>
                    </a:lnL>
                    <a:lnR w="12240">
                      <a:solidFill>
                        <a:srgbClr val="000000"/>
                      </a:solidFill>
                    </a:lnR>
                    <a:lnT w="12240">
                      <a:solidFill>
                        <a:srgbClr val="000000"/>
                      </a:solidFill>
                    </a:lnT>
                    <a:lnB w="12240">
                      <a:solidFill>
                        <a:srgbClr val="000000"/>
                      </a:solidFill>
                    </a:lnB>
                    <a:solidFill>
                      <a:srgbClr val="d7fffc">
                        <a:alpha val="54000"/>
                      </a:srgbClr>
                    </a:solidFill>
                  </a:tcPr>
                </a:tc>
              </a:tr>
              <a:tr h="482400">
                <a:tc>
                  <a:txBody>
                    <a:bodyPr anchor="ctr">
                      <a:noAutofit/>
                    </a:bodyPr>
                    <a:p>
                      <a:pPr algn="ctr">
                        <a:lnSpc>
                          <a:spcPct val="100000"/>
                        </a:lnSpc>
                        <a:buNone/>
                      </a:pPr>
                      <a:r>
                        <a:rPr b="1" lang="zh-CN" sz="1200" spc="-1" strike="noStrike">
                          <a:solidFill>
                            <a:srgbClr val="000000"/>
                          </a:solidFill>
                          <a:latin typeface="微软雅黑"/>
                          <a:ea typeface="微软雅黑"/>
                        </a:rPr>
                        <a:t>北京邮电大学</a:t>
                      </a:r>
                      <a:endParaRPr b="0" lang="en-US" sz="12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lIns="6120" rIns="6120" tIns="6120" bIns="0" anchor="ctr">
                      <a:noAutofit/>
                    </a:bodyPr>
                    <a:p>
                      <a:pPr algn="ctr">
                        <a:lnSpc>
                          <a:spcPct val="100000"/>
                        </a:lnSpc>
                        <a:buNone/>
                      </a:pPr>
                      <a:r>
                        <a:rPr b="0" lang="en-US" sz="1200" spc="-1" strike="noStrike">
                          <a:solidFill>
                            <a:srgbClr val="000000"/>
                          </a:solidFill>
                          <a:latin typeface="微软雅黑"/>
                          <a:ea typeface="微软雅黑"/>
                        </a:rPr>
                        <a:t>100.00 </a:t>
                      </a:r>
                      <a:endParaRPr b="0" lang="en-US" sz="1200" spc="-1" strike="noStrike">
                        <a:latin typeface="Arial"/>
                      </a:endParaRPr>
                    </a:p>
                  </a:txBody>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xBody>
                    <a:bodyPr lIns="6120" rIns="6120" tIns="6120" bIns="0" anchor="ctr">
                      <a:noAutofit/>
                    </a:bodyPr>
                    <a:p>
                      <a:pPr algn="ctr">
                        <a:lnSpc>
                          <a:spcPct val="100000"/>
                        </a:lnSpc>
                        <a:buNone/>
                      </a:pPr>
                      <a:r>
                        <a:rPr b="0" lang="en-US" sz="1200" spc="-1" strike="noStrike">
                          <a:solidFill>
                            <a:srgbClr val="000000"/>
                          </a:solidFill>
                          <a:latin typeface="微软雅黑"/>
                          <a:ea typeface="微软雅黑"/>
                        </a:rPr>
                        <a:t>0.00</a:t>
                      </a:r>
                      <a:endParaRPr b="0" lang="en-US" sz="1200" spc="-1" strike="noStrike">
                        <a:latin typeface="Arial"/>
                      </a:endParaRPr>
                    </a:p>
                  </a:txBody>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xBody>
                    <a:bodyPr lIns="6120" rIns="6120" tIns="6120" bIns="0" anchor="ctr">
                      <a:noAutofit/>
                    </a:bodyPr>
                    <a:p>
                      <a:pPr algn="ctr">
                        <a:lnSpc>
                          <a:spcPct val="100000"/>
                        </a:lnSpc>
                        <a:buNone/>
                      </a:pPr>
                      <a:r>
                        <a:rPr b="0" lang="en-US" sz="1200" spc="-1" strike="noStrike">
                          <a:solidFill>
                            <a:srgbClr val="000000"/>
                          </a:solidFill>
                          <a:latin typeface="微软雅黑"/>
                          <a:ea typeface="微软雅黑"/>
                        </a:rPr>
                        <a:t>0.00</a:t>
                      </a:r>
                      <a:endParaRPr b="0" lang="en-US" sz="1200" spc="-1" strike="noStrike">
                        <a:latin typeface="Arial"/>
                      </a:endParaRPr>
                    </a:p>
                  </a:txBody>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xBody>
                    <a:bodyPr lIns="6120" rIns="6120" tIns="6120" bIns="0" anchor="ctr">
                      <a:noAutofit/>
                    </a:bodyPr>
                    <a:p>
                      <a:pPr algn="ctr">
                        <a:lnSpc>
                          <a:spcPct val="100000"/>
                        </a:lnSpc>
                        <a:buNone/>
                      </a:pPr>
                      <a:r>
                        <a:rPr b="0" lang="en-US" sz="1200" spc="-1" strike="noStrike">
                          <a:solidFill>
                            <a:srgbClr val="000000"/>
                          </a:solidFill>
                          <a:latin typeface="微软雅黑"/>
                          <a:ea typeface="微软雅黑"/>
                        </a:rPr>
                        <a:t>0.00%</a:t>
                      </a:r>
                      <a:endParaRPr b="0" lang="en-US" sz="1200" spc="-1" strike="noStrike">
                        <a:latin typeface="Arial"/>
                      </a:endParaRPr>
                    </a:p>
                  </a:txBody>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xBody>
                    <a:bodyPr lIns="6120" rIns="6120" tIns="6120" bIns="0" anchor="ctr">
                      <a:noAutofit/>
                    </a:bodyPr>
                    <a:p>
                      <a:pPr algn="ctr">
                        <a:lnSpc>
                          <a:spcPct val="100000"/>
                        </a:lnSpc>
                        <a:buNone/>
                      </a:pPr>
                      <a:r>
                        <a:rPr b="0" lang="en-US" sz="1200" spc="-1" strike="noStrike">
                          <a:solidFill>
                            <a:srgbClr val="000000"/>
                          </a:solidFill>
                          <a:latin typeface="微软雅黑"/>
                          <a:ea typeface="微软雅黑"/>
                        </a:rPr>
                        <a:t>40.00</a:t>
                      </a:r>
                      <a:endParaRPr b="0" lang="en-US" sz="1200" spc="-1" strike="noStrike">
                        <a:latin typeface="Arial"/>
                      </a:endParaRPr>
                    </a:p>
                  </a:txBody>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xBody>
                    <a:bodyPr lIns="12600" rIns="12600" tIns="12600" anchor="ctr">
                      <a:noAutofit/>
                    </a:bodyPr>
                    <a:p>
                      <a:pPr algn="ctr">
                        <a:lnSpc>
                          <a:spcPct val="100000"/>
                        </a:lnSpc>
                        <a:buNone/>
                      </a:pPr>
                      <a:r>
                        <a:rPr b="0" lang="en-US" sz="1200" spc="-1" strike="noStrike">
                          <a:solidFill>
                            <a:srgbClr val="000000"/>
                          </a:solidFill>
                          <a:latin typeface="微软雅黑"/>
                          <a:ea typeface="微软雅黑"/>
                        </a:rPr>
                        <a:t>0</a:t>
                      </a:r>
                      <a:endParaRPr b="0" lang="en-US" sz="12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xBody>
                    <a:bodyPr lIns="12600" rIns="12600" tIns="12600" anchor="ctr">
                      <a:noAutofit/>
                    </a:bodyPr>
                    <a:p>
                      <a:pPr algn="ctr">
                        <a:lnSpc>
                          <a:spcPct val="100000"/>
                        </a:lnSpc>
                        <a:buNone/>
                      </a:pPr>
                      <a:r>
                        <a:rPr b="0" lang="en-US" sz="1200" spc="-1" strike="noStrike">
                          <a:solidFill>
                            <a:srgbClr val="000000"/>
                          </a:solidFill>
                          <a:latin typeface="微软雅黑"/>
                          <a:ea typeface="微软雅黑"/>
                        </a:rPr>
                        <a:t>0.00</a:t>
                      </a:r>
                      <a:endParaRPr b="0" lang="en-US" sz="12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xBody>
                    <a:bodyPr lIns="12600" rIns="12600" tIns="12600" anchor="ctr">
                      <a:noAutofit/>
                    </a:bodyPr>
                    <a:p>
                      <a:pPr algn="ctr">
                        <a:lnSpc>
                          <a:spcPct val="100000"/>
                        </a:lnSpc>
                        <a:buNone/>
                      </a:pPr>
                      <a:r>
                        <a:rPr b="0" lang="en-US" sz="1200" spc="-1" strike="noStrike">
                          <a:solidFill>
                            <a:srgbClr val="000000"/>
                          </a:solidFill>
                          <a:latin typeface="微软雅黑"/>
                          <a:ea typeface="微软雅黑"/>
                        </a:rPr>
                        <a:t>0.00%</a:t>
                      </a:r>
                      <a:endParaRPr b="0" lang="en-US" sz="12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xBody>
                    <a:bodyPr lIns="12600" rIns="12600" tIns="12600" anchor="ctr">
                      <a:noAutofit/>
                    </a:bodyPr>
                    <a:p>
                      <a:pPr algn="ctr">
                        <a:lnSpc>
                          <a:spcPct val="100000"/>
                        </a:lnSpc>
                        <a:buNone/>
                      </a:pPr>
                      <a:r>
                        <a:rPr b="0" lang="en-US" sz="1200" spc="-1" strike="noStrike">
                          <a:solidFill>
                            <a:srgbClr val="000000"/>
                          </a:solidFill>
                          <a:latin typeface="微软雅黑"/>
                          <a:ea typeface="微软雅黑"/>
                        </a:rPr>
                        <a:t>60.00</a:t>
                      </a:r>
                      <a:endParaRPr b="0" lang="en-US" sz="12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xBody>
                    <a:bodyPr lIns="12600" rIns="12600" tIns="12600" anchor="ctr">
                      <a:noAutofit/>
                    </a:bodyPr>
                    <a:p>
                      <a:pPr algn="ctr">
                        <a:lnSpc>
                          <a:spcPct val="100000"/>
                        </a:lnSpc>
                        <a:buNone/>
                      </a:pPr>
                      <a:r>
                        <a:rPr b="0" lang="en-US" sz="1200" spc="-1" strike="noStrike">
                          <a:solidFill>
                            <a:srgbClr val="000000"/>
                          </a:solidFill>
                          <a:latin typeface="微软雅黑"/>
                          <a:ea typeface="微软雅黑"/>
                        </a:rPr>
                        <a:t>0.00</a:t>
                      </a:r>
                      <a:endParaRPr b="0" lang="en-US" sz="12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xBody>
                    <a:bodyPr lIns="12600" rIns="12600" tIns="12600" anchor="ctr">
                      <a:noAutofit/>
                    </a:bodyPr>
                    <a:p>
                      <a:pPr algn="ctr">
                        <a:lnSpc>
                          <a:spcPct val="100000"/>
                        </a:lnSpc>
                        <a:buNone/>
                      </a:pPr>
                      <a:r>
                        <a:rPr b="0" lang="en-US" sz="1200" spc="-1" strike="noStrike">
                          <a:solidFill>
                            <a:srgbClr val="000000"/>
                          </a:solidFill>
                          <a:latin typeface="微软雅黑"/>
                          <a:ea typeface="微软雅黑"/>
                        </a:rPr>
                        <a:t>0.00</a:t>
                      </a:r>
                      <a:endParaRPr b="0" lang="en-US" sz="12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xBody>
                    <a:bodyPr lIns="12600" rIns="12600" tIns="12600" anchor="ctr">
                      <a:noAutofit/>
                    </a:bodyPr>
                    <a:p>
                      <a:pPr algn="ctr">
                        <a:lnSpc>
                          <a:spcPct val="100000"/>
                        </a:lnSpc>
                        <a:buNone/>
                      </a:pPr>
                      <a:r>
                        <a:rPr b="0" lang="en-US" sz="1200" spc="-1" strike="noStrike">
                          <a:solidFill>
                            <a:srgbClr val="000000"/>
                          </a:solidFill>
                          <a:latin typeface="微软雅黑"/>
                          <a:ea typeface="微软雅黑"/>
                        </a:rPr>
                        <a:t>0.00%</a:t>
                      </a:r>
                      <a:endParaRPr b="0" lang="en-US" sz="1200" spc="-1" strike="noStrike">
                        <a:latin typeface="Arial"/>
                      </a:endParaRPr>
                    </a:p>
                  </a:txBody>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r>
              <a:tr h="471960">
                <a:tc>
                  <a:tcPr anchor="ctr" marL="91440" marR="9144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r>
              <a:tr h="471960">
                <a:tc>
                  <a:tcPr anchor="ctr" marL="91440" marR="9144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r>
              <a:tr h="471960">
                <a:tc>
                  <a:tcPr anchor="ctr" marL="91440" marR="9144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r>
              <a:tr h="471960">
                <a:tc>
                  <a:tcPr anchor="ctr" marL="91440" marR="9144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7560" marR="7560">
                    <a:lnL w="12240">
                      <a:solidFill>
                        <a:srgbClr val="000000"/>
                      </a:solidFill>
                    </a:lnL>
                    <a:lnR w="12240">
                      <a:solidFill>
                        <a:srgbClr val="000000"/>
                      </a:solidFill>
                    </a:lnR>
                    <a:lnT w="12240">
                      <a:solidFill>
                        <a:srgbClr val="000000"/>
                      </a:solidFill>
                    </a:lnT>
                    <a:lnB w="12240">
                      <a:solidFill>
                        <a:srgbClr val="000000"/>
                      </a:solidFill>
                    </a:lnB>
                    <a:noFill/>
                  </a:tcPr>
                </a:tc>
                <a:tc>
                  <a:tcPr anchor="ctr" marL="7560" marR="756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r>
              <a:tr h="471240">
                <a:tc>
                  <a:tcPr anchor="ctr" marL="91440" marR="9144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6120" marR="612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c>
                  <a:tcPr anchor="ctr" marL="12600" marR="1260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
        <p:nvSpPr>
          <p:cNvPr id="200" name="矩形 113"/>
          <p:cNvSpPr/>
          <p:nvPr/>
        </p:nvSpPr>
        <p:spPr>
          <a:xfrm>
            <a:off x="270360" y="859680"/>
            <a:ext cx="2228400" cy="39636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gn="ctr">
              <a:lnSpc>
                <a:spcPct val="100000"/>
              </a:lnSpc>
              <a:buNone/>
              <a:tabLst>
                <a:tab algn="l" pos="0"/>
              </a:tabLst>
            </a:pPr>
            <a:r>
              <a:rPr b="1" lang="zh-CN" sz="2000" spc="-1" strike="noStrike">
                <a:solidFill>
                  <a:srgbClr val="ffffff"/>
                </a:solidFill>
                <a:latin typeface="微软雅黑"/>
                <a:ea typeface="微软雅黑"/>
              </a:rPr>
              <a:t>资金完成情况</a:t>
            </a:r>
            <a:endParaRPr b="0" lang="en-US" sz="2000" spc="-1" strike="noStrike">
              <a:latin typeface="Arial"/>
            </a:endParaRPr>
          </a:p>
        </p:txBody>
      </p:sp>
      <p:sp>
        <p:nvSpPr>
          <p:cNvPr id="201" name="矩形 1"/>
          <p:cNvSpPr/>
          <p:nvPr/>
        </p:nvSpPr>
        <p:spPr>
          <a:xfrm>
            <a:off x="8124840" y="163080"/>
            <a:ext cx="914040" cy="914040"/>
          </a:xfrm>
          <a:prstGeom prst="rect">
            <a:avLst/>
          </a:prstGeom>
          <a:noFill/>
          <a:ln w="0">
            <a:noFill/>
          </a:ln>
        </p:spPr>
        <p:style>
          <a:lnRef idx="0"/>
          <a:fillRef idx="0"/>
          <a:effectRef idx="0"/>
          <a:fontRef idx="minor"/>
        </p:style>
      </p:sp>
    </p:spTree>
  </p:cSld>
  <mc:AlternateContent>
    <mc:Choice Requires="p14">
      <p:transition spd="slow" advTm="12000" p14:dur="2000"/>
    </mc:Choice>
    <mc:Fallback>
      <p:transition spd="slow" advTm="12000"/>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203"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204"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sp>
        <p:nvSpPr>
          <p:cNvPr id="205" name="矩形 1"/>
          <p:cNvSpPr/>
          <p:nvPr/>
        </p:nvSpPr>
        <p:spPr>
          <a:xfrm>
            <a:off x="270360" y="859680"/>
            <a:ext cx="2228400" cy="396360"/>
          </a:xfrm>
          <a:prstGeom prst="rect">
            <a:avLst/>
          </a:prstGeom>
          <a:solidFill>
            <a:srgbClr val="006f6b"/>
          </a:solidFill>
          <a:ln w="9525">
            <a:solidFill>
              <a:srgbClr val="006f6b"/>
            </a:solidFill>
            <a:round/>
          </a:ln>
        </p:spPr>
        <p:style>
          <a:lnRef idx="0"/>
          <a:fillRef idx="0"/>
          <a:effectRef idx="0"/>
          <a:fontRef idx="minor"/>
        </p:style>
        <p:txBody>
          <a:bodyPr lIns="18288" rIns="18288" tIns="9144" bIns="9144" anchor="ctr" wrap="square">
            <a:noAutofit/>
          </a:bodyPr>
          <a:p>
            <a:pPr algn="ctr">
              <a:lnSpc>
                <a:spcPct val="100000"/>
              </a:lnSpc>
              <a:spcBef>
                <a:spcPts val="0"/>
              </a:spcBef>
              <a:spcAft>
                <a:spcPts val="0"/>
              </a:spcAft>
              <a:buNone/>
              <a:tabLst>
                <a:tab algn="l" pos="0"/>
              </a:tabLst>
            </a:pPr>
            <a:r>
              <a:rPr sz="2000" b="1">
                <a:solidFill>
                  <a:srgbClr val="FFFFFF"/>
                </a:solidFill>
                <a:latin typeface="微软雅黑"/>
                <a:ea typeface="微软雅黑"/>
              </a:rPr>
              <a:t>任务难题</a:t>
            </a:r>
            <a:endParaRPr b="0" lang="en-US" sz="2000" spc="-1" strike="noStrike">
              <a:latin typeface="Arial"/>
            </a:endParaRPr>
          </a:p>
        </p:txBody>
      </p:sp>
      <p:sp>
        <p:nvSpPr>
          <p:cNvPr id="206" name="Rectangle 205"/>
          <p:cNvSpPr/>
          <p:nvPr/>
        </p:nvSpPr>
        <p:spPr>
          <a:xfrm>
            <a:off x="329184" y="1371600"/>
            <a:ext cx="914400" cy="749808"/>
          </a:xfrm>
          <a:prstGeom prst="rect">
            <a:avLst/>
          </a:prstGeom>
          <a:solidFill>
            <a:srgbClr val="007873"/>
          </a:solidFill>
          <a:ln w="10160">
            <a:solidFill>
              <a:srgbClr val="00787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Bef>
                <a:spcPts val="0"/>
              </a:spcBef>
              <a:spcAft>
                <a:spcPts val="0"/>
              </a:spcAft>
            </a:pPr>
            <a:r>
              <a:rPr sz="1700" b="1">
                <a:solidFill>
                  <a:srgbClr val="FFFFFF"/>
                </a:solidFill>
                <a:latin typeface="微软雅黑"/>
                <a:ea typeface="微软雅黑"/>
              </a:rPr>
              <a:t>核心</a:t>
            </a:r>
          </a:p>
          <a:p>
            <a:pPr algn="ctr">
              <a:lnSpc>
                <a:spcPct val="100000"/>
              </a:lnSpc>
              <a:spcBef>
                <a:spcPts val="0"/>
              </a:spcBef>
              <a:spcAft>
                <a:spcPts val="0"/>
              </a:spcAft>
            </a:pPr>
            <a:r>
              <a:rPr sz="1700" b="1">
                <a:solidFill>
                  <a:srgbClr val="FFFFFF"/>
                </a:solidFill>
                <a:latin typeface="微软雅黑"/>
                <a:ea typeface="微软雅黑"/>
              </a:rPr>
              <a:t>难题</a:t>
            </a:r>
          </a:p>
        </p:txBody>
      </p:sp>
      <p:sp>
        <p:nvSpPr>
          <p:cNvPr id="207" name="Rectangle 206"/>
          <p:cNvSpPr/>
          <p:nvPr/>
        </p:nvSpPr>
        <p:spPr>
          <a:xfrm>
            <a:off x="1298448" y="1371600"/>
            <a:ext cx="10497312" cy="749808"/>
          </a:xfrm>
          <a:prstGeom prst="rect">
            <a:avLst/>
          </a:prstGeom>
          <a:solidFill>
            <a:srgbClr val="F4F7F7"/>
          </a:solidFill>
          <a:ln w="10160">
            <a:solidFill>
              <a:srgbClr val="C9D5D9"/>
            </a:solidFill>
          </a:ln>
        </p:spPr>
        <p:style>
          <a:lnRef idx="1">
            <a:schemeClr val="accent1"/>
          </a:lnRef>
          <a:fillRef idx="3">
            <a:schemeClr val="accent1"/>
          </a:fillRef>
          <a:effectRef idx="2">
            <a:schemeClr val="accent1"/>
          </a:effectRef>
          <a:fontRef idx="minor">
            <a:schemeClr val="lt1"/>
          </a:fontRef>
        </p:style>
        <p:txBody>
          <a:bodyPr rtlCol="0" anchor="ctr" wrap="square" lIns="164592" rIns="128016" tIns="54864" bIns="36576"/>
          <a:lstStyle/>
          <a:p>
            <a:pPr algn="l">
              <a:lnSpc>
                <a:spcPct val="105000"/>
              </a:lnSpc>
              <a:spcBef>
                <a:spcPts val="0"/>
              </a:spcBef>
              <a:spcAft>
                <a:spcPts val="0"/>
              </a:spcAft>
            </a:pPr>
            <a:r>
              <a:rPr sz="1800" b="0">
                <a:solidFill>
                  <a:srgbClr val="162024"/>
                </a:solidFill>
                <a:latin typeface="微软雅黑"/>
                <a:ea typeface="微软雅黑"/>
              </a:rPr>
              <a:t>分布式光伏、风电、储能与可控负荷的时空波动，与主网—配网—微网模型异构及边界耦合叠加，使潮流状态变化快、相互影响强。传统整体求解难以同时兼顾模型一致性、区域自治性和计算效率。</a:t>
            </a:r>
          </a:p>
        </p:txBody>
      </p:sp>
      <p:sp>
        <p:nvSpPr>
          <p:cNvPr id="208" name="Rounded Rectangle 207"/>
          <p:cNvSpPr/>
          <p:nvPr/>
        </p:nvSpPr>
        <p:spPr>
          <a:xfrm>
            <a:off x="347472" y="2331720"/>
            <a:ext cx="3694176" cy="3538728"/>
          </a:xfrm>
          <a:prstGeom prst="roundRect">
            <a:avLst/>
          </a:prstGeom>
          <a:solidFill>
            <a:srgbClr val="FFFFFF"/>
          </a:solidFill>
          <a:ln w="15240">
            <a:solidFill>
              <a:srgbClr val="1F66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ounded Rectangle 208"/>
          <p:cNvSpPr/>
          <p:nvPr/>
        </p:nvSpPr>
        <p:spPr>
          <a:xfrm>
            <a:off x="457200" y="2414016"/>
            <a:ext cx="3474720" cy="347472"/>
          </a:xfrm>
          <a:prstGeom prst="roundRect">
            <a:avLst/>
          </a:prstGeom>
          <a:solidFill>
            <a:srgbClr val="1F66B1"/>
          </a:solidFill>
          <a:ln w="10160">
            <a:solidFill>
              <a:srgbClr val="1F66B1"/>
            </a:solid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spcBef>
                <a:spcPts val="0"/>
              </a:spcBef>
              <a:spcAft>
                <a:spcPts val="0"/>
              </a:spcAft>
            </a:pPr>
            <a:r>
              <a:rPr sz="1600" b="1">
                <a:solidFill>
                  <a:srgbClr val="FFFFFF"/>
                </a:solidFill>
                <a:latin typeface="微软雅黑"/>
                <a:ea typeface="微软雅黑"/>
              </a:rPr>
              <a:t>多源波动</a:t>
            </a:r>
          </a:p>
        </p:txBody>
      </p:sp>
      <p:sp>
        <p:nvSpPr>
          <p:cNvPr id="210" name="Rounded Rectangle 209"/>
          <p:cNvSpPr/>
          <p:nvPr/>
        </p:nvSpPr>
        <p:spPr>
          <a:xfrm>
            <a:off x="4242816" y="2331720"/>
            <a:ext cx="3694176" cy="3538728"/>
          </a:xfrm>
          <a:prstGeom prst="roundRect">
            <a:avLst/>
          </a:prstGeom>
          <a:solidFill>
            <a:srgbClr val="FFFFFF"/>
          </a:solidFill>
          <a:ln w="15240">
            <a:solidFill>
              <a:srgbClr val="4F91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ounded Rectangle 210"/>
          <p:cNvSpPr/>
          <p:nvPr/>
        </p:nvSpPr>
        <p:spPr>
          <a:xfrm>
            <a:off x="4352544" y="2414016"/>
            <a:ext cx="3474720" cy="347472"/>
          </a:xfrm>
          <a:prstGeom prst="roundRect">
            <a:avLst/>
          </a:prstGeom>
          <a:solidFill>
            <a:srgbClr val="4F9135"/>
          </a:solidFill>
          <a:ln w="10160">
            <a:solidFill>
              <a:srgbClr val="4F9135"/>
            </a:solid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spcBef>
                <a:spcPts val="0"/>
              </a:spcBef>
              <a:spcAft>
                <a:spcPts val="0"/>
              </a:spcAft>
            </a:pPr>
            <a:r>
              <a:rPr sz="1600" b="1">
                <a:solidFill>
                  <a:srgbClr val="FFFFFF"/>
                </a:solidFill>
                <a:latin typeface="微软雅黑"/>
                <a:ea typeface="微软雅黑"/>
              </a:rPr>
              <a:t>跨层异构</a:t>
            </a:r>
          </a:p>
        </p:txBody>
      </p:sp>
      <p:sp>
        <p:nvSpPr>
          <p:cNvPr id="212" name="Rounded Rectangle 211"/>
          <p:cNvSpPr/>
          <p:nvPr/>
        </p:nvSpPr>
        <p:spPr>
          <a:xfrm>
            <a:off x="8138160" y="2331720"/>
            <a:ext cx="3694176" cy="3538728"/>
          </a:xfrm>
          <a:prstGeom prst="roundRect">
            <a:avLst/>
          </a:prstGeom>
          <a:solidFill>
            <a:srgbClr val="FFFFFF"/>
          </a:solidFill>
          <a:ln w="15240">
            <a:solidFill>
              <a:srgbClr val="E970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ounded Rectangle 212"/>
          <p:cNvSpPr/>
          <p:nvPr/>
        </p:nvSpPr>
        <p:spPr>
          <a:xfrm>
            <a:off x="8247888" y="2414016"/>
            <a:ext cx="3474720" cy="347472"/>
          </a:xfrm>
          <a:prstGeom prst="roundRect">
            <a:avLst/>
          </a:prstGeom>
          <a:solidFill>
            <a:srgbClr val="E9700A"/>
          </a:solidFill>
          <a:ln w="10160">
            <a:solidFill>
              <a:srgbClr val="E9700A"/>
            </a:solidFill>
          </a:ln>
        </p:spPr>
        <p:style>
          <a:lnRef idx="1">
            <a:schemeClr val="accent1"/>
          </a:lnRef>
          <a:fillRef idx="3">
            <a:schemeClr val="accent1"/>
          </a:fillRef>
          <a:effectRef idx="2">
            <a:schemeClr val="accent1"/>
          </a:effectRef>
          <a:fontRef idx="minor">
            <a:schemeClr val="lt1"/>
          </a:fontRef>
        </p:style>
        <p:txBody>
          <a:bodyPr rtlCol="0" anchor="ctr" wrap="square" lIns="18288" rIns="18288" tIns="9144" bIns="9144"/>
          <a:lstStyle/>
          <a:p>
            <a:pPr algn="ctr">
              <a:lnSpc>
                <a:spcPct val="100000"/>
              </a:lnSpc>
              <a:spcBef>
                <a:spcPts val="0"/>
              </a:spcBef>
              <a:spcAft>
                <a:spcPts val="0"/>
              </a:spcAft>
            </a:pPr>
            <a:r>
              <a:rPr sz="1600" b="1">
                <a:solidFill>
                  <a:srgbClr val="FFFFFF"/>
                </a:solidFill>
                <a:latin typeface="微软雅黑"/>
                <a:ea typeface="微软雅黑"/>
              </a:rPr>
              <a:t>边界耦合</a:t>
            </a:r>
          </a:p>
        </p:txBody>
      </p:sp>
      <p:pic>
        <p:nvPicPr>
          <p:cNvPr id="214" name="Picture 213" descr="image.wmf"/>
          <p:cNvPicPr>
            <a:picLocks noChangeAspect="1"/>
          </p:cNvPicPr>
          <p:nvPr/>
        </p:nvPicPr>
        <p:blipFill>
          <a:blip r:embed="rId1"/>
          <a:stretch>
            <a:fillRect/>
          </a:stretch>
        </p:blipFill>
        <p:spPr>
          <a:xfrm>
            <a:off x="532475" y="2834640"/>
            <a:ext cx="3324168" cy="1993392"/>
          </a:xfrm>
          <a:prstGeom prst="rect">
            <a:avLst/>
          </a:prstGeom>
        </p:spPr>
      </p:pic>
      <p:sp>
        <p:nvSpPr>
          <p:cNvPr id="215" name="Oval 214"/>
          <p:cNvSpPr/>
          <p:nvPr/>
        </p:nvSpPr>
        <p:spPr>
          <a:xfrm>
            <a:off x="612648" y="5033772"/>
            <a:ext cx="82296" cy="82296"/>
          </a:xfrm>
          <a:prstGeom prst="ellipse">
            <a:avLst/>
          </a:prstGeom>
          <a:solidFill>
            <a:srgbClr val="1F66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758952" y="4956048"/>
            <a:ext cx="3099815" cy="237744"/>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350" b="0">
                <a:solidFill>
                  <a:srgbClr val="162024"/>
                </a:solidFill>
                <a:latin typeface="微软雅黑"/>
                <a:ea typeface="微软雅黑"/>
              </a:rPr>
              <a:t>净负荷低谷加深、反向爬坡增强</a:t>
            </a:r>
          </a:p>
        </p:txBody>
      </p:sp>
      <p:sp>
        <p:nvSpPr>
          <p:cNvPr id="217" name="Oval 216"/>
          <p:cNvSpPr/>
          <p:nvPr/>
        </p:nvSpPr>
        <p:spPr>
          <a:xfrm>
            <a:off x="612648" y="5289804"/>
            <a:ext cx="82296" cy="82296"/>
          </a:xfrm>
          <a:prstGeom prst="ellipse">
            <a:avLst/>
          </a:prstGeom>
          <a:solidFill>
            <a:srgbClr val="1F66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58952" y="5212080"/>
            <a:ext cx="3099815" cy="237744"/>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350" b="0">
                <a:solidFill>
                  <a:srgbClr val="162024"/>
                </a:solidFill>
                <a:latin typeface="微软雅黑"/>
                <a:ea typeface="微软雅黑"/>
              </a:rPr>
              <a:t>不同时间断面的潮流状态快速变化</a:t>
            </a:r>
          </a:p>
        </p:txBody>
      </p:sp>
      <p:sp>
        <p:nvSpPr>
          <p:cNvPr id="219" name="TextBox 218"/>
          <p:cNvSpPr txBox="1"/>
          <p:nvPr/>
        </p:nvSpPr>
        <p:spPr>
          <a:xfrm>
            <a:off x="4425696" y="2907791"/>
            <a:ext cx="502920" cy="256032"/>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300" b="1">
                <a:solidFill>
                  <a:srgbClr val="1F66B1"/>
                </a:solidFill>
                <a:latin typeface="微软雅黑"/>
                <a:ea typeface="微软雅黑"/>
              </a:rPr>
              <a:t>主网</a:t>
            </a:r>
          </a:p>
        </p:txBody>
      </p:sp>
      <p:cxnSp>
        <p:nvCxnSpPr>
          <p:cNvPr id="220" name="Connector 219"/>
          <p:cNvCxnSpPr/>
          <p:nvPr/>
        </p:nvCxnSpPr>
        <p:spPr>
          <a:xfrm>
            <a:off x="5065776" y="3017520"/>
            <a:ext cx="2523744" cy="0"/>
          </a:xfrm>
          <a:prstGeom prst="line">
            <a:avLst/>
          </a:prstGeom>
          <a:ln w="21590">
            <a:solidFill>
              <a:srgbClr val="1F66B1"/>
            </a:solidFill>
          </a:ln>
        </p:spPr>
        <p:style>
          <a:lnRef idx="2">
            <a:schemeClr val="accent1"/>
          </a:lnRef>
          <a:fillRef idx="0">
            <a:schemeClr val="accent1"/>
          </a:fillRef>
          <a:effectRef idx="1">
            <a:schemeClr val="accent1"/>
          </a:effectRef>
          <a:fontRef idx="minor">
            <a:schemeClr val="tx1"/>
          </a:fontRef>
        </p:style>
      </p:cxnSp>
      <p:sp>
        <p:nvSpPr>
          <p:cNvPr id="221" name="Oval 220"/>
          <p:cNvSpPr/>
          <p:nvPr/>
        </p:nvSpPr>
        <p:spPr>
          <a:xfrm>
            <a:off x="5093207" y="2953512"/>
            <a:ext cx="128016" cy="128016"/>
          </a:xfrm>
          <a:prstGeom prst="ellipse">
            <a:avLst/>
          </a:prstGeom>
          <a:solidFill>
            <a:srgbClr val="1F66B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5843016" y="2953512"/>
            <a:ext cx="128016" cy="128016"/>
          </a:xfrm>
          <a:prstGeom prst="ellipse">
            <a:avLst/>
          </a:prstGeom>
          <a:solidFill>
            <a:srgbClr val="1F66B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6592823" y="2953512"/>
            <a:ext cx="128016" cy="128016"/>
          </a:xfrm>
          <a:prstGeom prst="ellipse">
            <a:avLst/>
          </a:prstGeom>
          <a:solidFill>
            <a:srgbClr val="1F66B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7342631" y="2953512"/>
            <a:ext cx="128016" cy="128016"/>
          </a:xfrm>
          <a:prstGeom prst="ellipse">
            <a:avLst/>
          </a:prstGeom>
          <a:solidFill>
            <a:srgbClr val="1F66B1"/>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4425696" y="3502152"/>
            <a:ext cx="502920" cy="256032"/>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300" b="1">
                <a:solidFill>
                  <a:srgbClr val="4F9135"/>
                </a:solidFill>
                <a:latin typeface="微软雅黑"/>
                <a:ea typeface="微软雅黑"/>
              </a:rPr>
              <a:t>配网</a:t>
            </a:r>
          </a:p>
        </p:txBody>
      </p:sp>
      <p:cxnSp>
        <p:nvCxnSpPr>
          <p:cNvPr id="226" name="Connector 225"/>
          <p:cNvCxnSpPr/>
          <p:nvPr/>
        </p:nvCxnSpPr>
        <p:spPr>
          <a:xfrm>
            <a:off x="5065776" y="3611880"/>
            <a:ext cx="2523744" cy="0"/>
          </a:xfrm>
          <a:prstGeom prst="line">
            <a:avLst/>
          </a:prstGeom>
          <a:ln w="21590">
            <a:solidFill>
              <a:srgbClr val="4F9135"/>
            </a:solidFill>
          </a:ln>
        </p:spPr>
        <p:style>
          <a:lnRef idx="2">
            <a:schemeClr val="accent1"/>
          </a:lnRef>
          <a:fillRef idx="0">
            <a:schemeClr val="accent1"/>
          </a:fillRef>
          <a:effectRef idx="1">
            <a:schemeClr val="accent1"/>
          </a:effectRef>
          <a:fontRef idx="minor">
            <a:schemeClr val="tx1"/>
          </a:fontRef>
        </p:style>
      </p:cxnSp>
      <p:sp>
        <p:nvSpPr>
          <p:cNvPr id="227" name="Oval 226"/>
          <p:cNvSpPr/>
          <p:nvPr/>
        </p:nvSpPr>
        <p:spPr>
          <a:xfrm>
            <a:off x="5093207" y="3547872"/>
            <a:ext cx="128016" cy="128016"/>
          </a:xfrm>
          <a:prstGeom prst="ellipse">
            <a:avLst/>
          </a:prstGeom>
          <a:solidFill>
            <a:srgbClr val="4F9135"/>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5843016" y="3547872"/>
            <a:ext cx="128016" cy="128016"/>
          </a:xfrm>
          <a:prstGeom prst="ellipse">
            <a:avLst/>
          </a:prstGeom>
          <a:solidFill>
            <a:srgbClr val="4F9135"/>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6592823" y="3547872"/>
            <a:ext cx="128016" cy="128016"/>
          </a:xfrm>
          <a:prstGeom prst="ellipse">
            <a:avLst/>
          </a:prstGeom>
          <a:solidFill>
            <a:srgbClr val="4F9135"/>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7342631" y="3547872"/>
            <a:ext cx="128016" cy="128016"/>
          </a:xfrm>
          <a:prstGeom prst="ellipse">
            <a:avLst/>
          </a:prstGeom>
          <a:solidFill>
            <a:srgbClr val="4F9135"/>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4425696" y="4096511"/>
            <a:ext cx="502920" cy="256032"/>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300" b="1">
                <a:solidFill>
                  <a:srgbClr val="E9700A"/>
                </a:solidFill>
                <a:latin typeface="微软雅黑"/>
                <a:ea typeface="微软雅黑"/>
              </a:rPr>
              <a:t>微网</a:t>
            </a:r>
          </a:p>
        </p:txBody>
      </p:sp>
      <p:cxnSp>
        <p:nvCxnSpPr>
          <p:cNvPr id="232" name="Connector 231"/>
          <p:cNvCxnSpPr/>
          <p:nvPr/>
        </p:nvCxnSpPr>
        <p:spPr>
          <a:xfrm>
            <a:off x="5065776" y="4206240"/>
            <a:ext cx="2523744" cy="0"/>
          </a:xfrm>
          <a:prstGeom prst="line">
            <a:avLst/>
          </a:prstGeom>
          <a:ln w="21590">
            <a:solidFill>
              <a:srgbClr val="E9700A"/>
            </a:solidFill>
          </a:ln>
        </p:spPr>
        <p:style>
          <a:lnRef idx="2">
            <a:schemeClr val="accent1"/>
          </a:lnRef>
          <a:fillRef idx="0">
            <a:schemeClr val="accent1"/>
          </a:fillRef>
          <a:effectRef idx="1">
            <a:schemeClr val="accent1"/>
          </a:effectRef>
          <a:fontRef idx="minor">
            <a:schemeClr val="tx1"/>
          </a:fontRef>
        </p:style>
      </p:cxnSp>
      <p:sp>
        <p:nvSpPr>
          <p:cNvPr id="233" name="Oval 232"/>
          <p:cNvSpPr/>
          <p:nvPr/>
        </p:nvSpPr>
        <p:spPr>
          <a:xfrm>
            <a:off x="5093207" y="4142231"/>
            <a:ext cx="128016" cy="128016"/>
          </a:xfrm>
          <a:prstGeom prst="ellipse">
            <a:avLst/>
          </a:prstGeom>
          <a:solidFill>
            <a:srgbClr val="E9700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5843016" y="4142231"/>
            <a:ext cx="128016" cy="128016"/>
          </a:xfrm>
          <a:prstGeom prst="ellipse">
            <a:avLst/>
          </a:prstGeom>
          <a:solidFill>
            <a:srgbClr val="E9700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6592823" y="4142231"/>
            <a:ext cx="128016" cy="128016"/>
          </a:xfrm>
          <a:prstGeom prst="ellipse">
            <a:avLst/>
          </a:prstGeom>
          <a:solidFill>
            <a:srgbClr val="E9700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7342631" y="4142231"/>
            <a:ext cx="128016" cy="128016"/>
          </a:xfrm>
          <a:prstGeom prst="ellipse">
            <a:avLst/>
          </a:prstGeom>
          <a:solidFill>
            <a:srgbClr val="E9700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7" name="Connector 236"/>
          <p:cNvCxnSpPr/>
          <p:nvPr/>
        </p:nvCxnSpPr>
        <p:spPr>
          <a:xfrm>
            <a:off x="6500652" y="3108960"/>
            <a:ext cx="0" cy="402336"/>
          </a:xfrm>
          <a:prstGeom prst="line">
            <a:avLst/>
          </a:prstGeom>
          <a:ln w="15240">
            <a:solidFill>
              <a:srgbClr val="D92D2D"/>
            </a:solidFill>
          </a:ln>
        </p:spPr>
        <p:style>
          <a:lnRef idx="2">
            <a:schemeClr val="accent1"/>
          </a:lnRef>
          <a:fillRef idx="0">
            <a:schemeClr val="accent1"/>
          </a:fillRef>
          <a:effectRef idx="1">
            <a:schemeClr val="accent1"/>
          </a:effectRef>
          <a:fontRef idx="minor">
            <a:schemeClr val="tx1"/>
          </a:fontRef>
        </p:style>
      </p:cxnSp>
      <p:sp>
        <p:nvSpPr>
          <p:cNvPr id="238" name="Oval 237"/>
          <p:cNvSpPr/>
          <p:nvPr/>
        </p:nvSpPr>
        <p:spPr>
          <a:xfrm>
            <a:off x="6409212" y="3218688"/>
            <a:ext cx="182880" cy="182880"/>
          </a:xfrm>
          <a:prstGeom prst="ellipse">
            <a:avLst/>
          </a:prstGeom>
          <a:noFill/>
          <a:ln w="17780">
            <a:solidFill>
              <a:srgbClr val="D9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6646956" y="3200400"/>
            <a:ext cx="749808" cy="219456"/>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150" b="1">
                <a:solidFill>
                  <a:srgbClr val="D92D2D"/>
                </a:solidFill>
                <a:latin typeface="微软雅黑"/>
                <a:ea typeface="微软雅黑"/>
              </a:rPr>
              <a:t>主配接口</a:t>
            </a:r>
          </a:p>
        </p:txBody>
      </p:sp>
      <p:cxnSp>
        <p:nvCxnSpPr>
          <p:cNvPr id="240" name="Connector 239"/>
          <p:cNvCxnSpPr/>
          <p:nvPr/>
        </p:nvCxnSpPr>
        <p:spPr>
          <a:xfrm>
            <a:off x="6500652" y="3703320"/>
            <a:ext cx="0" cy="402335"/>
          </a:xfrm>
          <a:prstGeom prst="line">
            <a:avLst/>
          </a:prstGeom>
          <a:ln w="15240">
            <a:solidFill>
              <a:srgbClr val="D92D2D"/>
            </a:solidFill>
          </a:ln>
        </p:spPr>
        <p:style>
          <a:lnRef idx="2">
            <a:schemeClr val="accent1"/>
          </a:lnRef>
          <a:fillRef idx="0">
            <a:schemeClr val="accent1"/>
          </a:fillRef>
          <a:effectRef idx="1">
            <a:schemeClr val="accent1"/>
          </a:effectRef>
          <a:fontRef idx="minor">
            <a:schemeClr val="tx1"/>
          </a:fontRef>
        </p:style>
      </p:cxnSp>
      <p:sp>
        <p:nvSpPr>
          <p:cNvPr id="241" name="Oval 240"/>
          <p:cNvSpPr/>
          <p:nvPr/>
        </p:nvSpPr>
        <p:spPr>
          <a:xfrm>
            <a:off x="6409212" y="3813048"/>
            <a:ext cx="182880" cy="182880"/>
          </a:xfrm>
          <a:prstGeom prst="ellipse">
            <a:avLst/>
          </a:prstGeom>
          <a:noFill/>
          <a:ln w="17780">
            <a:solidFill>
              <a:srgbClr val="D9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6646956" y="3794759"/>
            <a:ext cx="749808" cy="219456"/>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150" b="1">
                <a:solidFill>
                  <a:srgbClr val="D92D2D"/>
                </a:solidFill>
                <a:latin typeface="微软雅黑"/>
                <a:ea typeface="微软雅黑"/>
              </a:rPr>
              <a:t>PCC</a:t>
            </a:r>
          </a:p>
        </p:txBody>
      </p:sp>
      <p:sp>
        <p:nvSpPr>
          <p:cNvPr id="243" name="Oval 242"/>
          <p:cNvSpPr/>
          <p:nvPr/>
        </p:nvSpPr>
        <p:spPr>
          <a:xfrm>
            <a:off x="4507992" y="5033772"/>
            <a:ext cx="82296" cy="82296"/>
          </a:xfrm>
          <a:prstGeom prst="ellipse">
            <a:avLst/>
          </a:prstGeom>
          <a:solidFill>
            <a:srgbClr val="4F9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4654296" y="4956048"/>
            <a:ext cx="2980944" cy="237744"/>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350" b="0">
                <a:solidFill>
                  <a:srgbClr val="162024"/>
                </a:solidFill>
                <a:latin typeface="微软雅黑"/>
                <a:ea typeface="微软雅黑"/>
              </a:rPr>
              <a:t>相制式与设备模型存在差异</a:t>
            </a:r>
          </a:p>
        </p:txBody>
      </p:sp>
      <p:sp>
        <p:nvSpPr>
          <p:cNvPr id="245" name="Oval 244"/>
          <p:cNvSpPr/>
          <p:nvPr/>
        </p:nvSpPr>
        <p:spPr>
          <a:xfrm>
            <a:off x="4507992" y="5289804"/>
            <a:ext cx="82296" cy="82296"/>
          </a:xfrm>
          <a:prstGeom prst="ellipse">
            <a:avLst/>
          </a:prstGeom>
          <a:solidFill>
            <a:srgbClr val="4F91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4654296" y="5212080"/>
            <a:ext cx="2980944" cy="237744"/>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350" b="0">
                <a:solidFill>
                  <a:srgbClr val="162024"/>
                </a:solidFill>
                <a:latin typeface="微软雅黑"/>
                <a:ea typeface="微软雅黑"/>
              </a:rPr>
              <a:t>参数基准、运行时标与边界变量难对齐</a:t>
            </a:r>
          </a:p>
        </p:txBody>
      </p:sp>
      <p:pic>
        <p:nvPicPr>
          <p:cNvPr id="247" name="Picture 246" descr="image.wmf"/>
          <p:cNvPicPr>
            <a:picLocks noChangeAspect="1"/>
          </p:cNvPicPr>
          <p:nvPr/>
        </p:nvPicPr>
        <p:blipFill>
          <a:blip r:embed="rId2"/>
          <a:stretch>
            <a:fillRect/>
          </a:stretch>
        </p:blipFill>
        <p:spPr>
          <a:xfrm>
            <a:off x="8321040" y="3048616"/>
            <a:ext cx="3328416" cy="1108238"/>
          </a:xfrm>
          <a:prstGeom prst="rect">
            <a:avLst/>
          </a:prstGeom>
        </p:spPr>
      </p:pic>
      <p:sp>
        <p:nvSpPr>
          <p:cNvPr id="248" name="Oval 247"/>
          <p:cNvSpPr/>
          <p:nvPr/>
        </p:nvSpPr>
        <p:spPr>
          <a:xfrm>
            <a:off x="8339327" y="4704588"/>
            <a:ext cx="82296" cy="82296"/>
          </a:xfrm>
          <a:prstGeom prst="ellipse">
            <a:avLst/>
          </a:prstGeom>
          <a:solidFill>
            <a:srgbClr val="E970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8485632" y="4626864"/>
            <a:ext cx="3099815" cy="237744"/>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350" b="0">
                <a:solidFill>
                  <a:srgbClr val="162024"/>
                </a:solidFill>
                <a:latin typeface="微软雅黑"/>
                <a:ea typeface="微软雅黑"/>
              </a:rPr>
              <a:t>潮流方向随运行状态改变</a:t>
            </a:r>
          </a:p>
        </p:txBody>
      </p:sp>
      <p:sp>
        <p:nvSpPr>
          <p:cNvPr id="250" name="Oval 249"/>
          <p:cNvSpPr/>
          <p:nvPr/>
        </p:nvSpPr>
        <p:spPr>
          <a:xfrm>
            <a:off x="8339327" y="4960620"/>
            <a:ext cx="82296" cy="82296"/>
          </a:xfrm>
          <a:prstGeom prst="ellipse">
            <a:avLst/>
          </a:prstGeom>
          <a:solidFill>
            <a:srgbClr val="E970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8485632" y="4882896"/>
            <a:ext cx="3099815" cy="237744"/>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350" b="0">
                <a:solidFill>
                  <a:srgbClr val="162024"/>
                </a:solidFill>
                <a:latin typeface="微软雅黑"/>
                <a:ea typeface="微软雅黑"/>
              </a:rPr>
              <a:t>电压与功率波动经接口跨区域传播</a:t>
            </a:r>
          </a:p>
        </p:txBody>
      </p:sp>
      <p:sp>
        <p:nvSpPr>
          <p:cNvPr id="252" name="Oval 251"/>
          <p:cNvSpPr/>
          <p:nvPr/>
        </p:nvSpPr>
        <p:spPr>
          <a:xfrm>
            <a:off x="8339327" y="5216651"/>
            <a:ext cx="82296" cy="82296"/>
          </a:xfrm>
          <a:prstGeom prst="ellipse">
            <a:avLst/>
          </a:prstGeom>
          <a:solidFill>
            <a:srgbClr val="E970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485632" y="5138927"/>
            <a:ext cx="3099815" cy="237744"/>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350" b="0">
                <a:solidFill>
                  <a:srgbClr val="162024"/>
                </a:solidFill>
                <a:latin typeface="微软雅黑"/>
                <a:ea typeface="微软雅黑"/>
              </a:rPr>
              <a:t>局部误差可能在协调迭代中累积</a:t>
            </a:r>
          </a:p>
        </p:txBody>
      </p:sp>
      <p:sp>
        <p:nvSpPr>
          <p:cNvPr id="254" name="Rounded Rectangle 253"/>
          <p:cNvSpPr/>
          <p:nvPr/>
        </p:nvSpPr>
        <p:spPr>
          <a:xfrm>
            <a:off x="347472" y="6035040"/>
            <a:ext cx="11484864" cy="530352"/>
          </a:xfrm>
          <a:prstGeom prst="roundRect">
            <a:avLst/>
          </a:prstGeom>
          <a:solidFill>
            <a:srgbClr val="F3F7F7"/>
          </a:solidFill>
          <a:ln w="11430">
            <a:solidFill>
              <a:srgbClr val="C9D5D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0000"/>
              </a:lnSpc>
              <a:spcBef>
                <a:spcPts val="0"/>
              </a:spcBef>
              <a:spcAft>
                <a:spcPts val="0"/>
              </a:spcAft>
            </a:pPr>
            <a:r>
              <a:rPr sz="1400" b="1">
                <a:solidFill>
                  <a:srgbClr val="006968"/>
                </a:solidFill>
                <a:latin typeface="微软雅黑"/>
                <a:ea typeface="微软雅黑"/>
              </a:rPr>
              <a:t>源荷不确定性  →  模型与拓扑异构  →  边界耦合传播  →  收敛性与计算效率下降</a:t>
            </a:r>
          </a:p>
          <a:p>
            <a:pPr algn="ctr">
              <a:lnSpc>
                <a:spcPct val="90000"/>
              </a:lnSpc>
              <a:spcBef>
                <a:spcPts val="0"/>
              </a:spcBef>
              <a:spcAft>
                <a:spcPts val="0"/>
              </a:spcAft>
            </a:pPr>
            <a:r>
              <a:rPr sz="1400" b="1">
                <a:solidFill>
                  <a:srgbClr val="006968"/>
                </a:solidFill>
                <a:latin typeface="微软雅黑"/>
                <a:ea typeface="微软雅黑"/>
              </a:rPr>
              <a:t>关键矛盾：局部子问题可以独立求解，但跨区边界状态必须保持一致</a:t>
            </a:r>
          </a:p>
        </p:txBody>
      </p:sp>
    </p:spTree>
  </p:cSld>
  <mc:AlternateContent>
    <mc:Choice Requires="p14">
      <p:transition spd="slow" advTm="12000" p14:dur="2000"/>
    </mc:Choice>
    <mc:Fallback>
      <p:transition spd="slow" advTm="12000"/>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215"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216"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sp>
        <p:nvSpPr>
          <p:cNvPr id="217" name="矩形 1"/>
          <p:cNvSpPr/>
          <p:nvPr/>
        </p:nvSpPr>
        <p:spPr>
          <a:xfrm>
            <a:off x="270360" y="859680"/>
            <a:ext cx="2228400" cy="396360"/>
          </a:xfrm>
          <a:prstGeom prst="rect">
            <a:avLst/>
          </a:prstGeom>
          <a:solidFill>
            <a:srgbClr val="006f6b"/>
          </a:solidFill>
          <a:ln w="9525">
            <a:solidFill>
              <a:srgbClr val="006f6b"/>
            </a:solidFill>
            <a:round/>
          </a:ln>
        </p:spPr>
        <p:style>
          <a:lnRef idx="0"/>
          <a:fillRef idx="0"/>
          <a:effectRef idx="0"/>
          <a:fontRef idx="minor"/>
        </p:style>
        <p:txBody>
          <a:bodyPr lIns="18288" rIns="18288" tIns="9144" bIns="9144" anchor="ctr" wrap="square">
            <a:noAutofit/>
          </a:bodyPr>
          <a:p>
            <a:pPr algn="ctr">
              <a:lnSpc>
                <a:spcPct val="100000"/>
              </a:lnSpc>
              <a:spcBef>
                <a:spcPts val="0"/>
              </a:spcBef>
              <a:spcAft>
                <a:spcPts val="0"/>
              </a:spcAft>
              <a:buNone/>
              <a:tabLst>
                <a:tab algn="l" pos="0"/>
              </a:tabLst>
            </a:pPr>
            <a:r>
              <a:rPr sz="2000" b="1">
                <a:solidFill>
                  <a:srgbClr val="FFFFFF"/>
                </a:solidFill>
                <a:latin typeface="微软雅黑"/>
                <a:ea typeface="微软雅黑"/>
              </a:rPr>
              <a:t>技术创新</a:t>
            </a:r>
            <a:endParaRPr b="0" lang="en-US" sz="2000" spc="-1" strike="noStrike">
              <a:latin typeface="Arial"/>
            </a:endParaRPr>
          </a:p>
        </p:txBody>
      </p:sp>
      <p:sp>
        <p:nvSpPr>
          <p:cNvPr id="218" name="Rectangle 217"/>
          <p:cNvSpPr/>
          <p:nvPr/>
        </p:nvSpPr>
        <p:spPr>
          <a:xfrm>
            <a:off x="329184" y="1371600"/>
            <a:ext cx="914400" cy="749808"/>
          </a:xfrm>
          <a:prstGeom prst="rect">
            <a:avLst/>
          </a:prstGeom>
          <a:solidFill>
            <a:srgbClr val="007873"/>
          </a:solidFill>
          <a:ln w="10160">
            <a:solidFill>
              <a:srgbClr val="00787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Bef>
                <a:spcPts val="0"/>
              </a:spcBef>
              <a:spcAft>
                <a:spcPts val="0"/>
              </a:spcAft>
            </a:pPr>
            <a:r>
              <a:rPr sz="1700" b="1">
                <a:solidFill>
                  <a:srgbClr val="FFFFFF"/>
                </a:solidFill>
                <a:latin typeface="微软雅黑"/>
                <a:ea typeface="微软雅黑"/>
              </a:rPr>
              <a:t>核心</a:t>
            </a:r>
          </a:p>
          <a:p>
            <a:pPr algn="ctr">
              <a:lnSpc>
                <a:spcPct val="100000"/>
              </a:lnSpc>
              <a:spcBef>
                <a:spcPts val="0"/>
              </a:spcBef>
              <a:spcAft>
                <a:spcPts val="0"/>
              </a:spcAft>
            </a:pPr>
            <a:r>
              <a:rPr sz="1700" b="1">
                <a:solidFill>
                  <a:srgbClr val="FFFFFF"/>
                </a:solidFill>
                <a:latin typeface="微软雅黑"/>
                <a:ea typeface="微软雅黑"/>
              </a:rPr>
              <a:t>思路</a:t>
            </a:r>
          </a:p>
        </p:txBody>
      </p:sp>
      <p:sp>
        <p:nvSpPr>
          <p:cNvPr id="219" name="Rectangle 218"/>
          <p:cNvSpPr/>
          <p:nvPr/>
        </p:nvSpPr>
        <p:spPr>
          <a:xfrm>
            <a:off x="1298448" y="1371600"/>
            <a:ext cx="10497312" cy="749808"/>
          </a:xfrm>
          <a:prstGeom prst="rect">
            <a:avLst/>
          </a:prstGeom>
          <a:solidFill>
            <a:srgbClr val="F4F7F7"/>
          </a:solidFill>
          <a:ln w="10160">
            <a:solidFill>
              <a:srgbClr val="C9D5D9"/>
            </a:solidFill>
          </a:ln>
        </p:spPr>
        <p:style>
          <a:lnRef idx="1">
            <a:schemeClr val="accent1"/>
          </a:lnRef>
          <a:fillRef idx="3">
            <a:schemeClr val="accent1"/>
          </a:fillRef>
          <a:effectRef idx="2">
            <a:schemeClr val="accent1"/>
          </a:effectRef>
          <a:fontRef idx="minor">
            <a:schemeClr val="lt1"/>
          </a:fontRef>
        </p:style>
        <p:txBody>
          <a:bodyPr rtlCol="0" anchor="ctr" wrap="square" lIns="164592" rIns="128016" tIns="54864" bIns="36576"/>
          <a:lstStyle/>
          <a:p>
            <a:pPr algn="l">
              <a:lnSpc>
                <a:spcPct val="105000"/>
              </a:lnSpc>
              <a:spcBef>
                <a:spcPts val="0"/>
              </a:spcBef>
              <a:spcAft>
                <a:spcPts val="0"/>
              </a:spcAft>
            </a:pPr>
            <a:r>
              <a:rPr sz="1800" b="0">
                <a:solidFill>
                  <a:srgbClr val="162024"/>
                </a:solidFill>
                <a:latin typeface="微软雅黑"/>
                <a:ea typeface="微软雅黑"/>
              </a:rPr>
              <a:t>将全网强耦合潮流问题转化为拓扑完整的局部潮流子问题，以边界电压、主配交换功率和微网等值注入维持跨区一致性，通过层内并行与层间协调提升求解效率。</a:t>
            </a:r>
          </a:p>
        </p:txBody>
      </p:sp>
      <p:sp>
        <p:nvSpPr>
          <p:cNvPr id="220" name="Rounded Rectangle 219"/>
          <p:cNvSpPr/>
          <p:nvPr/>
        </p:nvSpPr>
        <p:spPr>
          <a:xfrm>
            <a:off x="329184" y="2340864"/>
            <a:ext cx="1417320" cy="1353312"/>
          </a:xfrm>
          <a:prstGeom prst="roundRect">
            <a:avLst/>
          </a:prstGeom>
          <a:solidFill>
            <a:srgbClr val="EEF4FC"/>
          </a:solidFill>
          <a:ln w="14604">
            <a:solidFill>
              <a:srgbClr val="1F66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420623" y="2450592"/>
            <a:ext cx="292608" cy="292608"/>
          </a:xfrm>
          <a:prstGeom prst="ellipse">
            <a:avLst/>
          </a:prstGeom>
          <a:solidFill>
            <a:srgbClr val="1F66B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200" b="1">
                <a:solidFill>
                  <a:srgbClr val="FFFFFF"/>
                </a:solidFill>
                <a:latin typeface="微软雅黑"/>
                <a:ea typeface="微软雅黑"/>
              </a:rPr>
              <a:t>1</a:t>
            </a:r>
          </a:p>
        </p:txBody>
      </p:sp>
      <p:sp>
        <p:nvSpPr>
          <p:cNvPr id="222" name="TextBox 221"/>
          <p:cNvSpPr txBox="1"/>
          <p:nvPr/>
        </p:nvSpPr>
        <p:spPr>
          <a:xfrm>
            <a:off x="438912" y="2770632"/>
            <a:ext cx="1197864" cy="310896"/>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450" b="1">
                <a:solidFill>
                  <a:srgbClr val="1F66B1"/>
                </a:solidFill>
                <a:latin typeface="微软雅黑"/>
                <a:ea typeface="微软雅黑"/>
              </a:rPr>
              <a:t>统一建模</a:t>
            </a:r>
          </a:p>
        </p:txBody>
      </p:sp>
      <p:sp>
        <p:nvSpPr>
          <p:cNvPr id="223" name="TextBox 222"/>
          <p:cNvSpPr txBox="1"/>
          <p:nvPr/>
        </p:nvSpPr>
        <p:spPr>
          <a:xfrm>
            <a:off x="438912" y="3127248"/>
            <a:ext cx="1197864" cy="438912"/>
          </a:xfrm>
          <a:prstGeom prst="rect">
            <a:avLst/>
          </a:prstGeom>
          <a:noFill/>
        </p:spPr>
        <p:txBody>
          <a:bodyPr wrap="square" anchor="ctr" lIns="27432" rIns="27432" tIns="18288" bIns="18288">
            <a:spAutoFit/>
          </a:bodyPr>
          <a:lstStyle/>
          <a:p>
            <a:pPr algn="ctr">
              <a:lnSpc>
                <a:spcPct val="95000"/>
              </a:lnSpc>
              <a:spcBef>
                <a:spcPts val="0"/>
              </a:spcBef>
              <a:spcAft>
                <a:spcPts val="0"/>
              </a:spcAft>
            </a:pPr>
            <a:r>
              <a:rPr sz="1120" b="0">
                <a:solidFill>
                  <a:srgbClr val="162024"/>
                </a:solidFill>
                <a:latin typeface="微软雅黑"/>
                <a:ea typeface="微软雅黑"/>
              </a:rPr>
              <a:t>语义、基准</a:t>
            </a:r>
          </a:p>
          <a:p>
            <a:pPr algn="ctr">
              <a:lnSpc>
                <a:spcPct val="95000"/>
              </a:lnSpc>
              <a:spcBef>
                <a:spcPts val="0"/>
              </a:spcBef>
              <a:spcAft>
                <a:spcPts val="0"/>
              </a:spcAft>
            </a:pPr>
            <a:r>
              <a:rPr sz="1120" b="0">
                <a:solidFill>
                  <a:srgbClr val="162024"/>
                </a:solidFill>
                <a:latin typeface="微软雅黑"/>
                <a:ea typeface="微软雅黑"/>
              </a:rPr>
              <a:t>与时标对齐</a:t>
            </a:r>
          </a:p>
        </p:txBody>
      </p:sp>
      <p:sp>
        <p:nvSpPr>
          <p:cNvPr id="224" name="Right Arrow 223"/>
          <p:cNvSpPr/>
          <p:nvPr/>
        </p:nvSpPr>
        <p:spPr>
          <a:xfrm>
            <a:off x="1764792" y="2889504"/>
            <a:ext cx="201168" cy="182880"/>
          </a:xfrm>
          <a:prstGeom prst="rightArrow">
            <a:avLst/>
          </a:prstGeom>
          <a:solidFill>
            <a:srgbClr val="7B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ounded Rectangle 224"/>
          <p:cNvSpPr/>
          <p:nvPr/>
        </p:nvSpPr>
        <p:spPr>
          <a:xfrm>
            <a:off x="1993392" y="2340864"/>
            <a:ext cx="1417320" cy="1353312"/>
          </a:xfrm>
          <a:prstGeom prst="roundRect">
            <a:avLst/>
          </a:prstGeom>
          <a:solidFill>
            <a:srgbClr val="ECF7F6"/>
          </a:solidFill>
          <a:ln w="14604">
            <a:solidFill>
              <a:srgbClr val="007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2084832" y="2450592"/>
            <a:ext cx="292608" cy="292608"/>
          </a:xfrm>
          <a:prstGeom prst="ellipse">
            <a:avLst/>
          </a:prstGeom>
          <a:solidFill>
            <a:srgbClr val="00787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200" b="1">
                <a:solidFill>
                  <a:srgbClr val="FFFFFF"/>
                </a:solidFill>
                <a:latin typeface="微软雅黑"/>
                <a:ea typeface="微软雅黑"/>
              </a:rPr>
              <a:t>2</a:t>
            </a:r>
          </a:p>
        </p:txBody>
      </p:sp>
      <p:sp>
        <p:nvSpPr>
          <p:cNvPr id="227" name="TextBox 226"/>
          <p:cNvSpPr txBox="1"/>
          <p:nvPr/>
        </p:nvSpPr>
        <p:spPr>
          <a:xfrm>
            <a:off x="2103120" y="2770632"/>
            <a:ext cx="1197864" cy="310896"/>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450" b="1">
                <a:solidFill>
                  <a:srgbClr val="007873"/>
                </a:solidFill>
                <a:latin typeface="微软雅黑"/>
                <a:ea typeface="微软雅黑"/>
              </a:rPr>
              <a:t>边界辨识</a:t>
            </a:r>
          </a:p>
        </p:txBody>
      </p:sp>
      <p:sp>
        <p:nvSpPr>
          <p:cNvPr id="228" name="TextBox 227"/>
          <p:cNvSpPr txBox="1"/>
          <p:nvPr/>
        </p:nvSpPr>
        <p:spPr>
          <a:xfrm>
            <a:off x="2103120" y="3127248"/>
            <a:ext cx="1197864" cy="438912"/>
          </a:xfrm>
          <a:prstGeom prst="rect">
            <a:avLst/>
          </a:prstGeom>
          <a:noFill/>
        </p:spPr>
        <p:txBody>
          <a:bodyPr wrap="square" anchor="ctr" lIns="27432" rIns="27432" tIns="18288" bIns="18288">
            <a:spAutoFit/>
          </a:bodyPr>
          <a:lstStyle/>
          <a:p>
            <a:pPr algn="ctr">
              <a:lnSpc>
                <a:spcPct val="95000"/>
              </a:lnSpc>
              <a:spcBef>
                <a:spcPts val="0"/>
              </a:spcBef>
              <a:spcAft>
                <a:spcPts val="0"/>
              </a:spcAft>
            </a:pPr>
            <a:r>
              <a:rPr sz="1120" b="0">
                <a:solidFill>
                  <a:srgbClr val="162024"/>
                </a:solidFill>
                <a:latin typeface="微软雅黑"/>
                <a:ea typeface="微软雅黑"/>
              </a:rPr>
              <a:t>电压分层、</a:t>
            </a:r>
          </a:p>
          <a:p>
            <a:pPr algn="ctr">
              <a:lnSpc>
                <a:spcPct val="95000"/>
              </a:lnSpc>
              <a:spcBef>
                <a:spcPts val="0"/>
              </a:spcBef>
              <a:spcAft>
                <a:spcPts val="0"/>
              </a:spcAft>
            </a:pPr>
            <a:r>
              <a:rPr sz="1120" b="0">
                <a:solidFill>
                  <a:srgbClr val="162024"/>
                </a:solidFill>
                <a:latin typeface="微软雅黑"/>
                <a:ea typeface="微软雅黑"/>
              </a:rPr>
              <a:t>变压器与PCC</a:t>
            </a:r>
          </a:p>
        </p:txBody>
      </p:sp>
      <p:sp>
        <p:nvSpPr>
          <p:cNvPr id="229" name="Right Arrow 228"/>
          <p:cNvSpPr/>
          <p:nvPr/>
        </p:nvSpPr>
        <p:spPr>
          <a:xfrm>
            <a:off x="3429000" y="2889504"/>
            <a:ext cx="201168" cy="182880"/>
          </a:xfrm>
          <a:prstGeom prst="rightArrow">
            <a:avLst/>
          </a:prstGeom>
          <a:solidFill>
            <a:srgbClr val="7B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ounded Rectangle 229"/>
          <p:cNvSpPr/>
          <p:nvPr/>
        </p:nvSpPr>
        <p:spPr>
          <a:xfrm>
            <a:off x="3657600" y="2340864"/>
            <a:ext cx="1417320" cy="1353312"/>
          </a:xfrm>
          <a:prstGeom prst="roundRect">
            <a:avLst/>
          </a:prstGeom>
          <a:solidFill>
            <a:srgbClr val="ECF5F5"/>
          </a:solidFill>
          <a:ln w="14604">
            <a:solidFill>
              <a:srgbClr val="006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3749039" y="2450592"/>
            <a:ext cx="292608" cy="292608"/>
          </a:xfrm>
          <a:prstGeom prst="ellipse">
            <a:avLst/>
          </a:prstGeom>
          <a:solidFill>
            <a:srgbClr val="00696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200" b="1">
                <a:solidFill>
                  <a:srgbClr val="FFFFFF"/>
                </a:solidFill>
                <a:latin typeface="微软雅黑"/>
                <a:ea typeface="微软雅黑"/>
              </a:rPr>
              <a:t>3</a:t>
            </a:r>
          </a:p>
        </p:txBody>
      </p:sp>
      <p:sp>
        <p:nvSpPr>
          <p:cNvPr id="232" name="TextBox 231"/>
          <p:cNvSpPr txBox="1"/>
          <p:nvPr/>
        </p:nvSpPr>
        <p:spPr>
          <a:xfrm>
            <a:off x="3767328" y="2770632"/>
            <a:ext cx="1197864" cy="310896"/>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450" b="1">
                <a:solidFill>
                  <a:srgbClr val="006968"/>
                </a:solidFill>
                <a:latin typeface="微软雅黑"/>
                <a:ea typeface="微软雅黑"/>
              </a:rPr>
              <a:t>关联度量</a:t>
            </a:r>
          </a:p>
        </p:txBody>
      </p:sp>
      <p:sp>
        <p:nvSpPr>
          <p:cNvPr id="233" name="TextBox 232"/>
          <p:cNvSpPr txBox="1"/>
          <p:nvPr/>
        </p:nvSpPr>
        <p:spPr>
          <a:xfrm>
            <a:off x="3767328" y="3127248"/>
            <a:ext cx="1197864" cy="438912"/>
          </a:xfrm>
          <a:prstGeom prst="rect">
            <a:avLst/>
          </a:prstGeom>
          <a:noFill/>
        </p:spPr>
        <p:txBody>
          <a:bodyPr wrap="square" anchor="ctr" lIns="27432" rIns="27432" tIns="18288" bIns="18288">
            <a:spAutoFit/>
          </a:bodyPr>
          <a:lstStyle/>
          <a:p>
            <a:pPr algn="ctr">
              <a:lnSpc>
                <a:spcPct val="95000"/>
              </a:lnSpc>
              <a:spcBef>
                <a:spcPts val="0"/>
              </a:spcBef>
              <a:spcAft>
                <a:spcPts val="0"/>
              </a:spcAft>
            </a:pPr>
            <a:r>
              <a:rPr sz="1120" b="0">
                <a:solidFill>
                  <a:srgbClr val="162024"/>
                </a:solidFill>
                <a:latin typeface="微软雅黑"/>
                <a:ea typeface="微软雅黑"/>
              </a:rPr>
              <a:t>阻抗、潮流</a:t>
            </a:r>
          </a:p>
          <a:p>
            <a:pPr algn="ctr">
              <a:lnSpc>
                <a:spcPct val="95000"/>
              </a:lnSpc>
              <a:spcBef>
                <a:spcPts val="0"/>
              </a:spcBef>
              <a:spcAft>
                <a:spcPts val="0"/>
              </a:spcAft>
            </a:pPr>
            <a:r>
              <a:rPr sz="1120" b="0">
                <a:solidFill>
                  <a:srgbClr val="162024"/>
                </a:solidFill>
                <a:latin typeface="微软雅黑"/>
                <a:ea typeface="微软雅黑"/>
              </a:rPr>
              <a:t>与源荷注入</a:t>
            </a:r>
          </a:p>
        </p:txBody>
      </p:sp>
      <p:sp>
        <p:nvSpPr>
          <p:cNvPr id="234" name="Right Arrow 233"/>
          <p:cNvSpPr/>
          <p:nvPr/>
        </p:nvSpPr>
        <p:spPr>
          <a:xfrm>
            <a:off x="5093208" y="2889504"/>
            <a:ext cx="201168" cy="182880"/>
          </a:xfrm>
          <a:prstGeom prst="rightArrow">
            <a:avLst/>
          </a:prstGeom>
          <a:solidFill>
            <a:srgbClr val="7B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ounded Rectangle 234"/>
          <p:cNvSpPr/>
          <p:nvPr/>
        </p:nvSpPr>
        <p:spPr>
          <a:xfrm>
            <a:off x="5321808" y="2340864"/>
            <a:ext cx="1417320" cy="1353312"/>
          </a:xfrm>
          <a:prstGeom prst="roundRect">
            <a:avLst/>
          </a:prstGeom>
          <a:solidFill>
            <a:srgbClr val="F0F7ED"/>
          </a:solidFill>
          <a:ln w="14604">
            <a:solidFill>
              <a:srgbClr val="4F91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5413248" y="2450592"/>
            <a:ext cx="292608" cy="292608"/>
          </a:xfrm>
          <a:prstGeom prst="ellipse">
            <a:avLst/>
          </a:prstGeom>
          <a:solidFill>
            <a:srgbClr val="4F913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200" b="1">
                <a:solidFill>
                  <a:srgbClr val="FFFFFF"/>
                </a:solidFill>
                <a:latin typeface="微软雅黑"/>
                <a:ea typeface="微软雅黑"/>
              </a:rPr>
              <a:t>4</a:t>
            </a:r>
          </a:p>
        </p:txBody>
      </p:sp>
      <p:sp>
        <p:nvSpPr>
          <p:cNvPr id="237" name="TextBox 236"/>
          <p:cNvSpPr txBox="1"/>
          <p:nvPr/>
        </p:nvSpPr>
        <p:spPr>
          <a:xfrm>
            <a:off x="5431536" y="2770632"/>
            <a:ext cx="1197864" cy="310896"/>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450" b="1">
                <a:solidFill>
                  <a:srgbClr val="4F9135"/>
                </a:solidFill>
                <a:latin typeface="微软雅黑"/>
                <a:ea typeface="微软雅黑"/>
              </a:rPr>
              <a:t>智能分区</a:t>
            </a:r>
          </a:p>
        </p:txBody>
      </p:sp>
      <p:sp>
        <p:nvSpPr>
          <p:cNvPr id="238" name="TextBox 237"/>
          <p:cNvSpPr txBox="1"/>
          <p:nvPr/>
        </p:nvSpPr>
        <p:spPr>
          <a:xfrm>
            <a:off x="5431536" y="3127248"/>
            <a:ext cx="1197864" cy="438912"/>
          </a:xfrm>
          <a:prstGeom prst="rect">
            <a:avLst/>
          </a:prstGeom>
          <a:noFill/>
        </p:spPr>
        <p:txBody>
          <a:bodyPr wrap="square" anchor="ctr" lIns="27432" rIns="27432" tIns="18288" bIns="18288">
            <a:spAutoFit/>
          </a:bodyPr>
          <a:lstStyle/>
          <a:p>
            <a:pPr algn="ctr">
              <a:lnSpc>
                <a:spcPct val="95000"/>
              </a:lnSpc>
              <a:spcBef>
                <a:spcPts val="0"/>
              </a:spcBef>
              <a:spcAft>
                <a:spcPts val="0"/>
              </a:spcAft>
            </a:pPr>
            <a:r>
              <a:rPr sz="1120" b="0">
                <a:solidFill>
                  <a:srgbClr val="162024"/>
                </a:solidFill>
                <a:latin typeface="微软雅黑"/>
                <a:ea typeface="微软雅黑"/>
              </a:rPr>
              <a:t>锚点生长、</a:t>
            </a:r>
          </a:p>
          <a:p>
            <a:pPr algn="ctr">
              <a:lnSpc>
                <a:spcPct val="95000"/>
              </a:lnSpc>
              <a:spcBef>
                <a:spcPts val="0"/>
              </a:spcBef>
              <a:spcAft>
                <a:spcPts val="0"/>
              </a:spcAft>
            </a:pPr>
            <a:r>
              <a:rPr sz="1120" b="0">
                <a:solidFill>
                  <a:srgbClr val="162024"/>
                </a:solidFill>
                <a:latin typeface="微软雅黑"/>
                <a:ea typeface="微软雅黑"/>
              </a:rPr>
              <a:t>多级图划分</a:t>
            </a:r>
          </a:p>
        </p:txBody>
      </p:sp>
      <p:sp>
        <p:nvSpPr>
          <p:cNvPr id="239" name="Right Arrow 238"/>
          <p:cNvSpPr/>
          <p:nvPr/>
        </p:nvSpPr>
        <p:spPr>
          <a:xfrm>
            <a:off x="6757416" y="2889504"/>
            <a:ext cx="201168" cy="182880"/>
          </a:xfrm>
          <a:prstGeom prst="rightArrow">
            <a:avLst/>
          </a:prstGeom>
          <a:solidFill>
            <a:srgbClr val="7B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ounded Rectangle 239"/>
          <p:cNvSpPr/>
          <p:nvPr/>
        </p:nvSpPr>
        <p:spPr>
          <a:xfrm>
            <a:off x="6986016" y="2340864"/>
            <a:ext cx="1417320" cy="1353312"/>
          </a:xfrm>
          <a:prstGeom prst="roundRect">
            <a:avLst/>
          </a:prstGeom>
          <a:solidFill>
            <a:srgbClr val="FEF2E9"/>
          </a:solidFill>
          <a:ln w="14604">
            <a:solidFill>
              <a:srgbClr val="E970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7077456" y="2450592"/>
            <a:ext cx="292608" cy="292608"/>
          </a:xfrm>
          <a:prstGeom prst="ellipse">
            <a:avLst/>
          </a:prstGeom>
          <a:solidFill>
            <a:srgbClr val="E9700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200" b="1">
                <a:solidFill>
                  <a:srgbClr val="FFFFFF"/>
                </a:solidFill>
                <a:latin typeface="微软雅黑"/>
                <a:ea typeface="微软雅黑"/>
              </a:rPr>
              <a:t>5</a:t>
            </a:r>
          </a:p>
        </p:txBody>
      </p:sp>
      <p:sp>
        <p:nvSpPr>
          <p:cNvPr id="242" name="TextBox 241"/>
          <p:cNvSpPr txBox="1"/>
          <p:nvPr/>
        </p:nvSpPr>
        <p:spPr>
          <a:xfrm>
            <a:off x="7095744" y="2770632"/>
            <a:ext cx="1197864" cy="310896"/>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450" b="1">
                <a:solidFill>
                  <a:srgbClr val="E9700A"/>
                </a:solidFill>
                <a:latin typeface="微软雅黑"/>
                <a:ea typeface="微软雅黑"/>
              </a:rPr>
              <a:t>解耦建模</a:t>
            </a:r>
          </a:p>
        </p:txBody>
      </p:sp>
      <p:sp>
        <p:nvSpPr>
          <p:cNvPr id="243" name="TextBox 242"/>
          <p:cNvSpPr txBox="1"/>
          <p:nvPr/>
        </p:nvSpPr>
        <p:spPr>
          <a:xfrm>
            <a:off x="7095744" y="3127248"/>
            <a:ext cx="1197864" cy="438912"/>
          </a:xfrm>
          <a:prstGeom prst="rect">
            <a:avLst/>
          </a:prstGeom>
          <a:noFill/>
        </p:spPr>
        <p:txBody>
          <a:bodyPr wrap="square" anchor="ctr" lIns="27432" rIns="27432" tIns="18288" bIns="18288">
            <a:spAutoFit/>
          </a:bodyPr>
          <a:lstStyle/>
          <a:p>
            <a:pPr algn="ctr">
              <a:lnSpc>
                <a:spcPct val="95000"/>
              </a:lnSpc>
              <a:spcBef>
                <a:spcPts val="0"/>
              </a:spcBef>
              <a:spcAft>
                <a:spcPts val="0"/>
              </a:spcAft>
            </a:pPr>
            <a:r>
              <a:rPr sz="1120" b="0">
                <a:solidFill>
                  <a:srgbClr val="162024"/>
                </a:solidFill>
                <a:latin typeface="微软雅黑"/>
                <a:ea typeface="微软雅黑"/>
              </a:rPr>
              <a:t>节点复制、</a:t>
            </a:r>
          </a:p>
          <a:p>
            <a:pPr algn="ctr">
              <a:lnSpc>
                <a:spcPct val="95000"/>
              </a:lnSpc>
              <a:spcBef>
                <a:spcPts val="0"/>
              </a:spcBef>
              <a:spcAft>
                <a:spcPts val="0"/>
              </a:spcAft>
            </a:pPr>
            <a:r>
              <a:rPr sz="1120" b="0">
                <a:solidFill>
                  <a:srgbClr val="162024"/>
                </a:solidFill>
                <a:latin typeface="微软雅黑"/>
                <a:ea typeface="微软雅黑"/>
              </a:rPr>
              <a:t>接口等值</a:t>
            </a:r>
          </a:p>
        </p:txBody>
      </p:sp>
      <p:sp>
        <p:nvSpPr>
          <p:cNvPr id="244" name="Right Arrow 243"/>
          <p:cNvSpPr/>
          <p:nvPr/>
        </p:nvSpPr>
        <p:spPr>
          <a:xfrm>
            <a:off x="8421624" y="2889504"/>
            <a:ext cx="201168" cy="182880"/>
          </a:xfrm>
          <a:prstGeom prst="rightArrow">
            <a:avLst/>
          </a:prstGeom>
          <a:solidFill>
            <a:srgbClr val="7B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ounded Rectangle 244"/>
          <p:cNvSpPr/>
          <p:nvPr/>
        </p:nvSpPr>
        <p:spPr>
          <a:xfrm>
            <a:off x="8650224" y="2340864"/>
            <a:ext cx="1417320" cy="1353312"/>
          </a:xfrm>
          <a:prstGeom prst="roundRect">
            <a:avLst/>
          </a:prstGeom>
          <a:solidFill>
            <a:srgbClr val="ECF7F6"/>
          </a:solidFill>
          <a:ln w="14604">
            <a:solidFill>
              <a:srgbClr val="0078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8741663" y="2450592"/>
            <a:ext cx="292608" cy="292608"/>
          </a:xfrm>
          <a:prstGeom prst="ellipse">
            <a:avLst/>
          </a:prstGeom>
          <a:solidFill>
            <a:srgbClr val="00787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200" b="1">
                <a:solidFill>
                  <a:srgbClr val="FFFFFF"/>
                </a:solidFill>
                <a:latin typeface="微软雅黑"/>
                <a:ea typeface="微软雅黑"/>
              </a:rPr>
              <a:t>6</a:t>
            </a:r>
          </a:p>
        </p:txBody>
      </p:sp>
      <p:sp>
        <p:nvSpPr>
          <p:cNvPr id="247" name="TextBox 246"/>
          <p:cNvSpPr txBox="1"/>
          <p:nvPr/>
        </p:nvSpPr>
        <p:spPr>
          <a:xfrm>
            <a:off x="8759951" y="2770632"/>
            <a:ext cx="1197864" cy="310896"/>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450" b="1">
                <a:solidFill>
                  <a:srgbClr val="007873"/>
                </a:solidFill>
                <a:latin typeface="微软雅黑"/>
                <a:ea typeface="微软雅黑"/>
              </a:rPr>
              <a:t>协调迭代</a:t>
            </a:r>
          </a:p>
        </p:txBody>
      </p:sp>
      <p:sp>
        <p:nvSpPr>
          <p:cNvPr id="248" name="TextBox 247"/>
          <p:cNvSpPr txBox="1"/>
          <p:nvPr/>
        </p:nvSpPr>
        <p:spPr>
          <a:xfrm>
            <a:off x="8759951" y="3127248"/>
            <a:ext cx="1197864" cy="438912"/>
          </a:xfrm>
          <a:prstGeom prst="rect">
            <a:avLst/>
          </a:prstGeom>
          <a:noFill/>
        </p:spPr>
        <p:txBody>
          <a:bodyPr wrap="square" anchor="ctr" lIns="27432" rIns="27432" tIns="18288" bIns="18288">
            <a:spAutoFit/>
          </a:bodyPr>
          <a:lstStyle/>
          <a:p>
            <a:pPr algn="ctr">
              <a:lnSpc>
                <a:spcPct val="95000"/>
              </a:lnSpc>
              <a:spcBef>
                <a:spcPts val="0"/>
              </a:spcBef>
              <a:spcAft>
                <a:spcPts val="0"/>
              </a:spcAft>
            </a:pPr>
            <a:r>
              <a:rPr sz="1120" b="0">
                <a:solidFill>
                  <a:srgbClr val="162024"/>
                </a:solidFill>
                <a:latin typeface="微软雅黑"/>
                <a:ea typeface="微软雅黑"/>
              </a:rPr>
              <a:t>松弛更新、</a:t>
            </a:r>
          </a:p>
          <a:p>
            <a:pPr algn="ctr">
              <a:lnSpc>
                <a:spcPct val="95000"/>
              </a:lnSpc>
              <a:spcBef>
                <a:spcPts val="0"/>
              </a:spcBef>
              <a:spcAft>
                <a:spcPts val="0"/>
              </a:spcAft>
            </a:pPr>
            <a:r>
              <a:rPr sz="1120" b="0">
                <a:solidFill>
                  <a:srgbClr val="162024"/>
                </a:solidFill>
                <a:latin typeface="微软雅黑"/>
                <a:ea typeface="微软雅黑"/>
              </a:rPr>
              <a:t>联合残差</a:t>
            </a:r>
          </a:p>
        </p:txBody>
      </p:sp>
      <p:sp>
        <p:nvSpPr>
          <p:cNvPr id="249" name="Right Arrow 248"/>
          <p:cNvSpPr/>
          <p:nvPr/>
        </p:nvSpPr>
        <p:spPr>
          <a:xfrm>
            <a:off x="10085832" y="2889504"/>
            <a:ext cx="201168" cy="182880"/>
          </a:xfrm>
          <a:prstGeom prst="rightArrow">
            <a:avLst/>
          </a:prstGeom>
          <a:solidFill>
            <a:srgbClr val="7B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ounded Rectangle 249"/>
          <p:cNvSpPr/>
          <p:nvPr/>
        </p:nvSpPr>
        <p:spPr>
          <a:xfrm>
            <a:off x="10314432" y="2340864"/>
            <a:ext cx="1417320" cy="1353312"/>
          </a:xfrm>
          <a:prstGeom prst="roundRect">
            <a:avLst/>
          </a:prstGeom>
          <a:solidFill>
            <a:srgbClr val="F3EFFA"/>
          </a:solidFill>
          <a:ln w="14604">
            <a:solidFill>
              <a:srgbClr val="6D4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10405872" y="2450592"/>
            <a:ext cx="292608" cy="292608"/>
          </a:xfrm>
          <a:prstGeom prst="ellipse">
            <a:avLst/>
          </a:prstGeom>
          <a:solidFill>
            <a:srgbClr val="6D49A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200" b="1">
                <a:solidFill>
                  <a:srgbClr val="FFFFFF"/>
                </a:solidFill>
                <a:latin typeface="微软雅黑"/>
                <a:ea typeface="微软雅黑"/>
              </a:rPr>
              <a:t>7</a:t>
            </a:r>
          </a:p>
        </p:txBody>
      </p:sp>
      <p:sp>
        <p:nvSpPr>
          <p:cNvPr id="252" name="TextBox 251"/>
          <p:cNvSpPr txBox="1"/>
          <p:nvPr/>
        </p:nvSpPr>
        <p:spPr>
          <a:xfrm>
            <a:off x="10424159" y="2770632"/>
            <a:ext cx="1197864" cy="310896"/>
          </a:xfrm>
          <a:prstGeom prst="rect">
            <a:avLst/>
          </a:prstGeom>
          <a:noFill/>
        </p:spPr>
        <p:txBody>
          <a:bodyPr wrap="square" anchor="ctr" lIns="27432" rIns="27432" tIns="18288" bIns="18288">
            <a:spAutoFit/>
          </a:bodyPr>
          <a:lstStyle/>
          <a:p>
            <a:pPr algn="ctr">
              <a:lnSpc>
                <a:spcPct val="100000"/>
              </a:lnSpc>
              <a:spcBef>
                <a:spcPts val="0"/>
              </a:spcBef>
              <a:spcAft>
                <a:spcPts val="0"/>
              </a:spcAft>
            </a:pPr>
            <a:r>
              <a:rPr sz="1450" b="1">
                <a:solidFill>
                  <a:srgbClr val="6D49A8"/>
                </a:solidFill>
                <a:latin typeface="微软雅黑"/>
                <a:ea typeface="微软雅黑"/>
              </a:rPr>
              <a:t>并行求解</a:t>
            </a:r>
          </a:p>
        </p:txBody>
      </p:sp>
      <p:sp>
        <p:nvSpPr>
          <p:cNvPr id="253" name="TextBox 252"/>
          <p:cNvSpPr txBox="1"/>
          <p:nvPr/>
        </p:nvSpPr>
        <p:spPr>
          <a:xfrm>
            <a:off x="10424159" y="3127248"/>
            <a:ext cx="1197864" cy="438912"/>
          </a:xfrm>
          <a:prstGeom prst="rect">
            <a:avLst/>
          </a:prstGeom>
          <a:noFill/>
        </p:spPr>
        <p:txBody>
          <a:bodyPr wrap="square" anchor="ctr" lIns="27432" rIns="27432" tIns="18288" bIns="18288">
            <a:spAutoFit/>
          </a:bodyPr>
          <a:lstStyle/>
          <a:p>
            <a:pPr algn="ctr">
              <a:lnSpc>
                <a:spcPct val="95000"/>
              </a:lnSpc>
              <a:spcBef>
                <a:spcPts val="0"/>
              </a:spcBef>
              <a:spcAft>
                <a:spcPts val="0"/>
              </a:spcAft>
            </a:pPr>
            <a:r>
              <a:rPr sz="1120" b="0">
                <a:solidFill>
                  <a:srgbClr val="162024"/>
                </a:solidFill>
                <a:latin typeface="微软雅黑"/>
                <a:ea typeface="微软雅黑"/>
              </a:rPr>
              <a:t>层内并行、</a:t>
            </a:r>
          </a:p>
          <a:p>
            <a:pPr algn="ctr">
              <a:lnSpc>
                <a:spcPct val="95000"/>
              </a:lnSpc>
              <a:spcBef>
                <a:spcPts val="0"/>
              </a:spcBef>
              <a:spcAft>
                <a:spcPts val="0"/>
              </a:spcAft>
            </a:pPr>
            <a:r>
              <a:rPr sz="1120" b="0">
                <a:solidFill>
                  <a:srgbClr val="162024"/>
                </a:solidFill>
                <a:latin typeface="微软雅黑"/>
                <a:ea typeface="微软雅黑"/>
              </a:rPr>
              <a:t>层间协调</a:t>
            </a:r>
          </a:p>
        </p:txBody>
      </p:sp>
      <p:sp>
        <p:nvSpPr>
          <p:cNvPr id="254" name="Rounded Rectangle 253"/>
          <p:cNvSpPr/>
          <p:nvPr/>
        </p:nvSpPr>
        <p:spPr>
          <a:xfrm>
            <a:off x="329184" y="4023360"/>
            <a:ext cx="3657600" cy="1581912"/>
          </a:xfrm>
          <a:prstGeom prst="roundRect">
            <a:avLst/>
          </a:prstGeom>
          <a:solidFill>
            <a:srgbClr val="F2F6FB"/>
          </a:solidFill>
          <a:ln w="14604">
            <a:solidFill>
              <a:srgbClr val="1F66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493776" y="4206240"/>
            <a:ext cx="512064" cy="512064"/>
          </a:xfrm>
          <a:prstGeom prst="ellipse">
            <a:avLst/>
          </a:prstGeom>
          <a:solidFill>
            <a:srgbClr val="1F66B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800" b="1">
                <a:solidFill>
                  <a:srgbClr val="FFFFFF"/>
                </a:solidFill>
                <a:latin typeface="微软雅黑"/>
                <a:ea typeface="微软雅黑"/>
              </a:rPr>
              <a:t>模</a:t>
            </a:r>
          </a:p>
        </p:txBody>
      </p:sp>
      <p:sp>
        <p:nvSpPr>
          <p:cNvPr id="256" name="TextBox 255"/>
          <p:cNvSpPr txBox="1"/>
          <p:nvPr/>
        </p:nvSpPr>
        <p:spPr>
          <a:xfrm>
            <a:off x="1115568" y="4142232"/>
            <a:ext cx="2679192" cy="384048"/>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700" b="1">
                <a:solidFill>
                  <a:srgbClr val="1F66B1"/>
                </a:solidFill>
                <a:latin typeface="微软雅黑"/>
                <a:ea typeface="微软雅黑"/>
              </a:rPr>
              <a:t>模型层：形成统一计算对象</a:t>
            </a:r>
          </a:p>
        </p:txBody>
      </p:sp>
      <p:sp>
        <p:nvSpPr>
          <p:cNvPr id="257" name="TextBox 256"/>
          <p:cNvSpPr txBox="1"/>
          <p:nvPr/>
        </p:nvSpPr>
        <p:spPr>
          <a:xfrm>
            <a:off x="1115568" y="4562856"/>
            <a:ext cx="2651760" cy="822960"/>
          </a:xfrm>
          <a:prstGeom prst="rect">
            <a:avLst/>
          </a:prstGeom>
          <a:noFill/>
        </p:spPr>
        <p:txBody>
          <a:bodyPr wrap="square" anchor="t" lIns="27432" rIns="27432" tIns="18288" bIns="18288">
            <a:spAutoFit/>
          </a:bodyPr>
          <a:lstStyle/>
          <a:p>
            <a:pPr algn="l">
              <a:lnSpc>
                <a:spcPct val="100000"/>
              </a:lnSpc>
              <a:spcBef>
                <a:spcPts val="0"/>
              </a:spcBef>
              <a:spcAft>
                <a:spcPts val="0"/>
              </a:spcAft>
            </a:pPr>
            <a:r>
              <a:rPr sz="1320" b="0">
                <a:solidFill>
                  <a:srgbClr val="162024"/>
                </a:solidFill>
                <a:latin typeface="微软雅黑"/>
                <a:ea typeface="微软雅黑"/>
              </a:rPr>
              <a:t>消除设备语义、参数基准和运行时标差异</a:t>
            </a:r>
          </a:p>
          <a:p>
            <a:pPr algn="l">
              <a:lnSpc>
                <a:spcPct val="100000"/>
              </a:lnSpc>
              <a:spcBef>
                <a:spcPts val="0"/>
              </a:spcBef>
              <a:spcAft>
                <a:spcPts val="0"/>
              </a:spcAft>
            </a:pPr>
            <a:r>
              <a:rPr sz="1320" b="0">
                <a:solidFill>
                  <a:srgbClr val="162024"/>
                </a:solidFill>
                <a:latin typeface="微软雅黑"/>
                <a:ea typeface="微软雅黑"/>
              </a:rPr>
              <a:t>为边界识别、网络分区和潮流求解提供一致输入</a:t>
            </a:r>
          </a:p>
        </p:txBody>
      </p:sp>
      <p:sp>
        <p:nvSpPr>
          <p:cNvPr id="258" name="Rounded Rectangle 257"/>
          <p:cNvSpPr/>
          <p:nvPr/>
        </p:nvSpPr>
        <p:spPr>
          <a:xfrm>
            <a:off x="4261104" y="4023360"/>
            <a:ext cx="3657600" cy="1581912"/>
          </a:xfrm>
          <a:prstGeom prst="roundRect">
            <a:avLst/>
          </a:prstGeom>
          <a:solidFill>
            <a:srgbClr val="F3F8F0"/>
          </a:solidFill>
          <a:ln w="14604">
            <a:solidFill>
              <a:srgbClr val="4F91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4425696" y="4206240"/>
            <a:ext cx="512064" cy="512064"/>
          </a:xfrm>
          <a:prstGeom prst="ellipse">
            <a:avLst/>
          </a:prstGeom>
          <a:solidFill>
            <a:srgbClr val="4F913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800" b="1">
                <a:solidFill>
                  <a:srgbClr val="FFFFFF"/>
                </a:solidFill>
                <a:latin typeface="微软雅黑"/>
                <a:ea typeface="微软雅黑"/>
              </a:rPr>
              <a:t>区</a:t>
            </a:r>
          </a:p>
        </p:txBody>
      </p:sp>
      <p:sp>
        <p:nvSpPr>
          <p:cNvPr id="260" name="TextBox 259"/>
          <p:cNvSpPr txBox="1"/>
          <p:nvPr/>
        </p:nvSpPr>
        <p:spPr>
          <a:xfrm>
            <a:off x="5047488" y="4142232"/>
            <a:ext cx="2679192" cy="384048"/>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700" b="1">
                <a:solidFill>
                  <a:srgbClr val="4F9135"/>
                </a:solidFill>
                <a:latin typeface="微软雅黑"/>
                <a:ea typeface="微软雅黑"/>
              </a:rPr>
              <a:t>结构层：形成可协调子区</a:t>
            </a:r>
          </a:p>
        </p:txBody>
      </p:sp>
      <p:sp>
        <p:nvSpPr>
          <p:cNvPr id="261" name="TextBox 260"/>
          <p:cNvSpPr txBox="1"/>
          <p:nvPr/>
        </p:nvSpPr>
        <p:spPr>
          <a:xfrm>
            <a:off x="5047488" y="4562856"/>
            <a:ext cx="2651760" cy="822960"/>
          </a:xfrm>
          <a:prstGeom prst="rect">
            <a:avLst/>
          </a:prstGeom>
          <a:noFill/>
        </p:spPr>
        <p:txBody>
          <a:bodyPr wrap="square" anchor="t" lIns="27432" rIns="27432" tIns="18288" bIns="18288">
            <a:spAutoFit/>
          </a:bodyPr>
          <a:lstStyle/>
          <a:p>
            <a:pPr algn="l">
              <a:lnSpc>
                <a:spcPct val="100000"/>
              </a:lnSpc>
              <a:spcBef>
                <a:spcPts val="0"/>
              </a:spcBef>
              <a:spcAft>
                <a:spcPts val="0"/>
              </a:spcAft>
            </a:pPr>
            <a:r>
              <a:rPr sz="1320" b="0">
                <a:solidFill>
                  <a:srgbClr val="162024"/>
                </a:solidFill>
                <a:latin typeface="微软雅黑"/>
                <a:ea typeface="微软雅黑"/>
              </a:rPr>
              <a:t>接口锚点约束边界位置，电气耦合指导区域划分</a:t>
            </a:r>
          </a:p>
          <a:p>
            <a:pPr algn="l">
              <a:lnSpc>
                <a:spcPct val="100000"/>
              </a:lnSpc>
              <a:spcBef>
                <a:spcPts val="0"/>
              </a:spcBef>
              <a:spcAft>
                <a:spcPts val="0"/>
              </a:spcAft>
            </a:pPr>
            <a:r>
              <a:rPr sz="1320" b="0">
                <a:solidFill>
                  <a:srgbClr val="162024"/>
                </a:solidFill>
                <a:latin typeface="微软雅黑"/>
                <a:ea typeface="微软雅黑"/>
              </a:rPr>
              <a:t>保证区内强耦合、区间弱耦合和子区拓扑连通</a:t>
            </a:r>
          </a:p>
        </p:txBody>
      </p:sp>
      <p:sp>
        <p:nvSpPr>
          <p:cNvPr id="262" name="Rounded Rectangle 261"/>
          <p:cNvSpPr/>
          <p:nvPr/>
        </p:nvSpPr>
        <p:spPr>
          <a:xfrm>
            <a:off x="8193024" y="4023360"/>
            <a:ext cx="3657600" cy="1581912"/>
          </a:xfrm>
          <a:prstGeom prst="roundRect">
            <a:avLst/>
          </a:prstGeom>
          <a:solidFill>
            <a:srgbClr val="FEF5ED"/>
          </a:solidFill>
          <a:ln w="14604">
            <a:solidFill>
              <a:srgbClr val="E970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8357616" y="4206240"/>
            <a:ext cx="512064" cy="512064"/>
          </a:xfrm>
          <a:prstGeom prst="ellipse">
            <a:avLst/>
          </a:prstGeom>
          <a:solidFill>
            <a:srgbClr val="E9700A"/>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1800" b="1">
                <a:solidFill>
                  <a:srgbClr val="FFFFFF"/>
                </a:solidFill>
                <a:latin typeface="微软雅黑"/>
                <a:ea typeface="微软雅黑"/>
              </a:rPr>
              <a:t>解</a:t>
            </a:r>
          </a:p>
        </p:txBody>
      </p:sp>
      <p:sp>
        <p:nvSpPr>
          <p:cNvPr id="264" name="TextBox 263"/>
          <p:cNvSpPr txBox="1"/>
          <p:nvPr/>
        </p:nvSpPr>
        <p:spPr>
          <a:xfrm>
            <a:off x="8979408" y="4142232"/>
            <a:ext cx="2679192" cy="384048"/>
          </a:xfrm>
          <a:prstGeom prst="rect">
            <a:avLst/>
          </a:prstGeom>
          <a:noFill/>
        </p:spPr>
        <p:txBody>
          <a:bodyPr wrap="square" anchor="ctr" lIns="27432" rIns="27432" tIns="18288" bIns="18288">
            <a:spAutoFit/>
          </a:bodyPr>
          <a:lstStyle/>
          <a:p>
            <a:pPr algn="l">
              <a:lnSpc>
                <a:spcPct val="100000"/>
              </a:lnSpc>
              <a:spcBef>
                <a:spcPts val="0"/>
              </a:spcBef>
              <a:spcAft>
                <a:spcPts val="0"/>
              </a:spcAft>
            </a:pPr>
            <a:r>
              <a:rPr sz="1700" b="1">
                <a:solidFill>
                  <a:srgbClr val="E9700A"/>
                </a:solidFill>
                <a:latin typeface="微软雅黑"/>
                <a:ea typeface="微软雅黑"/>
              </a:rPr>
              <a:t>求解层：实现协同收敛</a:t>
            </a:r>
          </a:p>
        </p:txBody>
      </p:sp>
      <p:sp>
        <p:nvSpPr>
          <p:cNvPr id="265" name="TextBox 264"/>
          <p:cNvSpPr txBox="1"/>
          <p:nvPr/>
        </p:nvSpPr>
        <p:spPr>
          <a:xfrm>
            <a:off x="8979408" y="4562856"/>
            <a:ext cx="2651760" cy="822960"/>
          </a:xfrm>
          <a:prstGeom prst="rect">
            <a:avLst/>
          </a:prstGeom>
          <a:noFill/>
        </p:spPr>
        <p:txBody>
          <a:bodyPr wrap="square" anchor="t" lIns="27432" rIns="27432" tIns="18288" bIns="18288">
            <a:spAutoFit/>
          </a:bodyPr>
          <a:lstStyle/>
          <a:p>
            <a:pPr algn="l">
              <a:lnSpc>
                <a:spcPct val="100000"/>
              </a:lnSpc>
              <a:spcBef>
                <a:spcPts val="0"/>
              </a:spcBef>
              <a:spcAft>
                <a:spcPts val="0"/>
              </a:spcAft>
            </a:pPr>
            <a:r>
              <a:rPr sz="1320" b="0">
                <a:solidFill>
                  <a:srgbClr val="162024"/>
                </a:solidFill>
                <a:latin typeface="微软雅黑"/>
                <a:ea typeface="微软雅黑"/>
              </a:rPr>
              <a:t>边界电压、交换功率与等值注入双向传递</a:t>
            </a:r>
          </a:p>
          <a:p>
            <a:pPr algn="l">
              <a:lnSpc>
                <a:spcPct val="100000"/>
              </a:lnSpc>
              <a:spcBef>
                <a:spcPts val="0"/>
              </a:spcBef>
              <a:spcAft>
                <a:spcPts val="0"/>
              </a:spcAft>
            </a:pPr>
            <a:r>
              <a:rPr sz="1320" b="0">
                <a:solidFill>
                  <a:srgbClr val="162024"/>
                </a:solidFill>
                <a:latin typeface="微软雅黑"/>
                <a:ea typeface="微软雅黑"/>
              </a:rPr>
              <a:t>层内并行计算，层间按变量依赖关系顺序协调</a:t>
            </a:r>
          </a:p>
        </p:txBody>
      </p:sp>
      <p:sp>
        <p:nvSpPr>
          <p:cNvPr id="266" name="Rounded Rectangle 265"/>
          <p:cNvSpPr/>
          <p:nvPr/>
        </p:nvSpPr>
        <p:spPr>
          <a:xfrm>
            <a:off x="329184" y="5833872"/>
            <a:ext cx="11521440" cy="640080"/>
          </a:xfrm>
          <a:prstGeom prst="roundRect">
            <a:avLst/>
          </a:prstGeom>
          <a:solidFill>
            <a:srgbClr val="F1F7F6"/>
          </a:solidFill>
          <a:ln w="12700">
            <a:solidFill>
              <a:srgbClr val="007873"/>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92000"/>
              </a:lnSpc>
              <a:spcBef>
                <a:spcPts val="0"/>
              </a:spcBef>
              <a:spcAft>
                <a:spcPts val="0"/>
              </a:spcAft>
            </a:pPr>
            <a:r>
              <a:rPr sz="1450" b="1">
                <a:solidFill>
                  <a:srgbClr val="006968"/>
                </a:solidFill>
                <a:latin typeface="微软雅黑"/>
                <a:ea typeface="微软雅黑"/>
              </a:rPr>
              <a:t>统一计算对象  →  可协调分区  →  拓扑完整的局部潮流子问题  →  边界一致的协调解  →  可扩展并行求解</a:t>
            </a:r>
          </a:p>
          <a:p>
            <a:pPr algn="ctr">
              <a:lnSpc>
                <a:spcPct val="92000"/>
              </a:lnSpc>
              <a:spcBef>
                <a:spcPts val="0"/>
              </a:spcBef>
              <a:spcAft>
                <a:spcPts val="0"/>
              </a:spcAft>
            </a:pPr>
            <a:r>
              <a:rPr sz="1450" b="1">
                <a:solidFill>
                  <a:srgbClr val="006968"/>
                </a:solidFill>
                <a:latin typeface="微软雅黑"/>
                <a:ea typeface="微软雅黑"/>
              </a:rPr>
              <a:t>形成“建模—分区—解耦—协调—并行”的完整技术闭环</a:t>
            </a:r>
          </a:p>
        </p:txBody>
      </p:sp>
    </p:spTree>
  </p:cSld>
  <mc:AlternateContent>
    <mc:Choice Requires="p14">
      <p:transition spd="slow" advTm="12000" p14:dur="2000"/>
    </mc:Choice>
    <mc:Fallback>
      <p:transition spd="slow" advTm="12000"/>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235"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236"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sp>
        <p:nvSpPr>
          <p:cNvPr id="237" name="灯片编号占位符 3"/>
          <p:cNvSpPr/>
          <p:nvPr/>
        </p:nvSpPr>
        <p:spPr>
          <a:xfrm>
            <a:off x="11790000" y="6546960"/>
            <a:ext cx="463320" cy="413640"/>
          </a:xfrm>
          <a:prstGeom prst="rect">
            <a:avLst/>
          </a:prstGeom>
          <a:noFill/>
          <a:ln w="0">
            <a:noFill/>
          </a:ln>
        </p:spPr>
        <p:style>
          <a:lnRef idx="0"/>
          <a:fillRef idx="0"/>
          <a:effectRef idx="0"/>
          <a:fontRef idx="minor"/>
        </p:style>
        <p:txBody>
          <a:bodyPr anchor="ctr">
            <a:noAutofit/>
          </a:bodyPr>
          <a:p>
            <a:pPr algn="r">
              <a:lnSpc>
                <a:spcPct val="100000"/>
              </a:lnSpc>
              <a:buNone/>
              <a:tabLst>
                <a:tab algn="l" pos="0"/>
              </a:tabLst>
            </a:pPr>
            <a:fld id="{6A820224-36FF-4B8E-B4CE-082B53CA1794}" type="slidenum">
              <a:rPr b="0" lang="en-US" sz="1600" spc="-1" strike="noStrike">
                <a:solidFill>
                  <a:srgbClr val="898989"/>
                </a:solidFill>
                <a:latin typeface="微软雅黑"/>
                <a:ea typeface="微软雅黑"/>
              </a:rPr>
              <a:t>&lt;number&gt;</a:t>
            </a:fld>
            <a:endParaRPr b="0" lang="en-US" sz="1600" spc="-1" strike="noStrike">
              <a:latin typeface="Arial"/>
            </a:endParaRPr>
          </a:p>
        </p:txBody>
      </p:sp>
      <p:sp>
        <p:nvSpPr>
          <p:cNvPr id="238" name="矩形 1"/>
          <p:cNvSpPr/>
          <p:nvPr/>
        </p:nvSpPr>
        <p:spPr>
          <a:xfrm>
            <a:off x="270360" y="859680"/>
            <a:ext cx="2228400" cy="39636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gn="ctr">
              <a:lnSpc>
                <a:spcPct val="100000"/>
              </a:lnSpc>
              <a:buNone/>
              <a:tabLst>
                <a:tab algn="l" pos="0"/>
              </a:tabLst>
            </a:pPr>
            <a:r>
              <a:rPr b="1" lang="zh-CN" sz="2000" spc="-1" strike="noStrike">
                <a:solidFill>
                  <a:srgbClr val="ffffff"/>
                </a:solidFill>
                <a:latin typeface="微软雅黑"/>
                <a:ea typeface="微软雅黑"/>
              </a:rPr>
              <a:t>任务完成程度</a:t>
            </a:r>
            <a:endParaRPr b="0" lang="en-US" sz="2000" spc="-1" strike="noStrike">
              <a:latin typeface="Arial"/>
            </a:endParaRPr>
          </a:p>
        </p:txBody>
      </p:sp>
      <p:graphicFrame>
        <p:nvGraphicFramePr>
          <p:cNvPr id="239" name="表格 5"/>
          <p:cNvGraphicFramePr/>
          <p:nvPr/>
        </p:nvGraphicFramePr>
        <p:xfrm>
          <a:off x="345240" y="1361160"/>
          <a:ext cx="11471760" cy="4868640"/>
        </p:xfrm>
        <a:graphic>
          <a:graphicData uri="http://schemas.openxmlformats.org/drawingml/2006/table">
            <a:tbl>
              <a:tblPr/>
              <a:tblGrid>
                <a:gridCol w="1788480"/>
                <a:gridCol w="3678840"/>
                <a:gridCol w="3915720"/>
                <a:gridCol w="871200"/>
                <a:gridCol w="1217520"/>
              </a:tblGrid>
              <a:tr h="568440">
                <a:tc>
                  <a:txBody>
                    <a:bodyPr lIns="91080" rIns="91080" tIns="45360" bIns="45360" anchor="ctr">
                      <a:noAutofit/>
                    </a:bodyPr>
                    <a:p>
                      <a:pPr algn="ctr">
                        <a:lnSpc>
                          <a:spcPct val="95000"/>
                        </a:lnSpc>
                        <a:buNone/>
                      </a:pPr>
                      <a:r>
                        <a:rPr b="1" lang="zh-CN" sz="1650" spc="-1" strike="noStrike">
                          <a:solidFill>
                            <a:srgbClr val="000000"/>
                          </a:solidFill>
                          <a:latin typeface="微软雅黑"/>
                          <a:ea typeface="微软雅黑"/>
                        </a:rPr>
                        <a:t>研究内容</a:t>
                      </a:r>
                      <a:endParaRPr b="0" lang="en-US" sz="1650" spc="-1" strike="noStrike">
                        <a:latin typeface="Arial"/>
                      </a:endParaRPr>
                    </a:p>
                  </a:txBody>
                  <a:tcPr anchor="ctr" marL="91080" marR="91080">
                    <a:lnL w="12240">
                      <a:solidFill>
                        <a:srgbClr val="000000"/>
                      </a:solidFill>
                    </a:lnL>
                    <a:lnR w="12240">
                      <a:solidFill>
                        <a:srgbClr val="000000"/>
                      </a:solidFill>
                    </a:lnR>
                    <a:lnT w="12240">
                      <a:solidFill>
                        <a:srgbClr val="000000"/>
                      </a:solidFill>
                    </a:lnT>
                    <a:lnB w="12240">
                      <a:solidFill>
                        <a:srgbClr val="000000"/>
                      </a:solidFill>
                    </a:lnB>
                    <a:noFill/>
                  </a:tcPr>
                </a:tc>
                <a:tc>
                  <a:txBody>
                    <a:bodyPr lIns="91080" rIns="91080" tIns="45360" bIns="45360" anchor="ctr">
                      <a:noAutofit/>
                    </a:bodyPr>
                    <a:p>
                      <a:pPr algn="ctr">
                        <a:lnSpc>
                          <a:spcPct val="95000"/>
                        </a:lnSpc>
                        <a:buNone/>
                      </a:pPr>
                      <a:r>
                        <a:rPr b="1" lang="zh-CN" sz="1650" spc="-1" strike="noStrike">
                          <a:solidFill>
                            <a:srgbClr val="000000"/>
                          </a:solidFill>
                          <a:latin typeface="微软雅黑"/>
                          <a:ea typeface="微软雅黑"/>
                        </a:rPr>
                        <a:t>预期成果</a:t>
                      </a:r>
                      <a:endParaRPr b="0" lang="en-US" sz="1650" spc="-1" strike="noStrike">
                        <a:latin typeface="Arial"/>
                      </a:endParaRPr>
                    </a:p>
                  </a:txBody>
                  <a:tcPr anchor="ctr" marL="91080" marR="91080">
                    <a:lnL w="12240">
                      <a:solidFill>
                        <a:srgbClr val="000000"/>
                      </a:solidFill>
                    </a:lnL>
                    <a:lnR w="12240">
                      <a:solidFill>
                        <a:srgbClr val="000000"/>
                      </a:solidFill>
                    </a:lnR>
                    <a:lnT w="12240">
                      <a:solidFill>
                        <a:srgbClr val="000000"/>
                      </a:solidFill>
                    </a:lnT>
                    <a:lnB w="12240">
                      <a:solidFill>
                        <a:srgbClr val="000000"/>
                      </a:solidFill>
                    </a:lnB>
                    <a:noFill/>
                  </a:tcPr>
                </a:tc>
                <a:tc>
                  <a:txBody>
                    <a:bodyPr lIns="91080" rIns="91080" tIns="45360" bIns="45360" anchor="ctr">
                      <a:noAutofit/>
                    </a:bodyPr>
                    <a:p>
                      <a:pPr algn="ctr">
                        <a:lnSpc>
                          <a:spcPct val="95000"/>
                        </a:lnSpc>
                        <a:buNone/>
                      </a:pPr>
                      <a:r>
                        <a:rPr b="1" lang="zh-CN" sz="1650" spc="-1" strike="noStrike">
                          <a:solidFill>
                            <a:srgbClr val="000000"/>
                          </a:solidFill>
                          <a:latin typeface="微软雅黑"/>
                          <a:ea typeface="微软雅黑"/>
                        </a:rPr>
                        <a:t>取得的成果及创新特色</a:t>
                      </a:r>
                      <a:endParaRPr b="0" lang="en-US" sz="1650" spc="-1" strike="noStrike">
                        <a:latin typeface="Arial"/>
                      </a:endParaRPr>
                    </a:p>
                  </a:txBody>
                  <a:tcPr anchor="ctr" marL="91080" marR="91080">
                    <a:lnL w="12240">
                      <a:solidFill>
                        <a:srgbClr val="000000"/>
                      </a:solidFill>
                    </a:lnL>
                    <a:lnR w="12240">
                      <a:solidFill>
                        <a:srgbClr val="000000"/>
                      </a:solidFill>
                    </a:lnR>
                    <a:lnT w="12240">
                      <a:solidFill>
                        <a:srgbClr val="000000"/>
                      </a:solidFill>
                    </a:lnT>
                    <a:lnB w="12240">
                      <a:solidFill>
                        <a:srgbClr val="000000"/>
                      </a:solidFill>
                    </a:lnB>
                    <a:noFill/>
                  </a:tcPr>
                </a:tc>
                <a:tc>
                  <a:txBody>
                    <a:bodyPr lIns="91080" rIns="91080" tIns="45360" bIns="45360" anchor="ctr">
                      <a:noAutofit/>
                    </a:bodyPr>
                    <a:p>
                      <a:pPr algn="ctr">
                        <a:lnSpc>
                          <a:spcPct val="95000"/>
                        </a:lnSpc>
                        <a:buNone/>
                      </a:pPr>
                      <a:r>
                        <a:rPr b="1" lang="zh-CN" sz="1650" spc="-1" strike="noStrike">
                          <a:solidFill>
                            <a:srgbClr val="000000"/>
                          </a:solidFill>
                          <a:latin typeface="微软雅黑"/>
                          <a:ea typeface="微软雅黑"/>
                        </a:rPr>
                        <a:t>成果证明</a:t>
                      </a:r>
                      <a:endParaRPr b="0" lang="en-US" sz="1650" spc="-1" strike="noStrike">
                        <a:latin typeface="Arial"/>
                      </a:endParaRPr>
                    </a:p>
                  </a:txBody>
                  <a:tcPr anchor="ctr" marL="91080" marR="91080">
                    <a:lnL w="12240">
                      <a:solidFill>
                        <a:srgbClr val="000000"/>
                      </a:solidFill>
                    </a:lnL>
                    <a:lnR w="12240">
                      <a:solidFill>
                        <a:srgbClr val="000000"/>
                      </a:solidFill>
                    </a:lnR>
                    <a:lnT w="12240">
                      <a:solidFill>
                        <a:srgbClr val="000000"/>
                      </a:solidFill>
                    </a:lnT>
                    <a:lnB w="12240">
                      <a:solidFill>
                        <a:srgbClr val="000000"/>
                      </a:solidFill>
                    </a:lnB>
                    <a:noFill/>
                  </a:tcPr>
                </a:tc>
                <a:tc>
                  <a:txBody>
                    <a:bodyPr lIns="91080" rIns="91080" tIns="45360" bIns="45360" anchor="ctr">
                      <a:noAutofit/>
                    </a:bodyPr>
                    <a:p>
                      <a:pPr algn="ctr">
                        <a:lnSpc>
                          <a:spcPct val="95000"/>
                        </a:lnSpc>
                        <a:buNone/>
                      </a:pPr>
                      <a:r>
                        <a:rPr b="1" lang="zh-CN" sz="1650" spc="-1" strike="noStrike">
                          <a:solidFill>
                            <a:srgbClr val="000000"/>
                          </a:solidFill>
                          <a:latin typeface="微软雅黑"/>
                          <a:ea typeface="微软雅黑"/>
                        </a:rPr>
                        <a:t>完成情况</a:t>
                      </a:r>
                      <a:endParaRPr b="0" lang="en-US" sz="1650" spc="-1" strike="noStrike">
                        <a:latin typeface="Arial"/>
                      </a:endParaRPr>
                    </a:p>
                  </a:txBody>
                  <a:tcPr anchor="ctr" marL="91080" marR="91080">
                    <a:lnL w="12240">
                      <a:solidFill>
                        <a:srgbClr val="000000"/>
                      </a:solidFill>
                    </a:lnL>
                    <a:lnR w="12240">
                      <a:solidFill>
                        <a:srgbClr val="000000"/>
                      </a:solidFill>
                    </a:lnR>
                    <a:lnT w="12240">
                      <a:solidFill>
                        <a:srgbClr val="000000"/>
                      </a:solidFill>
                    </a:lnT>
                    <a:lnB w="12240">
                      <a:solidFill>
                        <a:srgbClr val="000000"/>
                      </a:solidFill>
                    </a:lnB>
                    <a:noFill/>
                  </a:tcPr>
                </a:tc>
              </a:tr>
              <a:tr h="1097280">
                <a:tc>
                  <a:txBody>
                    <a:bodyPr anchor="ctr">
                      <a:noAutofit/>
                    </a:bodyPr>
                    <a:p>
                      <a:pPr>
                        <a:lnSpc>
                          <a:spcPct val="95000"/>
                        </a:lnSpc>
                        <a:buNone/>
                      </a:pPr>
                      <a:r>
                        <a:rPr b="0" lang="en-US" sz="1300" spc="-1" strike="noStrike">
                          <a:solidFill>
                            <a:srgbClr val="000000"/>
                          </a:solidFill>
                          <a:latin typeface="微软雅黑"/>
                          <a:ea typeface="微软雅黑"/>
                        </a:rPr>
                        <a:t>1. </a:t>
                      </a:r>
                      <a:r>
                        <a:rPr b="0" lang="zh-CN" sz="1300" spc="-1" strike="noStrike">
                          <a:solidFill>
                            <a:srgbClr val="000000"/>
                          </a:solidFill>
                          <a:latin typeface="微软雅黑"/>
                          <a:ea typeface="微软雅黑"/>
                        </a:rPr>
                        <a:t>异构模型统一建模与边界辨识</a:t>
                      </a:r>
                      <a:endParaRPr b="0" lang="en-US" sz="13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250" spc="-1" strike="noStrike">
                          <a:solidFill>
                            <a:srgbClr val="000000"/>
                          </a:solidFill>
                          <a:latin typeface="微软雅黑"/>
                          <a:ea typeface="微软雅黑"/>
                        </a:rPr>
                        <a:t>形成主网、配网和微网设备语义映射、参数基准统一及主配接口</a:t>
                      </a:r>
                      <a:r>
                        <a:rPr b="0" lang="en-US" sz="1250" spc="-1" strike="noStrike">
                          <a:solidFill>
                            <a:srgbClr val="000000"/>
                          </a:solidFill>
                          <a:latin typeface="微软雅黑"/>
                          <a:ea typeface="微软雅黑"/>
                        </a:rPr>
                        <a:t>/PCC</a:t>
                      </a:r>
                      <a:r>
                        <a:rPr b="0" lang="zh-CN" sz="1250" spc="-1" strike="noStrike">
                          <a:solidFill>
                            <a:srgbClr val="000000"/>
                          </a:solidFill>
                          <a:latin typeface="微软雅黑"/>
                          <a:ea typeface="微软雅黑"/>
                        </a:rPr>
                        <a:t>自动识别方法。</a:t>
                      </a:r>
                      <a:endParaRPr b="0" lang="en-US" sz="125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250" spc="-1" strike="noStrike">
                          <a:solidFill>
                            <a:srgbClr val="000000"/>
                          </a:solidFill>
                          <a:latin typeface="微软雅黑"/>
                          <a:ea typeface="微软雅黑"/>
                        </a:rPr>
                        <a:t>建立“模型标准化—设备映射—电压分层—跨域变压器识别—</a:t>
                      </a:r>
                      <a:r>
                        <a:rPr b="0" lang="en-US" sz="1250" spc="-1" strike="noStrike">
                          <a:solidFill>
                            <a:srgbClr val="000000"/>
                          </a:solidFill>
                          <a:latin typeface="微软雅黑"/>
                          <a:ea typeface="微软雅黑"/>
                        </a:rPr>
                        <a:t>PCC</a:t>
                      </a:r>
                      <a:r>
                        <a:rPr b="0" lang="zh-CN" sz="1250" spc="-1" strike="noStrike">
                          <a:solidFill>
                            <a:srgbClr val="000000"/>
                          </a:solidFill>
                          <a:latin typeface="微软雅黑"/>
                          <a:ea typeface="微软雅黑"/>
                        </a:rPr>
                        <a:t>映射”流程，形成分区与潮流求解共享的统一计算对象。</a:t>
                      </a:r>
                      <a:endParaRPr b="0" lang="en-US" sz="125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130" spc="-1" strike="noStrike">
                          <a:solidFill>
                            <a:srgbClr val="000000"/>
                          </a:solidFill>
                          <a:latin typeface="微软雅黑"/>
                          <a:ea typeface="微软雅黑"/>
                        </a:rPr>
                        <a:t>方法流程与原型功能已形成</a:t>
                      </a:r>
                      <a:endParaRPr b="0" lang="en-US" sz="113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d7fffc">
                        <a:alpha val="20000"/>
                      </a:srgbClr>
                    </a:solidFill>
                  </a:tcPr>
                </a:tc>
                <a:tc>
                  <a:txBody>
                    <a:bodyPr anchor="ctr" wrap="square">
                      <a:noAutofit/>
                    </a:bodyPr>
                    <a:p>
                      <a:pPr algn="ctr">
                        <a:lnSpc>
                          <a:spcPct val="95000"/>
                        </a:lnSpc>
                        <a:spcBef>
                          <a:spcPts val="0"/>
                        </a:spcBef>
                        <a:spcAft>
                          <a:spcPts val="0"/>
                        </a:spcAft>
                        <a:buNone/>
                      </a:pPr>
                      <a:r>
                        <a:rPr sz="1500" b="1">
                          <a:latin typeface="微软雅黑"/>
                          <a:ea typeface="微软雅黑"/>
                        </a:rPr>
                        <a:t>完成70%</a:t>
                      </a:r>
                      <a:endParaRPr b="0" lang="en-US" sz="13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r>
              <a:tr h="1209600">
                <a:tc>
                  <a:txBody>
                    <a:bodyPr anchor="ctr">
                      <a:noAutofit/>
                    </a:bodyPr>
                    <a:p>
                      <a:pPr>
                        <a:lnSpc>
                          <a:spcPct val="95000"/>
                        </a:lnSpc>
                        <a:buNone/>
                      </a:pPr>
                      <a:r>
                        <a:rPr b="0" lang="en-US" sz="1300" spc="-1" strike="noStrike">
                          <a:solidFill>
                            <a:srgbClr val="000000"/>
                          </a:solidFill>
                          <a:latin typeface="微软雅黑"/>
                          <a:ea typeface="微软雅黑"/>
                        </a:rPr>
                        <a:t>2. </a:t>
                      </a:r>
                      <a:r>
                        <a:rPr b="0" lang="zh-CN" sz="1300" spc="-1" strike="noStrike">
                          <a:solidFill>
                            <a:srgbClr val="000000"/>
                          </a:solidFill>
                          <a:latin typeface="微软雅黑"/>
                          <a:ea typeface="微软雅黑"/>
                        </a:rPr>
                        <a:t>主配微层级智能分区</a:t>
                      </a:r>
                      <a:endParaRPr b="0" lang="en-US" sz="13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250" spc="-1" strike="noStrike">
                          <a:solidFill>
                            <a:srgbClr val="000000"/>
                          </a:solidFill>
                          <a:latin typeface="微软雅黑"/>
                          <a:ea typeface="微软雅黑"/>
                        </a:rPr>
                        <a:t>提出兼顾接口约束、电气耦合、区域连通与规模均衡的主配微分区方法。</a:t>
                      </a:r>
                      <a:endParaRPr b="0" lang="en-US" sz="125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250" spc="-1" strike="noStrike">
                          <a:solidFill>
                            <a:srgbClr val="000000"/>
                          </a:solidFill>
                          <a:latin typeface="微软雅黑"/>
                          <a:ea typeface="微软雅黑"/>
                        </a:rPr>
                        <a:t>形成接口锚点区域生长与配网加权图多级缩约方法，经粗图初分、逐级投影、局部优化和连通修复获得可协调子区。</a:t>
                      </a:r>
                      <a:endParaRPr b="0" lang="en-US" sz="125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130" spc="-1" strike="noStrike">
                          <a:solidFill>
                            <a:srgbClr val="000000"/>
                          </a:solidFill>
                          <a:latin typeface="微软雅黑"/>
                          <a:ea typeface="微软雅黑"/>
                        </a:rPr>
                        <a:t>分区算法与阶段验证材料已形成</a:t>
                      </a:r>
                      <a:endParaRPr b="0" lang="en-US" sz="113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d7fffc">
                        <a:alpha val="20000"/>
                      </a:srgbClr>
                    </a:solidFill>
                  </a:tcPr>
                </a:tc>
                <a:tc>
                  <a:txBody>
                    <a:bodyPr anchor="ctr" wrap="square">
                      <a:noAutofit/>
                    </a:bodyPr>
                    <a:p>
                      <a:pPr algn="ctr">
                        <a:lnSpc>
                          <a:spcPct val="95000"/>
                        </a:lnSpc>
                        <a:spcBef>
                          <a:spcPts val="0"/>
                        </a:spcBef>
                        <a:spcAft>
                          <a:spcPts val="0"/>
                        </a:spcAft>
                        <a:buNone/>
                      </a:pPr>
                      <a:r>
                        <a:rPr sz="1500" b="1">
                          <a:latin typeface="微软雅黑"/>
                          <a:ea typeface="微软雅黑"/>
                        </a:rPr>
                        <a:t>完成65%</a:t>
                      </a:r>
                      <a:endParaRPr b="0" lang="en-US" sz="13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r>
              <a:tr h="997200">
                <a:tc>
                  <a:txBody>
                    <a:bodyPr anchor="ctr">
                      <a:noAutofit/>
                    </a:bodyPr>
                    <a:p>
                      <a:pPr>
                        <a:lnSpc>
                          <a:spcPct val="95000"/>
                        </a:lnSpc>
                        <a:buNone/>
                      </a:pPr>
                      <a:r>
                        <a:rPr b="0" lang="en-US" sz="1300" spc="-1" strike="noStrike">
                          <a:solidFill>
                            <a:srgbClr val="000000"/>
                          </a:solidFill>
                          <a:latin typeface="微软雅黑"/>
                          <a:ea typeface="微软雅黑"/>
                        </a:rPr>
                        <a:t>3. </a:t>
                      </a:r>
                      <a:r>
                        <a:rPr b="0" lang="zh-CN" sz="1300" spc="-1" strike="noStrike">
                          <a:solidFill>
                            <a:srgbClr val="000000"/>
                          </a:solidFill>
                          <a:latin typeface="微软雅黑"/>
                          <a:ea typeface="微软雅黑"/>
                        </a:rPr>
                        <a:t>边界等值与协调迭代</a:t>
                      </a:r>
                      <a:endParaRPr b="0" lang="en-US" sz="13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250" spc="-1" strike="noStrike">
                          <a:solidFill>
                            <a:srgbClr val="000000"/>
                          </a:solidFill>
                          <a:latin typeface="微软雅黑"/>
                          <a:ea typeface="微软雅黑"/>
                        </a:rPr>
                        <a:t>形成边界节点复制、接口等值及边界电压—交换功率协调收敛方法。</a:t>
                      </a:r>
                      <a:endParaRPr b="0" lang="en-US" sz="125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250" spc="-1" strike="noStrike">
                          <a:solidFill>
                            <a:srgbClr val="000000"/>
                          </a:solidFill>
                          <a:latin typeface="微软雅黑"/>
                          <a:ea typeface="微软雅黑"/>
                        </a:rPr>
                        <a:t>构建主网、配网和微网局部子问题，交替传递边界电压、主配交换功率与微网等值注入，并以松弛更新和功率—电压联合残差判定收敛。</a:t>
                      </a:r>
                      <a:endParaRPr b="0" lang="en-US" sz="125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tabLst>
                          <a:tab algn="l" pos="0"/>
                        </a:tabLst>
                      </a:pPr>
                      <a:r>
                        <a:rPr b="0" lang="zh-CN" sz="1130" spc="-1" strike="noStrike">
                          <a:solidFill>
                            <a:srgbClr val="000000"/>
                          </a:solidFill>
                          <a:latin typeface="微软雅黑"/>
                          <a:ea typeface="微软雅黑"/>
                        </a:rPr>
                        <a:t>发明专利成果</a:t>
                      </a:r>
                      <a:r>
                        <a:rPr b="0" lang="en-US" sz="1130" spc="-1" strike="noStrike">
                          <a:solidFill>
                            <a:srgbClr val="000000"/>
                          </a:solidFill>
                          <a:latin typeface="微软雅黑"/>
                          <a:ea typeface="微软雅黑"/>
                        </a:rPr>
                        <a:t>1</a:t>
                      </a:r>
                      <a:r>
                        <a:rPr b="0" lang="zh-CN" sz="1130" spc="-1" strike="noStrike">
                          <a:solidFill>
                            <a:srgbClr val="000000"/>
                          </a:solidFill>
                          <a:latin typeface="微软雅黑"/>
                          <a:ea typeface="微软雅黑"/>
                        </a:rPr>
                        <a:t>项（申请文本已形成）</a:t>
                      </a:r>
                      <a:endParaRPr b="0" lang="en-US" sz="113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d7fffc">
                        <a:alpha val="20000"/>
                      </a:srgbClr>
                    </a:solidFill>
                  </a:tcPr>
                </a:tc>
                <a:tc>
                  <a:txBody>
                    <a:bodyPr anchor="ctr" wrap="square">
                      <a:noAutofit/>
                    </a:bodyPr>
                    <a:p>
                      <a:pPr algn="ctr">
                        <a:lnSpc>
                          <a:spcPct val="95000"/>
                        </a:lnSpc>
                        <a:spcBef>
                          <a:spcPts val="0"/>
                        </a:spcBef>
                        <a:spcAft>
                          <a:spcPts val="0"/>
                        </a:spcAft>
                        <a:buNone/>
                      </a:pPr>
                      <a:r>
                        <a:rPr sz="1500" b="1">
                          <a:latin typeface="微软雅黑"/>
                          <a:ea typeface="微软雅黑"/>
                        </a:rPr>
                        <a:t>完成60%</a:t>
                      </a:r>
                      <a:endParaRPr b="0" lang="en-US" sz="13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r>
              <a:tr h="997200">
                <a:tc>
                  <a:txBody>
                    <a:bodyPr anchor="ctr">
                      <a:noAutofit/>
                    </a:bodyPr>
                    <a:p>
                      <a:pPr>
                        <a:lnSpc>
                          <a:spcPct val="95000"/>
                        </a:lnSpc>
                        <a:buNone/>
                      </a:pPr>
                      <a:r>
                        <a:rPr b="0" lang="en-US" sz="1300" spc="-1" strike="noStrike">
                          <a:solidFill>
                            <a:srgbClr val="000000"/>
                          </a:solidFill>
                          <a:latin typeface="微软雅黑"/>
                          <a:ea typeface="微软雅黑"/>
                        </a:rPr>
                        <a:t>4. </a:t>
                      </a:r>
                      <a:r>
                        <a:rPr b="0" lang="zh-CN" sz="1300" spc="-1" strike="noStrike">
                          <a:solidFill>
                            <a:srgbClr val="000000"/>
                          </a:solidFill>
                          <a:latin typeface="微软雅黑"/>
                          <a:ea typeface="微软雅黑"/>
                        </a:rPr>
                        <a:t>分层并行潮流与工程验证</a:t>
                      </a:r>
                      <a:endParaRPr b="0" lang="en-US" sz="13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250" spc="-1" strike="noStrike">
                          <a:solidFill>
                            <a:srgbClr val="000000"/>
                          </a:solidFill>
                          <a:latin typeface="微软雅黑"/>
                          <a:ea typeface="微软雅黑"/>
                        </a:rPr>
                        <a:t>形成分层并行潮流求解模块，完成实际电网数据上的精度、收敛性与效率验证。</a:t>
                      </a:r>
                      <a:endParaRPr b="0" lang="en-US" sz="125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pPr>
                      <a:r>
                        <a:rPr b="0" lang="zh-CN" sz="1250" spc="-1" strike="noStrike">
                          <a:solidFill>
                            <a:srgbClr val="000000"/>
                          </a:solidFill>
                          <a:latin typeface="微软雅黑"/>
                          <a:ea typeface="微软雅黑"/>
                        </a:rPr>
                        <a:t>完成主网子区、配网实例与微网实例的独立任务封装，支持层内并行、层间顺序协调和动态进程配置；正在结合石家庄数据开展综合验证。</a:t>
                      </a:r>
                      <a:endParaRPr b="0" lang="en-US" sz="125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c>
                  <a:txBody>
                    <a:bodyPr anchor="ctr">
                      <a:noAutofit/>
                    </a:bodyPr>
                    <a:p>
                      <a:pPr>
                        <a:lnSpc>
                          <a:spcPct val="95000"/>
                        </a:lnSpc>
                        <a:buNone/>
                        <a:tabLst>
                          <a:tab algn="l" pos="0"/>
                        </a:tabLst>
                      </a:pPr>
                      <a:r>
                        <a:rPr b="0" lang="zh-CN" sz="1130" spc="-1" strike="noStrike">
                          <a:solidFill>
                            <a:srgbClr val="000000"/>
                          </a:solidFill>
                          <a:latin typeface="微软雅黑"/>
                          <a:ea typeface="微软雅黑"/>
                        </a:rPr>
                        <a:t>论文成果</a:t>
                      </a:r>
                      <a:r>
                        <a:rPr b="0" lang="en-US" sz="1130" spc="-1" strike="noStrike">
                          <a:solidFill>
                            <a:srgbClr val="000000"/>
                          </a:solidFill>
                          <a:latin typeface="微软雅黑"/>
                          <a:ea typeface="微软雅黑"/>
                        </a:rPr>
                        <a:t>2</a:t>
                      </a:r>
                      <a:r>
                        <a:rPr b="0" lang="zh-CN" sz="1130" spc="-1" strike="noStrike">
                          <a:solidFill>
                            <a:srgbClr val="000000"/>
                          </a:solidFill>
                          <a:latin typeface="微软雅黑"/>
                          <a:ea typeface="微软雅黑"/>
                        </a:rPr>
                        <a:t>篇（均已发表）</a:t>
                      </a:r>
                      <a:endParaRPr b="0" lang="en-US" sz="113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d7fffc">
                        <a:alpha val="20000"/>
                      </a:srgbClr>
                    </a:solidFill>
                  </a:tcPr>
                </a:tc>
                <a:tc>
                  <a:txBody>
                    <a:bodyPr anchor="ctr" wrap="square">
                      <a:noAutofit/>
                    </a:bodyPr>
                    <a:p>
                      <a:pPr algn="ctr">
                        <a:lnSpc>
                          <a:spcPct val="95000"/>
                        </a:lnSpc>
                        <a:spcBef>
                          <a:spcPts val="0"/>
                        </a:spcBef>
                        <a:spcAft>
                          <a:spcPts val="0"/>
                        </a:spcAft>
                        <a:buNone/>
                      </a:pPr>
                      <a:r>
                        <a:rPr sz="1500" b="1">
                          <a:latin typeface="微软雅黑"/>
                          <a:ea typeface="微软雅黑"/>
                        </a:rPr>
                        <a:t>完成50%</a:t>
                      </a:r>
                      <a:endParaRPr b="0" lang="en-US" sz="13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alpha val="10000"/>
                      </a:srgbClr>
                    </a:solidFill>
                  </a:tcPr>
                </a:tc>
              </a:tr>
            </a:tbl>
          </a:graphicData>
        </a:graphic>
      </p:graphicFrame>
    </p:spTree>
  </p:cSld>
  <mc:AlternateContent>
    <mc:Choice Requires="p14">
      <p:transition spd="slow" advTm="12000" p14:dur="2000"/>
    </mc:Choice>
    <mc:Fallback>
      <p:transition spd="slow" advTm="12000"/>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241"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242"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grpSp>
        <p:nvGrpSpPr>
          <p:cNvPr id="243" name="组合 7"/>
          <p:cNvGrpSpPr/>
          <p:nvPr/>
        </p:nvGrpSpPr>
        <p:grpSpPr>
          <a:xfrm>
            <a:off x="325800" y="1283040"/>
            <a:ext cx="11379600" cy="1461240"/>
            <a:chOff x="325800" y="1283040"/>
            <a:chExt cx="11379600" cy="1461240"/>
          </a:xfrm>
        </p:grpSpPr>
        <p:sp>
          <p:nvSpPr>
            <p:cNvPr id="244" name="任意多边形: 形状 128"/>
            <p:cNvSpPr/>
            <p:nvPr/>
          </p:nvSpPr>
          <p:spPr>
            <a:xfrm>
              <a:off x="325800" y="1382040"/>
              <a:ext cx="906120" cy="1049760"/>
            </a:xfrm>
            <a:custGeom>
              <a:avLst/>
              <a:gdLst/>
              <a:ahLst/>
              <a:rect l="l" t="t" r="r" b="b"/>
              <a:pathLst>
                <a:path w="906993" h="884766">
                  <a:moveTo>
                    <a:pt x="0" y="0"/>
                  </a:moveTo>
                  <a:lnTo>
                    <a:pt x="830106" y="0"/>
                  </a:lnTo>
                  <a:lnTo>
                    <a:pt x="830106" y="390642"/>
                  </a:lnTo>
                  <a:lnTo>
                    <a:pt x="906993" y="442382"/>
                  </a:lnTo>
                  <a:lnTo>
                    <a:pt x="830106" y="494122"/>
                  </a:lnTo>
                  <a:lnTo>
                    <a:pt x="830106" y="884766"/>
                  </a:lnTo>
                  <a:lnTo>
                    <a:pt x="0" y="884766"/>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245" name="文本框 129"/>
            <p:cNvSpPr/>
            <p:nvPr/>
          </p:nvSpPr>
          <p:spPr>
            <a:xfrm>
              <a:off x="383040" y="1551600"/>
              <a:ext cx="728280" cy="70380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技术创新</a:t>
              </a:r>
              <a:endParaRPr b="0" lang="en-US" sz="1979" spc="-1" strike="noStrike">
                <a:latin typeface="Arial"/>
              </a:endParaRPr>
            </a:p>
          </p:txBody>
        </p:sp>
        <p:sp>
          <p:nvSpPr>
            <p:cNvPr id="246" name="文本框 55"/>
            <p:cNvSpPr/>
            <p:nvPr/>
          </p:nvSpPr>
          <p:spPr>
            <a:xfrm>
              <a:off x="1232280" y="1283040"/>
              <a:ext cx="10473120" cy="1461240"/>
            </a:xfrm>
            <a:prstGeom prst="rect">
              <a:avLst/>
            </a:prstGeom>
            <a:noFill/>
            <a:ln w="9525">
              <a:noFill/>
            </a:ln>
          </p:spPr>
          <p:style>
            <a:lnRef idx="0"/>
            <a:fillRef idx="0"/>
            <a:effectRef idx="0"/>
            <a:fontRef idx="minor"/>
          </p:style>
          <p:txBody>
            <a:bodyPr lIns="90000" rIns="90000" tIns="45000" bIns="45000" anchor="t">
              <a:spAutoFit/>
            </a:bodyPr>
            <a:p>
              <a:pPr algn="just">
                <a:lnSpc>
                  <a:spcPct val="150000"/>
                </a:lnSpc>
                <a:buNone/>
                <a:tabLst>
                  <a:tab algn="l" pos="0"/>
                </a:tabLst>
              </a:pPr>
              <a:r>
                <a:rPr b="0" lang="zh-CN" sz="2000" spc="-1" strike="noStrike">
                  <a:solidFill>
                    <a:srgbClr val="000000"/>
                  </a:solidFill>
                  <a:latin typeface="微软雅黑"/>
                  <a:ea typeface="微软雅黑"/>
                </a:rPr>
                <a:t>面向主网、配网和微网模型来源异构、参数体系不一致及运行断面难对齐问题，建立设备语义映射与统一拓扑建模方法。通过设备标识、参数基准和时间状态标准化，形成供边界识别、网络分区及潮流求解共享的计算对象。</a:t>
              </a:r>
              <a:endParaRPr b="0" lang="en-US" sz="2000" spc="-1" strike="noStrike">
                <a:latin typeface="Arial"/>
              </a:endParaRPr>
            </a:p>
          </p:txBody>
        </p:sp>
      </p:grpSp>
      <p:sp>
        <p:nvSpPr>
          <p:cNvPr id="247" name="文本框 30"/>
          <p:cNvSpPr/>
          <p:nvPr/>
        </p:nvSpPr>
        <p:spPr>
          <a:xfrm>
            <a:off x="257760" y="786240"/>
            <a:ext cx="9894960" cy="42948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nSpc>
                <a:spcPct val="100000"/>
              </a:lnSpc>
              <a:buNone/>
            </a:pPr>
            <a:r>
              <a:rPr b="1" lang="zh-CN" sz="2200" spc="-1" strike="noStrike">
                <a:solidFill>
                  <a:srgbClr val="ffffff"/>
                </a:solidFill>
                <a:latin typeface="微软雅黑"/>
                <a:ea typeface="微软雅黑"/>
              </a:rPr>
              <a:t>研究进展</a:t>
            </a:r>
            <a:r>
              <a:rPr b="1" lang="en-US" sz="2200" spc="-1" strike="noStrike">
                <a:solidFill>
                  <a:srgbClr val="ffffff"/>
                </a:solidFill>
                <a:latin typeface="微软雅黑"/>
                <a:ea typeface="微软雅黑"/>
              </a:rPr>
              <a:t>2.1.1</a:t>
            </a:r>
            <a:r>
              <a:rPr b="1" lang="zh-CN" sz="2200" spc="-1" strike="noStrike">
                <a:solidFill>
                  <a:srgbClr val="ffffff"/>
                </a:solidFill>
                <a:latin typeface="微软雅黑"/>
                <a:ea typeface="微软雅黑"/>
              </a:rPr>
              <a:t>：主配微异构模型统一建模方法</a:t>
            </a:r>
            <a:endParaRPr b="0" lang="en-US" sz="2200" spc="-1" strike="noStrike">
              <a:latin typeface="Arial"/>
            </a:endParaRPr>
          </a:p>
        </p:txBody>
      </p:sp>
      <p:sp>
        <p:nvSpPr>
          <p:cNvPr id="248" name="Rounded Rectangle 13"/>
          <p:cNvSpPr/>
          <p:nvPr/>
        </p:nvSpPr>
        <p:spPr>
          <a:xfrm>
            <a:off x="640080" y="2747160"/>
            <a:ext cx="1965600" cy="328680"/>
          </a:xfrm>
          <a:prstGeom prst="roundRect">
            <a:avLst>
              <a:gd name="adj" fmla="val 16667"/>
            </a:avLst>
          </a:prstGeom>
          <a:solidFill>
            <a:srgbClr val="0b55a6"/>
          </a:solidFill>
          <a:ln>
            <a:noFill/>
          </a:ln>
        </p:spPr>
        <p:style>
          <a:lnRef idx="1">
            <a:schemeClr val="accent1"/>
          </a:lnRef>
          <a:fillRef idx="3">
            <a:schemeClr val="accent1"/>
          </a:fillRef>
          <a:effectRef idx="2">
            <a:schemeClr val="accent1"/>
          </a:effectRef>
          <a:fontRef idx="minor"/>
        </p:style>
      </p:sp>
      <p:sp>
        <p:nvSpPr>
          <p:cNvPr id="249" name="TextBox 14"/>
          <p:cNvSpPr/>
          <p:nvPr/>
        </p:nvSpPr>
        <p:spPr>
          <a:xfrm>
            <a:off x="640080" y="2801880"/>
            <a:ext cx="1965600" cy="219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80" spc="-1" strike="noStrike">
                <a:solidFill>
                  <a:srgbClr val="ffffff"/>
                </a:solidFill>
                <a:latin typeface="微软雅黑"/>
              </a:rPr>
              <a:t>1. </a:t>
            </a:r>
            <a:r>
              <a:rPr b="1" lang="zh-CN" sz="1380" spc="-1" strike="noStrike">
                <a:solidFill>
                  <a:srgbClr val="ffffff"/>
                </a:solidFill>
                <a:latin typeface="微软雅黑"/>
              </a:rPr>
              <a:t>多源模型输入</a:t>
            </a:r>
            <a:endParaRPr b="0" lang="en-US" sz="1380" spc="-1" strike="noStrike">
              <a:latin typeface="Arial"/>
            </a:endParaRPr>
          </a:p>
        </p:txBody>
      </p:sp>
      <p:sp>
        <p:nvSpPr>
          <p:cNvPr id="250" name="Rounded Rectangle 15"/>
          <p:cNvSpPr/>
          <p:nvPr/>
        </p:nvSpPr>
        <p:spPr>
          <a:xfrm>
            <a:off x="640080" y="3131280"/>
            <a:ext cx="1965600" cy="3218400"/>
          </a:xfrm>
          <a:prstGeom prst="roundRect">
            <a:avLst>
              <a:gd name="adj" fmla="val 16667"/>
            </a:avLst>
          </a:prstGeom>
          <a:solidFill>
            <a:srgbClr val="f8fbfd"/>
          </a:solidFill>
          <a:ln w="13970">
            <a:solidFill>
              <a:srgbClr val="0b55a6"/>
            </a:solidFill>
          </a:ln>
        </p:spPr>
        <p:style>
          <a:lnRef idx="1">
            <a:schemeClr val="accent1"/>
          </a:lnRef>
          <a:fillRef idx="3">
            <a:schemeClr val="accent1"/>
          </a:fillRef>
          <a:effectRef idx="2">
            <a:schemeClr val="accent1"/>
          </a:effectRef>
          <a:fontRef idx="minor"/>
        </p:style>
      </p:sp>
      <p:sp>
        <p:nvSpPr>
          <p:cNvPr id="251" name="Rounded Rectangle 16"/>
          <p:cNvSpPr/>
          <p:nvPr/>
        </p:nvSpPr>
        <p:spPr>
          <a:xfrm>
            <a:off x="2990160" y="2747160"/>
            <a:ext cx="1965600" cy="328680"/>
          </a:xfrm>
          <a:prstGeom prst="roundRect">
            <a:avLst>
              <a:gd name="adj" fmla="val 16667"/>
            </a:avLst>
          </a:prstGeom>
          <a:solidFill>
            <a:srgbClr val="007c82"/>
          </a:solidFill>
          <a:ln>
            <a:noFill/>
          </a:ln>
        </p:spPr>
        <p:style>
          <a:lnRef idx="1">
            <a:schemeClr val="accent1"/>
          </a:lnRef>
          <a:fillRef idx="3">
            <a:schemeClr val="accent1"/>
          </a:fillRef>
          <a:effectRef idx="2">
            <a:schemeClr val="accent1"/>
          </a:effectRef>
          <a:fontRef idx="minor"/>
        </p:style>
      </p:sp>
      <p:sp>
        <p:nvSpPr>
          <p:cNvPr id="252" name="TextBox 17"/>
          <p:cNvSpPr/>
          <p:nvPr/>
        </p:nvSpPr>
        <p:spPr>
          <a:xfrm>
            <a:off x="2990160" y="2801880"/>
            <a:ext cx="1965600" cy="219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80" spc="-1" strike="noStrike">
                <a:solidFill>
                  <a:srgbClr val="ffffff"/>
                </a:solidFill>
                <a:latin typeface="微软雅黑"/>
              </a:rPr>
              <a:t>2. </a:t>
            </a:r>
            <a:r>
              <a:rPr b="1" lang="zh-CN" sz="1380" spc="-1" strike="noStrike">
                <a:solidFill>
                  <a:srgbClr val="ffffff"/>
                </a:solidFill>
                <a:latin typeface="微软雅黑"/>
              </a:rPr>
              <a:t>参数与标识标准化</a:t>
            </a:r>
            <a:endParaRPr b="0" lang="en-US" sz="1380" spc="-1" strike="noStrike">
              <a:latin typeface="Arial"/>
            </a:endParaRPr>
          </a:p>
        </p:txBody>
      </p:sp>
      <p:sp>
        <p:nvSpPr>
          <p:cNvPr id="253" name="Rounded Rectangle 18"/>
          <p:cNvSpPr/>
          <p:nvPr/>
        </p:nvSpPr>
        <p:spPr>
          <a:xfrm>
            <a:off x="2990160" y="3131280"/>
            <a:ext cx="1965600" cy="3218400"/>
          </a:xfrm>
          <a:prstGeom prst="roundRect">
            <a:avLst>
              <a:gd name="adj" fmla="val 16667"/>
            </a:avLst>
          </a:prstGeom>
          <a:solidFill>
            <a:srgbClr val="f8fbfd"/>
          </a:solidFill>
          <a:ln w="13970">
            <a:solidFill>
              <a:srgbClr val="007c82"/>
            </a:solidFill>
          </a:ln>
        </p:spPr>
        <p:style>
          <a:lnRef idx="1">
            <a:schemeClr val="accent1"/>
          </a:lnRef>
          <a:fillRef idx="3">
            <a:schemeClr val="accent1"/>
          </a:fillRef>
          <a:effectRef idx="2">
            <a:schemeClr val="accent1"/>
          </a:effectRef>
          <a:fontRef idx="minor"/>
        </p:style>
      </p:sp>
      <p:sp>
        <p:nvSpPr>
          <p:cNvPr id="254" name="Rounded Rectangle 19"/>
          <p:cNvSpPr/>
          <p:nvPr/>
        </p:nvSpPr>
        <p:spPr>
          <a:xfrm>
            <a:off x="5330880" y="2747160"/>
            <a:ext cx="1965600" cy="328680"/>
          </a:xfrm>
          <a:prstGeom prst="roundRect">
            <a:avLst>
              <a:gd name="adj" fmla="val 16667"/>
            </a:avLst>
          </a:prstGeom>
          <a:solidFill>
            <a:srgbClr val="005c68"/>
          </a:solidFill>
          <a:ln>
            <a:noFill/>
          </a:ln>
        </p:spPr>
        <p:style>
          <a:lnRef idx="1">
            <a:schemeClr val="accent1"/>
          </a:lnRef>
          <a:fillRef idx="3">
            <a:schemeClr val="accent1"/>
          </a:fillRef>
          <a:effectRef idx="2">
            <a:schemeClr val="accent1"/>
          </a:effectRef>
          <a:fontRef idx="minor"/>
        </p:style>
      </p:sp>
      <p:sp>
        <p:nvSpPr>
          <p:cNvPr id="255" name="TextBox 20"/>
          <p:cNvSpPr/>
          <p:nvPr/>
        </p:nvSpPr>
        <p:spPr>
          <a:xfrm>
            <a:off x="5330880" y="2801880"/>
            <a:ext cx="1965600" cy="219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80" spc="-1" strike="noStrike">
                <a:solidFill>
                  <a:srgbClr val="ffffff"/>
                </a:solidFill>
                <a:latin typeface="微软雅黑"/>
              </a:rPr>
              <a:t>3. </a:t>
            </a:r>
            <a:r>
              <a:rPr b="1" lang="zh-CN" sz="1380" spc="-1" strike="noStrike">
                <a:solidFill>
                  <a:srgbClr val="ffffff"/>
                </a:solidFill>
                <a:latin typeface="微软雅黑"/>
              </a:rPr>
              <a:t>设备语义映射</a:t>
            </a:r>
            <a:endParaRPr b="0" lang="en-US" sz="1380" spc="-1" strike="noStrike">
              <a:latin typeface="Arial"/>
            </a:endParaRPr>
          </a:p>
        </p:txBody>
      </p:sp>
      <p:sp>
        <p:nvSpPr>
          <p:cNvPr id="256" name="Rounded Rectangle 21"/>
          <p:cNvSpPr/>
          <p:nvPr/>
        </p:nvSpPr>
        <p:spPr>
          <a:xfrm>
            <a:off x="5330880" y="3131280"/>
            <a:ext cx="1965600" cy="3218400"/>
          </a:xfrm>
          <a:prstGeom prst="roundRect">
            <a:avLst>
              <a:gd name="adj" fmla="val 16667"/>
            </a:avLst>
          </a:prstGeom>
          <a:solidFill>
            <a:srgbClr val="f8fbfd"/>
          </a:solidFill>
          <a:ln w="13970">
            <a:solidFill>
              <a:srgbClr val="005c68"/>
            </a:solidFill>
          </a:ln>
        </p:spPr>
        <p:style>
          <a:lnRef idx="1">
            <a:schemeClr val="accent1"/>
          </a:lnRef>
          <a:fillRef idx="3">
            <a:schemeClr val="accent1"/>
          </a:fillRef>
          <a:effectRef idx="2">
            <a:schemeClr val="accent1"/>
          </a:effectRef>
          <a:fontRef idx="minor"/>
        </p:style>
      </p:sp>
      <p:sp>
        <p:nvSpPr>
          <p:cNvPr id="257" name="Rounded Rectangle 22"/>
          <p:cNvSpPr/>
          <p:nvPr/>
        </p:nvSpPr>
        <p:spPr>
          <a:xfrm>
            <a:off x="7662600" y="2747160"/>
            <a:ext cx="3821760" cy="328680"/>
          </a:xfrm>
          <a:prstGeom prst="roundRect">
            <a:avLst>
              <a:gd name="adj" fmla="val 16667"/>
            </a:avLst>
          </a:prstGeom>
          <a:solidFill>
            <a:srgbClr val="0b55a6"/>
          </a:solidFill>
          <a:ln>
            <a:noFill/>
          </a:ln>
        </p:spPr>
        <p:style>
          <a:lnRef idx="1">
            <a:schemeClr val="accent1"/>
          </a:lnRef>
          <a:fillRef idx="3">
            <a:schemeClr val="accent1"/>
          </a:fillRef>
          <a:effectRef idx="2">
            <a:schemeClr val="accent1"/>
          </a:effectRef>
          <a:fontRef idx="minor"/>
        </p:style>
      </p:sp>
      <p:sp>
        <p:nvSpPr>
          <p:cNvPr id="258" name="TextBox 23"/>
          <p:cNvSpPr/>
          <p:nvPr/>
        </p:nvSpPr>
        <p:spPr>
          <a:xfrm>
            <a:off x="7662600" y="2801880"/>
            <a:ext cx="3821760" cy="219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80" spc="-1" strike="noStrike">
                <a:solidFill>
                  <a:srgbClr val="ffffff"/>
                </a:solidFill>
                <a:latin typeface="微软雅黑"/>
              </a:rPr>
              <a:t>4. </a:t>
            </a:r>
            <a:r>
              <a:rPr b="1" lang="zh-CN" sz="1380" spc="-1" strike="noStrike">
                <a:solidFill>
                  <a:srgbClr val="ffffff"/>
                </a:solidFill>
                <a:latin typeface="微软雅黑"/>
              </a:rPr>
              <a:t>统一计算模型</a:t>
            </a:r>
            <a:endParaRPr b="0" lang="en-US" sz="1380" spc="-1" strike="noStrike">
              <a:latin typeface="Arial"/>
            </a:endParaRPr>
          </a:p>
        </p:txBody>
      </p:sp>
      <p:sp>
        <p:nvSpPr>
          <p:cNvPr id="259" name="Rounded Rectangle 24"/>
          <p:cNvSpPr/>
          <p:nvPr/>
        </p:nvSpPr>
        <p:spPr>
          <a:xfrm>
            <a:off x="7662600" y="3131280"/>
            <a:ext cx="3821760" cy="3218400"/>
          </a:xfrm>
          <a:prstGeom prst="roundRect">
            <a:avLst>
              <a:gd name="adj" fmla="val 16667"/>
            </a:avLst>
          </a:prstGeom>
          <a:solidFill>
            <a:srgbClr val="f8fbfd"/>
          </a:solidFill>
          <a:ln w="13970">
            <a:solidFill>
              <a:srgbClr val="0b55a6"/>
            </a:solidFill>
          </a:ln>
        </p:spPr>
        <p:style>
          <a:lnRef idx="1">
            <a:schemeClr val="accent1"/>
          </a:lnRef>
          <a:fillRef idx="3">
            <a:schemeClr val="accent1"/>
          </a:fillRef>
          <a:effectRef idx="2">
            <a:schemeClr val="accent1"/>
          </a:effectRef>
          <a:fontRef idx="minor"/>
        </p:style>
      </p:sp>
      <p:sp>
        <p:nvSpPr>
          <p:cNvPr id="260" name="Rounded Rectangle 25"/>
          <p:cNvSpPr/>
          <p:nvPr/>
        </p:nvSpPr>
        <p:spPr>
          <a:xfrm>
            <a:off x="768240" y="3277440"/>
            <a:ext cx="1709640" cy="603000"/>
          </a:xfrm>
          <a:prstGeom prst="roundRect">
            <a:avLst>
              <a:gd name="adj" fmla="val 16667"/>
            </a:avLst>
          </a:prstGeom>
          <a:solidFill>
            <a:srgbClr val="eef5fb"/>
          </a:solidFill>
          <a:ln w="10160">
            <a:solidFill>
              <a:srgbClr val="0b55a6"/>
            </a:solidFill>
          </a:ln>
        </p:spPr>
        <p:style>
          <a:lnRef idx="1">
            <a:schemeClr val="accent1"/>
          </a:lnRef>
          <a:fillRef idx="3">
            <a:schemeClr val="accent1"/>
          </a:fillRef>
          <a:effectRef idx="2">
            <a:schemeClr val="accent1"/>
          </a:effectRef>
          <a:fontRef idx="minor"/>
        </p:style>
      </p:sp>
      <p:sp>
        <p:nvSpPr>
          <p:cNvPr id="261" name="TextBox 26"/>
          <p:cNvSpPr/>
          <p:nvPr/>
        </p:nvSpPr>
        <p:spPr>
          <a:xfrm>
            <a:off x="831960" y="3321000"/>
            <a:ext cx="1581480" cy="18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80" spc="-1" strike="noStrike">
                <a:solidFill>
                  <a:srgbClr val="181b1d"/>
                </a:solidFill>
                <a:latin typeface="微软雅黑"/>
              </a:rPr>
              <a:t>主网模型</a:t>
            </a:r>
            <a:endParaRPr b="0" lang="en-US" sz="1180" spc="-1" strike="noStrike">
              <a:latin typeface="Arial"/>
            </a:endParaRPr>
          </a:p>
        </p:txBody>
      </p:sp>
      <p:sp>
        <p:nvSpPr>
          <p:cNvPr id="262" name="TextBox 27"/>
          <p:cNvSpPr/>
          <p:nvPr/>
        </p:nvSpPr>
        <p:spPr>
          <a:xfrm>
            <a:off x="831960" y="3505320"/>
            <a:ext cx="1581480" cy="331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050" spc="-1" strike="noStrike">
                <a:solidFill>
                  <a:srgbClr val="181b1d"/>
                </a:solidFill>
                <a:latin typeface="微软雅黑"/>
              </a:rPr>
              <a:t>母线、线路、发电机、主变</a:t>
            </a:r>
            <a:endParaRPr b="0" lang="en-US" sz="1050" spc="-1" strike="noStrike">
              <a:latin typeface="Arial"/>
            </a:endParaRPr>
          </a:p>
        </p:txBody>
      </p:sp>
      <p:sp>
        <p:nvSpPr>
          <p:cNvPr id="263" name="Rounded Rectangle 28"/>
          <p:cNvSpPr/>
          <p:nvPr/>
        </p:nvSpPr>
        <p:spPr>
          <a:xfrm>
            <a:off x="768240" y="4008960"/>
            <a:ext cx="1709640" cy="603000"/>
          </a:xfrm>
          <a:prstGeom prst="roundRect">
            <a:avLst>
              <a:gd name="adj" fmla="val 16667"/>
            </a:avLst>
          </a:prstGeom>
          <a:solidFill>
            <a:srgbClr val="eef5fb"/>
          </a:solidFill>
          <a:ln w="10160">
            <a:solidFill>
              <a:srgbClr val="0b55a6"/>
            </a:solidFill>
          </a:ln>
        </p:spPr>
        <p:style>
          <a:lnRef idx="1">
            <a:schemeClr val="accent1"/>
          </a:lnRef>
          <a:fillRef idx="3">
            <a:schemeClr val="accent1"/>
          </a:fillRef>
          <a:effectRef idx="2">
            <a:schemeClr val="accent1"/>
          </a:effectRef>
          <a:fontRef idx="minor"/>
        </p:style>
      </p:sp>
      <p:sp>
        <p:nvSpPr>
          <p:cNvPr id="264" name="TextBox 29"/>
          <p:cNvSpPr/>
          <p:nvPr/>
        </p:nvSpPr>
        <p:spPr>
          <a:xfrm>
            <a:off x="831960" y="4052520"/>
            <a:ext cx="1581480" cy="18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80" spc="-1" strike="noStrike">
                <a:solidFill>
                  <a:srgbClr val="181b1d"/>
                </a:solidFill>
                <a:latin typeface="微软雅黑"/>
              </a:rPr>
              <a:t>配网模型</a:t>
            </a:r>
            <a:endParaRPr b="0" lang="en-US" sz="1180" spc="-1" strike="noStrike">
              <a:latin typeface="Arial"/>
            </a:endParaRPr>
          </a:p>
        </p:txBody>
      </p:sp>
      <p:sp>
        <p:nvSpPr>
          <p:cNvPr id="265" name="TextBox 30"/>
          <p:cNvSpPr/>
          <p:nvPr/>
        </p:nvSpPr>
        <p:spPr>
          <a:xfrm>
            <a:off x="831960" y="4230360"/>
            <a:ext cx="1581480" cy="3438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050" spc="-1" strike="noStrike">
                <a:solidFill>
                  <a:srgbClr val="181b1d"/>
                </a:solidFill>
                <a:latin typeface="微软雅黑"/>
              </a:rPr>
              <a:t>馈线、配变、负荷、</a:t>
            </a:r>
            <a:endParaRPr b="0" lang="en-US" sz="1050" spc="-1" strike="noStrike">
              <a:latin typeface="Arial"/>
            </a:endParaRPr>
          </a:p>
          <a:p>
            <a:pPr algn="ctr">
              <a:lnSpc>
                <a:spcPct val="104000"/>
              </a:lnSpc>
              <a:spcAft>
                <a:spcPts val="99"/>
              </a:spcAft>
              <a:buNone/>
            </a:pPr>
            <a:r>
              <a:rPr b="0" lang="zh-CN" sz="1050" spc="-1" strike="noStrike">
                <a:solidFill>
                  <a:srgbClr val="181b1d"/>
                </a:solidFill>
                <a:latin typeface="微软雅黑"/>
              </a:rPr>
              <a:t>分布式电源</a:t>
            </a:r>
            <a:endParaRPr b="0" lang="en-US" sz="1050" spc="-1" strike="noStrike">
              <a:latin typeface="Arial"/>
            </a:endParaRPr>
          </a:p>
        </p:txBody>
      </p:sp>
      <p:sp>
        <p:nvSpPr>
          <p:cNvPr id="266" name="Rounded Rectangle 31"/>
          <p:cNvSpPr/>
          <p:nvPr/>
        </p:nvSpPr>
        <p:spPr>
          <a:xfrm>
            <a:off x="768240" y="4740480"/>
            <a:ext cx="1709640" cy="603000"/>
          </a:xfrm>
          <a:prstGeom prst="roundRect">
            <a:avLst>
              <a:gd name="adj" fmla="val 16667"/>
            </a:avLst>
          </a:prstGeom>
          <a:solidFill>
            <a:srgbClr val="eef5fb"/>
          </a:solidFill>
          <a:ln w="10160">
            <a:solidFill>
              <a:srgbClr val="0b55a6"/>
            </a:solidFill>
          </a:ln>
        </p:spPr>
        <p:style>
          <a:lnRef idx="1">
            <a:schemeClr val="accent1"/>
          </a:lnRef>
          <a:fillRef idx="3">
            <a:schemeClr val="accent1"/>
          </a:fillRef>
          <a:effectRef idx="2">
            <a:schemeClr val="accent1"/>
          </a:effectRef>
          <a:fontRef idx="minor"/>
        </p:style>
      </p:sp>
      <p:sp>
        <p:nvSpPr>
          <p:cNvPr id="267" name="TextBox 32"/>
          <p:cNvSpPr/>
          <p:nvPr/>
        </p:nvSpPr>
        <p:spPr>
          <a:xfrm>
            <a:off x="831960" y="4784040"/>
            <a:ext cx="1581480" cy="18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80" spc="-1" strike="noStrike">
                <a:solidFill>
                  <a:srgbClr val="181b1d"/>
                </a:solidFill>
                <a:latin typeface="微软雅黑"/>
              </a:rPr>
              <a:t>微网模型</a:t>
            </a:r>
            <a:endParaRPr b="0" lang="en-US" sz="1180" spc="-1" strike="noStrike">
              <a:latin typeface="Arial"/>
            </a:endParaRPr>
          </a:p>
        </p:txBody>
      </p:sp>
      <p:sp>
        <p:nvSpPr>
          <p:cNvPr id="268" name="TextBox 33"/>
          <p:cNvSpPr/>
          <p:nvPr/>
        </p:nvSpPr>
        <p:spPr>
          <a:xfrm>
            <a:off x="831960" y="4961880"/>
            <a:ext cx="1581480" cy="3438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1050" spc="-1" strike="noStrike">
                <a:solidFill>
                  <a:srgbClr val="181b1d"/>
                </a:solidFill>
                <a:latin typeface="微软雅黑"/>
              </a:rPr>
              <a:t>PCC</a:t>
            </a:r>
            <a:r>
              <a:rPr b="0" lang="zh-CN" sz="1050" spc="-1" strike="noStrike">
                <a:solidFill>
                  <a:srgbClr val="181b1d"/>
                </a:solidFill>
                <a:latin typeface="微软雅黑"/>
              </a:rPr>
              <a:t>、光伏、储能、</a:t>
            </a:r>
            <a:endParaRPr b="0" lang="en-US" sz="1050" spc="-1" strike="noStrike">
              <a:latin typeface="Arial"/>
            </a:endParaRPr>
          </a:p>
          <a:p>
            <a:pPr algn="ctr">
              <a:lnSpc>
                <a:spcPct val="104000"/>
              </a:lnSpc>
              <a:spcAft>
                <a:spcPts val="99"/>
              </a:spcAft>
              <a:buNone/>
            </a:pPr>
            <a:r>
              <a:rPr b="0" lang="zh-CN" sz="1050" spc="-1" strike="noStrike">
                <a:solidFill>
                  <a:srgbClr val="181b1d"/>
                </a:solidFill>
                <a:latin typeface="微软雅黑"/>
              </a:rPr>
              <a:t>可控电源</a:t>
            </a:r>
            <a:endParaRPr b="0" lang="en-US" sz="1050" spc="-1" strike="noStrike">
              <a:latin typeface="Arial"/>
            </a:endParaRPr>
          </a:p>
        </p:txBody>
      </p:sp>
      <p:sp>
        <p:nvSpPr>
          <p:cNvPr id="269" name="Rounded Rectangle 34"/>
          <p:cNvSpPr/>
          <p:nvPr/>
        </p:nvSpPr>
        <p:spPr>
          <a:xfrm>
            <a:off x="768240" y="5472000"/>
            <a:ext cx="1709640" cy="603000"/>
          </a:xfrm>
          <a:prstGeom prst="roundRect">
            <a:avLst>
              <a:gd name="adj" fmla="val 16667"/>
            </a:avLst>
          </a:prstGeom>
          <a:solidFill>
            <a:srgbClr val="eef5fb"/>
          </a:solidFill>
          <a:ln w="10160">
            <a:solidFill>
              <a:srgbClr val="0b55a6"/>
            </a:solidFill>
          </a:ln>
        </p:spPr>
        <p:style>
          <a:lnRef idx="1">
            <a:schemeClr val="accent1"/>
          </a:lnRef>
          <a:fillRef idx="3">
            <a:schemeClr val="accent1"/>
          </a:fillRef>
          <a:effectRef idx="2">
            <a:schemeClr val="accent1"/>
          </a:effectRef>
          <a:fontRef idx="minor"/>
        </p:style>
      </p:sp>
      <p:sp>
        <p:nvSpPr>
          <p:cNvPr id="270" name="TextBox 35"/>
          <p:cNvSpPr/>
          <p:nvPr/>
        </p:nvSpPr>
        <p:spPr>
          <a:xfrm>
            <a:off x="831960" y="5515560"/>
            <a:ext cx="1581480" cy="18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80" spc="-1" strike="noStrike">
                <a:solidFill>
                  <a:srgbClr val="181b1d"/>
                </a:solidFill>
                <a:latin typeface="微软雅黑"/>
              </a:rPr>
              <a:t>运行断面</a:t>
            </a:r>
            <a:endParaRPr b="0" lang="en-US" sz="1180" spc="-1" strike="noStrike">
              <a:latin typeface="Arial"/>
            </a:endParaRPr>
          </a:p>
        </p:txBody>
      </p:sp>
      <p:sp>
        <p:nvSpPr>
          <p:cNvPr id="271" name="TextBox 36"/>
          <p:cNvSpPr/>
          <p:nvPr/>
        </p:nvSpPr>
        <p:spPr>
          <a:xfrm>
            <a:off x="831960" y="5693400"/>
            <a:ext cx="1581480" cy="3438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050" spc="-1" strike="noStrike">
                <a:solidFill>
                  <a:srgbClr val="181b1d"/>
                </a:solidFill>
                <a:latin typeface="微软雅黑"/>
              </a:rPr>
              <a:t>负荷曲线、开关状态、</a:t>
            </a:r>
            <a:endParaRPr b="0" lang="en-US" sz="1050" spc="-1" strike="noStrike">
              <a:latin typeface="Arial"/>
            </a:endParaRPr>
          </a:p>
          <a:p>
            <a:pPr algn="ctr">
              <a:lnSpc>
                <a:spcPct val="104000"/>
              </a:lnSpc>
              <a:spcAft>
                <a:spcPts val="99"/>
              </a:spcAft>
              <a:buNone/>
            </a:pPr>
            <a:r>
              <a:rPr b="0" lang="zh-CN" sz="1050" spc="-1" strike="noStrike">
                <a:solidFill>
                  <a:srgbClr val="181b1d"/>
                </a:solidFill>
                <a:latin typeface="微软雅黑"/>
              </a:rPr>
              <a:t>设备投运状态</a:t>
            </a:r>
            <a:endParaRPr b="0" lang="en-US" sz="1050" spc="-1" strike="noStrike">
              <a:latin typeface="Arial"/>
            </a:endParaRPr>
          </a:p>
        </p:txBody>
      </p:sp>
      <p:sp>
        <p:nvSpPr>
          <p:cNvPr id="272" name="Right Arrow 37"/>
          <p:cNvSpPr/>
          <p:nvPr/>
        </p:nvSpPr>
        <p:spPr>
          <a:xfrm>
            <a:off x="2660760" y="4320000"/>
            <a:ext cx="273960" cy="310680"/>
          </a:xfrm>
          <a:prstGeom prst="rightArrow">
            <a:avLst>
              <a:gd name="adj1" fmla="val 50000"/>
              <a:gd name="adj2" fmla="val 50000"/>
            </a:avLst>
          </a:prstGeom>
          <a:solidFill>
            <a:srgbClr val="0b55a6"/>
          </a:solidFill>
          <a:ln>
            <a:noFill/>
          </a:ln>
        </p:spPr>
        <p:style>
          <a:lnRef idx="1">
            <a:schemeClr val="accent1"/>
          </a:lnRef>
          <a:fillRef idx="3">
            <a:schemeClr val="accent1"/>
          </a:fillRef>
          <a:effectRef idx="2">
            <a:schemeClr val="accent1"/>
          </a:effectRef>
          <a:fontRef idx="minor"/>
        </p:style>
      </p:sp>
      <p:sp>
        <p:nvSpPr>
          <p:cNvPr id="273" name="Rounded Rectangle 38"/>
          <p:cNvSpPr/>
          <p:nvPr/>
        </p:nvSpPr>
        <p:spPr>
          <a:xfrm>
            <a:off x="3182040" y="3368880"/>
            <a:ext cx="1581480" cy="658080"/>
          </a:xfrm>
          <a:prstGeom prst="roundRect">
            <a:avLst>
              <a:gd name="adj" fmla="val 16667"/>
            </a:avLst>
          </a:prstGeom>
          <a:solidFill>
            <a:srgbClr val="edf8f7"/>
          </a:solidFill>
          <a:ln w="11430">
            <a:solidFill>
              <a:srgbClr val="007c82"/>
            </a:solidFill>
          </a:ln>
        </p:spPr>
        <p:style>
          <a:lnRef idx="1">
            <a:schemeClr val="accent1"/>
          </a:lnRef>
          <a:fillRef idx="3">
            <a:schemeClr val="accent1"/>
          </a:fillRef>
          <a:effectRef idx="2">
            <a:schemeClr val="accent1"/>
          </a:effectRef>
          <a:fontRef idx="minor"/>
        </p:style>
      </p:sp>
      <p:sp>
        <p:nvSpPr>
          <p:cNvPr id="274" name="TextBox 39"/>
          <p:cNvSpPr/>
          <p:nvPr/>
        </p:nvSpPr>
        <p:spPr>
          <a:xfrm>
            <a:off x="3264480" y="3501720"/>
            <a:ext cx="1416960" cy="3927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200" spc="-1" strike="noStrike">
                <a:solidFill>
                  <a:srgbClr val="181b1d"/>
                </a:solidFill>
                <a:latin typeface="微软雅黑"/>
              </a:rPr>
              <a:t>设备名称和</a:t>
            </a:r>
            <a:endParaRPr b="0" lang="en-US" sz="1200" spc="-1" strike="noStrike">
              <a:latin typeface="Arial"/>
            </a:endParaRPr>
          </a:p>
          <a:p>
            <a:pPr algn="ctr">
              <a:lnSpc>
                <a:spcPct val="104000"/>
              </a:lnSpc>
              <a:spcAft>
                <a:spcPts val="99"/>
              </a:spcAft>
              <a:buNone/>
            </a:pPr>
            <a:r>
              <a:rPr b="1" lang="zh-CN" sz="1200" spc="-1" strike="noStrike">
                <a:solidFill>
                  <a:srgbClr val="181b1d"/>
                </a:solidFill>
                <a:latin typeface="微软雅黑"/>
              </a:rPr>
              <a:t>索引规范化</a:t>
            </a:r>
            <a:endParaRPr b="0" lang="en-US" sz="1200" spc="-1" strike="noStrike">
              <a:latin typeface="Arial"/>
            </a:endParaRPr>
          </a:p>
        </p:txBody>
      </p:sp>
      <p:sp>
        <p:nvSpPr>
          <p:cNvPr id="275" name="Rounded Rectangle 40"/>
          <p:cNvSpPr/>
          <p:nvPr/>
        </p:nvSpPr>
        <p:spPr>
          <a:xfrm>
            <a:off x="3182040" y="4384080"/>
            <a:ext cx="1581480" cy="658080"/>
          </a:xfrm>
          <a:prstGeom prst="roundRect">
            <a:avLst>
              <a:gd name="adj" fmla="val 16667"/>
            </a:avLst>
          </a:prstGeom>
          <a:solidFill>
            <a:srgbClr val="edf8f7"/>
          </a:solidFill>
          <a:ln w="11430">
            <a:solidFill>
              <a:srgbClr val="007c82"/>
            </a:solidFill>
          </a:ln>
        </p:spPr>
        <p:style>
          <a:lnRef idx="1">
            <a:schemeClr val="accent1"/>
          </a:lnRef>
          <a:fillRef idx="3">
            <a:schemeClr val="accent1"/>
          </a:fillRef>
          <a:effectRef idx="2">
            <a:schemeClr val="accent1"/>
          </a:effectRef>
          <a:fontRef idx="minor"/>
        </p:style>
      </p:sp>
      <p:sp>
        <p:nvSpPr>
          <p:cNvPr id="276" name="TextBox 41"/>
          <p:cNvSpPr/>
          <p:nvPr/>
        </p:nvSpPr>
        <p:spPr>
          <a:xfrm>
            <a:off x="3264480" y="4516560"/>
            <a:ext cx="1416960" cy="3927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200" spc="-1" strike="noStrike">
                <a:solidFill>
                  <a:srgbClr val="181b1d"/>
                </a:solidFill>
                <a:latin typeface="微软雅黑"/>
              </a:rPr>
              <a:t>电压、功率和</a:t>
            </a:r>
            <a:endParaRPr b="0" lang="en-US" sz="1200" spc="-1" strike="noStrike">
              <a:latin typeface="Arial"/>
            </a:endParaRPr>
          </a:p>
          <a:p>
            <a:pPr algn="ctr">
              <a:lnSpc>
                <a:spcPct val="104000"/>
              </a:lnSpc>
              <a:spcAft>
                <a:spcPts val="99"/>
              </a:spcAft>
              <a:buNone/>
            </a:pPr>
            <a:r>
              <a:rPr b="1" lang="zh-CN" sz="1200" spc="-1" strike="noStrike">
                <a:solidFill>
                  <a:srgbClr val="181b1d"/>
                </a:solidFill>
                <a:latin typeface="微软雅黑"/>
              </a:rPr>
              <a:t>阻抗基准统一</a:t>
            </a:r>
            <a:endParaRPr b="0" lang="en-US" sz="1200" spc="-1" strike="noStrike">
              <a:latin typeface="Arial"/>
            </a:endParaRPr>
          </a:p>
        </p:txBody>
      </p:sp>
      <p:sp>
        <p:nvSpPr>
          <p:cNvPr id="277" name="Rounded Rectangle 42"/>
          <p:cNvSpPr/>
          <p:nvPr/>
        </p:nvSpPr>
        <p:spPr>
          <a:xfrm>
            <a:off x="3182040" y="5398920"/>
            <a:ext cx="1581480" cy="658080"/>
          </a:xfrm>
          <a:prstGeom prst="roundRect">
            <a:avLst>
              <a:gd name="adj" fmla="val 16667"/>
            </a:avLst>
          </a:prstGeom>
          <a:solidFill>
            <a:srgbClr val="edf8f7"/>
          </a:solidFill>
          <a:ln w="11430">
            <a:solidFill>
              <a:srgbClr val="007c82"/>
            </a:solidFill>
          </a:ln>
        </p:spPr>
        <p:style>
          <a:lnRef idx="1">
            <a:schemeClr val="accent1"/>
          </a:lnRef>
          <a:fillRef idx="3">
            <a:schemeClr val="accent1"/>
          </a:fillRef>
          <a:effectRef idx="2">
            <a:schemeClr val="accent1"/>
          </a:effectRef>
          <a:fontRef idx="minor"/>
        </p:style>
      </p:sp>
      <p:sp>
        <p:nvSpPr>
          <p:cNvPr id="278" name="TextBox 43"/>
          <p:cNvSpPr/>
          <p:nvPr/>
        </p:nvSpPr>
        <p:spPr>
          <a:xfrm>
            <a:off x="3264480" y="5531400"/>
            <a:ext cx="1416960" cy="3927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200" spc="-1" strike="noStrike">
                <a:solidFill>
                  <a:srgbClr val="181b1d"/>
                </a:solidFill>
                <a:latin typeface="微软雅黑"/>
              </a:rPr>
              <a:t>时间断面与</a:t>
            </a:r>
            <a:endParaRPr b="0" lang="en-US" sz="1200" spc="-1" strike="noStrike">
              <a:latin typeface="Arial"/>
            </a:endParaRPr>
          </a:p>
          <a:p>
            <a:pPr algn="ctr">
              <a:lnSpc>
                <a:spcPct val="104000"/>
              </a:lnSpc>
              <a:spcAft>
                <a:spcPts val="99"/>
              </a:spcAft>
              <a:buNone/>
            </a:pPr>
            <a:r>
              <a:rPr b="1" lang="zh-CN" sz="1200" spc="-1" strike="noStrike">
                <a:solidFill>
                  <a:srgbClr val="181b1d"/>
                </a:solidFill>
                <a:latin typeface="微软雅黑"/>
              </a:rPr>
              <a:t>设备状态对齐</a:t>
            </a:r>
            <a:endParaRPr b="0" lang="en-US" sz="1200" spc="-1" strike="noStrike">
              <a:latin typeface="Arial"/>
            </a:endParaRPr>
          </a:p>
        </p:txBody>
      </p:sp>
      <p:sp>
        <p:nvSpPr>
          <p:cNvPr id="279" name="Down Arrow 44"/>
          <p:cNvSpPr/>
          <p:nvPr/>
        </p:nvSpPr>
        <p:spPr>
          <a:xfrm>
            <a:off x="3803760" y="4073040"/>
            <a:ext cx="255600" cy="237240"/>
          </a:xfrm>
          <a:prstGeom prst="downArrow">
            <a:avLst>
              <a:gd name="adj1" fmla="val 50000"/>
              <a:gd name="adj2" fmla="val 50000"/>
            </a:avLst>
          </a:prstGeom>
          <a:solidFill>
            <a:srgbClr val="007c82"/>
          </a:solidFill>
          <a:ln>
            <a:noFill/>
          </a:ln>
        </p:spPr>
        <p:style>
          <a:lnRef idx="1">
            <a:schemeClr val="accent1"/>
          </a:lnRef>
          <a:fillRef idx="3">
            <a:schemeClr val="accent1"/>
          </a:fillRef>
          <a:effectRef idx="2">
            <a:schemeClr val="accent1"/>
          </a:effectRef>
          <a:fontRef idx="minor"/>
        </p:style>
      </p:sp>
      <p:sp>
        <p:nvSpPr>
          <p:cNvPr id="280" name="Down Arrow 45"/>
          <p:cNvSpPr/>
          <p:nvPr/>
        </p:nvSpPr>
        <p:spPr>
          <a:xfrm>
            <a:off x="3803760" y="5088240"/>
            <a:ext cx="255600" cy="237240"/>
          </a:xfrm>
          <a:prstGeom prst="downArrow">
            <a:avLst>
              <a:gd name="adj1" fmla="val 50000"/>
              <a:gd name="adj2" fmla="val 50000"/>
            </a:avLst>
          </a:prstGeom>
          <a:solidFill>
            <a:srgbClr val="007c82"/>
          </a:solidFill>
          <a:ln>
            <a:noFill/>
          </a:ln>
        </p:spPr>
        <p:style>
          <a:lnRef idx="1">
            <a:schemeClr val="accent1"/>
          </a:lnRef>
          <a:fillRef idx="3">
            <a:schemeClr val="accent1"/>
          </a:fillRef>
          <a:effectRef idx="2">
            <a:schemeClr val="accent1"/>
          </a:effectRef>
          <a:fontRef idx="minor"/>
        </p:style>
      </p:sp>
      <p:sp>
        <p:nvSpPr>
          <p:cNvPr id="281" name="Right Arrow 46"/>
          <p:cNvSpPr/>
          <p:nvPr/>
        </p:nvSpPr>
        <p:spPr>
          <a:xfrm>
            <a:off x="5010840" y="4320000"/>
            <a:ext cx="264960" cy="310680"/>
          </a:xfrm>
          <a:prstGeom prst="rightArrow">
            <a:avLst>
              <a:gd name="adj1" fmla="val 50000"/>
              <a:gd name="adj2" fmla="val 50000"/>
            </a:avLst>
          </a:prstGeom>
          <a:solidFill>
            <a:srgbClr val="0b55a6"/>
          </a:solidFill>
          <a:ln>
            <a:noFill/>
          </a:ln>
        </p:spPr>
        <p:style>
          <a:lnRef idx="1">
            <a:schemeClr val="accent1"/>
          </a:lnRef>
          <a:fillRef idx="3">
            <a:schemeClr val="accent1"/>
          </a:fillRef>
          <a:effectRef idx="2">
            <a:schemeClr val="accent1"/>
          </a:effectRef>
          <a:fontRef idx="minor"/>
        </p:style>
      </p:sp>
      <p:sp>
        <p:nvSpPr>
          <p:cNvPr id="282" name="TextBox 47"/>
          <p:cNvSpPr/>
          <p:nvPr/>
        </p:nvSpPr>
        <p:spPr>
          <a:xfrm>
            <a:off x="5523120" y="3298320"/>
            <a:ext cx="1590840" cy="214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350" spc="-1" strike="noStrike">
                <a:solidFill>
                  <a:srgbClr val="181b1d"/>
                </a:solidFill>
                <a:latin typeface="微软雅黑"/>
              </a:rPr>
              <a:t>映射关系表</a:t>
            </a:r>
            <a:endParaRPr b="0" lang="en-US" sz="1350" spc="-1" strike="noStrike">
              <a:latin typeface="Arial"/>
            </a:endParaRPr>
          </a:p>
        </p:txBody>
      </p:sp>
      <p:sp>
        <p:nvSpPr>
          <p:cNvPr id="283" name="Rectangle 48"/>
          <p:cNvSpPr/>
          <p:nvPr/>
        </p:nvSpPr>
        <p:spPr>
          <a:xfrm>
            <a:off x="5449680" y="3688920"/>
            <a:ext cx="941400" cy="392760"/>
          </a:xfrm>
          <a:prstGeom prst="rect">
            <a:avLst/>
          </a:prstGeom>
          <a:solidFill>
            <a:srgbClr val="d9f0f2"/>
          </a:solidFill>
          <a:ln w="8255">
            <a:solidFill>
              <a:srgbClr val="005c68"/>
            </a:solidFill>
          </a:ln>
        </p:spPr>
        <p:style>
          <a:lnRef idx="1">
            <a:schemeClr val="accent1"/>
          </a:lnRef>
          <a:fillRef idx="3">
            <a:schemeClr val="accent1"/>
          </a:fillRef>
          <a:effectRef idx="2">
            <a:schemeClr val="accent1"/>
          </a:effectRef>
          <a:fontRef idx="minor"/>
        </p:style>
      </p:sp>
      <p:sp>
        <p:nvSpPr>
          <p:cNvPr id="284" name="Rectangle 49"/>
          <p:cNvSpPr/>
          <p:nvPr/>
        </p:nvSpPr>
        <p:spPr>
          <a:xfrm>
            <a:off x="6391800" y="3688920"/>
            <a:ext cx="785880" cy="392760"/>
          </a:xfrm>
          <a:prstGeom prst="rect">
            <a:avLst/>
          </a:prstGeom>
          <a:solidFill>
            <a:srgbClr val="d9f0f2"/>
          </a:solidFill>
          <a:ln w="8255">
            <a:solidFill>
              <a:srgbClr val="005c68"/>
            </a:solidFill>
          </a:ln>
        </p:spPr>
        <p:style>
          <a:lnRef idx="1">
            <a:schemeClr val="accent1"/>
          </a:lnRef>
          <a:fillRef idx="3">
            <a:schemeClr val="accent1"/>
          </a:fillRef>
          <a:effectRef idx="2">
            <a:schemeClr val="accent1"/>
          </a:effectRef>
          <a:fontRef idx="minor"/>
        </p:style>
      </p:sp>
      <p:sp>
        <p:nvSpPr>
          <p:cNvPr id="285" name="TextBox 50"/>
          <p:cNvSpPr/>
          <p:nvPr/>
        </p:nvSpPr>
        <p:spPr>
          <a:xfrm>
            <a:off x="5468040" y="3801960"/>
            <a:ext cx="905040" cy="1666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050" spc="-1" strike="noStrike">
                <a:solidFill>
                  <a:srgbClr val="181b1d"/>
                </a:solidFill>
                <a:latin typeface="微软雅黑"/>
              </a:rPr>
              <a:t>原始设备</a:t>
            </a:r>
            <a:endParaRPr b="0" lang="en-US" sz="1050" spc="-1" strike="noStrike">
              <a:latin typeface="Arial"/>
            </a:endParaRPr>
          </a:p>
        </p:txBody>
      </p:sp>
      <p:sp>
        <p:nvSpPr>
          <p:cNvPr id="286" name="TextBox 51"/>
          <p:cNvSpPr/>
          <p:nvPr/>
        </p:nvSpPr>
        <p:spPr>
          <a:xfrm>
            <a:off x="6409800" y="3804840"/>
            <a:ext cx="749520" cy="160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010" spc="-1" strike="noStrike">
                <a:solidFill>
                  <a:srgbClr val="181b1d"/>
                </a:solidFill>
                <a:latin typeface="微软雅黑"/>
              </a:rPr>
              <a:t>统一对象</a:t>
            </a:r>
            <a:endParaRPr b="0" lang="en-US" sz="1010" spc="-1" strike="noStrike">
              <a:latin typeface="Arial"/>
            </a:endParaRPr>
          </a:p>
        </p:txBody>
      </p:sp>
      <p:sp>
        <p:nvSpPr>
          <p:cNvPr id="287" name="Rectangle 52"/>
          <p:cNvSpPr/>
          <p:nvPr/>
        </p:nvSpPr>
        <p:spPr>
          <a:xfrm>
            <a:off x="5449680" y="4082400"/>
            <a:ext cx="94140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288" name="Rectangle 53"/>
          <p:cNvSpPr/>
          <p:nvPr/>
        </p:nvSpPr>
        <p:spPr>
          <a:xfrm>
            <a:off x="6391800" y="4082400"/>
            <a:ext cx="78588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289" name="TextBox 54"/>
          <p:cNvSpPr/>
          <p:nvPr/>
        </p:nvSpPr>
        <p:spPr>
          <a:xfrm>
            <a:off x="5468040" y="4195440"/>
            <a:ext cx="905040" cy="1666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050" spc="-1" strike="noStrike">
                <a:solidFill>
                  <a:srgbClr val="181b1d"/>
                </a:solidFill>
                <a:latin typeface="微软雅黑"/>
              </a:rPr>
              <a:t>母线节点</a:t>
            </a:r>
            <a:endParaRPr b="0" lang="en-US" sz="1050" spc="-1" strike="noStrike">
              <a:latin typeface="Arial"/>
            </a:endParaRPr>
          </a:p>
        </p:txBody>
      </p:sp>
      <p:sp>
        <p:nvSpPr>
          <p:cNvPr id="290" name="TextBox 55"/>
          <p:cNvSpPr/>
          <p:nvPr/>
        </p:nvSpPr>
        <p:spPr>
          <a:xfrm>
            <a:off x="6409800" y="4198320"/>
            <a:ext cx="749520" cy="160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1010" spc="-1" strike="noStrike">
                <a:solidFill>
                  <a:srgbClr val="181b1d"/>
                </a:solidFill>
                <a:latin typeface="微软雅黑"/>
              </a:rPr>
              <a:t>Bus</a:t>
            </a:r>
            <a:endParaRPr b="0" lang="en-US" sz="1010" spc="-1" strike="noStrike">
              <a:latin typeface="Arial"/>
            </a:endParaRPr>
          </a:p>
        </p:txBody>
      </p:sp>
      <p:sp>
        <p:nvSpPr>
          <p:cNvPr id="291" name="Rectangle 56"/>
          <p:cNvSpPr/>
          <p:nvPr/>
        </p:nvSpPr>
        <p:spPr>
          <a:xfrm>
            <a:off x="5449680" y="4475520"/>
            <a:ext cx="94140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292" name="Rectangle 57"/>
          <p:cNvSpPr/>
          <p:nvPr/>
        </p:nvSpPr>
        <p:spPr>
          <a:xfrm>
            <a:off x="6391800" y="4475520"/>
            <a:ext cx="78588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293" name="TextBox 58"/>
          <p:cNvSpPr/>
          <p:nvPr/>
        </p:nvSpPr>
        <p:spPr>
          <a:xfrm>
            <a:off x="5468040" y="4588560"/>
            <a:ext cx="905040" cy="1666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050" spc="-1" strike="noStrike">
                <a:solidFill>
                  <a:srgbClr val="181b1d"/>
                </a:solidFill>
                <a:latin typeface="微软雅黑"/>
              </a:rPr>
              <a:t>线路</a:t>
            </a:r>
            <a:r>
              <a:rPr b="0" lang="en-US" sz="1050" spc="-1" strike="noStrike">
                <a:solidFill>
                  <a:srgbClr val="181b1d"/>
                </a:solidFill>
                <a:latin typeface="微软雅黑"/>
              </a:rPr>
              <a:t>/</a:t>
            </a:r>
            <a:r>
              <a:rPr b="0" lang="zh-CN" sz="1050" spc="-1" strike="noStrike">
                <a:solidFill>
                  <a:srgbClr val="181b1d"/>
                </a:solidFill>
                <a:latin typeface="微软雅黑"/>
              </a:rPr>
              <a:t>电缆</a:t>
            </a:r>
            <a:endParaRPr b="0" lang="en-US" sz="1050" spc="-1" strike="noStrike">
              <a:latin typeface="Arial"/>
            </a:endParaRPr>
          </a:p>
        </p:txBody>
      </p:sp>
      <p:sp>
        <p:nvSpPr>
          <p:cNvPr id="294" name="TextBox 59"/>
          <p:cNvSpPr/>
          <p:nvPr/>
        </p:nvSpPr>
        <p:spPr>
          <a:xfrm>
            <a:off x="6409800" y="4591440"/>
            <a:ext cx="749520" cy="160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1010" spc="-1" strike="noStrike">
                <a:solidFill>
                  <a:srgbClr val="181b1d"/>
                </a:solidFill>
                <a:latin typeface="微软雅黑"/>
              </a:rPr>
              <a:t>Branch</a:t>
            </a:r>
            <a:endParaRPr b="0" lang="en-US" sz="1010" spc="-1" strike="noStrike">
              <a:latin typeface="Arial"/>
            </a:endParaRPr>
          </a:p>
        </p:txBody>
      </p:sp>
      <p:sp>
        <p:nvSpPr>
          <p:cNvPr id="295" name="Rectangle 60"/>
          <p:cNvSpPr/>
          <p:nvPr/>
        </p:nvSpPr>
        <p:spPr>
          <a:xfrm>
            <a:off x="5449680" y="4868640"/>
            <a:ext cx="94140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296" name="Rectangle 61"/>
          <p:cNvSpPr/>
          <p:nvPr/>
        </p:nvSpPr>
        <p:spPr>
          <a:xfrm>
            <a:off x="6391800" y="4868640"/>
            <a:ext cx="78588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297" name="TextBox 62"/>
          <p:cNvSpPr/>
          <p:nvPr/>
        </p:nvSpPr>
        <p:spPr>
          <a:xfrm>
            <a:off x="5468040" y="4981680"/>
            <a:ext cx="905040" cy="1666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050" spc="-1" strike="noStrike">
                <a:solidFill>
                  <a:srgbClr val="181b1d"/>
                </a:solidFill>
                <a:latin typeface="微软雅黑"/>
              </a:rPr>
              <a:t>主变</a:t>
            </a:r>
            <a:r>
              <a:rPr b="0" lang="en-US" sz="1050" spc="-1" strike="noStrike">
                <a:solidFill>
                  <a:srgbClr val="181b1d"/>
                </a:solidFill>
                <a:latin typeface="微软雅黑"/>
              </a:rPr>
              <a:t>/</a:t>
            </a:r>
            <a:r>
              <a:rPr b="0" lang="zh-CN" sz="1050" spc="-1" strike="noStrike">
                <a:solidFill>
                  <a:srgbClr val="181b1d"/>
                </a:solidFill>
                <a:latin typeface="微软雅黑"/>
              </a:rPr>
              <a:t>配变</a:t>
            </a:r>
            <a:endParaRPr b="0" lang="en-US" sz="1050" spc="-1" strike="noStrike">
              <a:latin typeface="Arial"/>
            </a:endParaRPr>
          </a:p>
        </p:txBody>
      </p:sp>
      <p:sp>
        <p:nvSpPr>
          <p:cNvPr id="298" name="TextBox 63"/>
          <p:cNvSpPr/>
          <p:nvPr/>
        </p:nvSpPr>
        <p:spPr>
          <a:xfrm>
            <a:off x="6409800" y="4904640"/>
            <a:ext cx="749520" cy="320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1010" spc="-1" strike="noStrike">
                <a:solidFill>
                  <a:srgbClr val="181b1d"/>
                </a:solidFill>
                <a:latin typeface="微软雅黑"/>
              </a:rPr>
              <a:t>Transformer</a:t>
            </a:r>
            <a:endParaRPr b="0" lang="en-US" sz="1010" spc="-1" strike="noStrike">
              <a:latin typeface="Arial"/>
            </a:endParaRPr>
          </a:p>
        </p:txBody>
      </p:sp>
      <p:sp>
        <p:nvSpPr>
          <p:cNvPr id="299" name="Rectangle 64"/>
          <p:cNvSpPr/>
          <p:nvPr/>
        </p:nvSpPr>
        <p:spPr>
          <a:xfrm>
            <a:off x="5449680" y="5261760"/>
            <a:ext cx="94140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300" name="Rectangle 65"/>
          <p:cNvSpPr/>
          <p:nvPr/>
        </p:nvSpPr>
        <p:spPr>
          <a:xfrm>
            <a:off x="6391800" y="5261760"/>
            <a:ext cx="78588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301" name="TextBox 66"/>
          <p:cNvSpPr/>
          <p:nvPr/>
        </p:nvSpPr>
        <p:spPr>
          <a:xfrm>
            <a:off x="5468040" y="5374800"/>
            <a:ext cx="905040" cy="1666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050" spc="-1" strike="noStrike">
                <a:solidFill>
                  <a:srgbClr val="181b1d"/>
                </a:solidFill>
                <a:latin typeface="微软雅黑"/>
              </a:rPr>
              <a:t>负荷</a:t>
            </a:r>
            <a:r>
              <a:rPr b="0" lang="en-US" sz="1050" spc="-1" strike="noStrike">
                <a:solidFill>
                  <a:srgbClr val="181b1d"/>
                </a:solidFill>
                <a:latin typeface="微软雅黑"/>
              </a:rPr>
              <a:t>/</a:t>
            </a:r>
            <a:r>
              <a:rPr b="0" lang="zh-CN" sz="1050" spc="-1" strike="noStrike">
                <a:solidFill>
                  <a:srgbClr val="181b1d"/>
                </a:solidFill>
                <a:latin typeface="微软雅黑"/>
              </a:rPr>
              <a:t>电源</a:t>
            </a:r>
            <a:endParaRPr b="0" lang="en-US" sz="1050" spc="-1" strike="noStrike">
              <a:latin typeface="Arial"/>
            </a:endParaRPr>
          </a:p>
        </p:txBody>
      </p:sp>
      <p:sp>
        <p:nvSpPr>
          <p:cNvPr id="302" name="TextBox 67"/>
          <p:cNvSpPr/>
          <p:nvPr/>
        </p:nvSpPr>
        <p:spPr>
          <a:xfrm>
            <a:off x="6409800" y="5377680"/>
            <a:ext cx="749520" cy="160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1010" spc="-1" strike="noStrike">
                <a:solidFill>
                  <a:srgbClr val="181b1d"/>
                </a:solidFill>
                <a:latin typeface="微软雅黑"/>
              </a:rPr>
              <a:t>Injection</a:t>
            </a:r>
            <a:endParaRPr b="0" lang="en-US" sz="1010" spc="-1" strike="noStrike">
              <a:latin typeface="Arial"/>
            </a:endParaRPr>
          </a:p>
        </p:txBody>
      </p:sp>
      <p:sp>
        <p:nvSpPr>
          <p:cNvPr id="303" name="Rectangle 68"/>
          <p:cNvSpPr/>
          <p:nvPr/>
        </p:nvSpPr>
        <p:spPr>
          <a:xfrm>
            <a:off x="5449680" y="5654880"/>
            <a:ext cx="94140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304" name="Rectangle 69"/>
          <p:cNvSpPr/>
          <p:nvPr/>
        </p:nvSpPr>
        <p:spPr>
          <a:xfrm>
            <a:off x="6391800" y="5654880"/>
            <a:ext cx="785880" cy="392760"/>
          </a:xfrm>
          <a:prstGeom prst="rect">
            <a:avLst/>
          </a:prstGeom>
          <a:solidFill>
            <a:srgbClr val="ffffff"/>
          </a:solidFill>
          <a:ln w="8255">
            <a:solidFill>
              <a:srgbClr val="005c68"/>
            </a:solidFill>
          </a:ln>
        </p:spPr>
        <p:style>
          <a:lnRef idx="1">
            <a:schemeClr val="accent1"/>
          </a:lnRef>
          <a:fillRef idx="3">
            <a:schemeClr val="accent1"/>
          </a:fillRef>
          <a:effectRef idx="2">
            <a:schemeClr val="accent1"/>
          </a:effectRef>
          <a:fontRef idx="minor"/>
        </p:style>
      </p:sp>
      <p:sp>
        <p:nvSpPr>
          <p:cNvPr id="305" name="TextBox 70"/>
          <p:cNvSpPr/>
          <p:nvPr/>
        </p:nvSpPr>
        <p:spPr>
          <a:xfrm>
            <a:off x="5468040" y="5767920"/>
            <a:ext cx="905040" cy="1666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050" spc="-1" strike="noStrike">
                <a:solidFill>
                  <a:srgbClr val="181b1d"/>
                </a:solidFill>
                <a:latin typeface="微软雅黑"/>
              </a:rPr>
              <a:t>并网点</a:t>
            </a:r>
            <a:endParaRPr b="0" lang="en-US" sz="1050" spc="-1" strike="noStrike">
              <a:latin typeface="Arial"/>
            </a:endParaRPr>
          </a:p>
        </p:txBody>
      </p:sp>
      <p:sp>
        <p:nvSpPr>
          <p:cNvPr id="306" name="TextBox 71"/>
          <p:cNvSpPr/>
          <p:nvPr/>
        </p:nvSpPr>
        <p:spPr>
          <a:xfrm>
            <a:off x="6409800" y="5690880"/>
            <a:ext cx="749520" cy="320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1010" spc="-1" strike="noStrike">
                <a:solidFill>
                  <a:srgbClr val="181b1d"/>
                </a:solidFill>
                <a:latin typeface="微软雅黑"/>
              </a:rPr>
              <a:t>Boundary/PCC</a:t>
            </a:r>
            <a:endParaRPr b="0" lang="en-US" sz="1010" spc="-1" strike="noStrike">
              <a:latin typeface="Arial"/>
            </a:endParaRPr>
          </a:p>
        </p:txBody>
      </p:sp>
      <p:sp>
        <p:nvSpPr>
          <p:cNvPr id="307" name="Right Arrow 72"/>
          <p:cNvSpPr/>
          <p:nvPr/>
        </p:nvSpPr>
        <p:spPr>
          <a:xfrm>
            <a:off x="7342560" y="4320000"/>
            <a:ext cx="264960" cy="310680"/>
          </a:xfrm>
          <a:prstGeom prst="rightArrow">
            <a:avLst>
              <a:gd name="adj1" fmla="val 50000"/>
              <a:gd name="adj2" fmla="val 50000"/>
            </a:avLst>
          </a:prstGeom>
          <a:solidFill>
            <a:srgbClr val="0b55a6"/>
          </a:solidFill>
          <a:ln>
            <a:noFill/>
          </a:ln>
        </p:spPr>
        <p:style>
          <a:lnRef idx="1">
            <a:schemeClr val="accent1"/>
          </a:lnRef>
          <a:fillRef idx="3">
            <a:schemeClr val="accent1"/>
          </a:fillRef>
          <a:effectRef idx="2">
            <a:schemeClr val="accent1"/>
          </a:effectRef>
          <a:fontRef idx="minor"/>
        </p:style>
      </p:sp>
      <p:pic>
        <p:nvPicPr>
          <p:cNvPr id="308" name="Picture 73" descr="p1_topology_only.png"/>
          <p:cNvPicPr/>
          <p:nvPr/>
        </p:nvPicPr>
        <p:blipFill>
          <a:blip r:embed="rId1"/>
          <a:stretch/>
        </p:blipFill>
        <p:spPr>
          <a:xfrm>
            <a:off x="8523000" y="3222720"/>
            <a:ext cx="2100960" cy="2404440"/>
          </a:xfrm>
          <a:prstGeom prst="rect">
            <a:avLst/>
          </a:prstGeom>
          <a:ln w="0">
            <a:noFill/>
          </a:ln>
        </p:spPr>
      </p:pic>
      <p:pic>
        <p:nvPicPr>
          <p:cNvPr id="309" name="Picture 74" descr="p1_formula_graph.png"/>
          <p:cNvPicPr/>
          <p:nvPr/>
        </p:nvPicPr>
        <p:blipFill>
          <a:blip r:embed="rId2"/>
          <a:stretch/>
        </p:blipFill>
        <p:spPr>
          <a:xfrm>
            <a:off x="7900560" y="5691600"/>
            <a:ext cx="1188360" cy="255600"/>
          </a:xfrm>
          <a:prstGeom prst="rect">
            <a:avLst/>
          </a:prstGeom>
          <a:ln w="0">
            <a:noFill/>
          </a:ln>
        </p:spPr>
      </p:pic>
      <p:sp>
        <p:nvSpPr>
          <p:cNvPr id="310" name="TextBox 75"/>
          <p:cNvSpPr/>
          <p:nvPr/>
        </p:nvSpPr>
        <p:spPr>
          <a:xfrm>
            <a:off x="9107280" y="5731200"/>
            <a:ext cx="2084400" cy="17640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1110" spc="-1" strike="noStrike">
                <a:solidFill>
                  <a:srgbClr val="181b1d"/>
                </a:solidFill>
                <a:latin typeface="微软雅黑"/>
              </a:rPr>
              <a:t>：统一拓扑对象</a:t>
            </a:r>
            <a:endParaRPr b="0" lang="en-US" sz="1110" spc="-1" strike="noStrike">
              <a:latin typeface="Arial"/>
            </a:endParaRPr>
          </a:p>
        </p:txBody>
      </p:sp>
      <p:pic>
        <p:nvPicPr>
          <p:cNvPr id="311" name="Picture 76" descr="p1_formula_state.png"/>
          <p:cNvPicPr/>
          <p:nvPr/>
        </p:nvPicPr>
        <p:blipFill>
          <a:blip r:embed="rId3"/>
          <a:stretch/>
        </p:blipFill>
        <p:spPr>
          <a:xfrm>
            <a:off x="7979040" y="5993280"/>
            <a:ext cx="1524600" cy="255600"/>
          </a:xfrm>
          <a:prstGeom prst="rect">
            <a:avLst/>
          </a:prstGeom>
          <a:ln w="0">
            <a:noFill/>
          </a:ln>
        </p:spPr>
      </p:pic>
      <p:sp>
        <p:nvSpPr>
          <p:cNvPr id="312" name="TextBox 77"/>
          <p:cNvSpPr/>
          <p:nvPr/>
        </p:nvSpPr>
        <p:spPr>
          <a:xfrm>
            <a:off x="9592200" y="6035400"/>
            <a:ext cx="1627200" cy="17172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1080" spc="-1" strike="noStrike">
                <a:solidFill>
                  <a:srgbClr val="181b1d"/>
                </a:solidFill>
                <a:latin typeface="微软雅黑"/>
              </a:rPr>
              <a:t>：统一运行状态变量</a:t>
            </a:r>
            <a:endParaRPr b="0" lang="en-US" sz="1080" spc="-1" strike="noStrike">
              <a:latin typeface="Arial"/>
            </a:endParaRPr>
          </a:p>
        </p:txBody>
      </p:sp>
      <p:sp>
        <p:nvSpPr>
          <p:cNvPr id="313" name="TextBox 78"/>
          <p:cNvSpPr/>
          <p:nvPr/>
        </p:nvSpPr>
        <p:spPr>
          <a:xfrm>
            <a:off x="960120" y="6545520"/>
            <a:ext cx="10286640" cy="1936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220" spc="-1" strike="noStrike">
                <a:solidFill>
                  <a:srgbClr val="1e5aa8"/>
                </a:solidFill>
                <a:latin typeface="微软雅黑"/>
              </a:rPr>
              <a:t>模型校核：设备端点完整性    </a:t>
            </a:r>
            <a:r>
              <a:rPr b="1" lang="en-US" sz="1220" spc="-1" strike="noStrike">
                <a:solidFill>
                  <a:srgbClr val="1e5aa8"/>
                </a:solidFill>
                <a:latin typeface="微软雅黑"/>
              </a:rPr>
              <a:t>|    </a:t>
            </a:r>
            <a:r>
              <a:rPr b="1" lang="zh-CN" sz="1220" spc="-1" strike="noStrike">
                <a:solidFill>
                  <a:srgbClr val="1e5aa8"/>
                </a:solidFill>
                <a:latin typeface="微软雅黑"/>
              </a:rPr>
              <a:t>电压等级一致性    </a:t>
            </a:r>
            <a:r>
              <a:rPr b="1" lang="en-US" sz="1220" spc="-1" strike="noStrike">
                <a:solidFill>
                  <a:srgbClr val="1e5aa8"/>
                </a:solidFill>
                <a:latin typeface="微软雅黑"/>
              </a:rPr>
              <a:t>|    </a:t>
            </a:r>
            <a:r>
              <a:rPr b="1" lang="zh-CN" sz="1220" spc="-1" strike="noStrike">
                <a:solidFill>
                  <a:srgbClr val="1e5aa8"/>
                </a:solidFill>
                <a:latin typeface="微软雅黑"/>
              </a:rPr>
              <a:t>拓扑连通性与孤岛检测</a:t>
            </a:r>
            <a:endParaRPr b="0" lang="en-US" sz="1220" spc="-1" strike="noStrike">
              <a:latin typeface="Arial"/>
            </a:endParaRPr>
          </a:p>
        </p:txBody>
      </p:sp>
    </p:spTree>
  </p:cSld>
  <mc:AlternateContent>
    <mc:Choice Requires="p14">
      <p:transition spd="slow" advTm="12000" p14:dur="2000"/>
    </mc:Choice>
    <mc:Fallback>
      <p:transition spd="slow" advTm="12000"/>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矩形 16"/>
          <p:cNvSpPr/>
          <p:nvPr/>
        </p:nvSpPr>
        <p:spPr>
          <a:xfrm>
            <a:off x="251640" y="2973240"/>
            <a:ext cx="3406320" cy="3778560"/>
          </a:xfrm>
          <a:prstGeom prst="rect">
            <a:avLst/>
          </a:prstGeom>
          <a:solidFill>
            <a:schemeClr val="accent6">
              <a:lumMod val="20000"/>
              <a:lumOff val="80000"/>
              <a:alpha val="10000"/>
            </a:schemeClr>
          </a:solidFill>
          <a:ln w="12700">
            <a:solidFill>
              <a:srgbClr val="006f6b"/>
            </a:solidFill>
            <a:round/>
          </a:ln>
        </p:spPr>
        <p:style>
          <a:lnRef idx="0"/>
          <a:fillRef idx="0"/>
          <a:effectRef idx="0"/>
          <a:fontRef idx="minor"/>
        </p:style>
      </p:sp>
      <p:sp>
        <p:nvSpPr>
          <p:cNvPr id="315" name="矩形 11"/>
          <p:cNvSpPr/>
          <p:nvPr/>
        </p:nvSpPr>
        <p:spPr>
          <a:xfrm>
            <a:off x="8272080" y="2978280"/>
            <a:ext cx="3654720" cy="3778560"/>
          </a:xfrm>
          <a:prstGeom prst="rect">
            <a:avLst/>
          </a:prstGeom>
          <a:solidFill>
            <a:schemeClr val="accent6">
              <a:lumMod val="20000"/>
              <a:lumOff val="80000"/>
              <a:alpha val="10000"/>
            </a:schemeClr>
          </a:solidFill>
          <a:ln w="12700">
            <a:solidFill>
              <a:srgbClr val="006f6b"/>
            </a:solidFill>
            <a:round/>
          </a:ln>
        </p:spPr>
        <p:style>
          <a:lnRef idx="0"/>
          <a:fillRef idx="0"/>
          <a:effectRef idx="0"/>
          <a:fontRef idx="minor"/>
        </p:style>
      </p:sp>
      <p:sp>
        <p:nvSpPr>
          <p:cNvPr id="316" name="矩形 10"/>
          <p:cNvSpPr/>
          <p:nvPr/>
        </p:nvSpPr>
        <p:spPr>
          <a:xfrm>
            <a:off x="4267800" y="2973240"/>
            <a:ext cx="3470400" cy="3778560"/>
          </a:xfrm>
          <a:prstGeom prst="rect">
            <a:avLst/>
          </a:prstGeom>
          <a:solidFill>
            <a:schemeClr val="accent6">
              <a:lumMod val="20000"/>
              <a:lumOff val="80000"/>
              <a:alpha val="10000"/>
            </a:schemeClr>
          </a:solidFill>
          <a:ln w="12700">
            <a:solidFill>
              <a:srgbClr val="006f6b"/>
            </a:solidFill>
            <a:round/>
          </a:ln>
        </p:spPr>
        <p:style>
          <a:lnRef idx="0"/>
          <a:fillRef idx="0"/>
          <a:effectRef idx="0"/>
          <a:fontRef idx="minor"/>
        </p:style>
      </p:sp>
      <p:sp>
        <p:nvSpPr>
          <p:cNvPr id="317"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318"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319"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grpSp>
        <p:nvGrpSpPr>
          <p:cNvPr id="320" name="组合 7"/>
          <p:cNvGrpSpPr/>
          <p:nvPr/>
        </p:nvGrpSpPr>
        <p:grpSpPr>
          <a:xfrm>
            <a:off x="325800" y="1323720"/>
            <a:ext cx="11379600" cy="1461240"/>
            <a:chOff x="325800" y="1323720"/>
            <a:chExt cx="11379600" cy="1461240"/>
          </a:xfrm>
        </p:grpSpPr>
        <p:sp>
          <p:nvSpPr>
            <p:cNvPr id="321" name="任意多边形: 形状 128"/>
            <p:cNvSpPr/>
            <p:nvPr/>
          </p:nvSpPr>
          <p:spPr>
            <a:xfrm>
              <a:off x="325800" y="1422720"/>
              <a:ext cx="906120" cy="1049760"/>
            </a:xfrm>
            <a:custGeom>
              <a:avLst/>
              <a:gdLst/>
              <a:ahLst/>
              <a:rect l="l" t="t" r="r" b="b"/>
              <a:pathLst>
                <a:path w="906993" h="884766">
                  <a:moveTo>
                    <a:pt x="0" y="0"/>
                  </a:moveTo>
                  <a:lnTo>
                    <a:pt x="830106" y="0"/>
                  </a:lnTo>
                  <a:lnTo>
                    <a:pt x="830106" y="390642"/>
                  </a:lnTo>
                  <a:lnTo>
                    <a:pt x="906993" y="442382"/>
                  </a:lnTo>
                  <a:lnTo>
                    <a:pt x="830106" y="494122"/>
                  </a:lnTo>
                  <a:lnTo>
                    <a:pt x="830106" y="884766"/>
                  </a:lnTo>
                  <a:lnTo>
                    <a:pt x="0" y="884766"/>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322" name="文本框 129"/>
            <p:cNvSpPr/>
            <p:nvPr/>
          </p:nvSpPr>
          <p:spPr>
            <a:xfrm>
              <a:off x="383040" y="1592280"/>
              <a:ext cx="728280" cy="70380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技术创新</a:t>
              </a:r>
              <a:endParaRPr b="0" lang="en-US" sz="1979" spc="-1" strike="noStrike">
                <a:latin typeface="Arial"/>
              </a:endParaRPr>
            </a:p>
          </p:txBody>
        </p:sp>
        <p:sp>
          <p:nvSpPr>
            <p:cNvPr id="323" name="文本框 55"/>
            <p:cNvSpPr/>
            <p:nvPr/>
          </p:nvSpPr>
          <p:spPr>
            <a:xfrm>
              <a:off x="1232280" y="1323720"/>
              <a:ext cx="10473120" cy="1461240"/>
            </a:xfrm>
            <a:prstGeom prst="rect">
              <a:avLst/>
            </a:prstGeom>
            <a:noFill/>
            <a:ln w="9525">
              <a:noFill/>
            </a:ln>
          </p:spPr>
          <p:style>
            <a:lnRef idx="0"/>
            <a:fillRef idx="0"/>
            <a:effectRef idx="0"/>
            <a:fontRef idx="minor"/>
          </p:style>
          <p:txBody>
            <a:bodyPr lIns="90000" rIns="90000" tIns="45000" bIns="45000" anchor="t">
              <a:spAutoFit/>
            </a:bodyPr>
            <a:p>
              <a:pPr algn="just">
                <a:lnSpc>
                  <a:spcPct val="150000"/>
                </a:lnSpc>
                <a:buNone/>
                <a:tabLst>
                  <a:tab algn="l" pos="0"/>
                </a:tabLst>
              </a:pPr>
              <a:r>
                <a:rPr b="0" lang="zh-CN" sz="2000" spc="-1" strike="noStrike">
                  <a:solidFill>
                    <a:srgbClr val="000000"/>
                  </a:solidFill>
                  <a:latin typeface="微软雅黑"/>
                  <a:ea typeface="微软雅黑"/>
                </a:rPr>
                <a:t>依据母线电压等级形成主网与配网集合，通过变压器端点追踪识别跨层连接设备，并结合微网接入关系定位</a:t>
              </a:r>
              <a:r>
                <a:rPr b="0" lang="en-US" sz="2000" spc="-1" strike="noStrike">
                  <a:solidFill>
                    <a:srgbClr val="000000"/>
                  </a:solidFill>
                  <a:latin typeface="微软雅黑"/>
                  <a:ea typeface="微软雅黑"/>
                </a:rPr>
                <a:t>PCC</a:t>
              </a:r>
              <a:r>
                <a:rPr b="0" lang="zh-CN" sz="2000" spc="-1" strike="noStrike">
                  <a:solidFill>
                    <a:srgbClr val="000000"/>
                  </a:solidFill>
                  <a:latin typeface="微软雅黑"/>
                  <a:ea typeface="微软雅黑"/>
                </a:rPr>
                <a:t>。自动生成主侧母线、边界设备、配侧母线及微网并网点之间的多层接口映射。</a:t>
              </a:r>
              <a:endParaRPr b="0" lang="en-US" sz="2000" spc="-1" strike="noStrike">
                <a:latin typeface="Arial"/>
              </a:endParaRPr>
            </a:p>
          </p:txBody>
        </p:sp>
      </p:grpSp>
      <p:sp>
        <p:nvSpPr>
          <p:cNvPr id="324" name="矩形: 圆角 33"/>
          <p:cNvSpPr/>
          <p:nvPr/>
        </p:nvSpPr>
        <p:spPr>
          <a:xfrm>
            <a:off x="4546080" y="2786400"/>
            <a:ext cx="2863440" cy="340560"/>
          </a:xfrm>
          <a:prstGeom prst="roundRect">
            <a:avLst>
              <a:gd name="adj" fmla="val 16667"/>
            </a:avLst>
          </a:prstGeom>
          <a:solidFill>
            <a:srgbClr val="006f6b"/>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1" lang="zh-CN" sz="1800" spc="-1" strike="noStrike">
                <a:solidFill>
                  <a:srgbClr val="ffffff"/>
                </a:solidFill>
                <a:latin typeface="宋体"/>
                <a:ea typeface="宋体"/>
              </a:rPr>
              <a:t>跨域变压器识别</a:t>
            </a:r>
            <a:endParaRPr b="0" lang="en-US" sz="1800" spc="-1" strike="noStrike">
              <a:latin typeface="Arial"/>
            </a:endParaRPr>
          </a:p>
        </p:txBody>
      </p:sp>
      <p:sp>
        <p:nvSpPr>
          <p:cNvPr id="325" name="矩形: 圆角 33"/>
          <p:cNvSpPr/>
          <p:nvPr/>
        </p:nvSpPr>
        <p:spPr>
          <a:xfrm>
            <a:off x="8699040" y="2760840"/>
            <a:ext cx="2863440" cy="340560"/>
          </a:xfrm>
          <a:prstGeom prst="roundRect">
            <a:avLst>
              <a:gd name="adj" fmla="val 16667"/>
            </a:avLst>
          </a:prstGeom>
          <a:solidFill>
            <a:srgbClr val="006f6b"/>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1" lang="en-US" sz="1800" spc="-1" strike="noStrike">
                <a:solidFill>
                  <a:srgbClr val="ffffff"/>
                </a:solidFill>
                <a:latin typeface="宋体"/>
                <a:ea typeface="宋体"/>
              </a:rPr>
              <a:t>PCC</a:t>
            </a:r>
            <a:r>
              <a:rPr b="1" lang="zh-CN" sz="1800" spc="-1" strike="noStrike">
                <a:solidFill>
                  <a:srgbClr val="ffffff"/>
                </a:solidFill>
                <a:latin typeface="宋体"/>
                <a:ea typeface="宋体"/>
              </a:rPr>
              <a:t>映射</a:t>
            </a:r>
            <a:endParaRPr b="0" lang="en-US" sz="1800" spc="-1" strike="noStrike">
              <a:latin typeface="Arial"/>
            </a:endParaRPr>
          </a:p>
        </p:txBody>
      </p:sp>
      <p:sp>
        <p:nvSpPr>
          <p:cNvPr id="326" name="箭头: 下 64"/>
          <p:cNvSpPr/>
          <p:nvPr/>
        </p:nvSpPr>
        <p:spPr>
          <a:xfrm rot="16200000">
            <a:off x="7876080" y="4653360"/>
            <a:ext cx="340560" cy="370800"/>
          </a:xfrm>
          <a:prstGeom prst="downArrow">
            <a:avLst>
              <a:gd name="adj1" fmla="val 50000"/>
              <a:gd name="adj2" fmla="val 50000"/>
            </a:avLst>
          </a:prstGeom>
          <a:solidFill>
            <a:srgbClr val="006f6b"/>
          </a:solidFill>
          <a:ln w="0">
            <a:noFill/>
          </a:ln>
        </p:spPr>
        <p:style>
          <a:lnRef idx="0"/>
          <a:fillRef idx="0"/>
          <a:effectRef idx="0"/>
          <a:fontRef idx="minor"/>
        </p:style>
      </p:sp>
      <p:sp>
        <p:nvSpPr>
          <p:cNvPr id="327" name="文本框 30"/>
          <p:cNvSpPr/>
          <p:nvPr/>
        </p:nvSpPr>
        <p:spPr>
          <a:xfrm>
            <a:off x="257760" y="786240"/>
            <a:ext cx="9894960" cy="42948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nSpc>
                <a:spcPct val="100000"/>
              </a:lnSpc>
              <a:buNone/>
            </a:pPr>
            <a:r>
              <a:rPr b="1" lang="zh-CN" sz="2200" spc="-1" strike="noStrike">
                <a:solidFill>
                  <a:srgbClr val="ffffff"/>
                </a:solidFill>
                <a:latin typeface="微软雅黑"/>
                <a:ea typeface="微软雅黑"/>
              </a:rPr>
              <a:t>研究进展</a:t>
            </a:r>
            <a:r>
              <a:rPr b="1" lang="en-US" sz="2200" spc="-1" strike="noStrike">
                <a:solidFill>
                  <a:srgbClr val="ffffff"/>
                </a:solidFill>
                <a:latin typeface="微软雅黑"/>
                <a:ea typeface="微软雅黑"/>
              </a:rPr>
              <a:t>2.1.2</a:t>
            </a:r>
            <a:r>
              <a:rPr b="1" lang="zh-CN" sz="2200" spc="-1" strike="noStrike">
                <a:solidFill>
                  <a:srgbClr val="ffffff"/>
                </a:solidFill>
                <a:latin typeface="微软雅黑"/>
                <a:ea typeface="微软雅黑"/>
              </a:rPr>
              <a:t>：主配微边界与微网</a:t>
            </a:r>
            <a:r>
              <a:rPr b="1" lang="en-US" sz="2200" spc="-1" strike="noStrike">
                <a:solidFill>
                  <a:srgbClr val="ffffff"/>
                </a:solidFill>
                <a:latin typeface="微软雅黑"/>
                <a:ea typeface="微软雅黑"/>
              </a:rPr>
              <a:t>PCC</a:t>
            </a:r>
            <a:r>
              <a:rPr b="1" lang="zh-CN" sz="2200" spc="-1" strike="noStrike">
                <a:solidFill>
                  <a:srgbClr val="ffffff"/>
                </a:solidFill>
                <a:latin typeface="微软雅黑"/>
                <a:ea typeface="微软雅黑"/>
              </a:rPr>
              <a:t>自动辨识方法</a:t>
            </a:r>
            <a:endParaRPr b="0" lang="en-US" sz="2200" spc="-1" strike="noStrike">
              <a:latin typeface="Arial"/>
            </a:endParaRPr>
          </a:p>
        </p:txBody>
      </p:sp>
      <p:sp>
        <p:nvSpPr>
          <p:cNvPr id="328" name="矩形: 圆角 33"/>
          <p:cNvSpPr/>
          <p:nvPr/>
        </p:nvSpPr>
        <p:spPr>
          <a:xfrm>
            <a:off x="484560" y="2793960"/>
            <a:ext cx="2863440" cy="340560"/>
          </a:xfrm>
          <a:prstGeom prst="roundRect">
            <a:avLst>
              <a:gd name="adj" fmla="val 16667"/>
            </a:avLst>
          </a:prstGeom>
          <a:solidFill>
            <a:srgbClr val="006f6b"/>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1" lang="zh-CN" sz="1800" spc="-1" strike="noStrike">
                <a:solidFill>
                  <a:srgbClr val="ffffff"/>
                </a:solidFill>
                <a:latin typeface="宋体"/>
                <a:ea typeface="宋体"/>
              </a:rPr>
              <a:t>电压等级分层</a:t>
            </a:r>
            <a:endParaRPr b="0" lang="en-US" sz="1800" spc="-1" strike="noStrike">
              <a:latin typeface="Arial"/>
            </a:endParaRPr>
          </a:p>
        </p:txBody>
      </p:sp>
      <p:sp>
        <p:nvSpPr>
          <p:cNvPr id="329" name="箭头: 下 64"/>
          <p:cNvSpPr/>
          <p:nvPr/>
        </p:nvSpPr>
        <p:spPr>
          <a:xfrm rot="16200000">
            <a:off x="3821760" y="4653360"/>
            <a:ext cx="340560" cy="370800"/>
          </a:xfrm>
          <a:prstGeom prst="downArrow">
            <a:avLst>
              <a:gd name="adj1" fmla="val 50000"/>
              <a:gd name="adj2" fmla="val 50000"/>
            </a:avLst>
          </a:prstGeom>
          <a:solidFill>
            <a:srgbClr val="006f6b"/>
          </a:solidFill>
          <a:ln w="0">
            <a:noFill/>
          </a:ln>
        </p:spPr>
        <p:style>
          <a:lnRef idx="0"/>
          <a:fillRef idx="0"/>
          <a:effectRef idx="0"/>
          <a:fontRef idx="minor"/>
        </p:style>
      </p:sp>
      <p:pic>
        <p:nvPicPr>
          <p:cNvPr id="330" name="Picture 25" descr="p2_voltage_topology.png"/>
          <p:cNvPicPr/>
          <p:nvPr/>
        </p:nvPicPr>
        <p:blipFill>
          <a:blip r:embed="rId1"/>
          <a:stretch/>
        </p:blipFill>
        <p:spPr>
          <a:xfrm>
            <a:off x="764280" y="3356640"/>
            <a:ext cx="2077560" cy="2258280"/>
          </a:xfrm>
          <a:prstGeom prst="rect">
            <a:avLst/>
          </a:prstGeom>
          <a:ln w="0">
            <a:noFill/>
          </a:ln>
        </p:spPr>
      </p:pic>
      <p:sp>
        <p:nvSpPr>
          <p:cNvPr id="331" name="Oval 26"/>
          <p:cNvSpPr/>
          <p:nvPr/>
        </p:nvSpPr>
        <p:spPr>
          <a:xfrm>
            <a:off x="491040" y="5697720"/>
            <a:ext cx="127800" cy="127800"/>
          </a:xfrm>
          <a:prstGeom prst="ellipse">
            <a:avLst/>
          </a:prstGeom>
          <a:solidFill>
            <a:srgbClr val="78a9e2"/>
          </a:solidFill>
          <a:ln w="8890">
            <a:solidFill>
              <a:srgbClr val="0b55a6"/>
            </a:solidFill>
          </a:ln>
        </p:spPr>
        <p:style>
          <a:lnRef idx="1">
            <a:schemeClr val="accent1"/>
          </a:lnRef>
          <a:fillRef idx="3">
            <a:schemeClr val="accent1"/>
          </a:fillRef>
          <a:effectRef idx="2">
            <a:schemeClr val="accent1"/>
          </a:effectRef>
          <a:fontRef idx="minor"/>
        </p:style>
      </p:sp>
      <p:sp>
        <p:nvSpPr>
          <p:cNvPr id="332" name="TextBox 27"/>
          <p:cNvSpPr/>
          <p:nvPr/>
        </p:nvSpPr>
        <p:spPr>
          <a:xfrm>
            <a:off x="673920" y="5676120"/>
            <a:ext cx="2267280" cy="16992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1070" spc="-1" strike="noStrike">
                <a:solidFill>
                  <a:srgbClr val="181b1d"/>
                </a:solidFill>
                <a:latin typeface="微软雅黑"/>
              </a:rPr>
              <a:t>蓝色节点：高电压集合</a:t>
            </a:r>
            <a:endParaRPr b="0" lang="en-US" sz="1070" spc="-1" strike="noStrike">
              <a:latin typeface="Arial"/>
            </a:endParaRPr>
          </a:p>
        </p:txBody>
      </p:sp>
      <p:sp>
        <p:nvSpPr>
          <p:cNvPr id="333" name="Oval 28"/>
          <p:cNvSpPr/>
          <p:nvPr/>
        </p:nvSpPr>
        <p:spPr>
          <a:xfrm>
            <a:off x="491040" y="5935320"/>
            <a:ext cx="127800" cy="127800"/>
          </a:xfrm>
          <a:prstGeom prst="ellipse">
            <a:avLst/>
          </a:prstGeom>
          <a:solidFill>
            <a:srgbClr val="93c85b"/>
          </a:solidFill>
          <a:ln w="8890">
            <a:solidFill>
              <a:srgbClr val="3e8b2c"/>
            </a:solidFill>
          </a:ln>
        </p:spPr>
        <p:style>
          <a:lnRef idx="1">
            <a:schemeClr val="accent1"/>
          </a:lnRef>
          <a:fillRef idx="3">
            <a:schemeClr val="accent1"/>
          </a:fillRef>
          <a:effectRef idx="2">
            <a:schemeClr val="accent1"/>
          </a:effectRef>
          <a:fontRef idx="minor"/>
        </p:style>
      </p:sp>
      <p:sp>
        <p:nvSpPr>
          <p:cNvPr id="334" name="TextBox 29"/>
          <p:cNvSpPr/>
          <p:nvPr/>
        </p:nvSpPr>
        <p:spPr>
          <a:xfrm>
            <a:off x="673920" y="5914080"/>
            <a:ext cx="2267280" cy="16992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1070" spc="-1" strike="noStrike">
                <a:solidFill>
                  <a:srgbClr val="181b1d"/>
                </a:solidFill>
                <a:latin typeface="微软雅黑"/>
              </a:rPr>
              <a:t>绿色节点：低电压集合</a:t>
            </a:r>
            <a:endParaRPr b="0" lang="en-US" sz="1070" spc="-1" strike="noStrike">
              <a:latin typeface="Arial"/>
            </a:endParaRPr>
          </a:p>
        </p:txBody>
      </p:sp>
      <p:sp>
        <p:nvSpPr>
          <p:cNvPr id="335" name="Rounded Rectangle 30"/>
          <p:cNvSpPr/>
          <p:nvPr/>
        </p:nvSpPr>
        <p:spPr>
          <a:xfrm>
            <a:off x="417960" y="6228000"/>
            <a:ext cx="2779560" cy="456840"/>
          </a:xfrm>
          <a:prstGeom prst="roundRect">
            <a:avLst>
              <a:gd name="adj" fmla="val 16667"/>
            </a:avLst>
          </a:prstGeom>
          <a:solidFill>
            <a:srgbClr val="ffffff"/>
          </a:solidFill>
          <a:ln w="10160">
            <a:solidFill>
              <a:srgbClr val="0b55a6"/>
            </a:solidFill>
          </a:ln>
        </p:spPr>
        <p:style>
          <a:lnRef idx="1">
            <a:schemeClr val="accent1"/>
          </a:lnRef>
          <a:fillRef idx="3">
            <a:schemeClr val="accent1"/>
          </a:fillRef>
          <a:effectRef idx="2">
            <a:schemeClr val="accent1"/>
          </a:effectRef>
          <a:fontRef idx="minor"/>
        </p:style>
      </p:sp>
      <p:pic>
        <p:nvPicPr>
          <p:cNvPr id="336" name="Picture 31" descr="p2_voltage_formula.png"/>
          <p:cNvPicPr/>
          <p:nvPr/>
        </p:nvPicPr>
        <p:blipFill>
          <a:blip r:embed="rId2"/>
          <a:stretch/>
        </p:blipFill>
        <p:spPr>
          <a:xfrm>
            <a:off x="509400" y="6367680"/>
            <a:ext cx="2596680" cy="150120"/>
          </a:xfrm>
          <a:prstGeom prst="rect">
            <a:avLst/>
          </a:prstGeom>
          <a:ln w="0">
            <a:noFill/>
          </a:ln>
        </p:spPr>
      </p:pic>
      <p:pic>
        <p:nvPicPr>
          <p:cNvPr id="337" name="Picture 32" descr="p2_transformer_topology.png"/>
          <p:cNvPicPr/>
          <p:nvPr/>
        </p:nvPicPr>
        <p:blipFill>
          <a:blip r:embed="rId3"/>
          <a:stretch/>
        </p:blipFill>
        <p:spPr>
          <a:xfrm>
            <a:off x="4956480" y="3357360"/>
            <a:ext cx="1925280" cy="1517400"/>
          </a:xfrm>
          <a:prstGeom prst="rect">
            <a:avLst/>
          </a:prstGeom>
          <a:ln w="0">
            <a:noFill/>
          </a:ln>
        </p:spPr>
      </p:pic>
      <p:sp>
        <p:nvSpPr>
          <p:cNvPr id="338" name="Right Triangle 33"/>
          <p:cNvSpPr/>
          <p:nvPr/>
        </p:nvSpPr>
        <p:spPr>
          <a:xfrm>
            <a:off x="4730400" y="5003280"/>
            <a:ext cx="145800" cy="155160"/>
          </a:xfrm>
          <a:prstGeom prst="rtTriangle">
            <a:avLst/>
          </a:prstGeom>
          <a:solidFill>
            <a:srgbClr val="df2022"/>
          </a:solidFill>
          <a:ln>
            <a:noFill/>
          </a:ln>
        </p:spPr>
        <p:style>
          <a:lnRef idx="1">
            <a:schemeClr val="accent1"/>
          </a:lnRef>
          <a:fillRef idx="3">
            <a:schemeClr val="accent1"/>
          </a:fillRef>
          <a:effectRef idx="2">
            <a:schemeClr val="accent1"/>
          </a:effectRef>
          <a:fontRef idx="minor"/>
        </p:style>
      </p:sp>
      <p:sp>
        <p:nvSpPr>
          <p:cNvPr id="339" name="TextBox 34"/>
          <p:cNvSpPr/>
          <p:nvPr/>
        </p:nvSpPr>
        <p:spPr>
          <a:xfrm>
            <a:off x="4922640" y="4993920"/>
            <a:ext cx="2285640" cy="17352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1090" spc="-1" strike="noStrike">
                <a:solidFill>
                  <a:srgbClr val="df2022"/>
                </a:solidFill>
                <a:latin typeface="微软雅黑"/>
              </a:rPr>
              <a:t>高压侧母线属于主网集合</a:t>
            </a:r>
            <a:endParaRPr b="0" lang="en-US" sz="1090" spc="-1" strike="noStrike">
              <a:latin typeface="Arial"/>
            </a:endParaRPr>
          </a:p>
        </p:txBody>
      </p:sp>
      <p:sp>
        <p:nvSpPr>
          <p:cNvPr id="340" name="Right Triangle 35"/>
          <p:cNvSpPr/>
          <p:nvPr/>
        </p:nvSpPr>
        <p:spPr>
          <a:xfrm>
            <a:off x="4730400" y="5323320"/>
            <a:ext cx="145800" cy="155160"/>
          </a:xfrm>
          <a:prstGeom prst="rtTriangle">
            <a:avLst/>
          </a:prstGeom>
          <a:solidFill>
            <a:srgbClr val="df2022"/>
          </a:solidFill>
          <a:ln>
            <a:noFill/>
          </a:ln>
        </p:spPr>
        <p:style>
          <a:lnRef idx="1">
            <a:schemeClr val="accent1"/>
          </a:lnRef>
          <a:fillRef idx="3">
            <a:schemeClr val="accent1"/>
          </a:fillRef>
          <a:effectRef idx="2">
            <a:schemeClr val="accent1"/>
          </a:effectRef>
          <a:fontRef idx="minor"/>
        </p:style>
      </p:sp>
      <p:sp>
        <p:nvSpPr>
          <p:cNvPr id="341" name="TextBox 36"/>
          <p:cNvSpPr/>
          <p:nvPr/>
        </p:nvSpPr>
        <p:spPr>
          <a:xfrm>
            <a:off x="4922640" y="5313960"/>
            <a:ext cx="2285640" cy="17352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1090" spc="-1" strike="noStrike">
                <a:solidFill>
                  <a:srgbClr val="df2022"/>
                </a:solidFill>
                <a:latin typeface="微软雅黑"/>
              </a:rPr>
              <a:t>低压侧母线属于配网集合</a:t>
            </a:r>
            <a:endParaRPr b="0" lang="en-US" sz="1090" spc="-1" strike="noStrike">
              <a:latin typeface="Arial"/>
            </a:endParaRPr>
          </a:p>
        </p:txBody>
      </p:sp>
      <p:sp>
        <p:nvSpPr>
          <p:cNvPr id="342" name="Right Triangle 37"/>
          <p:cNvSpPr/>
          <p:nvPr/>
        </p:nvSpPr>
        <p:spPr>
          <a:xfrm>
            <a:off x="4730400" y="5643360"/>
            <a:ext cx="145800" cy="155160"/>
          </a:xfrm>
          <a:prstGeom prst="rtTriangle">
            <a:avLst/>
          </a:prstGeom>
          <a:solidFill>
            <a:srgbClr val="df2022"/>
          </a:solidFill>
          <a:ln>
            <a:noFill/>
          </a:ln>
        </p:spPr>
        <p:style>
          <a:lnRef idx="1">
            <a:schemeClr val="accent1"/>
          </a:lnRef>
          <a:fillRef idx="3">
            <a:schemeClr val="accent1"/>
          </a:fillRef>
          <a:effectRef idx="2">
            <a:schemeClr val="accent1"/>
          </a:effectRef>
          <a:fontRef idx="minor"/>
        </p:style>
      </p:sp>
      <p:sp>
        <p:nvSpPr>
          <p:cNvPr id="343" name="TextBox 38"/>
          <p:cNvSpPr/>
          <p:nvPr/>
        </p:nvSpPr>
        <p:spPr>
          <a:xfrm>
            <a:off x="4922640" y="5634000"/>
            <a:ext cx="2285640" cy="17352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1090" spc="-1" strike="noStrike">
                <a:solidFill>
                  <a:srgbClr val="df2022"/>
                </a:solidFill>
                <a:latin typeface="微软雅黑"/>
              </a:rPr>
              <a:t>跨集合连接确定主配边界设备</a:t>
            </a:r>
            <a:endParaRPr b="0" lang="en-US" sz="1090" spc="-1" strike="noStrike">
              <a:latin typeface="Arial"/>
            </a:endParaRPr>
          </a:p>
        </p:txBody>
      </p:sp>
      <p:sp>
        <p:nvSpPr>
          <p:cNvPr id="344" name="Rounded Rectangle 39"/>
          <p:cNvSpPr/>
          <p:nvPr/>
        </p:nvSpPr>
        <p:spPr>
          <a:xfrm>
            <a:off x="4620600" y="6137280"/>
            <a:ext cx="2605680" cy="456840"/>
          </a:xfrm>
          <a:prstGeom prst="roundRect">
            <a:avLst>
              <a:gd name="adj" fmla="val 16667"/>
            </a:avLst>
          </a:prstGeom>
          <a:solidFill>
            <a:srgbClr val="ffffff"/>
          </a:solidFill>
          <a:ln w="10160">
            <a:solidFill>
              <a:srgbClr val="0b55a6"/>
            </a:solidFill>
          </a:ln>
        </p:spPr>
        <p:style>
          <a:lnRef idx="1">
            <a:schemeClr val="accent1"/>
          </a:lnRef>
          <a:fillRef idx="3">
            <a:schemeClr val="accent1"/>
          </a:fillRef>
          <a:effectRef idx="2">
            <a:schemeClr val="accent1"/>
          </a:effectRef>
          <a:fontRef idx="minor"/>
        </p:style>
      </p:sp>
      <p:pic>
        <p:nvPicPr>
          <p:cNvPr id="345" name="Picture 40" descr="p2_boundary_formula.png"/>
          <p:cNvPicPr/>
          <p:nvPr/>
        </p:nvPicPr>
        <p:blipFill>
          <a:blip r:embed="rId4"/>
          <a:stretch/>
        </p:blipFill>
        <p:spPr>
          <a:xfrm>
            <a:off x="4739760" y="6269760"/>
            <a:ext cx="2368080" cy="164160"/>
          </a:xfrm>
          <a:prstGeom prst="rect">
            <a:avLst/>
          </a:prstGeom>
          <a:ln w="0">
            <a:noFill/>
          </a:ln>
        </p:spPr>
      </p:pic>
      <p:pic>
        <p:nvPicPr>
          <p:cNvPr id="346" name="Picture 41" descr="p2_pcc_topology.png"/>
          <p:cNvPicPr/>
          <p:nvPr/>
        </p:nvPicPr>
        <p:blipFill>
          <a:blip r:embed="rId5"/>
          <a:stretch/>
        </p:blipFill>
        <p:spPr>
          <a:xfrm>
            <a:off x="8575200" y="3302640"/>
            <a:ext cx="3050640" cy="2340360"/>
          </a:xfrm>
          <a:prstGeom prst="rect">
            <a:avLst/>
          </a:prstGeom>
          <a:ln w="0">
            <a:noFill/>
          </a:ln>
        </p:spPr>
      </p:pic>
      <p:sp>
        <p:nvSpPr>
          <p:cNvPr id="347" name="Rectangle 42"/>
          <p:cNvSpPr/>
          <p:nvPr/>
        </p:nvSpPr>
        <p:spPr>
          <a:xfrm>
            <a:off x="9396720" y="4070880"/>
            <a:ext cx="749520" cy="282960"/>
          </a:xfrm>
          <a:prstGeom prst="rect">
            <a:avLst/>
          </a:prstGeom>
          <a:solidFill>
            <a:srgbClr val="ffffff"/>
          </a:solidFill>
          <a:ln>
            <a:noFill/>
          </a:ln>
        </p:spPr>
        <p:style>
          <a:lnRef idx="1">
            <a:schemeClr val="accent1"/>
          </a:lnRef>
          <a:fillRef idx="3">
            <a:schemeClr val="accent1"/>
          </a:fillRef>
          <a:effectRef idx="2">
            <a:schemeClr val="accent1"/>
          </a:effectRef>
          <a:fontRef idx="minor"/>
        </p:style>
      </p:sp>
      <p:sp>
        <p:nvSpPr>
          <p:cNvPr id="348" name="Rectangle 43"/>
          <p:cNvSpPr/>
          <p:nvPr/>
        </p:nvSpPr>
        <p:spPr>
          <a:xfrm>
            <a:off x="9085680" y="4948560"/>
            <a:ext cx="968760" cy="301320"/>
          </a:xfrm>
          <a:prstGeom prst="rect">
            <a:avLst/>
          </a:prstGeom>
          <a:solidFill>
            <a:srgbClr val="ffffff"/>
          </a:solidFill>
          <a:ln>
            <a:noFill/>
          </a:ln>
        </p:spPr>
        <p:style>
          <a:lnRef idx="1">
            <a:schemeClr val="accent1"/>
          </a:lnRef>
          <a:fillRef idx="3">
            <a:schemeClr val="accent1"/>
          </a:fillRef>
          <a:effectRef idx="2">
            <a:schemeClr val="accent1"/>
          </a:effectRef>
          <a:fontRef idx="minor"/>
        </p:style>
      </p:sp>
      <p:pic>
        <p:nvPicPr>
          <p:cNvPr id="349" name="Picture 44" descr="p2_vpcc.png"/>
          <p:cNvPicPr/>
          <p:nvPr/>
        </p:nvPicPr>
        <p:blipFill>
          <a:blip r:embed="rId6"/>
          <a:stretch/>
        </p:blipFill>
        <p:spPr>
          <a:xfrm>
            <a:off x="9491040" y="4098240"/>
            <a:ext cx="542160" cy="228240"/>
          </a:xfrm>
          <a:prstGeom prst="rect">
            <a:avLst/>
          </a:prstGeom>
          <a:ln w="0">
            <a:noFill/>
          </a:ln>
        </p:spPr>
      </p:pic>
      <p:pic>
        <p:nvPicPr>
          <p:cNvPr id="350" name="Picture 45" descr="p2_pqmg.png"/>
          <p:cNvPicPr/>
          <p:nvPr/>
        </p:nvPicPr>
        <p:blipFill>
          <a:blip r:embed="rId7"/>
          <a:stretch/>
        </p:blipFill>
        <p:spPr>
          <a:xfrm>
            <a:off x="9085680" y="5009400"/>
            <a:ext cx="932400" cy="180000"/>
          </a:xfrm>
          <a:prstGeom prst="rect">
            <a:avLst/>
          </a:prstGeom>
          <a:ln w="0">
            <a:noFill/>
          </a:ln>
        </p:spPr>
      </p:pic>
      <p:sp>
        <p:nvSpPr>
          <p:cNvPr id="351" name="Rectangle 46"/>
          <p:cNvSpPr/>
          <p:nvPr/>
        </p:nvSpPr>
        <p:spPr>
          <a:xfrm>
            <a:off x="10064160" y="5012640"/>
            <a:ext cx="447840" cy="246600"/>
          </a:xfrm>
          <a:prstGeom prst="rect">
            <a:avLst/>
          </a:prstGeom>
          <a:solidFill>
            <a:srgbClr val="ffffff"/>
          </a:solidFill>
          <a:ln>
            <a:noFill/>
          </a:ln>
        </p:spPr>
        <p:style>
          <a:lnRef idx="1">
            <a:schemeClr val="accent1"/>
          </a:lnRef>
          <a:fillRef idx="3">
            <a:schemeClr val="accent1"/>
          </a:fillRef>
          <a:effectRef idx="2">
            <a:schemeClr val="accent1"/>
          </a:effectRef>
          <a:fontRef idx="minor"/>
        </p:style>
      </p:sp>
      <p:sp>
        <p:nvSpPr>
          <p:cNvPr id="352" name="TextBox 47"/>
          <p:cNvSpPr/>
          <p:nvPr/>
        </p:nvSpPr>
        <p:spPr>
          <a:xfrm>
            <a:off x="10073520" y="5048640"/>
            <a:ext cx="429480" cy="174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100" spc="-1" strike="noStrike">
                <a:solidFill>
                  <a:srgbClr val="df2022"/>
                </a:solidFill>
                <a:latin typeface="微软雅黑"/>
              </a:rPr>
              <a:t>PCC</a:t>
            </a:r>
            <a:endParaRPr b="0" lang="en-US" sz="1100" spc="-1" strike="noStrike">
              <a:latin typeface="Arial"/>
            </a:endParaRPr>
          </a:p>
        </p:txBody>
      </p:sp>
      <p:sp>
        <p:nvSpPr>
          <p:cNvPr id="353" name="TextBox 48"/>
          <p:cNvSpPr/>
          <p:nvPr/>
        </p:nvSpPr>
        <p:spPr>
          <a:xfrm>
            <a:off x="8454960" y="5740560"/>
            <a:ext cx="3264120" cy="208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310" spc="-1" strike="noStrike">
                <a:solidFill>
                  <a:srgbClr val="181b1d"/>
                </a:solidFill>
                <a:latin typeface="微软雅黑"/>
              </a:rPr>
              <a:t>识别输出</a:t>
            </a:r>
            <a:endParaRPr b="0" lang="en-US" sz="1310" spc="-1" strike="noStrike">
              <a:latin typeface="Arial"/>
            </a:endParaRPr>
          </a:p>
        </p:txBody>
      </p:sp>
      <p:sp>
        <p:nvSpPr>
          <p:cNvPr id="354" name="Rounded Rectangle 49"/>
          <p:cNvSpPr/>
          <p:nvPr/>
        </p:nvSpPr>
        <p:spPr>
          <a:xfrm>
            <a:off x="8345160" y="6018480"/>
            <a:ext cx="1682280" cy="603000"/>
          </a:xfrm>
          <a:prstGeom prst="roundRect">
            <a:avLst>
              <a:gd name="adj" fmla="val 16667"/>
            </a:avLst>
          </a:prstGeom>
          <a:solidFill>
            <a:srgbClr val="ffffff"/>
          </a:solidFill>
          <a:ln w="10160">
            <a:solidFill>
              <a:srgbClr val="0b55a6"/>
            </a:solidFill>
          </a:ln>
        </p:spPr>
        <p:style>
          <a:lnRef idx="1">
            <a:schemeClr val="accent1"/>
          </a:lnRef>
          <a:fillRef idx="3">
            <a:schemeClr val="accent1"/>
          </a:fillRef>
          <a:effectRef idx="2">
            <a:schemeClr val="accent1"/>
          </a:effectRef>
          <a:fontRef idx="minor"/>
        </p:style>
      </p:sp>
      <p:sp>
        <p:nvSpPr>
          <p:cNvPr id="355" name="Rectangle 50"/>
          <p:cNvSpPr/>
          <p:nvPr/>
        </p:nvSpPr>
        <p:spPr>
          <a:xfrm>
            <a:off x="8345160" y="6018480"/>
            <a:ext cx="1682280" cy="264960"/>
          </a:xfrm>
          <a:prstGeom prst="rect">
            <a:avLst/>
          </a:prstGeom>
          <a:solidFill>
            <a:srgbClr val="e8f1fc"/>
          </a:solidFill>
          <a:ln w="10160">
            <a:solidFill>
              <a:srgbClr val="0b55a6"/>
            </a:solidFill>
          </a:ln>
        </p:spPr>
        <p:style>
          <a:lnRef idx="1">
            <a:schemeClr val="accent1"/>
          </a:lnRef>
          <a:fillRef idx="3">
            <a:schemeClr val="accent1"/>
          </a:fillRef>
          <a:effectRef idx="2">
            <a:schemeClr val="accent1"/>
          </a:effectRef>
          <a:fontRef idx="minor"/>
        </p:style>
      </p:sp>
      <p:sp>
        <p:nvSpPr>
          <p:cNvPr id="356" name="TextBox 51"/>
          <p:cNvSpPr/>
          <p:nvPr/>
        </p:nvSpPr>
        <p:spPr>
          <a:xfrm>
            <a:off x="8381880" y="6063840"/>
            <a:ext cx="1608840" cy="174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00" spc="-1" strike="noStrike">
                <a:solidFill>
                  <a:srgbClr val="0b55a6"/>
                </a:solidFill>
                <a:latin typeface="微软雅黑"/>
              </a:rPr>
              <a:t>主配接口</a:t>
            </a:r>
            <a:endParaRPr b="0" lang="en-US" sz="1100" spc="-1" strike="noStrike">
              <a:latin typeface="Arial"/>
            </a:endParaRPr>
          </a:p>
        </p:txBody>
      </p:sp>
      <p:sp>
        <p:nvSpPr>
          <p:cNvPr id="357" name="TextBox 52"/>
          <p:cNvSpPr/>
          <p:nvPr/>
        </p:nvSpPr>
        <p:spPr>
          <a:xfrm>
            <a:off x="8409240" y="6288840"/>
            <a:ext cx="1554120" cy="300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950" spc="-1" strike="noStrike">
                <a:solidFill>
                  <a:srgbClr val="181b1d"/>
                </a:solidFill>
                <a:latin typeface="微软雅黑"/>
              </a:rPr>
              <a:t>主侧母线、边界变压器、配侧母线</a:t>
            </a:r>
            <a:endParaRPr b="0" lang="en-US" sz="950" spc="-1" strike="noStrike">
              <a:latin typeface="Arial"/>
            </a:endParaRPr>
          </a:p>
        </p:txBody>
      </p:sp>
      <p:sp>
        <p:nvSpPr>
          <p:cNvPr id="358" name="Rounded Rectangle 53"/>
          <p:cNvSpPr/>
          <p:nvPr/>
        </p:nvSpPr>
        <p:spPr>
          <a:xfrm>
            <a:off x="10182960" y="6018480"/>
            <a:ext cx="1682280" cy="603000"/>
          </a:xfrm>
          <a:prstGeom prst="roundRect">
            <a:avLst>
              <a:gd name="adj" fmla="val 16667"/>
            </a:avLst>
          </a:prstGeom>
          <a:solidFill>
            <a:srgbClr val="ffffff"/>
          </a:solidFill>
          <a:ln w="10160">
            <a:solidFill>
              <a:srgbClr val="3e8b2c"/>
            </a:solidFill>
          </a:ln>
        </p:spPr>
        <p:style>
          <a:lnRef idx="1">
            <a:schemeClr val="accent1"/>
          </a:lnRef>
          <a:fillRef idx="3">
            <a:schemeClr val="accent1"/>
          </a:fillRef>
          <a:effectRef idx="2">
            <a:schemeClr val="accent1"/>
          </a:effectRef>
          <a:fontRef idx="minor"/>
        </p:style>
      </p:sp>
      <p:sp>
        <p:nvSpPr>
          <p:cNvPr id="359" name="Rectangle 54"/>
          <p:cNvSpPr/>
          <p:nvPr/>
        </p:nvSpPr>
        <p:spPr>
          <a:xfrm>
            <a:off x="10182960" y="6018480"/>
            <a:ext cx="1682280" cy="264960"/>
          </a:xfrm>
          <a:prstGeom prst="rect">
            <a:avLst/>
          </a:prstGeom>
          <a:solidFill>
            <a:srgbClr val="ecf7e8"/>
          </a:solidFill>
          <a:ln w="10160">
            <a:solidFill>
              <a:srgbClr val="3e8b2c"/>
            </a:solidFill>
          </a:ln>
        </p:spPr>
        <p:style>
          <a:lnRef idx="1">
            <a:schemeClr val="accent1"/>
          </a:lnRef>
          <a:fillRef idx="3">
            <a:schemeClr val="accent1"/>
          </a:fillRef>
          <a:effectRef idx="2">
            <a:schemeClr val="accent1"/>
          </a:effectRef>
          <a:fontRef idx="minor"/>
        </p:style>
      </p:sp>
      <p:sp>
        <p:nvSpPr>
          <p:cNvPr id="360" name="TextBox 55"/>
          <p:cNvSpPr/>
          <p:nvPr/>
        </p:nvSpPr>
        <p:spPr>
          <a:xfrm>
            <a:off x="10219680" y="6063840"/>
            <a:ext cx="1608840" cy="174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00" spc="-1" strike="noStrike">
                <a:solidFill>
                  <a:srgbClr val="3e8b2c"/>
                </a:solidFill>
                <a:latin typeface="微软雅黑"/>
              </a:rPr>
              <a:t>配微接口</a:t>
            </a:r>
            <a:endParaRPr b="0" lang="en-US" sz="1100" spc="-1" strike="noStrike">
              <a:latin typeface="Arial"/>
            </a:endParaRPr>
          </a:p>
        </p:txBody>
      </p:sp>
      <p:sp>
        <p:nvSpPr>
          <p:cNvPr id="361" name="TextBox 56"/>
          <p:cNvSpPr/>
          <p:nvPr/>
        </p:nvSpPr>
        <p:spPr>
          <a:xfrm>
            <a:off x="10247040" y="6288840"/>
            <a:ext cx="1554120" cy="300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950" spc="-1" strike="noStrike">
                <a:solidFill>
                  <a:srgbClr val="181b1d"/>
                </a:solidFill>
                <a:latin typeface="微软雅黑"/>
              </a:rPr>
              <a:t>配网分区、</a:t>
            </a:r>
            <a:r>
              <a:rPr b="0" lang="en-US" sz="950" spc="-1" strike="noStrike">
                <a:solidFill>
                  <a:srgbClr val="181b1d"/>
                </a:solidFill>
                <a:latin typeface="微软雅黑"/>
              </a:rPr>
              <a:t>PCC</a:t>
            </a:r>
            <a:r>
              <a:rPr b="0" lang="zh-CN" sz="950" spc="-1" strike="noStrike">
                <a:solidFill>
                  <a:srgbClr val="181b1d"/>
                </a:solidFill>
                <a:latin typeface="微软雅黑"/>
              </a:rPr>
              <a:t>母线、微网标识</a:t>
            </a:r>
            <a:endParaRPr b="0" lang="en-US" sz="950" spc="-1" strike="noStrike">
              <a:latin typeface="Arial"/>
            </a:endParaRPr>
          </a:p>
        </p:txBody>
      </p:sp>
    </p:spTree>
  </p:cSld>
  <mc:AlternateContent>
    <mc:Choice Requires="p14">
      <p:transition spd="slow" advTm="12000" p14:dur="2000"/>
    </mc:Choice>
    <mc:Fallback>
      <p:transition spd="slow" advTm="12000"/>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363"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364"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sp>
        <p:nvSpPr>
          <p:cNvPr id="365" name="文本框 30"/>
          <p:cNvSpPr/>
          <p:nvPr/>
        </p:nvSpPr>
        <p:spPr>
          <a:xfrm>
            <a:off x="257760" y="786240"/>
            <a:ext cx="9894960" cy="42948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nSpc>
                <a:spcPct val="100000"/>
              </a:lnSpc>
              <a:buNone/>
            </a:pPr>
            <a:r>
              <a:rPr b="1" lang="zh-CN" sz="2200" spc="-1" strike="noStrike">
                <a:solidFill>
                  <a:srgbClr val="ffffff"/>
                </a:solidFill>
                <a:latin typeface="微软雅黑"/>
                <a:ea typeface="微软雅黑"/>
              </a:rPr>
              <a:t>研究进展</a:t>
            </a:r>
            <a:r>
              <a:rPr b="1" lang="en-US" sz="2200" spc="-1" strike="noStrike">
                <a:solidFill>
                  <a:srgbClr val="ffffff"/>
                </a:solidFill>
                <a:latin typeface="微软雅黑"/>
                <a:ea typeface="微软雅黑"/>
              </a:rPr>
              <a:t>2.2.1</a:t>
            </a:r>
            <a:r>
              <a:rPr b="1" lang="zh-CN" sz="2200" spc="-1" strike="noStrike">
                <a:solidFill>
                  <a:srgbClr val="ffffff"/>
                </a:solidFill>
                <a:latin typeface="微软雅黑"/>
                <a:ea typeface="微软雅黑"/>
              </a:rPr>
              <a:t>：接口锚点约束的主网区域生长方法</a:t>
            </a:r>
            <a:endParaRPr b="0" lang="en-US" sz="2200" spc="-1" strike="noStrike">
              <a:latin typeface="Arial"/>
            </a:endParaRPr>
          </a:p>
        </p:txBody>
      </p:sp>
      <p:grpSp>
        <p:nvGrpSpPr>
          <p:cNvPr id="366" name="组合 7"/>
          <p:cNvGrpSpPr/>
          <p:nvPr/>
        </p:nvGrpSpPr>
        <p:grpSpPr>
          <a:xfrm>
            <a:off x="325800" y="1323720"/>
            <a:ext cx="11379600" cy="1461240"/>
            <a:chOff x="325800" y="1323720"/>
            <a:chExt cx="11379600" cy="1461240"/>
          </a:xfrm>
        </p:grpSpPr>
        <p:sp>
          <p:nvSpPr>
            <p:cNvPr id="367" name="任意多边形: 形状 128"/>
            <p:cNvSpPr/>
            <p:nvPr/>
          </p:nvSpPr>
          <p:spPr>
            <a:xfrm>
              <a:off x="325800" y="1422720"/>
              <a:ext cx="906120" cy="1049760"/>
            </a:xfrm>
            <a:custGeom>
              <a:avLst/>
              <a:gdLst/>
              <a:ahLst/>
              <a:rect l="l" t="t" r="r" b="b"/>
              <a:pathLst>
                <a:path w="906993" h="884766">
                  <a:moveTo>
                    <a:pt x="0" y="0"/>
                  </a:moveTo>
                  <a:lnTo>
                    <a:pt x="830106" y="0"/>
                  </a:lnTo>
                  <a:lnTo>
                    <a:pt x="830106" y="390642"/>
                  </a:lnTo>
                  <a:lnTo>
                    <a:pt x="906993" y="442382"/>
                  </a:lnTo>
                  <a:lnTo>
                    <a:pt x="830106" y="494122"/>
                  </a:lnTo>
                  <a:lnTo>
                    <a:pt x="830106" y="884766"/>
                  </a:lnTo>
                  <a:lnTo>
                    <a:pt x="0" y="884766"/>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368" name="文本框 129"/>
            <p:cNvSpPr/>
            <p:nvPr/>
          </p:nvSpPr>
          <p:spPr>
            <a:xfrm>
              <a:off x="383040" y="1592280"/>
              <a:ext cx="728280" cy="70380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技术创新</a:t>
              </a:r>
              <a:endParaRPr b="0" lang="en-US" sz="1979" spc="-1" strike="noStrike">
                <a:latin typeface="Arial"/>
              </a:endParaRPr>
            </a:p>
          </p:txBody>
        </p:sp>
        <p:sp>
          <p:nvSpPr>
            <p:cNvPr id="369" name="文本框 55"/>
            <p:cNvSpPr/>
            <p:nvPr/>
          </p:nvSpPr>
          <p:spPr>
            <a:xfrm>
              <a:off x="1232280" y="1323720"/>
              <a:ext cx="10473120" cy="1461240"/>
            </a:xfrm>
            <a:prstGeom prst="rect">
              <a:avLst/>
            </a:prstGeom>
            <a:noFill/>
            <a:ln w="9525">
              <a:noFill/>
            </a:ln>
          </p:spPr>
          <p:style>
            <a:lnRef idx="0"/>
            <a:fillRef idx="0"/>
            <a:effectRef idx="0"/>
            <a:fontRef idx="minor"/>
          </p:style>
          <p:txBody>
            <a:bodyPr lIns="90000" rIns="90000" tIns="45000" bIns="45000" anchor="t">
              <a:spAutoFit/>
            </a:bodyPr>
            <a:p>
              <a:pPr algn="just">
                <a:lnSpc>
                  <a:spcPct val="150000"/>
                </a:lnSpc>
                <a:buNone/>
                <a:tabLst>
                  <a:tab algn="l" pos="0"/>
                </a:tabLst>
              </a:pPr>
              <a:r>
                <a:rPr b="0" lang="zh-CN" sz="2000" spc="-1" strike="noStrike">
                  <a:solidFill>
                    <a:srgbClr val="000000"/>
                  </a:solidFill>
                  <a:latin typeface="微软雅黑"/>
                  <a:ea typeface="微软雅黑"/>
                </a:rPr>
                <a:t>以主配接口母线作为优先锚点，采用拓扑最远距离原则选择离散种子，并从多个种子同步开展区域生长。在保证子区连通和规模均衡的同时复制跨区邻接节点，为后续切口状态协调构造共享边界。</a:t>
              </a:r>
              <a:endParaRPr b="0" lang="en-US" sz="2000" spc="-1" strike="noStrike">
                <a:latin typeface="Arial"/>
              </a:endParaRPr>
            </a:p>
          </p:txBody>
        </p:sp>
      </p:grpSp>
      <p:sp>
        <p:nvSpPr>
          <p:cNvPr id="370" name="Rounded Rectangle 13"/>
          <p:cNvSpPr/>
          <p:nvPr/>
        </p:nvSpPr>
        <p:spPr>
          <a:xfrm>
            <a:off x="554400" y="2962080"/>
            <a:ext cx="1901520" cy="3565800"/>
          </a:xfrm>
          <a:prstGeom prst="roundRect">
            <a:avLst>
              <a:gd name="adj" fmla="val 16667"/>
            </a:avLst>
          </a:prstGeom>
          <a:solidFill>
            <a:srgbClr val="fcfdfe"/>
          </a:solidFill>
          <a:ln w="10160">
            <a:solidFill>
              <a:srgbClr val="b9c1c5"/>
            </a:solidFill>
          </a:ln>
        </p:spPr>
        <p:style>
          <a:lnRef idx="1">
            <a:schemeClr val="accent1"/>
          </a:lnRef>
          <a:fillRef idx="3">
            <a:schemeClr val="accent1"/>
          </a:fillRef>
          <a:effectRef idx="2">
            <a:schemeClr val="accent1"/>
          </a:effectRef>
          <a:fontRef idx="minor"/>
        </p:style>
      </p:sp>
      <p:sp>
        <p:nvSpPr>
          <p:cNvPr id="371" name="TextBox 14"/>
          <p:cNvSpPr/>
          <p:nvPr/>
        </p:nvSpPr>
        <p:spPr>
          <a:xfrm>
            <a:off x="645840" y="3059280"/>
            <a:ext cx="1718640" cy="235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480" spc="-1" strike="noStrike">
                <a:solidFill>
                  <a:srgbClr val="181b1d"/>
                </a:solidFill>
                <a:latin typeface="微软雅黑"/>
              </a:rPr>
              <a:t>原始网络</a:t>
            </a:r>
            <a:endParaRPr b="0" lang="en-US" sz="1480" spc="-1" strike="noStrike">
              <a:latin typeface="Arial"/>
            </a:endParaRPr>
          </a:p>
        </p:txBody>
      </p:sp>
      <p:sp>
        <p:nvSpPr>
          <p:cNvPr id="372" name="TextBox 15"/>
          <p:cNvSpPr/>
          <p:nvPr/>
        </p:nvSpPr>
        <p:spPr>
          <a:xfrm>
            <a:off x="645840" y="6211080"/>
            <a:ext cx="1718640" cy="168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060" spc="-1" strike="noStrike">
                <a:solidFill>
                  <a:srgbClr val="e32227"/>
                </a:solidFill>
                <a:latin typeface="微软雅黑"/>
              </a:rPr>
              <a:t>识别主配接口锚点</a:t>
            </a:r>
            <a:endParaRPr b="0" lang="en-US" sz="1060" spc="-1" strike="noStrike">
              <a:latin typeface="Arial"/>
            </a:endParaRPr>
          </a:p>
        </p:txBody>
      </p:sp>
      <p:sp>
        <p:nvSpPr>
          <p:cNvPr id="373" name="Right Arrow 16"/>
          <p:cNvSpPr/>
          <p:nvPr/>
        </p:nvSpPr>
        <p:spPr>
          <a:xfrm>
            <a:off x="2493000" y="4553280"/>
            <a:ext cx="173520" cy="246600"/>
          </a:xfrm>
          <a:prstGeom prst="rightArrow">
            <a:avLst>
              <a:gd name="adj1" fmla="val 50000"/>
              <a:gd name="adj2" fmla="val 50000"/>
            </a:avLst>
          </a:prstGeom>
          <a:solidFill>
            <a:srgbClr val="a4a9ac"/>
          </a:solidFill>
          <a:ln>
            <a:noFill/>
          </a:ln>
        </p:spPr>
        <p:style>
          <a:lnRef idx="1">
            <a:schemeClr val="accent1"/>
          </a:lnRef>
          <a:fillRef idx="3">
            <a:schemeClr val="accent1"/>
          </a:fillRef>
          <a:effectRef idx="2">
            <a:schemeClr val="accent1"/>
          </a:effectRef>
          <a:fontRef idx="minor"/>
        </p:style>
      </p:sp>
      <p:sp>
        <p:nvSpPr>
          <p:cNvPr id="374" name="Rounded Rectangle 17"/>
          <p:cNvSpPr/>
          <p:nvPr/>
        </p:nvSpPr>
        <p:spPr>
          <a:xfrm>
            <a:off x="2666880" y="2962080"/>
            <a:ext cx="1901520" cy="3565800"/>
          </a:xfrm>
          <a:prstGeom prst="roundRect">
            <a:avLst>
              <a:gd name="adj" fmla="val 16667"/>
            </a:avLst>
          </a:prstGeom>
          <a:solidFill>
            <a:srgbClr val="fcfdfe"/>
          </a:solidFill>
          <a:ln w="10160">
            <a:solidFill>
              <a:srgbClr val="b9c1c5"/>
            </a:solidFill>
          </a:ln>
        </p:spPr>
        <p:style>
          <a:lnRef idx="1">
            <a:schemeClr val="accent1"/>
          </a:lnRef>
          <a:fillRef idx="3">
            <a:schemeClr val="accent1"/>
          </a:fillRef>
          <a:effectRef idx="2">
            <a:schemeClr val="accent1"/>
          </a:effectRef>
          <a:fontRef idx="minor"/>
        </p:style>
      </p:sp>
      <p:sp>
        <p:nvSpPr>
          <p:cNvPr id="375" name="TextBox 18"/>
          <p:cNvSpPr/>
          <p:nvPr/>
        </p:nvSpPr>
        <p:spPr>
          <a:xfrm>
            <a:off x="2758320" y="3059280"/>
            <a:ext cx="1718640" cy="235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480" spc="-1" strike="noStrike">
                <a:solidFill>
                  <a:srgbClr val="181b1d"/>
                </a:solidFill>
                <a:latin typeface="微软雅黑"/>
              </a:rPr>
              <a:t>种子选择</a:t>
            </a:r>
            <a:endParaRPr b="0" lang="en-US" sz="1480" spc="-1" strike="noStrike">
              <a:latin typeface="Arial"/>
            </a:endParaRPr>
          </a:p>
        </p:txBody>
      </p:sp>
      <p:sp>
        <p:nvSpPr>
          <p:cNvPr id="376" name="TextBox 19"/>
          <p:cNvSpPr/>
          <p:nvPr/>
        </p:nvSpPr>
        <p:spPr>
          <a:xfrm>
            <a:off x="2758320" y="6211080"/>
            <a:ext cx="1718640" cy="168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060" spc="-1" strike="noStrike">
                <a:solidFill>
                  <a:srgbClr val="0b5bb5"/>
                </a:solidFill>
                <a:latin typeface="微软雅黑"/>
              </a:rPr>
              <a:t>接口优先 </a:t>
            </a:r>
            <a:r>
              <a:rPr b="1" lang="en-US" sz="1060" spc="-1" strike="noStrike">
                <a:solidFill>
                  <a:srgbClr val="0b5bb5"/>
                </a:solidFill>
                <a:latin typeface="微软雅黑"/>
              </a:rPr>
              <a:t>+ </a:t>
            </a:r>
            <a:r>
              <a:rPr b="1" lang="zh-CN" sz="1060" spc="-1" strike="noStrike">
                <a:solidFill>
                  <a:srgbClr val="0b5bb5"/>
                </a:solidFill>
                <a:latin typeface="微软雅黑"/>
              </a:rPr>
              <a:t>最远距离选种</a:t>
            </a:r>
            <a:endParaRPr b="0" lang="en-US" sz="1060" spc="-1" strike="noStrike">
              <a:latin typeface="Arial"/>
            </a:endParaRPr>
          </a:p>
        </p:txBody>
      </p:sp>
      <p:sp>
        <p:nvSpPr>
          <p:cNvPr id="377" name="Right Arrow 20"/>
          <p:cNvSpPr/>
          <p:nvPr/>
        </p:nvSpPr>
        <p:spPr>
          <a:xfrm>
            <a:off x="4605120" y="4553280"/>
            <a:ext cx="173520" cy="246600"/>
          </a:xfrm>
          <a:prstGeom prst="rightArrow">
            <a:avLst>
              <a:gd name="adj1" fmla="val 50000"/>
              <a:gd name="adj2" fmla="val 50000"/>
            </a:avLst>
          </a:prstGeom>
          <a:solidFill>
            <a:srgbClr val="a4a9ac"/>
          </a:solidFill>
          <a:ln>
            <a:noFill/>
          </a:ln>
        </p:spPr>
        <p:style>
          <a:lnRef idx="1">
            <a:schemeClr val="accent1"/>
          </a:lnRef>
          <a:fillRef idx="3">
            <a:schemeClr val="accent1"/>
          </a:fillRef>
          <a:effectRef idx="2">
            <a:schemeClr val="accent1"/>
          </a:effectRef>
          <a:fontRef idx="minor"/>
        </p:style>
      </p:sp>
      <p:sp>
        <p:nvSpPr>
          <p:cNvPr id="378" name="Rounded Rectangle 21"/>
          <p:cNvSpPr/>
          <p:nvPr/>
        </p:nvSpPr>
        <p:spPr>
          <a:xfrm>
            <a:off x="4779000" y="2962080"/>
            <a:ext cx="1901520" cy="3565800"/>
          </a:xfrm>
          <a:prstGeom prst="roundRect">
            <a:avLst>
              <a:gd name="adj" fmla="val 16667"/>
            </a:avLst>
          </a:prstGeom>
          <a:solidFill>
            <a:srgbClr val="fcfdfe"/>
          </a:solidFill>
          <a:ln w="10160">
            <a:solidFill>
              <a:srgbClr val="b9c1c5"/>
            </a:solidFill>
          </a:ln>
        </p:spPr>
        <p:style>
          <a:lnRef idx="1">
            <a:schemeClr val="accent1"/>
          </a:lnRef>
          <a:fillRef idx="3">
            <a:schemeClr val="accent1"/>
          </a:fillRef>
          <a:effectRef idx="2">
            <a:schemeClr val="accent1"/>
          </a:effectRef>
          <a:fontRef idx="minor"/>
        </p:style>
      </p:sp>
      <p:sp>
        <p:nvSpPr>
          <p:cNvPr id="379" name="TextBox 22"/>
          <p:cNvSpPr/>
          <p:nvPr/>
        </p:nvSpPr>
        <p:spPr>
          <a:xfrm>
            <a:off x="4870440" y="3059280"/>
            <a:ext cx="1718640" cy="235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480" spc="-1" strike="noStrike">
                <a:solidFill>
                  <a:srgbClr val="181b1d"/>
                </a:solidFill>
                <a:latin typeface="微软雅黑"/>
              </a:rPr>
              <a:t>区域生长</a:t>
            </a:r>
            <a:endParaRPr b="0" lang="en-US" sz="1480" spc="-1" strike="noStrike">
              <a:latin typeface="Arial"/>
            </a:endParaRPr>
          </a:p>
        </p:txBody>
      </p:sp>
      <p:sp>
        <p:nvSpPr>
          <p:cNvPr id="380" name="TextBox 23"/>
          <p:cNvSpPr/>
          <p:nvPr/>
        </p:nvSpPr>
        <p:spPr>
          <a:xfrm>
            <a:off x="4870440" y="6211080"/>
            <a:ext cx="1718640" cy="168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060" spc="-1" strike="noStrike">
                <a:solidFill>
                  <a:srgbClr val="005d58"/>
                </a:solidFill>
                <a:latin typeface="微软雅黑"/>
              </a:rPr>
              <a:t>多源同步扩展</a:t>
            </a:r>
            <a:endParaRPr b="0" lang="en-US" sz="1060" spc="-1" strike="noStrike">
              <a:latin typeface="Arial"/>
            </a:endParaRPr>
          </a:p>
        </p:txBody>
      </p:sp>
      <p:sp>
        <p:nvSpPr>
          <p:cNvPr id="381" name="Right Arrow 24"/>
          <p:cNvSpPr/>
          <p:nvPr/>
        </p:nvSpPr>
        <p:spPr>
          <a:xfrm>
            <a:off x="6717600" y="4553280"/>
            <a:ext cx="173520" cy="246600"/>
          </a:xfrm>
          <a:prstGeom prst="rightArrow">
            <a:avLst>
              <a:gd name="adj1" fmla="val 50000"/>
              <a:gd name="adj2" fmla="val 50000"/>
            </a:avLst>
          </a:prstGeom>
          <a:solidFill>
            <a:srgbClr val="a4a9ac"/>
          </a:solidFill>
          <a:ln>
            <a:noFill/>
          </a:ln>
        </p:spPr>
        <p:style>
          <a:lnRef idx="1">
            <a:schemeClr val="accent1"/>
          </a:lnRef>
          <a:fillRef idx="3">
            <a:schemeClr val="accent1"/>
          </a:fillRef>
          <a:effectRef idx="2">
            <a:schemeClr val="accent1"/>
          </a:effectRef>
          <a:fontRef idx="minor"/>
        </p:style>
      </p:sp>
      <p:sp>
        <p:nvSpPr>
          <p:cNvPr id="382" name="Rounded Rectangle 25"/>
          <p:cNvSpPr/>
          <p:nvPr/>
        </p:nvSpPr>
        <p:spPr>
          <a:xfrm>
            <a:off x="6891120" y="2962080"/>
            <a:ext cx="1901520" cy="3565800"/>
          </a:xfrm>
          <a:prstGeom prst="roundRect">
            <a:avLst>
              <a:gd name="adj" fmla="val 16667"/>
            </a:avLst>
          </a:prstGeom>
          <a:solidFill>
            <a:srgbClr val="fcfdfe"/>
          </a:solidFill>
          <a:ln w="10160">
            <a:solidFill>
              <a:srgbClr val="b9c1c5"/>
            </a:solidFill>
          </a:ln>
        </p:spPr>
        <p:style>
          <a:lnRef idx="1">
            <a:schemeClr val="accent1"/>
          </a:lnRef>
          <a:fillRef idx="3">
            <a:schemeClr val="accent1"/>
          </a:fillRef>
          <a:effectRef idx="2">
            <a:schemeClr val="accent1"/>
          </a:effectRef>
          <a:fontRef idx="minor"/>
        </p:style>
      </p:sp>
      <p:sp>
        <p:nvSpPr>
          <p:cNvPr id="383" name="TextBox 26"/>
          <p:cNvSpPr/>
          <p:nvPr/>
        </p:nvSpPr>
        <p:spPr>
          <a:xfrm>
            <a:off x="6982560" y="3059280"/>
            <a:ext cx="1718640" cy="235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480" spc="-1" strike="noStrike">
                <a:solidFill>
                  <a:srgbClr val="181b1d"/>
                </a:solidFill>
                <a:latin typeface="微软雅黑"/>
              </a:rPr>
              <a:t>边界复制</a:t>
            </a:r>
            <a:endParaRPr b="0" lang="en-US" sz="1480" spc="-1" strike="noStrike">
              <a:latin typeface="Arial"/>
            </a:endParaRPr>
          </a:p>
        </p:txBody>
      </p:sp>
      <p:sp>
        <p:nvSpPr>
          <p:cNvPr id="384" name="TextBox 27"/>
          <p:cNvSpPr/>
          <p:nvPr/>
        </p:nvSpPr>
        <p:spPr>
          <a:xfrm>
            <a:off x="6982560" y="6211080"/>
            <a:ext cx="1718640" cy="168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060" spc="-1" strike="noStrike">
                <a:solidFill>
                  <a:srgbClr val="0b5bb5"/>
                </a:solidFill>
                <a:latin typeface="微软雅黑"/>
              </a:rPr>
              <a:t>共享边界节点复制</a:t>
            </a:r>
            <a:endParaRPr b="0" lang="en-US" sz="1060" spc="-1" strike="noStrike">
              <a:latin typeface="Arial"/>
            </a:endParaRPr>
          </a:p>
        </p:txBody>
      </p:sp>
      <p:sp>
        <p:nvSpPr>
          <p:cNvPr id="385" name="Connector 28"/>
          <p:cNvSpPr/>
          <p:nvPr/>
        </p:nvSpPr>
        <p:spPr>
          <a:xfrm>
            <a:off x="1112040" y="3599280"/>
            <a:ext cx="914400" cy="36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86" name="Connector 29"/>
          <p:cNvSpPr/>
          <p:nvPr/>
        </p:nvSpPr>
        <p:spPr>
          <a:xfrm flipH="1">
            <a:off x="837720" y="3599280"/>
            <a:ext cx="274320" cy="4064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87" name="Connector 30"/>
          <p:cNvSpPr/>
          <p:nvPr/>
        </p:nvSpPr>
        <p:spPr>
          <a:xfrm>
            <a:off x="1112040" y="3599280"/>
            <a:ext cx="365760" cy="4064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88" name="Connector 31"/>
          <p:cNvSpPr/>
          <p:nvPr/>
        </p:nvSpPr>
        <p:spPr>
          <a:xfrm flipH="1">
            <a:off x="1477800" y="3599280"/>
            <a:ext cx="548640" cy="4064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89" name="Connector 32"/>
          <p:cNvSpPr/>
          <p:nvPr/>
        </p:nvSpPr>
        <p:spPr>
          <a:xfrm flipH="1">
            <a:off x="718920" y="4005720"/>
            <a:ext cx="118800" cy="4496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0" name="Connector 33"/>
          <p:cNvSpPr/>
          <p:nvPr/>
        </p:nvSpPr>
        <p:spPr>
          <a:xfrm>
            <a:off x="837720" y="4005720"/>
            <a:ext cx="558000" cy="4280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1" name="Connector 34"/>
          <p:cNvSpPr/>
          <p:nvPr/>
        </p:nvSpPr>
        <p:spPr>
          <a:xfrm flipH="1">
            <a:off x="1395720" y="4005720"/>
            <a:ext cx="82080" cy="4280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2" name="Connector 35"/>
          <p:cNvSpPr/>
          <p:nvPr/>
        </p:nvSpPr>
        <p:spPr>
          <a:xfrm flipH="1">
            <a:off x="1944360" y="4005720"/>
            <a:ext cx="274320" cy="3283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3" name="Connector 36"/>
          <p:cNvSpPr/>
          <p:nvPr/>
        </p:nvSpPr>
        <p:spPr>
          <a:xfrm>
            <a:off x="2218680" y="4005720"/>
            <a:ext cx="127800" cy="4496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4" name="Connector 37"/>
          <p:cNvSpPr/>
          <p:nvPr/>
        </p:nvSpPr>
        <p:spPr>
          <a:xfrm>
            <a:off x="1944360" y="4334040"/>
            <a:ext cx="402120" cy="1213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5" name="Connector 38"/>
          <p:cNvSpPr/>
          <p:nvPr/>
        </p:nvSpPr>
        <p:spPr>
          <a:xfrm flipV="1">
            <a:off x="718920" y="4433760"/>
            <a:ext cx="676800" cy="216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6" name="Connector 39"/>
          <p:cNvSpPr/>
          <p:nvPr/>
        </p:nvSpPr>
        <p:spPr>
          <a:xfrm>
            <a:off x="718920" y="4455360"/>
            <a:ext cx="164520" cy="44928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7" name="Connector 40"/>
          <p:cNvSpPr/>
          <p:nvPr/>
        </p:nvSpPr>
        <p:spPr>
          <a:xfrm flipV="1">
            <a:off x="1395720" y="4334040"/>
            <a:ext cx="548640" cy="99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8" name="Connector 41"/>
          <p:cNvSpPr/>
          <p:nvPr/>
        </p:nvSpPr>
        <p:spPr>
          <a:xfrm>
            <a:off x="1395720" y="4433760"/>
            <a:ext cx="237600" cy="3996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399" name="Connector 42"/>
          <p:cNvSpPr/>
          <p:nvPr/>
        </p:nvSpPr>
        <p:spPr>
          <a:xfrm>
            <a:off x="1395720" y="4433760"/>
            <a:ext cx="795240" cy="4993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00" name="Connector 43"/>
          <p:cNvSpPr/>
          <p:nvPr/>
        </p:nvSpPr>
        <p:spPr>
          <a:xfrm>
            <a:off x="883440" y="4904640"/>
            <a:ext cx="356760" cy="4064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01" name="Connector 44"/>
          <p:cNvSpPr/>
          <p:nvPr/>
        </p:nvSpPr>
        <p:spPr>
          <a:xfrm>
            <a:off x="1633320" y="4833360"/>
            <a:ext cx="557640" cy="99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02" name="Connector 45"/>
          <p:cNvSpPr/>
          <p:nvPr/>
        </p:nvSpPr>
        <p:spPr>
          <a:xfrm>
            <a:off x="1633320" y="4833360"/>
            <a:ext cx="301680" cy="477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03" name="Connector 46"/>
          <p:cNvSpPr/>
          <p:nvPr/>
        </p:nvSpPr>
        <p:spPr>
          <a:xfrm flipH="1">
            <a:off x="1935000" y="4933080"/>
            <a:ext cx="255960" cy="3780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04" name="Connector 47"/>
          <p:cNvSpPr/>
          <p:nvPr/>
        </p:nvSpPr>
        <p:spPr>
          <a:xfrm>
            <a:off x="1240200" y="5311080"/>
            <a:ext cx="694800" cy="36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05" name="Oval 48"/>
          <p:cNvSpPr/>
          <p:nvPr/>
        </p:nvSpPr>
        <p:spPr>
          <a:xfrm>
            <a:off x="1050480" y="353772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06" name="Oval 49"/>
          <p:cNvSpPr/>
          <p:nvPr/>
        </p:nvSpPr>
        <p:spPr>
          <a:xfrm>
            <a:off x="1964880" y="353772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07" name="Oval 50"/>
          <p:cNvSpPr/>
          <p:nvPr/>
        </p:nvSpPr>
        <p:spPr>
          <a:xfrm>
            <a:off x="776160" y="394416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08" name="Oval 51"/>
          <p:cNvSpPr/>
          <p:nvPr/>
        </p:nvSpPr>
        <p:spPr>
          <a:xfrm>
            <a:off x="1416240" y="394416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09" name="Oval 52"/>
          <p:cNvSpPr/>
          <p:nvPr/>
        </p:nvSpPr>
        <p:spPr>
          <a:xfrm>
            <a:off x="2157120" y="394416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10" name="Oval 53"/>
          <p:cNvSpPr/>
          <p:nvPr/>
        </p:nvSpPr>
        <p:spPr>
          <a:xfrm>
            <a:off x="657360" y="439380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11" name="Oval 54"/>
          <p:cNvSpPr/>
          <p:nvPr/>
        </p:nvSpPr>
        <p:spPr>
          <a:xfrm>
            <a:off x="1334160" y="4372200"/>
            <a:ext cx="123120" cy="123120"/>
          </a:xfrm>
          <a:prstGeom prst="ellipse">
            <a:avLst/>
          </a:prstGeom>
          <a:solidFill>
            <a:srgbClr val="e32227"/>
          </a:solidFill>
          <a:ln w="8255">
            <a:solidFill>
              <a:srgbClr val="e32227"/>
            </a:solidFill>
          </a:ln>
        </p:spPr>
        <p:style>
          <a:lnRef idx="1">
            <a:schemeClr val="accent1"/>
          </a:lnRef>
          <a:fillRef idx="3">
            <a:schemeClr val="accent1"/>
          </a:fillRef>
          <a:effectRef idx="2">
            <a:schemeClr val="accent1"/>
          </a:effectRef>
          <a:fontRef idx="minor"/>
        </p:style>
      </p:sp>
      <p:sp>
        <p:nvSpPr>
          <p:cNvPr id="412" name="Oval 55"/>
          <p:cNvSpPr/>
          <p:nvPr/>
        </p:nvSpPr>
        <p:spPr>
          <a:xfrm>
            <a:off x="1882800" y="427248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13" name="Oval 56"/>
          <p:cNvSpPr/>
          <p:nvPr/>
        </p:nvSpPr>
        <p:spPr>
          <a:xfrm>
            <a:off x="2284920" y="439380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14" name="Oval 57"/>
          <p:cNvSpPr/>
          <p:nvPr/>
        </p:nvSpPr>
        <p:spPr>
          <a:xfrm>
            <a:off x="821880" y="484308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15" name="Oval 58"/>
          <p:cNvSpPr/>
          <p:nvPr/>
        </p:nvSpPr>
        <p:spPr>
          <a:xfrm>
            <a:off x="1571760" y="477180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16" name="Oval 59"/>
          <p:cNvSpPr/>
          <p:nvPr/>
        </p:nvSpPr>
        <p:spPr>
          <a:xfrm>
            <a:off x="2129400" y="487152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17" name="Oval 60"/>
          <p:cNvSpPr/>
          <p:nvPr/>
        </p:nvSpPr>
        <p:spPr>
          <a:xfrm>
            <a:off x="1178640" y="524952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18" name="Oval 61"/>
          <p:cNvSpPr/>
          <p:nvPr/>
        </p:nvSpPr>
        <p:spPr>
          <a:xfrm>
            <a:off x="1873440" y="524952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19" name="Oval 62"/>
          <p:cNvSpPr/>
          <p:nvPr/>
        </p:nvSpPr>
        <p:spPr>
          <a:xfrm>
            <a:off x="1285920" y="4324320"/>
            <a:ext cx="219240" cy="219240"/>
          </a:xfrm>
          <a:prstGeom prst="ellipse">
            <a:avLst/>
          </a:prstGeom>
          <a:noFill/>
          <a:ln w="15240">
            <a:solidFill>
              <a:srgbClr val="e32227"/>
            </a:solidFill>
          </a:ln>
        </p:spPr>
        <p:style>
          <a:lnRef idx="1">
            <a:schemeClr val="accent1"/>
          </a:lnRef>
          <a:fillRef idx="3">
            <a:schemeClr val="accent1"/>
          </a:fillRef>
          <a:effectRef idx="2">
            <a:schemeClr val="accent1"/>
          </a:effectRef>
          <a:fontRef idx="minor"/>
        </p:style>
      </p:sp>
      <p:sp>
        <p:nvSpPr>
          <p:cNvPr id="420" name="Oval 63"/>
          <p:cNvSpPr/>
          <p:nvPr/>
        </p:nvSpPr>
        <p:spPr>
          <a:xfrm>
            <a:off x="774000" y="4794840"/>
            <a:ext cx="219240" cy="219240"/>
          </a:xfrm>
          <a:prstGeom prst="ellipse">
            <a:avLst/>
          </a:prstGeom>
          <a:noFill/>
          <a:ln w="15240">
            <a:solidFill>
              <a:srgbClr val="e32227"/>
            </a:solidFill>
          </a:ln>
        </p:spPr>
        <p:style>
          <a:lnRef idx="1">
            <a:schemeClr val="accent1"/>
          </a:lnRef>
          <a:fillRef idx="3">
            <a:schemeClr val="accent1"/>
          </a:fillRef>
          <a:effectRef idx="2">
            <a:schemeClr val="accent1"/>
          </a:effectRef>
          <a:fontRef idx="minor"/>
        </p:style>
      </p:sp>
      <p:sp>
        <p:nvSpPr>
          <p:cNvPr id="421" name="Oval 64"/>
          <p:cNvSpPr/>
          <p:nvPr/>
        </p:nvSpPr>
        <p:spPr>
          <a:xfrm>
            <a:off x="1130400" y="5201640"/>
            <a:ext cx="219240" cy="219240"/>
          </a:xfrm>
          <a:prstGeom prst="ellipse">
            <a:avLst/>
          </a:prstGeom>
          <a:noFill/>
          <a:ln w="15240">
            <a:solidFill>
              <a:srgbClr val="e32227"/>
            </a:solidFill>
          </a:ln>
        </p:spPr>
        <p:style>
          <a:lnRef idx="1">
            <a:schemeClr val="accent1"/>
          </a:lnRef>
          <a:fillRef idx="3">
            <a:schemeClr val="accent1"/>
          </a:fillRef>
          <a:effectRef idx="2">
            <a:schemeClr val="accent1"/>
          </a:effectRef>
          <a:fontRef idx="minor"/>
        </p:style>
      </p:sp>
      <p:sp>
        <p:nvSpPr>
          <p:cNvPr id="422" name="Oval 65"/>
          <p:cNvSpPr/>
          <p:nvPr/>
        </p:nvSpPr>
        <p:spPr>
          <a:xfrm>
            <a:off x="664200" y="5714640"/>
            <a:ext cx="145800" cy="145800"/>
          </a:xfrm>
          <a:prstGeom prst="ellipse">
            <a:avLst/>
          </a:prstGeom>
          <a:noFill/>
          <a:ln w="11430">
            <a:solidFill>
              <a:srgbClr val="e32227"/>
            </a:solidFill>
          </a:ln>
        </p:spPr>
        <p:style>
          <a:lnRef idx="1">
            <a:schemeClr val="accent1"/>
          </a:lnRef>
          <a:fillRef idx="3">
            <a:schemeClr val="accent1"/>
          </a:fillRef>
          <a:effectRef idx="2">
            <a:schemeClr val="accent1"/>
          </a:effectRef>
          <a:fontRef idx="minor"/>
        </p:style>
      </p:sp>
      <p:sp>
        <p:nvSpPr>
          <p:cNvPr id="423" name="Oval 66"/>
          <p:cNvSpPr/>
          <p:nvPr/>
        </p:nvSpPr>
        <p:spPr>
          <a:xfrm>
            <a:off x="700920" y="5751000"/>
            <a:ext cx="72720" cy="72720"/>
          </a:xfrm>
          <a:prstGeom prst="ellipse">
            <a:avLst/>
          </a:prstGeom>
          <a:solidFill>
            <a:srgbClr val="eceff1"/>
          </a:solidFill>
          <a:ln>
            <a:solidFill>
              <a:srgbClr val="707679"/>
            </a:solidFill>
          </a:ln>
        </p:spPr>
        <p:style>
          <a:lnRef idx="1">
            <a:schemeClr val="accent1"/>
          </a:lnRef>
          <a:fillRef idx="3">
            <a:schemeClr val="accent1"/>
          </a:fillRef>
          <a:effectRef idx="2">
            <a:schemeClr val="accent1"/>
          </a:effectRef>
          <a:fontRef idx="minor"/>
        </p:style>
      </p:sp>
      <p:sp>
        <p:nvSpPr>
          <p:cNvPr id="424" name="TextBox 67"/>
          <p:cNvSpPr/>
          <p:nvPr/>
        </p:nvSpPr>
        <p:spPr>
          <a:xfrm>
            <a:off x="856080" y="5718240"/>
            <a:ext cx="1444320" cy="13824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870" spc="-1" strike="noStrike">
                <a:solidFill>
                  <a:srgbClr val="e32227"/>
                </a:solidFill>
                <a:latin typeface="微软雅黑"/>
              </a:rPr>
              <a:t>红圈：主配接口节点</a:t>
            </a:r>
            <a:endParaRPr b="0" lang="en-US" sz="870" spc="-1" strike="noStrike">
              <a:latin typeface="Arial"/>
            </a:endParaRPr>
          </a:p>
        </p:txBody>
      </p:sp>
      <p:sp>
        <p:nvSpPr>
          <p:cNvPr id="425" name="Connector 68"/>
          <p:cNvSpPr/>
          <p:nvPr/>
        </p:nvSpPr>
        <p:spPr>
          <a:xfrm>
            <a:off x="3224520" y="3599280"/>
            <a:ext cx="914400" cy="36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26" name="Connector 69"/>
          <p:cNvSpPr/>
          <p:nvPr/>
        </p:nvSpPr>
        <p:spPr>
          <a:xfrm flipH="1">
            <a:off x="2950200" y="3599280"/>
            <a:ext cx="274320" cy="4064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27" name="Connector 70"/>
          <p:cNvSpPr/>
          <p:nvPr/>
        </p:nvSpPr>
        <p:spPr>
          <a:xfrm>
            <a:off x="3224520" y="3599280"/>
            <a:ext cx="365760" cy="4064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28" name="Connector 71"/>
          <p:cNvSpPr/>
          <p:nvPr/>
        </p:nvSpPr>
        <p:spPr>
          <a:xfrm flipH="1">
            <a:off x="3590280" y="3599280"/>
            <a:ext cx="548640" cy="4064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29" name="Connector 72"/>
          <p:cNvSpPr/>
          <p:nvPr/>
        </p:nvSpPr>
        <p:spPr>
          <a:xfrm flipH="1">
            <a:off x="2831040" y="4005720"/>
            <a:ext cx="119160" cy="4496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0" name="Connector 73"/>
          <p:cNvSpPr/>
          <p:nvPr/>
        </p:nvSpPr>
        <p:spPr>
          <a:xfrm>
            <a:off x="2950200" y="4005720"/>
            <a:ext cx="557640" cy="4280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1" name="Connector 74"/>
          <p:cNvSpPr/>
          <p:nvPr/>
        </p:nvSpPr>
        <p:spPr>
          <a:xfrm flipH="1">
            <a:off x="3507840" y="4005720"/>
            <a:ext cx="82440" cy="4280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2" name="Connector 75"/>
          <p:cNvSpPr/>
          <p:nvPr/>
        </p:nvSpPr>
        <p:spPr>
          <a:xfrm flipH="1">
            <a:off x="4056480" y="4005720"/>
            <a:ext cx="274320" cy="3283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3" name="Connector 76"/>
          <p:cNvSpPr/>
          <p:nvPr/>
        </p:nvSpPr>
        <p:spPr>
          <a:xfrm>
            <a:off x="4330800" y="4005720"/>
            <a:ext cx="128160" cy="4496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4" name="Connector 77"/>
          <p:cNvSpPr/>
          <p:nvPr/>
        </p:nvSpPr>
        <p:spPr>
          <a:xfrm>
            <a:off x="4056480" y="4334040"/>
            <a:ext cx="402480" cy="1213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5" name="Connector 78"/>
          <p:cNvSpPr/>
          <p:nvPr/>
        </p:nvSpPr>
        <p:spPr>
          <a:xfrm flipV="1">
            <a:off x="2831040" y="4433760"/>
            <a:ext cx="676800" cy="216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6" name="Connector 79"/>
          <p:cNvSpPr/>
          <p:nvPr/>
        </p:nvSpPr>
        <p:spPr>
          <a:xfrm>
            <a:off x="2831040" y="4455360"/>
            <a:ext cx="164880" cy="44928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7" name="Connector 80"/>
          <p:cNvSpPr/>
          <p:nvPr/>
        </p:nvSpPr>
        <p:spPr>
          <a:xfrm flipV="1">
            <a:off x="3507840" y="4334040"/>
            <a:ext cx="548640" cy="99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8" name="Connector 81"/>
          <p:cNvSpPr/>
          <p:nvPr/>
        </p:nvSpPr>
        <p:spPr>
          <a:xfrm>
            <a:off x="3507840" y="4433760"/>
            <a:ext cx="237600" cy="3996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39" name="Connector 82"/>
          <p:cNvSpPr/>
          <p:nvPr/>
        </p:nvSpPr>
        <p:spPr>
          <a:xfrm>
            <a:off x="3507840" y="4433760"/>
            <a:ext cx="795600" cy="4993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40" name="Connector 83"/>
          <p:cNvSpPr/>
          <p:nvPr/>
        </p:nvSpPr>
        <p:spPr>
          <a:xfrm>
            <a:off x="2995920" y="4904640"/>
            <a:ext cx="356400" cy="40644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41" name="Connector 84"/>
          <p:cNvSpPr/>
          <p:nvPr/>
        </p:nvSpPr>
        <p:spPr>
          <a:xfrm>
            <a:off x="3745440" y="4833360"/>
            <a:ext cx="558000" cy="99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42" name="Connector 85"/>
          <p:cNvSpPr/>
          <p:nvPr/>
        </p:nvSpPr>
        <p:spPr>
          <a:xfrm>
            <a:off x="3745440" y="4833360"/>
            <a:ext cx="302040" cy="477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43" name="Connector 86"/>
          <p:cNvSpPr/>
          <p:nvPr/>
        </p:nvSpPr>
        <p:spPr>
          <a:xfrm flipH="1">
            <a:off x="4047480" y="4933080"/>
            <a:ext cx="255960" cy="3780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44" name="Connector 87"/>
          <p:cNvSpPr/>
          <p:nvPr/>
        </p:nvSpPr>
        <p:spPr>
          <a:xfrm>
            <a:off x="3352320" y="5311080"/>
            <a:ext cx="695160" cy="36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45" name="Oval 88"/>
          <p:cNvSpPr/>
          <p:nvPr/>
        </p:nvSpPr>
        <p:spPr>
          <a:xfrm>
            <a:off x="3162960" y="353772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46" name="Oval 89"/>
          <p:cNvSpPr/>
          <p:nvPr/>
        </p:nvSpPr>
        <p:spPr>
          <a:xfrm>
            <a:off x="4077360" y="353772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47" name="Oval 90"/>
          <p:cNvSpPr/>
          <p:nvPr/>
        </p:nvSpPr>
        <p:spPr>
          <a:xfrm>
            <a:off x="2888640" y="394416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48" name="Oval 91"/>
          <p:cNvSpPr/>
          <p:nvPr/>
        </p:nvSpPr>
        <p:spPr>
          <a:xfrm>
            <a:off x="3528720" y="394416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49" name="Oval 92"/>
          <p:cNvSpPr/>
          <p:nvPr/>
        </p:nvSpPr>
        <p:spPr>
          <a:xfrm>
            <a:off x="4269240" y="3944160"/>
            <a:ext cx="123120" cy="123120"/>
          </a:xfrm>
          <a:prstGeom prst="ellipse">
            <a:avLst/>
          </a:prstGeom>
          <a:solidFill>
            <a:srgbClr val="219455"/>
          </a:solidFill>
          <a:ln w="8255">
            <a:solidFill>
              <a:srgbClr val="219455"/>
            </a:solidFill>
          </a:ln>
        </p:spPr>
        <p:style>
          <a:lnRef idx="1">
            <a:schemeClr val="accent1"/>
          </a:lnRef>
          <a:fillRef idx="3">
            <a:schemeClr val="accent1"/>
          </a:fillRef>
          <a:effectRef idx="2">
            <a:schemeClr val="accent1"/>
          </a:effectRef>
          <a:fontRef idx="minor"/>
        </p:style>
      </p:sp>
      <p:sp>
        <p:nvSpPr>
          <p:cNvPr id="450" name="Oval 93"/>
          <p:cNvSpPr/>
          <p:nvPr/>
        </p:nvSpPr>
        <p:spPr>
          <a:xfrm>
            <a:off x="2769480" y="439380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51" name="Oval 94"/>
          <p:cNvSpPr/>
          <p:nvPr/>
        </p:nvSpPr>
        <p:spPr>
          <a:xfrm>
            <a:off x="3446280" y="4372200"/>
            <a:ext cx="123120" cy="123120"/>
          </a:xfrm>
          <a:prstGeom prst="ellipse">
            <a:avLst/>
          </a:prstGeom>
          <a:solidFill>
            <a:srgbClr val="0b5bb5"/>
          </a:solidFill>
          <a:ln w="8255">
            <a:solidFill>
              <a:srgbClr val="0b5bb5"/>
            </a:solidFill>
          </a:ln>
        </p:spPr>
        <p:style>
          <a:lnRef idx="1">
            <a:schemeClr val="accent1"/>
          </a:lnRef>
          <a:fillRef idx="3">
            <a:schemeClr val="accent1"/>
          </a:fillRef>
          <a:effectRef idx="2">
            <a:schemeClr val="accent1"/>
          </a:effectRef>
          <a:fontRef idx="minor"/>
        </p:style>
      </p:sp>
      <p:sp>
        <p:nvSpPr>
          <p:cNvPr id="452" name="Oval 95"/>
          <p:cNvSpPr/>
          <p:nvPr/>
        </p:nvSpPr>
        <p:spPr>
          <a:xfrm>
            <a:off x="3994920" y="427248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53" name="Oval 96"/>
          <p:cNvSpPr/>
          <p:nvPr/>
        </p:nvSpPr>
        <p:spPr>
          <a:xfrm>
            <a:off x="4397400" y="439380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54" name="Oval 97"/>
          <p:cNvSpPr/>
          <p:nvPr/>
        </p:nvSpPr>
        <p:spPr>
          <a:xfrm>
            <a:off x="2934360" y="484308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55" name="Oval 98"/>
          <p:cNvSpPr/>
          <p:nvPr/>
        </p:nvSpPr>
        <p:spPr>
          <a:xfrm>
            <a:off x="3683880" y="477180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56" name="Oval 99"/>
          <p:cNvSpPr/>
          <p:nvPr/>
        </p:nvSpPr>
        <p:spPr>
          <a:xfrm>
            <a:off x="4241880" y="487152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57" name="Oval 100"/>
          <p:cNvSpPr/>
          <p:nvPr/>
        </p:nvSpPr>
        <p:spPr>
          <a:xfrm>
            <a:off x="3290760" y="5249520"/>
            <a:ext cx="123120" cy="123120"/>
          </a:xfrm>
          <a:prstGeom prst="ellipse">
            <a:avLst/>
          </a:prstGeom>
          <a:solidFill>
            <a:srgbClr val="f07a19"/>
          </a:solidFill>
          <a:ln w="8255">
            <a:solidFill>
              <a:srgbClr val="f07a19"/>
            </a:solidFill>
          </a:ln>
        </p:spPr>
        <p:style>
          <a:lnRef idx="1">
            <a:schemeClr val="accent1"/>
          </a:lnRef>
          <a:fillRef idx="3">
            <a:schemeClr val="accent1"/>
          </a:fillRef>
          <a:effectRef idx="2">
            <a:schemeClr val="accent1"/>
          </a:effectRef>
          <a:fontRef idx="minor"/>
        </p:style>
      </p:sp>
      <p:sp>
        <p:nvSpPr>
          <p:cNvPr id="458" name="Oval 101"/>
          <p:cNvSpPr/>
          <p:nvPr/>
        </p:nvSpPr>
        <p:spPr>
          <a:xfrm>
            <a:off x="3985920" y="5249520"/>
            <a:ext cx="123120" cy="123120"/>
          </a:xfrm>
          <a:prstGeom prst="ellipse">
            <a:avLst/>
          </a:prstGeom>
          <a:solidFill>
            <a:srgbClr val="eceff1"/>
          </a:solidFill>
          <a:ln w="8255">
            <a:solidFill>
              <a:srgbClr val="707679"/>
            </a:solidFill>
          </a:ln>
        </p:spPr>
        <p:style>
          <a:lnRef idx="1">
            <a:schemeClr val="accent1"/>
          </a:lnRef>
          <a:fillRef idx="3">
            <a:schemeClr val="accent1"/>
          </a:fillRef>
          <a:effectRef idx="2">
            <a:schemeClr val="accent1"/>
          </a:effectRef>
          <a:fontRef idx="minor"/>
        </p:style>
      </p:sp>
      <p:sp>
        <p:nvSpPr>
          <p:cNvPr id="459" name="Oval 102"/>
          <p:cNvSpPr/>
          <p:nvPr/>
        </p:nvSpPr>
        <p:spPr>
          <a:xfrm>
            <a:off x="3398400" y="4324320"/>
            <a:ext cx="219240" cy="219240"/>
          </a:xfrm>
          <a:prstGeom prst="ellipse">
            <a:avLst/>
          </a:prstGeom>
          <a:noFill/>
          <a:ln w="15240">
            <a:solidFill>
              <a:srgbClr val="0b5bb5"/>
            </a:solidFill>
          </a:ln>
        </p:spPr>
        <p:style>
          <a:lnRef idx="1">
            <a:schemeClr val="accent1"/>
          </a:lnRef>
          <a:fillRef idx="3">
            <a:schemeClr val="accent1"/>
          </a:fillRef>
          <a:effectRef idx="2">
            <a:schemeClr val="accent1"/>
          </a:effectRef>
          <a:fontRef idx="minor"/>
        </p:style>
      </p:sp>
      <p:sp>
        <p:nvSpPr>
          <p:cNvPr id="460" name="Oval 103"/>
          <p:cNvSpPr/>
          <p:nvPr/>
        </p:nvSpPr>
        <p:spPr>
          <a:xfrm>
            <a:off x="4221360" y="3896280"/>
            <a:ext cx="219240" cy="219240"/>
          </a:xfrm>
          <a:prstGeom prst="ellipse">
            <a:avLst/>
          </a:prstGeom>
          <a:noFill/>
          <a:ln w="15240">
            <a:solidFill>
              <a:srgbClr val="219455"/>
            </a:solidFill>
          </a:ln>
        </p:spPr>
        <p:style>
          <a:lnRef idx="1">
            <a:schemeClr val="accent1"/>
          </a:lnRef>
          <a:fillRef idx="3">
            <a:schemeClr val="accent1"/>
          </a:fillRef>
          <a:effectRef idx="2">
            <a:schemeClr val="accent1"/>
          </a:effectRef>
          <a:fontRef idx="minor"/>
        </p:style>
      </p:sp>
      <p:sp>
        <p:nvSpPr>
          <p:cNvPr id="461" name="Oval 104"/>
          <p:cNvSpPr/>
          <p:nvPr/>
        </p:nvSpPr>
        <p:spPr>
          <a:xfrm>
            <a:off x="3242880" y="5201640"/>
            <a:ext cx="219240" cy="219240"/>
          </a:xfrm>
          <a:prstGeom prst="ellipse">
            <a:avLst/>
          </a:prstGeom>
          <a:noFill/>
          <a:ln w="15240">
            <a:solidFill>
              <a:srgbClr val="f07a19"/>
            </a:solidFill>
          </a:ln>
        </p:spPr>
        <p:style>
          <a:lnRef idx="1">
            <a:schemeClr val="accent1"/>
          </a:lnRef>
          <a:fillRef idx="3">
            <a:schemeClr val="accent1"/>
          </a:fillRef>
          <a:effectRef idx="2">
            <a:schemeClr val="accent1"/>
          </a:effectRef>
          <a:fontRef idx="minor"/>
        </p:style>
      </p:sp>
      <p:sp>
        <p:nvSpPr>
          <p:cNvPr id="462" name="Oval 105"/>
          <p:cNvSpPr/>
          <p:nvPr/>
        </p:nvSpPr>
        <p:spPr>
          <a:xfrm>
            <a:off x="2886120" y="4794840"/>
            <a:ext cx="219240" cy="219240"/>
          </a:xfrm>
          <a:prstGeom prst="ellipse">
            <a:avLst/>
          </a:prstGeom>
          <a:noFill/>
          <a:ln w="15240">
            <a:solidFill>
              <a:srgbClr val="e32227"/>
            </a:solidFill>
          </a:ln>
        </p:spPr>
        <p:style>
          <a:lnRef idx="1">
            <a:schemeClr val="accent1"/>
          </a:lnRef>
          <a:fillRef idx="3">
            <a:schemeClr val="accent1"/>
          </a:fillRef>
          <a:effectRef idx="2">
            <a:schemeClr val="accent1"/>
          </a:effectRef>
          <a:fontRef idx="minor"/>
        </p:style>
      </p:sp>
      <p:sp>
        <p:nvSpPr>
          <p:cNvPr id="463" name="Oval 106"/>
          <p:cNvSpPr/>
          <p:nvPr/>
        </p:nvSpPr>
        <p:spPr>
          <a:xfrm>
            <a:off x="2758320" y="5435640"/>
            <a:ext cx="127800" cy="127800"/>
          </a:xfrm>
          <a:prstGeom prst="ellipse">
            <a:avLst/>
          </a:prstGeom>
          <a:noFill/>
          <a:ln w="9525">
            <a:solidFill>
              <a:srgbClr val="e32227"/>
            </a:solidFill>
          </a:ln>
        </p:spPr>
        <p:style>
          <a:lnRef idx="1">
            <a:schemeClr val="accent1"/>
          </a:lnRef>
          <a:fillRef idx="3">
            <a:schemeClr val="accent1"/>
          </a:fillRef>
          <a:effectRef idx="2">
            <a:schemeClr val="accent1"/>
          </a:effectRef>
          <a:fontRef idx="minor"/>
        </p:style>
      </p:sp>
      <p:sp>
        <p:nvSpPr>
          <p:cNvPr id="464" name="Oval 107"/>
          <p:cNvSpPr/>
          <p:nvPr/>
        </p:nvSpPr>
        <p:spPr>
          <a:xfrm>
            <a:off x="2787840" y="5465160"/>
            <a:ext cx="68400" cy="68400"/>
          </a:xfrm>
          <a:prstGeom prst="ellipse">
            <a:avLst/>
          </a:prstGeom>
          <a:solidFill>
            <a:srgbClr val="eceff1"/>
          </a:solidFill>
          <a:ln w="5715">
            <a:solidFill>
              <a:srgbClr val="e32227"/>
            </a:solidFill>
          </a:ln>
        </p:spPr>
        <p:style>
          <a:lnRef idx="1">
            <a:schemeClr val="accent1"/>
          </a:lnRef>
          <a:fillRef idx="3">
            <a:schemeClr val="accent1"/>
          </a:fillRef>
          <a:effectRef idx="2">
            <a:schemeClr val="accent1"/>
          </a:effectRef>
          <a:fontRef idx="minor"/>
        </p:style>
      </p:sp>
      <p:sp>
        <p:nvSpPr>
          <p:cNvPr id="465" name="TextBox 108"/>
          <p:cNvSpPr/>
          <p:nvPr/>
        </p:nvSpPr>
        <p:spPr>
          <a:xfrm>
            <a:off x="2931840" y="5447160"/>
            <a:ext cx="1526760" cy="1227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770" spc="-1" strike="noStrike">
                <a:solidFill>
                  <a:srgbClr val="e32227"/>
                </a:solidFill>
                <a:latin typeface="微软雅黑"/>
              </a:rPr>
              <a:t>红圈：接口锚点候选</a:t>
            </a:r>
            <a:endParaRPr b="0" lang="en-US" sz="770" spc="-1" strike="noStrike">
              <a:latin typeface="Arial"/>
            </a:endParaRPr>
          </a:p>
        </p:txBody>
      </p:sp>
      <p:sp>
        <p:nvSpPr>
          <p:cNvPr id="466" name="Oval 109"/>
          <p:cNvSpPr/>
          <p:nvPr/>
        </p:nvSpPr>
        <p:spPr>
          <a:xfrm>
            <a:off x="2758320" y="5609160"/>
            <a:ext cx="127800" cy="127800"/>
          </a:xfrm>
          <a:prstGeom prst="ellipse">
            <a:avLst/>
          </a:prstGeom>
          <a:noFill/>
          <a:ln w="9525">
            <a:solidFill>
              <a:srgbClr val="0b5bb5"/>
            </a:solidFill>
          </a:ln>
        </p:spPr>
        <p:style>
          <a:lnRef idx="1">
            <a:schemeClr val="accent1"/>
          </a:lnRef>
          <a:fillRef idx="3">
            <a:schemeClr val="accent1"/>
          </a:fillRef>
          <a:effectRef idx="2">
            <a:schemeClr val="accent1"/>
          </a:effectRef>
          <a:fontRef idx="minor"/>
        </p:style>
      </p:sp>
      <p:sp>
        <p:nvSpPr>
          <p:cNvPr id="467" name="Oval 110"/>
          <p:cNvSpPr/>
          <p:nvPr/>
        </p:nvSpPr>
        <p:spPr>
          <a:xfrm>
            <a:off x="2787840" y="5639040"/>
            <a:ext cx="68400" cy="68400"/>
          </a:xfrm>
          <a:prstGeom prst="ellipse">
            <a:avLst/>
          </a:prstGeom>
          <a:solidFill>
            <a:srgbClr val="0b5bb5"/>
          </a:solidFill>
          <a:ln w="5715">
            <a:solidFill>
              <a:srgbClr val="0b5bb5"/>
            </a:solidFill>
          </a:ln>
        </p:spPr>
        <p:style>
          <a:lnRef idx="1">
            <a:schemeClr val="accent1"/>
          </a:lnRef>
          <a:fillRef idx="3">
            <a:schemeClr val="accent1"/>
          </a:fillRef>
          <a:effectRef idx="2">
            <a:schemeClr val="accent1"/>
          </a:effectRef>
          <a:fontRef idx="minor"/>
        </p:style>
      </p:sp>
      <p:sp>
        <p:nvSpPr>
          <p:cNvPr id="468" name="TextBox 111"/>
          <p:cNvSpPr/>
          <p:nvPr/>
        </p:nvSpPr>
        <p:spPr>
          <a:xfrm>
            <a:off x="2931840" y="5621040"/>
            <a:ext cx="1526760" cy="1227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770" spc="-1" strike="noStrike">
                <a:solidFill>
                  <a:srgbClr val="0b5bb5"/>
                </a:solidFill>
                <a:latin typeface="微软雅黑"/>
              </a:rPr>
              <a:t>蓝圈：首个种子，度数最大</a:t>
            </a:r>
            <a:endParaRPr b="0" lang="en-US" sz="770" spc="-1" strike="noStrike">
              <a:latin typeface="Arial"/>
            </a:endParaRPr>
          </a:p>
        </p:txBody>
      </p:sp>
      <p:sp>
        <p:nvSpPr>
          <p:cNvPr id="469" name="Oval 112"/>
          <p:cNvSpPr/>
          <p:nvPr/>
        </p:nvSpPr>
        <p:spPr>
          <a:xfrm>
            <a:off x="2758320" y="5783040"/>
            <a:ext cx="127800" cy="127800"/>
          </a:xfrm>
          <a:prstGeom prst="ellipse">
            <a:avLst/>
          </a:prstGeom>
          <a:noFill/>
          <a:ln w="9525">
            <a:solidFill>
              <a:srgbClr val="219455"/>
            </a:solidFill>
          </a:ln>
        </p:spPr>
        <p:style>
          <a:lnRef idx="1">
            <a:schemeClr val="accent1"/>
          </a:lnRef>
          <a:fillRef idx="3">
            <a:schemeClr val="accent1"/>
          </a:fillRef>
          <a:effectRef idx="2">
            <a:schemeClr val="accent1"/>
          </a:effectRef>
          <a:fontRef idx="minor"/>
        </p:style>
      </p:sp>
      <p:sp>
        <p:nvSpPr>
          <p:cNvPr id="470" name="Oval 113"/>
          <p:cNvSpPr/>
          <p:nvPr/>
        </p:nvSpPr>
        <p:spPr>
          <a:xfrm>
            <a:off x="2787840" y="5812920"/>
            <a:ext cx="68400" cy="68400"/>
          </a:xfrm>
          <a:prstGeom prst="ellipse">
            <a:avLst/>
          </a:prstGeom>
          <a:solidFill>
            <a:srgbClr val="219455"/>
          </a:solidFill>
          <a:ln w="5715">
            <a:solidFill>
              <a:srgbClr val="219455"/>
            </a:solidFill>
          </a:ln>
        </p:spPr>
        <p:style>
          <a:lnRef idx="1">
            <a:schemeClr val="accent1"/>
          </a:lnRef>
          <a:fillRef idx="3">
            <a:schemeClr val="accent1"/>
          </a:fillRef>
          <a:effectRef idx="2">
            <a:schemeClr val="accent1"/>
          </a:effectRef>
          <a:fontRef idx="minor"/>
        </p:style>
      </p:sp>
      <p:sp>
        <p:nvSpPr>
          <p:cNvPr id="471" name="TextBox 114"/>
          <p:cNvSpPr/>
          <p:nvPr/>
        </p:nvSpPr>
        <p:spPr>
          <a:xfrm>
            <a:off x="2931840" y="5794560"/>
            <a:ext cx="1526760" cy="1227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770" spc="-1" strike="noStrike">
                <a:solidFill>
                  <a:srgbClr val="219455"/>
                </a:solidFill>
                <a:latin typeface="微软雅黑"/>
              </a:rPr>
              <a:t>绿圈：后续种子，拓扑最远</a:t>
            </a:r>
            <a:endParaRPr b="0" lang="en-US" sz="770" spc="-1" strike="noStrike">
              <a:latin typeface="Arial"/>
            </a:endParaRPr>
          </a:p>
        </p:txBody>
      </p:sp>
      <p:sp>
        <p:nvSpPr>
          <p:cNvPr id="472" name="Oval 115"/>
          <p:cNvSpPr/>
          <p:nvPr/>
        </p:nvSpPr>
        <p:spPr>
          <a:xfrm>
            <a:off x="2758320" y="5956920"/>
            <a:ext cx="127800" cy="127800"/>
          </a:xfrm>
          <a:prstGeom prst="ellipse">
            <a:avLst/>
          </a:prstGeom>
          <a:noFill/>
          <a:ln w="9525">
            <a:solidFill>
              <a:srgbClr val="f07a19"/>
            </a:solidFill>
          </a:ln>
        </p:spPr>
        <p:style>
          <a:lnRef idx="1">
            <a:schemeClr val="accent1"/>
          </a:lnRef>
          <a:fillRef idx="3">
            <a:schemeClr val="accent1"/>
          </a:fillRef>
          <a:effectRef idx="2">
            <a:schemeClr val="accent1"/>
          </a:effectRef>
          <a:fontRef idx="minor"/>
        </p:style>
      </p:sp>
      <p:sp>
        <p:nvSpPr>
          <p:cNvPr id="473" name="Oval 116"/>
          <p:cNvSpPr/>
          <p:nvPr/>
        </p:nvSpPr>
        <p:spPr>
          <a:xfrm>
            <a:off x="2787840" y="5986440"/>
            <a:ext cx="68400" cy="68400"/>
          </a:xfrm>
          <a:prstGeom prst="ellipse">
            <a:avLst/>
          </a:prstGeom>
          <a:solidFill>
            <a:srgbClr val="f07a19"/>
          </a:solidFill>
          <a:ln w="5715">
            <a:solidFill>
              <a:srgbClr val="f07a19"/>
            </a:solidFill>
          </a:ln>
        </p:spPr>
        <p:style>
          <a:lnRef idx="1">
            <a:schemeClr val="accent1"/>
          </a:lnRef>
          <a:fillRef idx="3">
            <a:schemeClr val="accent1"/>
          </a:fillRef>
          <a:effectRef idx="2">
            <a:schemeClr val="accent1"/>
          </a:effectRef>
          <a:fontRef idx="minor"/>
        </p:style>
      </p:sp>
      <p:sp>
        <p:nvSpPr>
          <p:cNvPr id="474" name="TextBox 117"/>
          <p:cNvSpPr/>
          <p:nvPr/>
        </p:nvSpPr>
        <p:spPr>
          <a:xfrm>
            <a:off x="2931840" y="5968440"/>
            <a:ext cx="1526760" cy="1227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770" spc="-1" strike="noStrike">
                <a:solidFill>
                  <a:srgbClr val="f07a19"/>
                </a:solidFill>
                <a:latin typeface="微软雅黑"/>
              </a:rPr>
              <a:t>橙圈：后续种子，拓扑最远</a:t>
            </a:r>
            <a:endParaRPr b="0" lang="en-US" sz="770" spc="-1" strike="noStrike">
              <a:latin typeface="Arial"/>
            </a:endParaRPr>
          </a:p>
        </p:txBody>
      </p:sp>
      <p:sp>
        <p:nvSpPr>
          <p:cNvPr id="475" name="Connector 118"/>
          <p:cNvSpPr/>
          <p:nvPr/>
        </p:nvSpPr>
        <p:spPr>
          <a:xfrm>
            <a:off x="5336640" y="3599280"/>
            <a:ext cx="914400" cy="36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476" name="Connector 119"/>
          <p:cNvSpPr/>
          <p:nvPr/>
        </p:nvSpPr>
        <p:spPr>
          <a:xfrm flipH="1">
            <a:off x="5062320" y="3599280"/>
            <a:ext cx="274320" cy="4064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477" name="Connector 120"/>
          <p:cNvSpPr/>
          <p:nvPr/>
        </p:nvSpPr>
        <p:spPr>
          <a:xfrm>
            <a:off x="5336640" y="3599280"/>
            <a:ext cx="365760" cy="4064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478" name="Connector 121"/>
          <p:cNvSpPr/>
          <p:nvPr/>
        </p:nvSpPr>
        <p:spPr>
          <a:xfrm flipH="1">
            <a:off x="5702400" y="3599280"/>
            <a:ext cx="548640" cy="4064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479" name="Connector 122"/>
          <p:cNvSpPr/>
          <p:nvPr/>
        </p:nvSpPr>
        <p:spPr>
          <a:xfrm flipH="1">
            <a:off x="4943520" y="4005720"/>
            <a:ext cx="118800" cy="4496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480" name="Connector 123"/>
          <p:cNvSpPr/>
          <p:nvPr/>
        </p:nvSpPr>
        <p:spPr>
          <a:xfrm>
            <a:off x="5062320" y="4005720"/>
            <a:ext cx="557640" cy="4280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481" name="Connector 124"/>
          <p:cNvSpPr/>
          <p:nvPr/>
        </p:nvSpPr>
        <p:spPr>
          <a:xfrm flipH="1">
            <a:off x="5619960" y="4005720"/>
            <a:ext cx="82440" cy="4280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482" name="Connector 125"/>
          <p:cNvSpPr/>
          <p:nvPr/>
        </p:nvSpPr>
        <p:spPr>
          <a:xfrm flipH="1">
            <a:off x="6168600" y="4005720"/>
            <a:ext cx="274320" cy="328320"/>
          </a:xfrm>
          <a:prstGeom prst="line">
            <a:avLst/>
          </a:prstGeom>
          <a:ln w="10795">
            <a:solidFill>
              <a:srgbClr val="219455"/>
            </a:solidFill>
          </a:ln>
        </p:spPr>
        <p:style>
          <a:lnRef idx="2">
            <a:schemeClr val="accent1"/>
          </a:lnRef>
          <a:fillRef idx="0">
            <a:schemeClr val="accent1"/>
          </a:fillRef>
          <a:effectRef idx="1">
            <a:schemeClr val="accent1"/>
          </a:effectRef>
          <a:fontRef idx="minor"/>
        </p:style>
      </p:sp>
      <p:sp>
        <p:nvSpPr>
          <p:cNvPr id="483" name="Connector 126"/>
          <p:cNvSpPr/>
          <p:nvPr/>
        </p:nvSpPr>
        <p:spPr>
          <a:xfrm>
            <a:off x="6442920" y="4005720"/>
            <a:ext cx="128160" cy="449640"/>
          </a:xfrm>
          <a:prstGeom prst="line">
            <a:avLst/>
          </a:prstGeom>
          <a:ln w="10795">
            <a:solidFill>
              <a:srgbClr val="219455"/>
            </a:solidFill>
          </a:ln>
        </p:spPr>
        <p:style>
          <a:lnRef idx="2">
            <a:schemeClr val="accent1"/>
          </a:lnRef>
          <a:fillRef idx="0">
            <a:schemeClr val="accent1"/>
          </a:fillRef>
          <a:effectRef idx="1">
            <a:schemeClr val="accent1"/>
          </a:effectRef>
          <a:fontRef idx="minor"/>
        </p:style>
      </p:sp>
      <p:sp>
        <p:nvSpPr>
          <p:cNvPr id="484" name="Connector 127"/>
          <p:cNvSpPr/>
          <p:nvPr/>
        </p:nvSpPr>
        <p:spPr>
          <a:xfrm>
            <a:off x="6168600" y="4334040"/>
            <a:ext cx="402480" cy="121320"/>
          </a:xfrm>
          <a:prstGeom prst="line">
            <a:avLst/>
          </a:prstGeom>
          <a:ln w="10795">
            <a:solidFill>
              <a:srgbClr val="219455"/>
            </a:solidFill>
          </a:ln>
        </p:spPr>
        <p:style>
          <a:lnRef idx="2">
            <a:schemeClr val="accent1"/>
          </a:lnRef>
          <a:fillRef idx="0">
            <a:schemeClr val="accent1"/>
          </a:fillRef>
          <a:effectRef idx="1">
            <a:schemeClr val="accent1"/>
          </a:effectRef>
          <a:fontRef idx="minor"/>
        </p:style>
      </p:sp>
      <p:sp>
        <p:nvSpPr>
          <p:cNvPr id="485" name="Connector 128"/>
          <p:cNvSpPr/>
          <p:nvPr/>
        </p:nvSpPr>
        <p:spPr>
          <a:xfrm flipV="1">
            <a:off x="4943520" y="4433760"/>
            <a:ext cx="676440" cy="2160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486" name="Connector 129"/>
          <p:cNvSpPr/>
          <p:nvPr/>
        </p:nvSpPr>
        <p:spPr>
          <a:xfrm>
            <a:off x="4943520" y="4455360"/>
            <a:ext cx="164520" cy="44928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87" name="Connector 130"/>
          <p:cNvSpPr/>
          <p:nvPr/>
        </p:nvSpPr>
        <p:spPr>
          <a:xfrm flipV="1">
            <a:off x="5619960" y="4334040"/>
            <a:ext cx="548640" cy="99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88" name="Connector 131"/>
          <p:cNvSpPr/>
          <p:nvPr/>
        </p:nvSpPr>
        <p:spPr>
          <a:xfrm>
            <a:off x="5619960" y="4433760"/>
            <a:ext cx="237960" cy="3996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89" name="Connector 132"/>
          <p:cNvSpPr/>
          <p:nvPr/>
        </p:nvSpPr>
        <p:spPr>
          <a:xfrm>
            <a:off x="5619960" y="4433760"/>
            <a:ext cx="795600" cy="4993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90" name="Connector 133"/>
          <p:cNvSpPr/>
          <p:nvPr/>
        </p:nvSpPr>
        <p:spPr>
          <a:xfrm>
            <a:off x="5108040" y="4904640"/>
            <a:ext cx="356760" cy="406440"/>
          </a:xfrm>
          <a:prstGeom prst="line">
            <a:avLst/>
          </a:prstGeom>
          <a:ln w="10795">
            <a:solidFill>
              <a:srgbClr val="f07a19"/>
            </a:solidFill>
          </a:ln>
        </p:spPr>
        <p:style>
          <a:lnRef idx="2">
            <a:schemeClr val="accent1"/>
          </a:lnRef>
          <a:fillRef idx="0">
            <a:schemeClr val="accent1"/>
          </a:fillRef>
          <a:effectRef idx="1">
            <a:schemeClr val="accent1"/>
          </a:effectRef>
          <a:fontRef idx="minor"/>
        </p:style>
      </p:sp>
      <p:sp>
        <p:nvSpPr>
          <p:cNvPr id="491" name="Connector 134"/>
          <p:cNvSpPr/>
          <p:nvPr/>
        </p:nvSpPr>
        <p:spPr>
          <a:xfrm>
            <a:off x="5857920" y="4833360"/>
            <a:ext cx="557640" cy="99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92" name="Connector 135"/>
          <p:cNvSpPr/>
          <p:nvPr/>
        </p:nvSpPr>
        <p:spPr>
          <a:xfrm>
            <a:off x="5857920" y="4833360"/>
            <a:ext cx="301680" cy="477720"/>
          </a:xfrm>
          <a:prstGeom prst="line">
            <a:avLst/>
          </a:prstGeom>
          <a:ln w="10795">
            <a:solidFill>
              <a:srgbClr val="f07a19"/>
            </a:solidFill>
          </a:ln>
        </p:spPr>
        <p:style>
          <a:lnRef idx="2">
            <a:schemeClr val="accent1"/>
          </a:lnRef>
          <a:fillRef idx="0">
            <a:schemeClr val="accent1"/>
          </a:fillRef>
          <a:effectRef idx="1">
            <a:schemeClr val="accent1"/>
          </a:effectRef>
          <a:fontRef idx="minor"/>
        </p:style>
      </p:sp>
      <p:sp>
        <p:nvSpPr>
          <p:cNvPr id="493" name="Connector 136"/>
          <p:cNvSpPr/>
          <p:nvPr/>
        </p:nvSpPr>
        <p:spPr>
          <a:xfrm flipH="1">
            <a:off x="6159600" y="4933080"/>
            <a:ext cx="255960" cy="3780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494" name="Connector 137"/>
          <p:cNvSpPr/>
          <p:nvPr/>
        </p:nvSpPr>
        <p:spPr>
          <a:xfrm>
            <a:off x="5464800" y="5311080"/>
            <a:ext cx="694800" cy="360"/>
          </a:xfrm>
          <a:prstGeom prst="line">
            <a:avLst/>
          </a:prstGeom>
          <a:ln w="10795">
            <a:solidFill>
              <a:srgbClr val="f07a19"/>
            </a:solidFill>
          </a:ln>
        </p:spPr>
        <p:style>
          <a:lnRef idx="2">
            <a:schemeClr val="accent1"/>
          </a:lnRef>
          <a:fillRef idx="0">
            <a:schemeClr val="accent1"/>
          </a:fillRef>
          <a:effectRef idx="1">
            <a:schemeClr val="accent1"/>
          </a:effectRef>
          <a:fontRef idx="minor"/>
        </p:style>
      </p:sp>
      <p:sp>
        <p:nvSpPr>
          <p:cNvPr id="495" name="Oval 138"/>
          <p:cNvSpPr/>
          <p:nvPr/>
        </p:nvSpPr>
        <p:spPr>
          <a:xfrm>
            <a:off x="5275080" y="353772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496" name="Oval 139"/>
          <p:cNvSpPr/>
          <p:nvPr/>
        </p:nvSpPr>
        <p:spPr>
          <a:xfrm>
            <a:off x="6189480" y="353772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497" name="Oval 140"/>
          <p:cNvSpPr/>
          <p:nvPr/>
        </p:nvSpPr>
        <p:spPr>
          <a:xfrm>
            <a:off x="5000760" y="394416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498" name="Oval 141"/>
          <p:cNvSpPr/>
          <p:nvPr/>
        </p:nvSpPr>
        <p:spPr>
          <a:xfrm>
            <a:off x="5640840" y="394416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499" name="Oval 142"/>
          <p:cNvSpPr/>
          <p:nvPr/>
        </p:nvSpPr>
        <p:spPr>
          <a:xfrm>
            <a:off x="6381360" y="3944160"/>
            <a:ext cx="123120" cy="123120"/>
          </a:xfrm>
          <a:prstGeom prst="ellipse">
            <a:avLst/>
          </a:prstGeom>
          <a:solidFill>
            <a:srgbClr val="a7d492"/>
          </a:solidFill>
          <a:ln w="8255">
            <a:solidFill>
              <a:srgbClr val="219455"/>
            </a:solidFill>
          </a:ln>
        </p:spPr>
        <p:style>
          <a:lnRef idx="1">
            <a:schemeClr val="accent1"/>
          </a:lnRef>
          <a:fillRef idx="3">
            <a:schemeClr val="accent1"/>
          </a:fillRef>
          <a:effectRef idx="2">
            <a:schemeClr val="accent1"/>
          </a:effectRef>
          <a:fontRef idx="minor"/>
        </p:style>
      </p:sp>
      <p:sp>
        <p:nvSpPr>
          <p:cNvPr id="500" name="Oval 143"/>
          <p:cNvSpPr/>
          <p:nvPr/>
        </p:nvSpPr>
        <p:spPr>
          <a:xfrm>
            <a:off x="4881960" y="439380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501" name="Oval 144"/>
          <p:cNvSpPr/>
          <p:nvPr/>
        </p:nvSpPr>
        <p:spPr>
          <a:xfrm>
            <a:off x="5558400" y="437220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502" name="Oval 145"/>
          <p:cNvSpPr/>
          <p:nvPr/>
        </p:nvSpPr>
        <p:spPr>
          <a:xfrm>
            <a:off x="6107040" y="4272480"/>
            <a:ext cx="123120" cy="123120"/>
          </a:xfrm>
          <a:prstGeom prst="ellipse">
            <a:avLst/>
          </a:prstGeom>
          <a:solidFill>
            <a:srgbClr val="a7d492"/>
          </a:solidFill>
          <a:ln w="8255">
            <a:solidFill>
              <a:srgbClr val="219455"/>
            </a:solidFill>
          </a:ln>
        </p:spPr>
        <p:style>
          <a:lnRef idx="1">
            <a:schemeClr val="accent1"/>
          </a:lnRef>
          <a:fillRef idx="3">
            <a:schemeClr val="accent1"/>
          </a:fillRef>
          <a:effectRef idx="2">
            <a:schemeClr val="accent1"/>
          </a:effectRef>
          <a:fontRef idx="minor"/>
        </p:style>
      </p:sp>
      <p:sp>
        <p:nvSpPr>
          <p:cNvPr id="503" name="Oval 146"/>
          <p:cNvSpPr/>
          <p:nvPr/>
        </p:nvSpPr>
        <p:spPr>
          <a:xfrm>
            <a:off x="6509520" y="4393800"/>
            <a:ext cx="123120" cy="123120"/>
          </a:xfrm>
          <a:prstGeom prst="ellipse">
            <a:avLst/>
          </a:prstGeom>
          <a:solidFill>
            <a:srgbClr val="a7d492"/>
          </a:solidFill>
          <a:ln w="8255">
            <a:solidFill>
              <a:srgbClr val="219455"/>
            </a:solidFill>
          </a:ln>
        </p:spPr>
        <p:style>
          <a:lnRef idx="1">
            <a:schemeClr val="accent1"/>
          </a:lnRef>
          <a:fillRef idx="3">
            <a:schemeClr val="accent1"/>
          </a:fillRef>
          <a:effectRef idx="2">
            <a:schemeClr val="accent1"/>
          </a:effectRef>
          <a:fontRef idx="minor"/>
        </p:style>
      </p:sp>
      <p:sp>
        <p:nvSpPr>
          <p:cNvPr id="504" name="Oval 147"/>
          <p:cNvSpPr/>
          <p:nvPr/>
        </p:nvSpPr>
        <p:spPr>
          <a:xfrm>
            <a:off x="5046480" y="4843080"/>
            <a:ext cx="123120" cy="123120"/>
          </a:xfrm>
          <a:prstGeom prst="ellipse">
            <a:avLst/>
          </a:prstGeom>
          <a:solidFill>
            <a:srgbClr val="f5b073"/>
          </a:solidFill>
          <a:ln w="8255">
            <a:solidFill>
              <a:srgbClr val="f07a19"/>
            </a:solidFill>
          </a:ln>
        </p:spPr>
        <p:style>
          <a:lnRef idx="1">
            <a:schemeClr val="accent1"/>
          </a:lnRef>
          <a:fillRef idx="3">
            <a:schemeClr val="accent1"/>
          </a:fillRef>
          <a:effectRef idx="2">
            <a:schemeClr val="accent1"/>
          </a:effectRef>
          <a:fontRef idx="minor"/>
        </p:style>
      </p:sp>
      <p:sp>
        <p:nvSpPr>
          <p:cNvPr id="505" name="Oval 148"/>
          <p:cNvSpPr/>
          <p:nvPr/>
        </p:nvSpPr>
        <p:spPr>
          <a:xfrm>
            <a:off x="5796360" y="4771800"/>
            <a:ext cx="123120" cy="123120"/>
          </a:xfrm>
          <a:prstGeom prst="ellipse">
            <a:avLst/>
          </a:prstGeom>
          <a:solidFill>
            <a:srgbClr val="f5b073"/>
          </a:solidFill>
          <a:ln w="8255">
            <a:solidFill>
              <a:srgbClr val="f07a19"/>
            </a:solidFill>
          </a:ln>
        </p:spPr>
        <p:style>
          <a:lnRef idx="1">
            <a:schemeClr val="accent1"/>
          </a:lnRef>
          <a:fillRef idx="3">
            <a:schemeClr val="accent1"/>
          </a:fillRef>
          <a:effectRef idx="2">
            <a:schemeClr val="accent1"/>
          </a:effectRef>
          <a:fontRef idx="minor"/>
        </p:style>
      </p:sp>
      <p:sp>
        <p:nvSpPr>
          <p:cNvPr id="506" name="Oval 149"/>
          <p:cNvSpPr/>
          <p:nvPr/>
        </p:nvSpPr>
        <p:spPr>
          <a:xfrm>
            <a:off x="6354000" y="4871520"/>
            <a:ext cx="123120" cy="123120"/>
          </a:xfrm>
          <a:prstGeom prst="ellipse">
            <a:avLst/>
          </a:prstGeom>
          <a:solidFill>
            <a:srgbClr val="a7d492"/>
          </a:solidFill>
          <a:ln w="8255">
            <a:solidFill>
              <a:srgbClr val="219455"/>
            </a:solidFill>
          </a:ln>
        </p:spPr>
        <p:style>
          <a:lnRef idx="1">
            <a:schemeClr val="accent1"/>
          </a:lnRef>
          <a:fillRef idx="3">
            <a:schemeClr val="accent1"/>
          </a:fillRef>
          <a:effectRef idx="2">
            <a:schemeClr val="accent1"/>
          </a:effectRef>
          <a:fontRef idx="minor"/>
        </p:style>
      </p:sp>
      <p:sp>
        <p:nvSpPr>
          <p:cNvPr id="507" name="Oval 150"/>
          <p:cNvSpPr/>
          <p:nvPr/>
        </p:nvSpPr>
        <p:spPr>
          <a:xfrm>
            <a:off x="5403240" y="5249520"/>
            <a:ext cx="123120" cy="123120"/>
          </a:xfrm>
          <a:prstGeom prst="ellipse">
            <a:avLst/>
          </a:prstGeom>
          <a:solidFill>
            <a:srgbClr val="f5b073"/>
          </a:solidFill>
          <a:ln w="8255">
            <a:solidFill>
              <a:srgbClr val="f07a19"/>
            </a:solidFill>
          </a:ln>
        </p:spPr>
        <p:style>
          <a:lnRef idx="1">
            <a:schemeClr val="accent1"/>
          </a:lnRef>
          <a:fillRef idx="3">
            <a:schemeClr val="accent1"/>
          </a:fillRef>
          <a:effectRef idx="2">
            <a:schemeClr val="accent1"/>
          </a:effectRef>
          <a:fontRef idx="minor"/>
        </p:style>
      </p:sp>
      <p:sp>
        <p:nvSpPr>
          <p:cNvPr id="508" name="Oval 151"/>
          <p:cNvSpPr/>
          <p:nvPr/>
        </p:nvSpPr>
        <p:spPr>
          <a:xfrm>
            <a:off x="6098040" y="5249520"/>
            <a:ext cx="123120" cy="123120"/>
          </a:xfrm>
          <a:prstGeom prst="ellipse">
            <a:avLst/>
          </a:prstGeom>
          <a:solidFill>
            <a:srgbClr val="f5b073"/>
          </a:solidFill>
          <a:ln w="8255">
            <a:solidFill>
              <a:srgbClr val="f07a19"/>
            </a:solidFill>
          </a:ln>
        </p:spPr>
        <p:style>
          <a:lnRef idx="1">
            <a:schemeClr val="accent1"/>
          </a:lnRef>
          <a:fillRef idx="3">
            <a:schemeClr val="accent1"/>
          </a:fillRef>
          <a:effectRef idx="2">
            <a:schemeClr val="accent1"/>
          </a:effectRef>
          <a:fontRef idx="minor"/>
        </p:style>
      </p:sp>
      <p:sp>
        <p:nvSpPr>
          <p:cNvPr id="509" name="Oval 152"/>
          <p:cNvSpPr/>
          <p:nvPr/>
        </p:nvSpPr>
        <p:spPr>
          <a:xfrm>
            <a:off x="5510520" y="4324320"/>
            <a:ext cx="219240" cy="219240"/>
          </a:xfrm>
          <a:prstGeom prst="ellipse">
            <a:avLst/>
          </a:prstGeom>
          <a:noFill/>
          <a:ln w="15240">
            <a:solidFill>
              <a:srgbClr val="0b5bb5"/>
            </a:solidFill>
          </a:ln>
        </p:spPr>
        <p:style>
          <a:lnRef idx="1">
            <a:schemeClr val="accent1"/>
          </a:lnRef>
          <a:fillRef idx="3">
            <a:schemeClr val="accent1"/>
          </a:fillRef>
          <a:effectRef idx="2">
            <a:schemeClr val="accent1"/>
          </a:effectRef>
          <a:fontRef idx="minor"/>
        </p:style>
      </p:sp>
      <p:sp>
        <p:nvSpPr>
          <p:cNvPr id="510" name="Oval 153"/>
          <p:cNvSpPr/>
          <p:nvPr/>
        </p:nvSpPr>
        <p:spPr>
          <a:xfrm>
            <a:off x="5455800" y="4269240"/>
            <a:ext cx="328680" cy="328680"/>
          </a:xfrm>
          <a:prstGeom prst="ellipse">
            <a:avLst/>
          </a:prstGeom>
          <a:noFill/>
          <a:ln w="6985">
            <a:solidFill>
              <a:srgbClr val="0b5bb5"/>
            </a:solidFill>
            <a:prstDash val="dash"/>
          </a:ln>
        </p:spPr>
        <p:style>
          <a:lnRef idx="1">
            <a:schemeClr val="accent1"/>
          </a:lnRef>
          <a:fillRef idx="3">
            <a:schemeClr val="accent1"/>
          </a:fillRef>
          <a:effectRef idx="2">
            <a:schemeClr val="accent1"/>
          </a:effectRef>
          <a:fontRef idx="minor"/>
        </p:style>
      </p:sp>
      <p:sp>
        <p:nvSpPr>
          <p:cNvPr id="511" name="Oval 154"/>
          <p:cNvSpPr/>
          <p:nvPr/>
        </p:nvSpPr>
        <p:spPr>
          <a:xfrm>
            <a:off x="5391720" y="4205520"/>
            <a:ext cx="456840" cy="456840"/>
          </a:xfrm>
          <a:prstGeom prst="ellipse">
            <a:avLst/>
          </a:prstGeom>
          <a:noFill/>
          <a:ln w="6985">
            <a:solidFill>
              <a:srgbClr val="0b5bb5"/>
            </a:solidFill>
            <a:prstDash val="dash"/>
          </a:ln>
        </p:spPr>
        <p:style>
          <a:lnRef idx="1">
            <a:schemeClr val="accent1"/>
          </a:lnRef>
          <a:fillRef idx="3">
            <a:schemeClr val="accent1"/>
          </a:fillRef>
          <a:effectRef idx="2">
            <a:schemeClr val="accent1"/>
          </a:effectRef>
          <a:fontRef idx="minor"/>
        </p:style>
      </p:sp>
      <p:sp>
        <p:nvSpPr>
          <p:cNvPr id="512" name="Oval 155"/>
          <p:cNvSpPr/>
          <p:nvPr/>
        </p:nvSpPr>
        <p:spPr>
          <a:xfrm>
            <a:off x="6333480" y="3896280"/>
            <a:ext cx="219240" cy="219240"/>
          </a:xfrm>
          <a:prstGeom prst="ellipse">
            <a:avLst/>
          </a:prstGeom>
          <a:noFill/>
          <a:ln w="15240">
            <a:solidFill>
              <a:srgbClr val="219455"/>
            </a:solidFill>
          </a:ln>
        </p:spPr>
        <p:style>
          <a:lnRef idx="1">
            <a:schemeClr val="accent1"/>
          </a:lnRef>
          <a:fillRef idx="3">
            <a:schemeClr val="accent1"/>
          </a:fillRef>
          <a:effectRef idx="2">
            <a:schemeClr val="accent1"/>
          </a:effectRef>
          <a:fontRef idx="minor"/>
        </p:style>
      </p:sp>
      <p:sp>
        <p:nvSpPr>
          <p:cNvPr id="513" name="Oval 156"/>
          <p:cNvSpPr/>
          <p:nvPr/>
        </p:nvSpPr>
        <p:spPr>
          <a:xfrm>
            <a:off x="6278760" y="3841560"/>
            <a:ext cx="328680" cy="328680"/>
          </a:xfrm>
          <a:prstGeom prst="ellipse">
            <a:avLst/>
          </a:prstGeom>
          <a:noFill/>
          <a:ln w="6985">
            <a:solidFill>
              <a:srgbClr val="219455"/>
            </a:solidFill>
            <a:prstDash val="dash"/>
          </a:ln>
        </p:spPr>
        <p:style>
          <a:lnRef idx="1">
            <a:schemeClr val="accent1"/>
          </a:lnRef>
          <a:fillRef idx="3">
            <a:schemeClr val="accent1"/>
          </a:fillRef>
          <a:effectRef idx="2">
            <a:schemeClr val="accent1"/>
          </a:effectRef>
          <a:fontRef idx="minor"/>
        </p:style>
      </p:sp>
      <p:sp>
        <p:nvSpPr>
          <p:cNvPr id="514" name="Oval 157"/>
          <p:cNvSpPr/>
          <p:nvPr/>
        </p:nvSpPr>
        <p:spPr>
          <a:xfrm>
            <a:off x="6214680" y="3777480"/>
            <a:ext cx="456840" cy="456840"/>
          </a:xfrm>
          <a:prstGeom prst="ellipse">
            <a:avLst/>
          </a:prstGeom>
          <a:noFill/>
          <a:ln w="6985">
            <a:solidFill>
              <a:srgbClr val="219455"/>
            </a:solidFill>
            <a:prstDash val="dash"/>
          </a:ln>
        </p:spPr>
        <p:style>
          <a:lnRef idx="1">
            <a:schemeClr val="accent1"/>
          </a:lnRef>
          <a:fillRef idx="3">
            <a:schemeClr val="accent1"/>
          </a:fillRef>
          <a:effectRef idx="2">
            <a:schemeClr val="accent1"/>
          </a:effectRef>
          <a:fontRef idx="minor"/>
        </p:style>
      </p:sp>
      <p:sp>
        <p:nvSpPr>
          <p:cNvPr id="515" name="Oval 158"/>
          <p:cNvSpPr/>
          <p:nvPr/>
        </p:nvSpPr>
        <p:spPr>
          <a:xfrm>
            <a:off x="5355000" y="5201640"/>
            <a:ext cx="219240" cy="219240"/>
          </a:xfrm>
          <a:prstGeom prst="ellipse">
            <a:avLst/>
          </a:prstGeom>
          <a:noFill/>
          <a:ln w="15240">
            <a:solidFill>
              <a:srgbClr val="f07a19"/>
            </a:solidFill>
          </a:ln>
        </p:spPr>
        <p:style>
          <a:lnRef idx="1">
            <a:schemeClr val="accent1"/>
          </a:lnRef>
          <a:fillRef idx="3">
            <a:schemeClr val="accent1"/>
          </a:fillRef>
          <a:effectRef idx="2">
            <a:schemeClr val="accent1"/>
          </a:effectRef>
          <a:fontRef idx="minor"/>
        </p:style>
      </p:sp>
      <p:sp>
        <p:nvSpPr>
          <p:cNvPr id="516" name="Oval 159"/>
          <p:cNvSpPr/>
          <p:nvPr/>
        </p:nvSpPr>
        <p:spPr>
          <a:xfrm>
            <a:off x="5300280" y="5146560"/>
            <a:ext cx="328680" cy="328680"/>
          </a:xfrm>
          <a:prstGeom prst="ellipse">
            <a:avLst/>
          </a:prstGeom>
          <a:noFill/>
          <a:ln w="6985">
            <a:solidFill>
              <a:srgbClr val="f07a19"/>
            </a:solidFill>
            <a:prstDash val="dash"/>
          </a:ln>
        </p:spPr>
        <p:style>
          <a:lnRef idx="1">
            <a:schemeClr val="accent1"/>
          </a:lnRef>
          <a:fillRef idx="3">
            <a:schemeClr val="accent1"/>
          </a:fillRef>
          <a:effectRef idx="2">
            <a:schemeClr val="accent1"/>
          </a:effectRef>
          <a:fontRef idx="minor"/>
        </p:style>
      </p:sp>
      <p:sp>
        <p:nvSpPr>
          <p:cNvPr id="517" name="Oval 160"/>
          <p:cNvSpPr/>
          <p:nvPr/>
        </p:nvSpPr>
        <p:spPr>
          <a:xfrm>
            <a:off x="5236200" y="5082480"/>
            <a:ext cx="456840" cy="456840"/>
          </a:xfrm>
          <a:prstGeom prst="ellipse">
            <a:avLst/>
          </a:prstGeom>
          <a:noFill/>
          <a:ln w="6985">
            <a:solidFill>
              <a:srgbClr val="f07a19"/>
            </a:solidFill>
            <a:prstDash val="dash"/>
          </a:ln>
        </p:spPr>
        <p:style>
          <a:lnRef idx="1">
            <a:schemeClr val="accent1"/>
          </a:lnRef>
          <a:fillRef idx="3">
            <a:schemeClr val="accent1"/>
          </a:fillRef>
          <a:effectRef idx="2">
            <a:schemeClr val="accent1"/>
          </a:effectRef>
          <a:fontRef idx="minor"/>
        </p:style>
      </p:sp>
      <p:sp>
        <p:nvSpPr>
          <p:cNvPr id="518" name="Right Arrow 161"/>
          <p:cNvSpPr/>
          <p:nvPr/>
        </p:nvSpPr>
        <p:spPr>
          <a:xfrm rot="10800000">
            <a:off x="5190840" y="4402080"/>
            <a:ext cx="237240" cy="63720"/>
          </a:xfrm>
          <a:prstGeom prst="rightArrow">
            <a:avLst>
              <a:gd name="adj1" fmla="val 50000"/>
              <a:gd name="adj2" fmla="val 50000"/>
            </a:avLst>
          </a:prstGeom>
          <a:solidFill>
            <a:srgbClr val="0b5bb5"/>
          </a:solidFill>
          <a:ln>
            <a:noFill/>
          </a:ln>
        </p:spPr>
        <p:style>
          <a:lnRef idx="1">
            <a:schemeClr val="accent1"/>
          </a:lnRef>
          <a:fillRef idx="3">
            <a:schemeClr val="accent1"/>
          </a:fillRef>
          <a:effectRef idx="2">
            <a:schemeClr val="accent1"/>
          </a:effectRef>
          <a:fontRef idx="minor"/>
        </p:style>
      </p:sp>
      <p:sp>
        <p:nvSpPr>
          <p:cNvPr id="519" name="Right Arrow 162"/>
          <p:cNvSpPr/>
          <p:nvPr/>
        </p:nvSpPr>
        <p:spPr>
          <a:xfrm>
            <a:off x="5812200" y="4402080"/>
            <a:ext cx="237240" cy="63720"/>
          </a:xfrm>
          <a:prstGeom prst="rightArrow">
            <a:avLst>
              <a:gd name="adj1" fmla="val 50000"/>
              <a:gd name="adj2" fmla="val 50000"/>
            </a:avLst>
          </a:prstGeom>
          <a:solidFill>
            <a:srgbClr val="0b5bb5"/>
          </a:solidFill>
          <a:ln>
            <a:noFill/>
          </a:ln>
        </p:spPr>
        <p:style>
          <a:lnRef idx="1">
            <a:schemeClr val="accent1"/>
          </a:lnRef>
          <a:fillRef idx="3">
            <a:schemeClr val="accent1"/>
          </a:fillRef>
          <a:effectRef idx="2">
            <a:schemeClr val="accent1"/>
          </a:effectRef>
          <a:fontRef idx="minor"/>
        </p:style>
      </p:sp>
      <p:sp>
        <p:nvSpPr>
          <p:cNvPr id="520" name="Right Arrow 163"/>
          <p:cNvSpPr/>
          <p:nvPr/>
        </p:nvSpPr>
        <p:spPr>
          <a:xfrm rot="16200000">
            <a:off x="5501520" y="4091400"/>
            <a:ext cx="237240" cy="63720"/>
          </a:xfrm>
          <a:prstGeom prst="rightArrow">
            <a:avLst>
              <a:gd name="adj1" fmla="val 50000"/>
              <a:gd name="adj2" fmla="val 50000"/>
            </a:avLst>
          </a:prstGeom>
          <a:solidFill>
            <a:srgbClr val="0b5bb5"/>
          </a:solidFill>
          <a:ln>
            <a:noFill/>
          </a:ln>
        </p:spPr>
        <p:style>
          <a:lnRef idx="1">
            <a:schemeClr val="accent1"/>
          </a:lnRef>
          <a:fillRef idx="3">
            <a:schemeClr val="accent1"/>
          </a:fillRef>
          <a:effectRef idx="2">
            <a:schemeClr val="accent1"/>
          </a:effectRef>
          <a:fontRef idx="minor"/>
        </p:style>
      </p:sp>
      <p:sp>
        <p:nvSpPr>
          <p:cNvPr id="521" name="Right Arrow 164"/>
          <p:cNvSpPr/>
          <p:nvPr/>
        </p:nvSpPr>
        <p:spPr>
          <a:xfrm rot="5400000">
            <a:off x="5501880" y="4712760"/>
            <a:ext cx="237240" cy="63720"/>
          </a:xfrm>
          <a:prstGeom prst="rightArrow">
            <a:avLst>
              <a:gd name="adj1" fmla="val 50000"/>
              <a:gd name="adj2" fmla="val 50000"/>
            </a:avLst>
          </a:prstGeom>
          <a:solidFill>
            <a:srgbClr val="0b5bb5"/>
          </a:solidFill>
          <a:ln>
            <a:noFill/>
          </a:ln>
        </p:spPr>
        <p:style>
          <a:lnRef idx="1">
            <a:schemeClr val="accent1"/>
          </a:lnRef>
          <a:fillRef idx="3">
            <a:schemeClr val="accent1"/>
          </a:fillRef>
          <a:effectRef idx="2">
            <a:schemeClr val="accent1"/>
          </a:effectRef>
          <a:fontRef idx="minor"/>
        </p:style>
      </p:sp>
      <p:sp>
        <p:nvSpPr>
          <p:cNvPr id="522" name="Right Arrow 165"/>
          <p:cNvSpPr/>
          <p:nvPr/>
        </p:nvSpPr>
        <p:spPr>
          <a:xfrm rot="10800000">
            <a:off x="6050520" y="4047480"/>
            <a:ext cx="237240" cy="63720"/>
          </a:xfrm>
          <a:prstGeom prst="rightArrow">
            <a:avLst>
              <a:gd name="adj1" fmla="val 50000"/>
              <a:gd name="adj2" fmla="val 50000"/>
            </a:avLst>
          </a:prstGeom>
          <a:solidFill>
            <a:srgbClr val="219455"/>
          </a:solidFill>
          <a:ln>
            <a:noFill/>
          </a:ln>
        </p:spPr>
        <p:style>
          <a:lnRef idx="1">
            <a:schemeClr val="accent1"/>
          </a:lnRef>
          <a:fillRef idx="3">
            <a:schemeClr val="accent1"/>
          </a:fillRef>
          <a:effectRef idx="2">
            <a:schemeClr val="accent1"/>
          </a:effectRef>
          <a:fontRef idx="minor"/>
        </p:style>
      </p:sp>
      <p:sp>
        <p:nvSpPr>
          <p:cNvPr id="523" name="Right Arrow 166"/>
          <p:cNvSpPr/>
          <p:nvPr/>
        </p:nvSpPr>
        <p:spPr>
          <a:xfrm rot="5400000">
            <a:off x="6343200" y="4266360"/>
            <a:ext cx="237240" cy="63720"/>
          </a:xfrm>
          <a:prstGeom prst="rightArrow">
            <a:avLst>
              <a:gd name="adj1" fmla="val 50000"/>
              <a:gd name="adj2" fmla="val 50000"/>
            </a:avLst>
          </a:prstGeom>
          <a:solidFill>
            <a:srgbClr val="219455"/>
          </a:solidFill>
          <a:ln>
            <a:noFill/>
          </a:ln>
        </p:spPr>
        <p:style>
          <a:lnRef idx="1">
            <a:schemeClr val="accent1"/>
          </a:lnRef>
          <a:fillRef idx="3">
            <a:schemeClr val="accent1"/>
          </a:fillRef>
          <a:effectRef idx="2">
            <a:schemeClr val="accent1"/>
          </a:effectRef>
          <a:fontRef idx="minor"/>
        </p:style>
      </p:sp>
      <p:sp>
        <p:nvSpPr>
          <p:cNvPr id="524" name="Right Arrow 167"/>
          <p:cNvSpPr/>
          <p:nvPr/>
        </p:nvSpPr>
        <p:spPr>
          <a:xfrm>
            <a:off x="5620320" y="5233680"/>
            <a:ext cx="237240" cy="63720"/>
          </a:xfrm>
          <a:prstGeom prst="rightArrow">
            <a:avLst>
              <a:gd name="adj1" fmla="val 50000"/>
              <a:gd name="adj2" fmla="val 50000"/>
            </a:avLst>
          </a:prstGeom>
          <a:solidFill>
            <a:srgbClr val="f07a19"/>
          </a:solidFill>
          <a:ln>
            <a:noFill/>
          </a:ln>
        </p:spPr>
        <p:style>
          <a:lnRef idx="1">
            <a:schemeClr val="accent1"/>
          </a:lnRef>
          <a:fillRef idx="3">
            <a:schemeClr val="accent1"/>
          </a:fillRef>
          <a:effectRef idx="2">
            <a:schemeClr val="accent1"/>
          </a:effectRef>
          <a:fontRef idx="minor"/>
        </p:style>
      </p:sp>
      <p:sp>
        <p:nvSpPr>
          <p:cNvPr id="525" name="Right Arrow 168"/>
          <p:cNvSpPr/>
          <p:nvPr/>
        </p:nvSpPr>
        <p:spPr>
          <a:xfrm rot="16200000">
            <a:off x="5364360" y="5005440"/>
            <a:ext cx="237240" cy="63720"/>
          </a:xfrm>
          <a:prstGeom prst="rightArrow">
            <a:avLst>
              <a:gd name="adj1" fmla="val 50000"/>
              <a:gd name="adj2" fmla="val 50000"/>
            </a:avLst>
          </a:prstGeom>
          <a:solidFill>
            <a:srgbClr val="f07a19"/>
          </a:solidFill>
          <a:ln>
            <a:noFill/>
          </a:ln>
        </p:spPr>
        <p:style>
          <a:lnRef idx="1">
            <a:schemeClr val="accent1"/>
          </a:lnRef>
          <a:fillRef idx="3">
            <a:schemeClr val="accent1"/>
          </a:fillRef>
          <a:effectRef idx="2">
            <a:schemeClr val="accent1"/>
          </a:effectRef>
          <a:fontRef idx="minor"/>
        </p:style>
      </p:sp>
      <p:sp>
        <p:nvSpPr>
          <p:cNvPr id="526" name="Oval 169"/>
          <p:cNvSpPr/>
          <p:nvPr/>
        </p:nvSpPr>
        <p:spPr>
          <a:xfrm>
            <a:off x="4884120" y="5664240"/>
            <a:ext cx="82080" cy="82080"/>
          </a:xfrm>
          <a:prstGeom prst="ellipse">
            <a:avLst/>
          </a:prstGeom>
          <a:solidFill>
            <a:srgbClr val="0b5bb5"/>
          </a:solidFill>
          <a:ln w="5080">
            <a:solidFill>
              <a:srgbClr val="0b5bb5"/>
            </a:solidFill>
          </a:ln>
        </p:spPr>
        <p:style>
          <a:lnRef idx="1">
            <a:schemeClr val="accent1"/>
          </a:lnRef>
          <a:fillRef idx="3">
            <a:schemeClr val="accent1"/>
          </a:fillRef>
          <a:effectRef idx="2">
            <a:schemeClr val="accent1"/>
          </a:effectRef>
          <a:fontRef idx="minor"/>
        </p:style>
      </p:sp>
      <p:sp>
        <p:nvSpPr>
          <p:cNvPr id="527" name="Oval 170"/>
          <p:cNvSpPr/>
          <p:nvPr/>
        </p:nvSpPr>
        <p:spPr>
          <a:xfrm>
            <a:off x="4975560" y="5664240"/>
            <a:ext cx="82080" cy="82080"/>
          </a:xfrm>
          <a:prstGeom prst="ellipse">
            <a:avLst/>
          </a:prstGeom>
          <a:solidFill>
            <a:srgbClr val="219455"/>
          </a:solidFill>
          <a:ln w="5080">
            <a:solidFill>
              <a:srgbClr val="219455"/>
            </a:solidFill>
          </a:ln>
        </p:spPr>
        <p:style>
          <a:lnRef idx="1">
            <a:schemeClr val="accent1"/>
          </a:lnRef>
          <a:fillRef idx="3">
            <a:schemeClr val="accent1"/>
          </a:fillRef>
          <a:effectRef idx="2">
            <a:schemeClr val="accent1"/>
          </a:effectRef>
          <a:fontRef idx="minor"/>
        </p:style>
      </p:sp>
      <p:sp>
        <p:nvSpPr>
          <p:cNvPr id="528" name="Oval 171"/>
          <p:cNvSpPr/>
          <p:nvPr/>
        </p:nvSpPr>
        <p:spPr>
          <a:xfrm>
            <a:off x="5067000" y="5664240"/>
            <a:ext cx="82080" cy="82080"/>
          </a:xfrm>
          <a:prstGeom prst="ellipse">
            <a:avLst/>
          </a:prstGeom>
          <a:solidFill>
            <a:srgbClr val="f07a19"/>
          </a:solidFill>
          <a:ln w="5080">
            <a:solidFill>
              <a:srgbClr val="f07a19"/>
            </a:solidFill>
          </a:ln>
        </p:spPr>
        <p:style>
          <a:lnRef idx="1">
            <a:schemeClr val="accent1"/>
          </a:lnRef>
          <a:fillRef idx="3">
            <a:schemeClr val="accent1"/>
          </a:fillRef>
          <a:effectRef idx="2">
            <a:schemeClr val="accent1"/>
          </a:effectRef>
          <a:fontRef idx="minor"/>
        </p:style>
      </p:sp>
      <p:sp>
        <p:nvSpPr>
          <p:cNvPr id="529" name="TextBox 172"/>
          <p:cNvSpPr/>
          <p:nvPr/>
        </p:nvSpPr>
        <p:spPr>
          <a:xfrm>
            <a:off x="5190480" y="5631480"/>
            <a:ext cx="1362240" cy="12888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810" spc="-1" strike="noStrike">
                <a:solidFill>
                  <a:srgbClr val="005d58"/>
                </a:solidFill>
                <a:latin typeface="微软雅黑"/>
              </a:rPr>
              <a:t>同色节点：种子归属子区</a:t>
            </a:r>
            <a:endParaRPr b="0" lang="en-US" sz="810" spc="-1" strike="noStrike">
              <a:latin typeface="Arial"/>
            </a:endParaRPr>
          </a:p>
        </p:txBody>
      </p:sp>
      <p:sp>
        <p:nvSpPr>
          <p:cNvPr id="530" name="TextBox 173"/>
          <p:cNvSpPr/>
          <p:nvPr/>
        </p:nvSpPr>
        <p:spPr>
          <a:xfrm>
            <a:off x="4907160" y="5810760"/>
            <a:ext cx="1645560" cy="246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80" spc="-1" strike="noStrike">
                <a:solidFill>
                  <a:srgbClr val="005d58"/>
                </a:solidFill>
                <a:latin typeface="微软雅黑"/>
              </a:rPr>
              <a:t>箭头</a:t>
            </a:r>
            <a:r>
              <a:rPr b="1" lang="en-US" sz="780" spc="-1" strike="noStrike">
                <a:solidFill>
                  <a:srgbClr val="005d58"/>
                </a:solidFill>
                <a:latin typeface="微软雅黑"/>
              </a:rPr>
              <a:t>/</a:t>
            </a:r>
            <a:r>
              <a:rPr b="1" lang="zh-CN" sz="780" spc="-1" strike="noStrike">
                <a:solidFill>
                  <a:srgbClr val="005d58"/>
                </a:solidFill>
                <a:latin typeface="微软雅黑"/>
              </a:rPr>
              <a:t>虚线环：同步扩展方向与距离层</a:t>
            </a:r>
            <a:endParaRPr b="0" lang="en-US" sz="780" spc="-1" strike="noStrike">
              <a:latin typeface="Arial"/>
            </a:endParaRPr>
          </a:p>
        </p:txBody>
      </p:sp>
      <p:sp>
        <p:nvSpPr>
          <p:cNvPr id="531" name="Connector 174"/>
          <p:cNvSpPr/>
          <p:nvPr/>
        </p:nvSpPr>
        <p:spPr>
          <a:xfrm>
            <a:off x="7448760" y="3599280"/>
            <a:ext cx="914400" cy="36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532" name="Connector 175"/>
          <p:cNvSpPr/>
          <p:nvPr/>
        </p:nvSpPr>
        <p:spPr>
          <a:xfrm flipH="1">
            <a:off x="7174440" y="3599280"/>
            <a:ext cx="274320" cy="4064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533" name="Connector 176"/>
          <p:cNvSpPr/>
          <p:nvPr/>
        </p:nvSpPr>
        <p:spPr>
          <a:xfrm>
            <a:off x="7448760" y="3599280"/>
            <a:ext cx="365760" cy="4064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534" name="Connector 177"/>
          <p:cNvSpPr/>
          <p:nvPr/>
        </p:nvSpPr>
        <p:spPr>
          <a:xfrm flipH="1">
            <a:off x="7814520" y="3599280"/>
            <a:ext cx="548640" cy="4064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535" name="Connector 178"/>
          <p:cNvSpPr/>
          <p:nvPr/>
        </p:nvSpPr>
        <p:spPr>
          <a:xfrm flipH="1">
            <a:off x="7055640" y="4005720"/>
            <a:ext cx="118800" cy="4496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536" name="Connector 179"/>
          <p:cNvSpPr/>
          <p:nvPr/>
        </p:nvSpPr>
        <p:spPr>
          <a:xfrm>
            <a:off x="7174440" y="4005720"/>
            <a:ext cx="558000" cy="4280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537" name="Connector 180"/>
          <p:cNvSpPr/>
          <p:nvPr/>
        </p:nvSpPr>
        <p:spPr>
          <a:xfrm flipH="1">
            <a:off x="7732440" y="4005720"/>
            <a:ext cx="82080" cy="42804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538" name="Connector 181"/>
          <p:cNvSpPr/>
          <p:nvPr/>
        </p:nvSpPr>
        <p:spPr>
          <a:xfrm flipH="1">
            <a:off x="8281080" y="4005720"/>
            <a:ext cx="274320" cy="328320"/>
          </a:xfrm>
          <a:prstGeom prst="line">
            <a:avLst/>
          </a:prstGeom>
          <a:ln w="10795">
            <a:solidFill>
              <a:srgbClr val="219455"/>
            </a:solidFill>
          </a:ln>
        </p:spPr>
        <p:style>
          <a:lnRef idx="2">
            <a:schemeClr val="accent1"/>
          </a:lnRef>
          <a:fillRef idx="0">
            <a:schemeClr val="accent1"/>
          </a:fillRef>
          <a:effectRef idx="1">
            <a:schemeClr val="accent1"/>
          </a:effectRef>
          <a:fontRef idx="minor"/>
        </p:style>
      </p:sp>
      <p:sp>
        <p:nvSpPr>
          <p:cNvPr id="539" name="Connector 182"/>
          <p:cNvSpPr/>
          <p:nvPr/>
        </p:nvSpPr>
        <p:spPr>
          <a:xfrm>
            <a:off x="8555400" y="4005720"/>
            <a:ext cx="127800" cy="449640"/>
          </a:xfrm>
          <a:prstGeom prst="line">
            <a:avLst/>
          </a:prstGeom>
          <a:ln w="10795">
            <a:solidFill>
              <a:srgbClr val="219455"/>
            </a:solidFill>
          </a:ln>
        </p:spPr>
        <p:style>
          <a:lnRef idx="2">
            <a:schemeClr val="accent1"/>
          </a:lnRef>
          <a:fillRef idx="0">
            <a:schemeClr val="accent1"/>
          </a:fillRef>
          <a:effectRef idx="1">
            <a:schemeClr val="accent1"/>
          </a:effectRef>
          <a:fontRef idx="minor"/>
        </p:style>
      </p:sp>
      <p:sp>
        <p:nvSpPr>
          <p:cNvPr id="540" name="Connector 183"/>
          <p:cNvSpPr/>
          <p:nvPr/>
        </p:nvSpPr>
        <p:spPr>
          <a:xfrm>
            <a:off x="8281080" y="4334040"/>
            <a:ext cx="402120" cy="121320"/>
          </a:xfrm>
          <a:prstGeom prst="line">
            <a:avLst/>
          </a:prstGeom>
          <a:ln w="10795">
            <a:solidFill>
              <a:srgbClr val="219455"/>
            </a:solidFill>
          </a:ln>
        </p:spPr>
        <p:style>
          <a:lnRef idx="2">
            <a:schemeClr val="accent1"/>
          </a:lnRef>
          <a:fillRef idx="0">
            <a:schemeClr val="accent1"/>
          </a:fillRef>
          <a:effectRef idx="1">
            <a:schemeClr val="accent1"/>
          </a:effectRef>
          <a:fontRef idx="minor"/>
        </p:style>
      </p:sp>
      <p:sp>
        <p:nvSpPr>
          <p:cNvPr id="541" name="Connector 184"/>
          <p:cNvSpPr/>
          <p:nvPr/>
        </p:nvSpPr>
        <p:spPr>
          <a:xfrm flipV="1">
            <a:off x="7055640" y="4433760"/>
            <a:ext cx="676800" cy="21600"/>
          </a:xfrm>
          <a:prstGeom prst="line">
            <a:avLst/>
          </a:prstGeom>
          <a:ln w="10795">
            <a:solidFill>
              <a:srgbClr val="0b5bb5"/>
            </a:solidFill>
          </a:ln>
        </p:spPr>
        <p:style>
          <a:lnRef idx="2">
            <a:schemeClr val="accent1"/>
          </a:lnRef>
          <a:fillRef idx="0">
            <a:schemeClr val="accent1"/>
          </a:fillRef>
          <a:effectRef idx="1">
            <a:schemeClr val="accent1"/>
          </a:effectRef>
          <a:fontRef idx="minor"/>
        </p:style>
      </p:sp>
      <p:sp>
        <p:nvSpPr>
          <p:cNvPr id="542" name="Connector 185"/>
          <p:cNvSpPr/>
          <p:nvPr/>
        </p:nvSpPr>
        <p:spPr>
          <a:xfrm>
            <a:off x="7055640" y="4455360"/>
            <a:ext cx="164520" cy="44928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543" name="Connector 186"/>
          <p:cNvSpPr/>
          <p:nvPr/>
        </p:nvSpPr>
        <p:spPr>
          <a:xfrm flipV="1">
            <a:off x="7732440" y="4334040"/>
            <a:ext cx="548640" cy="99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544" name="Connector 187"/>
          <p:cNvSpPr/>
          <p:nvPr/>
        </p:nvSpPr>
        <p:spPr>
          <a:xfrm>
            <a:off x="7732440" y="4433760"/>
            <a:ext cx="237600" cy="3996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545" name="Connector 188"/>
          <p:cNvSpPr/>
          <p:nvPr/>
        </p:nvSpPr>
        <p:spPr>
          <a:xfrm>
            <a:off x="7732440" y="4433760"/>
            <a:ext cx="795600" cy="4993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546" name="Connector 189"/>
          <p:cNvSpPr/>
          <p:nvPr/>
        </p:nvSpPr>
        <p:spPr>
          <a:xfrm>
            <a:off x="7220160" y="4904640"/>
            <a:ext cx="356760" cy="406440"/>
          </a:xfrm>
          <a:prstGeom prst="line">
            <a:avLst/>
          </a:prstGeom>
          <a:ln w="10795">
            <a:solidFill>
              <a:srgbClr val="f07a19"/>
            </a:solidFill>
          </a:ln>
        </p:spPr>
        <p:style>
          <a:lnRef idx="2">
            <a:schemeClr val="accent1"/>
          </a:lnRef>
          <a:fillRef idx="0">
            <a:schemeClr val="accent1"/>
          </a:fillRef>
          <a:effectRef idx="1">
            <a:schemeClr val="accent1"/>
          </a:effectRef>
          <a:fontRef idx="minor"/>
        </p:style>
      </p:sp>
      <p:sp>
        <p:nvSpPr>
          <p:cNvPr id="547" name="Connector 190"/>
          <p:cNvSpPr/>
          <p:nvPr/>
        </p:nvSpPr>
        <p:spPr>
          <a:xfrm>
            <a:off x="7970040" y="4833360"/>
            <a:ext cx="558000" cy="9972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548" name="Connector 191"/>
          <p:cNvSpPr/>
          <p:nvPr/>
        </p:nvSpPr>
        <p:spPr>
          <a:xfrm>
            <a:off x="7970040" y="4833360"/>
            <a:ext cx="301680" cy="477720"/>
          </a:xfrm>
          <a:prstGeom prst="line">
            <a:avLst/>
          </a:prstGeom>
          <a:ln w="10795">
            <a:solidFill>
              <a:srgbClr val="f07a19"/>
            </a:solidFill>
          </a:ln>
        </p:spPr>
        <p:style>
          <a:lnRef idx="2">
            <a:schemeClr val="accent1"/>
          </a:lnRef>
          <a:fillRef idx="0">
            <a:schemeClr val="accent1"/>
          </a:fillRef>
          <a:effectRef idx="1">
            <a:schemeClr val="accent1"/>
          </a:effectRef>
          <a:fontRef idx="minor"/>
        </p:style>
      </p:sp>
      <p:sp>
        <p:nvSpPr>
          <p:cNvPr id="549" name="Connector 192"/>
          <p:cNvSpPr/>
          <p:nvPr/>
        </p:nvSpPr>
        <p:spPr>
          <a:xfrm flipH="1">
            <a:off x="8271720" y="4933080"/>
            <a:ext cx="256320" cy="378000"/>
          </a:xfrm>
          <a:prstGeom prst="line">
            <a:avLst/>
          </a:prstGeom>
          <a:ln w="8255">
            <a:solidFill>
              <a:srgbClr val="707679"/>
            </a:solidFill>
          </a:ln>
        </p:spPr>
        <p:style>
          <a:lnRef idx="2">
            <a:schemeClr val="accent1"/>
          </a:lnRef>
          <a:fillRef idx="0">
            <a:schemeClr val="accent1"/>
          </a:fillRef>
          <a:effectRef idx="1">
            <a:schemeClr val="accent1"/>
          </a:effectRef>
          <a:fontRef idx="minor"/>
        </p:style>
      </p:sp>
      <p:sp>
        <p:nvSpPr>
          <p:cNvPr id="550" name="Connector 193"/>
          <p:cNvSpPr/>
          <p:nvPr/>
        </p:nvSpPr>
        <p:spPr>
          <a:xfrm>
            <a:off x="7576920" y="5311080"/>
            <a:ext cx="694800" cy="360"/>
          </a:xfrm>
          <a:prstGeom prst="line">
            <a:avLst/>
          </a:prstGeom>
          <a:ln w="10795">
            <a:solidFill>
              <a:srgbClr val="f07a19"/>
            </a:solidFill>
          </a:ln>
        </p:spPr>
        <p:style>
          <a:lnRef idx="2">
            <a:schemeClr val="accent1"/>
          </a:lnRef>
          <a:fillRef idx="0">
            <a:schemeClr val="accent1"/>
          </a:fillRef>
          <a:effectRef idx="1">
            <a:schemeClr val="accent1"/>
          </a:effectRef>
          <a:fontRef idx="minor"/>
        </p:style>
      </p:sp>
      <p:sp>
        <p:nvSpPr>
          <p:cNvPr id="551" name="Oval 194"/>
          <p:cNvSpPr/>
          <p:nvPr/>
        </p:nvSpPr>
        <p:spPr>
          <a:xfrm>
            <a:off x="7387200" y="353772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552" name="Oval 195"/>
          <p:cNvSpPr/>
          <p:nvPr/>
        </p:nvSpPr>
        <p:spPr>
          <a:xfrm>
            <a:off x="8301600" y="353772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553" name="Oval 196"/>
          <p:cNvSpPr/>
          <p:nvPr/>
        </p:nvSpPr>
        <p:spPr>
          <a:xfrm>
            <a:off x="7112880" y="394416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554" name="Oval 197"/>
          <p:cNvSpPr/>
          <p:nvPr/>
        </p:nvSpPr>
        <p:spPr>
          <a:xfrm>
            <a:off x="7752960" y="394416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555" name="Oval 198"/>
          <p:cNvSpPr/>
          <p:nvPr/>
        </p:nvSpPr>
        <p:spPr>
          <a:xfrm>
            <a:off x="8493840" y="3944160"/>
            <a:ext cx="123120" cy="123120"/>
          </a:xfrm>
          <a:prstGeom prst="ellipse">
            <a:avLst/>
          </a:prstGeom>
          <a:solidFill>
            <a:srgbClr val="a7d492"/>
          </a:solidFill>
          <a:ln w="8255">
            <a:solidFill>
              <a:srgbClr val="219455"/>
            </a:solidFill>
          </a:ln>
        </p:spPr>
        <p:style>
          <a:lnRef idx="1">
            <a:schemeClr val="accent1"/>
          </a:lnRef>
          <a:fillRef idx="3">
            <a:schemeClr val="accent1"/>
          </a:fillRef>
          <a:effectRef idx="2">
            <a:schemeClr val="accent1"/>
          </a:effectRef>
          <a:fontRef idx="minor"/>
        </p:style>
      </p:sp>
      <p:sp>
        <p:nvSpPr>
          <p:cNvPr id="556" name="Oval 199"/>
          <p:cNvSpPr/>
          <p:nvPr/>
        </p:nvSpPr>
        <p:spPr>
          <a:xfrm>
            <a:off x="6994080" y="439380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557" name="Oval 200"/>
          <p:cNvSpPr/>
          <p:nvPr/>
        </p:nvSpPr>
        <p:spPr>
          <a:xfrm>
            <a:off x="7670880" y="4372200"/>
            <a:ext cx="123120" cy="123120"/>
          </a:xfrm>
          <a:prstGeom prst="ellipse">
            <a:avLst/>
          </a:prstGeom>
          <a:solidFill>
            <a:srgbClr val="8ebaea"/>
          </a:solidFill>
          <a:ln w="8255">
            <a:solidFill>
              <a:srgbClr val="0b5bb5"/>
            </a:solidFill>
          </a:ln>
        </p:spPr>
        <p:style>
          <a:lnRef idx="1">
            <a:schemeClr val="accent1"/>
          </a:lnRef>
          <a:fillRef idx="3">
            <a:schemeClr val="accent1"/>
          </a:fillRef>
          <a:effectRef idx="2">
            <a:schemeClr val="accent1"/>
          </a:effectRef>
          <a:fontRef idx="minor"/>
        </p:style>
      </p:sp>
      <p:sp>
        <p:nvSpPr>
          <p:cNvPr id="558" name="Connector 201"/>
          <p:cNvSpPr/>
          <p:nvPr/>
        </p:nvSpPr>
        <p:spPr>
          <a:xfrm>
            <a:off x="8193960" y="4334040"/>
            <a:ext cx="36720" cy="360"/>
          </a:xfrm>
          <a:prstGeom prst="line">
            <a:avLst/>
          </a:prstGeom>
          <a:ln w="14604">
            <a:solidFill>
              <a:srgbClr val="0b5bb5"/>
            </a:solidFill>
          </a:ln>
        </p:spPr>
        <p:style>
          <a:lnRef idx="2">
            <a:schemeClr val="accent1"/>
          </a:lnRef>
          <a:fillRef idx="0">
            <a:schemeClr val="accent1"/>
          </a:fillRef>
          <a:effectRef idx="1">
            <a:schemeClr val="accent1"/>
          </a:effectRef>
          <a:fontRef idx="minor"/>
        </p:style>
      </p:sp>
      <p:sp>
        <p:nvSpPr>
          <p:cNvPr id="559" name="Connector 202"/>
          <p:cNvSpPr/>
          <p:nvPr/>
        </p:nvSpPr>
        <p:spPr>
          <a:xfrm>
            <a:off x="8262720" y="4334040"/>
            <a:ext cx="36720" cy="360"/>
          </a:xfrm>
          <a:prstGeom prst="line">
            <a:avLst/>
          </a:prstGeom>
          <a:ln w="14604">
            <a:solidFill>
              <a:srgbClr val="0b5bb5"/>
            </a:solidFill>
          </a:ln>
        </p:spPr>
        <p:style>
          <a:lnRef idx="2">
            <a:schemeClr val="accent1"/>
          </a:lnRef>
          <a:fillRef idx="0">
            <a:schemeClr val="accent1"/>
          </a:fillRef>
          <a:effectRef idx="1">
            <a:schemeClr val="accent1"/>
          </a:effectRef>
          <a:fontRef idx="minor"/>
        </p:style>
      </p:sp>
      <p:sp>
        <p:nvSpPr>
          <p:cNvPr id="560" name="Connector 203"/>
          <p:cNvSpPr/>
          <p:nvPr/>
        </p:nvSpPr>
        <p:spPr>
          <a:xfrm>
            <a:off x="8331120" y="4334040"/>
            <a:ext cx="36720" cy="360"/>
          </a:xfrm>
          <a:prstGeom prst="line">
            <a:avLst/>
          </a:prstGeom>
          <a:ln w="14604">
            <a:solidFill>
              <a:srgbClr val="0b5bb5"/>
            </a:solidFill>
          </a:ln>
        </p:spPr>
        <p:style>
          <a:lnRef idx="2">
            <a:schemeClr val="accent1"/>
          </a:lnRef>
          <a:fillRef idx="0">
            <a:schemeClr val="accent1"/>
          </a:fillRef>
          <a:effectRef idx="1">
            <a:schemeClr val="accent1"/>
          </a:effectRef>
          <a:fontRef idx="minor"/>
        </p:style>
      </p:sp>
      <p:sp>
        <p:nvSpPr>
          <p:cNvPr id="561" name="Oval 204"/>
          <p:cNvSpPr/>
          <p:nvPr/>
        </p:nvSpPr>
        <p:spPr>
          <a:xfrm>
            <a:off x="8102880" y="4288320"/>
            <a:ext cx="91080" cy="91080"/>
          </a:xfrm>
          <a:prstGeom prst="ellipse">
            <a:avLst/>
          </a:prstGeom>
          <a:solidFill>
            <a:srgbClr val="0b5bb5"/>
          </a:solidFill>
          <a:ln w="10160">
            <a:solidFill>
              <a:srgbClr val="0b5bb5"/>
            </a:solidFill>
          </a:ln>
        </p:spPr>
        <p:style>
          <a:lnRef idx="1">
            <a:schemeClr val="accent1"/>
          </a:lnRef>
          <a:fillRef idx="3">
            <a:schemeClr val="accent1"/>
          </a:fillRef>
          <a:effectRef idx="2">
            <a:schemeClr val="accent1"/>
          </a:effectRef>
          <a:fontRef idx="minor"/>
        </p:style>
      </p:sp>
      <p:sp>
        <p:nvSpPr>
          <p:cNvPr id="562" name="Oval 205"/>
          <p:cNvSpPr/>
          <p:nvPr/>
        </p:nvSpPr>
        <p:spPr>
          <a:xfrm>
            <a:off x="8368200" y="4288320"/>
            <a:ext cx="91080" cy="91080"/>
          </a:xfrm>
          <a:prstGeom prst="ellipse">
            <a:avLst/>
          </a:prstGeom>
          <a:solidFill>
            <a:srgbClr val="219455"/>
          </a:solidFill>
          <a:ln w="10160">
            <a:solidFill>
              <a:srgbClr val="219455"/>
            </a:solidFill>
          </a:ln>
        </p:spPr>
        <p:style>
          <a:lnRef idx="1">
            <a:schemeClr val="accent1"/>
          </a:lnRef>
          <a:fillRef idx="3">
            <a:schemeClr val="accent1"/>
          </a:fillRef>
          <a:effectRef idx="2">
            <a:schemeClr val="accent1"/>
          </a:effectRef>
          <a:fontRef idx="minor"/>
        </p:style>
      </p:sp>
      <p:sp>
        <p:nvSpPr>
          <p:cNvPr id="563" name="Oval 206"/>
          <p:cNvSpPr/>
          <p:nvPr/>
        </p:nvSpPr>
        <p:spPr>
          <a:xfrm>
            <a:off x="8621640" y="4393800"/>
            <a:ext cx="123120" cy="123120"/>
          </a:xfrm>
          <a:prstGeom prst="ellipse">
            <a:avLst/>
          </a:prstGeom>
          <a:solidFill>
            <a:srgbClr val="a7d492"/>
          </a:solidFill>
          <a:ln w="8255">
            <a:solidFill>
              <a:srgbClr val="219455"/>
            </a:solidFill>
          </a:ln>
        </p:spPr>
        <p:style>
          <a:lnRef idx="1">
            <a:schemeClr val="accent1"/>
          </a:lnRef>
          <a:fillRef idx="3">
            <a:schemeClr val="accent1"/>
          </a:fillRef>
          <a:effectRef idx="2">
            <a:schemeClr val="accent1"/>
          </a:effectRef>
          <a:fontRef idx="minor"/>
        </p:style>
      </p:sp>
      <p:sp>
        <p:nvSpPr>
          <p:cNvPr id="564" name="Oval 207"/>
          <p:cNvSpPr/>
          <p:nvPr/>
        </p:nvSpPr>
        <p:spPr>
          <a:xfrm>
            <a:off x="7158600" y="4843080"/>
            <a:ext cx="123120" cy="123120"/>
          </a:xfrm>
          <a:prstGeom prst="ellipse">
            <a:avLst/>
          </a:prstGeom>
          <a:solidFill>
            <a:srgbClr val="f5b073"/>
          </a:solidFill>
          <a:ln w="8255">
            <a:solidFill>
              <a:srgbClr val="f07a19"/>
            </a:solidFill>
          </a:ln>
        </p:spPr>
        <p:style>
          <a:lnRef idx="1">
            <a:schemeClr val="accent1"/>
          </a:lnRef>
          <a:fillRef idx="3">
            <a:schemeClr val="accent1"/>
          </a:fillRef>
          <a:effectRef idx="2">
            <a:schemeClr val="accent1"/>
          </a:effectRef>
          <a:fontRef idx="minor"/>
        </p:style>
      </p:sp>
      <p:sp>
        <p:nvSpPr>
          <p:cNvPr id="565" name="Connector 208"/>
          <p:cNvSpPr/>
          <p:nvPr/>
        </p:nvSpPr>
        <p:spPr>
          <a:xfrm>
            <a:off x="7883280" y="4833360"/>
            <a:ext cx="36360" cy="360"/>
          </a:xfrm>
          <a:prstGeom prst="line">
            <a:avLst/>
          </a:prstGeom>
          <a:ln w="14604">
            <a:solidFill>
              <a:srgbClr val="0b5bb5"/>
            </a:solidFill>
          </a:ln>
        </p:spPr>
        <p:style>
          <a:lnRef idx="2">
            <a:schemeClr val="accent1"/>
          </a:lnRef>
          <a:fillRef idx="0">
            <a:schemeClr val="accent1"/>
          </a:fillRef>
          <a:effectRef idx="1">
            <a:schemeClr val="accent1"/>
          </a:effectRef>
          <a:fontRef idx="minor"/>
        </p:style>
      </p:sp>
      <p:sp>
        <p:nvSpPr>
          <p:cNvPr id="566" name="Connector 209"/>
          <p:cNvSpPr/>
          <p:nvPr/>
        </p:nvSpPr>
        <p:spPr>
          <a:xfrm>
            <a:off x="7951680" y="4833360"/>
            <a:ext cx="36720" cy="360"/>
          </a:xfrm>
          <a:prstGeom prst="line">
            <a:avLst/>
          </a:prstGeom>
          <a:ln w="14604">
            <a:solidFill>
              <a:srgbClr val="0b5bb5"/>
            </a:solidFill>
          </a:ln>
        </p:spPr>
        <p:style>
          <a:lnRef idx="2">
            <a:schemeClr val="accent1"/>
          </a:lnRef>
          <a:fillRef idx="0">
            <a:schemeClr val="accent1"/>
          </a:fillRef>
          <a:effectRef idx="1">
            <a:schemeClr val="accent1"/>
          </a:effectRef>
          <a:fontRef idx="minor"/>
        </p:style>
      </p:sp>
      <p:sp>
        <p:nvSpPr>
          <p:cNvPr id="567" name="Connector 210"/>
          <p:cNvSpPr/>
          <p:nvPr/>
        </p:nvSpPr>
        <p:spPr>
          <a:xfrm>
            <a:off x="8020440" y="4833360"/>
            <a:ext cx="36360" cy="360"/>
          </a:xfrm>
          <a:prstGeom prst="line">
            <a:avLst/>
          </a:prstGeom>
          <a:ln w="14604">
            <a:solidFill>
              <a:srgbClr val="0b5bb5"/>
            </a:solidFill>
          </a:ln>
        </p:spPr>
        <p:style>
          <a:lnRef idx="2">
            <a:schemeClr val="accent1"/>
          </a:lnRef>
          <a:fillRef idx="0">
            <a:schemeClr val="accent1"/>
          </a:fillRef>
          <a:effectRef idx="1">
            <a:schemeClr val="accent1"/>
          </a:effectRef>
          <a:fontRef idx="minor"/>
        </p:style>
      </p:sp>
      <p:sp>
        <p:nvSpPr>
          <p:cNvPr id="568" name="Oval 211"/>
          <p:cNvSpPr/>
          <p:nvPr/>
        </p:nvSpPr>
        <p:spPr>
          <a:xfrm>
            <a:off x="7791840" y="4787640"/>
            <a:ext cx="91080" cy="91080"/>
          </a:xfrm>
          <a:prstGeom prst="ellipse">
            <a:avLst/>
          </a:prstGeom>
          <a:solidFill>
            <a:srgbClr val="0b5bb5"/>
          </a:solidFill>
          <a:ln w="10160">
            <a:solidFill>
              <a:srgbClr val="0b5bb5"/>
            </a:solidFill>
          </a:ln>
        </p:spPr>
        <p:style>
          <a:lnRef idx="1">
            <a:schemeClr val="accent1"/>
          </a:lnRef>
          <a:fillRef idx="3">
            <a:schemeClr val="accent1"/>
          </a:fillRef>
          <a:effectRef idx="2">
            <a:schemeClr val="accent1"/>
          </a:effectRef>
          <a:fontRef idx="minor"/>
        </p:style>
      </p:sp>
      <p:sp>
        <p:nvSpPr>
          <p:cNvPr id="569" name="Oval 212"/>
          <p:cNvSpPr/>
          <p:nvPr/>
        </p:nvSpPr>
        <p:spPr>
          <a:xfrm>
            <a:off x="8057160" y="4787640"/>
            <a:ext cx="91080" cy="91080"/>
          </a:xfrm>
          <a:prstGeom prst="ellipse">
            <a:avLst/>
          </a:prstGeom>
          <a:solidFill>
            <a:srgbClr val="f07a19"/>
          </a:solidFill>
          <a:ln w="10160">
            <a:solidFill>
              <a:srgbClr val="f07a19"/>
            </a:solidFill>
          </a:ln>
        </p:spPr>
        <p:style>
          <a:lnRef idx="1">
            <a:schemeClr val="accent1"/>
          </a:lnRef>
          <a:fillRef idx="3">
            <a:schemeClr val="accent1"/>
          </a:fillRef>
          <a:effectRef idx="2">
            <a:schemeClr val="accent1"/>
          </a:effectRef>
          <a:fontRef idx="minor"/>
        </p:style>
      </p:sp>
      <p:sp>
        <p:nvSpPr>
          <p:cNvPr id="570" name="Oval 213"/>
          <p:cNvSpPr/>
          <p:nvPr/>
        </p:nvSpPr>
        <p:spPr>
          <a:xfrm>
            <a:off x="8466480" y="4871520"/>
            <a:ext cx="123120" cy="123120"/>
          </a:xfrm>
          <a:prstGeom prst="ellipse">
            <a:avLst/>
          </a:prstGeom>
          <a:solidFill>
            <a:srgbClr val="a7d492"/>
          </a:solidFill>
          <a:ln w="8255">
            <a:solidFill>
              <a:srgbClr val="219455"/>
            </a:solidFill>
          </a:ln>
        </p:spPr>
        <p:style>
          <a:lnRef idx="1">
            <a:schemeClr val="accent1"/>
          </a:lnRef>
          <a:fillRef idx="3">
            <a:schemeClr val="accent1"/>
          </a:fillRef>
          <a:effectRef idx="2">
            <a:schemeClr val="accent1"/>
          </a:effectRef>
          <a:fontRef idx="minor"/>
        </p:style>
      </p:sp>
      <p:sp>
        <p:nvSpPr>
          <p:cNvPr id="571" name="Oval 214"/>
          <p:cNvSpPr/>
          <p:nvPr/>
        </p:nvSpPr>
        <p:spPr>
          <a:xfrm>
            <a:off x="7515360" y="5249520"/>
            <a:ext cx="123120" cy="123120"/>
          </a:xfrm>
          <a:prstGeom prst="ellipse">
            <a:avLst/>
          </a:prstGeom>
          <a:solidFill>
            <a:srgbClr val="f5b073"/>
          </a:solidFill>
          <a:ln w="8255">
            <a:solidFill>
              <a:srgbClr val="f07a19"/>
            </a:solidFill>
          </a:ln>
        </p:spPr>
        <p:style>
          <a:lnRef idx="1">
            <a:schemeClr val="accent1"/>
          </a:lnRef>
          <a:fillRef idx="3">
            <a:schemeClr val="accent1"/>
          </a:fillRef>
          <a:effectRef idx="2">
            <a:schemeClr val="accent1"/>
          </a:effectRef>
          <a:fontRef idx="minor"/>
        </p:style>
      </p:sp>
      <p:sp>
        <p:nvSpPr>
          <p:cNvPr id="572" name="Oval 215"/>
          <p:cNvSpPr/>
          <p:nvPr/>
        </p:nvSpPr>
        <p:spPr>
          <a:xfrm>
            <a:off x="8210160" y="5249520"/>
            <a:ext cx="123120" cy="123120"/>
          </a:xfrm>
          <a:prstGeom prst="ellipse">
            <a:avLst/>
          </a:prstGeom>
          <a:solidFill>
            <a:srgbClr val="f5b073"/>
          </a:solidFill>
          <a:ln w="8255">
            <a:solidFill>
              <a:srgbClr val="f07a19"/>
            </a:solidFill>
          </a:ln>
        </p:spPr>
        <p:style>
          <a:lnRef idx="1">
            <a:schemeClr val="accent1"/>
          </a:lnRef>
          <a:fillRef idx="3">
            <a:schemeClr val="accent1"/>
          </a:fillRef>
          <a:effectRef idx="2">
            <a:schemeClr val="accent1"/>
          </a:effectRef>
          <a:fontRef idx="minor"/>
        </p:style>
      </p:sp>
      <p:sp>
        <p:nvSpPr>
          <p:cNvPr id="573" name="Oval 216"/>
          <p:cNvSpPr/>
          <p:nvPr/>
        </p:nvSpPr>
        <p:spPr>
          <a:xfrm>
            <a:off x="7622640" y="4324320"/>
            <a:ext cx="219240" cy="219240"/>
          </a:xfrm>
          <a:prstGeom prst="ellipse">
            <a:avLst/>
          </a:prstGeom>
          <a:noFill/>
          <a:ln w="15240">
            <a:solidFill>
              <a:srgbClr val="e32227"/>
            </a:solidFill>
          </a:ln>
        </p:spPr>
        <p:style>
          <a:lnRef idx="1">
            <a:schemeClr val="accent1"/>
          </a:lnRef>
          <a:fillRef idx="3">
            <a:schemeClr val="accent1"/>
          </a:fillRef>
          <a:effectRef idx="2">
            <a:schemeClr val="accent1"/>
          </a:effectRef>
          <a:fontRef idx="minor"/>
        </p:style>
      </p:sp>
      <p:sp>
        <p:nvSpPr>
          <p:cNvPr id="574" name="Oval 217"/>
          <p:cNvSpPr/>
          <p:nvPr/>
        </p:nvSpPr>
        <p:spPr>
          <a:xfrm>
            <a:off x="7110720" y="4794840"/>
            <a:ext cx="219240" cy="219240"/>
          </a:xfrm>
          <a:prstGeom prst="ellipse">
            <a:avLst/>
          </a:prstGeom>
          <a:noFill/>
          <a:ln w="15240">
            <a:solidFill>
              <a:srgbClr val="e32227"/>
            </a:solidFill>
          </a:ln>
        </p:spPr>
        <p:style>
          <a:lnRef idx="1">
            <a:schemeClr val="accent1"/>
          </a:lnRef>
          <a:fillRef idx="3">
            <a:schemeClr val="accent1"/>
          </a:fillRef>
          <a:effectRef idx="2">
            <a:schemeClr val="accent1"/>
          </a:effectRef>
          <a:fontRef idx="minor"/>
        </p:style>
      </p:sp>
      <p:sp>
        <p:nvSpPr>
          <p:cNvPr id="575" name="Oval 218"/>
          <p:cNvSpPr/>
          <p:nvPr/>
        </p:nvSpPr>
        <p:spPr>
          <a:xfrm>
            <a:off x="7467480" y="5201640"/>
            <a:ext cx="219240" cy="219240"/>
          </a:xfrm>
          <a:prstGeom prst="ellipse">
            <a:avLst/>
          </a:prstGeom>
          <a:noFill/>
          <a:ln w="15240">
            <a:solidFill>
              <a:srgbClr val="e32227"/>
            </a:solidFill>
          </a:ln>
        </p:spPr>
        <p:style>
          <a:lnRef idx="1">
            <a:schemeClr val="accent1"/>
          </a:lnRef>
          <a:fillRef idx="3">
            <a:schemeClr val="accent1"/>
          </a:fillRef>
          <a:effectRef idx="2">
            <a:schemeClr val="accent1"/>
          </a:effectRef>
          <a:fontRef idx="minor"/>
        </p:style>
      </p:sp>
      <p:sp>
        <p:nvSpPr>
          <p:cNvPr id="576" name="Oval 219"/>
          <p:cNvSpPr/>
          <p:nvPr/>
        </p:nvSpPr>
        <p:spPr>
          <a:xfrm>
            <a:off x="7000920" y="5677920"/>
            <a:ext cx="72720" cy="72720"/>
          </a:xfrm>
          <a:prstGeom prst="ellipse">
            <a:avLst/>
          </a:prstGeom>
          <a:solidFill>
            <a:srgbClr val="0b5bb5"/>
          </a:solidFill>
          <a:ln w="5080">
            <a:solidFill>
              <a:srgbClr val="0b5bb5"/>
            </a:solidFill>
          </a:ln>
        </p:spPr>
        <p:style>
          <a:lnRef idx="1">
            <a:schemeClr val="accent1"/>
          </a:lnRef>
          <a:fillRef idx="3">
            <a:schemeClr val="accent1"/>
          </a:fillRef>
          <a:effectRef idx="2">
            <a:schemeClr val="accent1"/>
          </a:effectRef>
          <a:fontRef idx="minor"/>
        </p:style>
      </p:sp>
      <p:sp>
        <p:nvSpPr>
          <p:cNvPr id="577" name="Oval 220"/>
          <p:cNvSpPr/>
          <p:nvPr/>
        </p:nvSpPr>
        <p:spPr>
          <a:xfrm>
            <a:off x="7065000" y="5677920"/>
            <a:ext cx="72720" cy="72720"/>
          </a:xfrm>
          <a:prstGeom prst="ellipse">
            <a:avLst/>
          </a:prstGeom>
          <a:solidFill>
            <a:srgbClr val="219455"/>
          </a:solidFill>
          <a:ln w="5080">
            <a:solidFill>
              <a:srgbClr val="219455"/>
            </a:solidFill>
          </a:ln>
        </p:spPr>
        <p:style>
          <a:lnRef idx="1">
            <a:schemeClr val="accent1"/>
          </a:lnRef>
          <a:fillRef idx="3">
            <a:schemeClr val="accent1"/>
          </a:fillRef>
          <a:effectRef idx="2">
            <a:schemeClr val="accent1"/>
          </a:effectRef>
          <a:fontRef idx="minor"/>
        </p:style>
      </p:sp>
      <p:sp>
        <p:nvSpPr>
          <p:cNvPr id="578" name="TextBox 221"/>
          <p:cNvSpPr/>
          <p:nvPr/>
        </p:nvSpPr>
        <p:spPr>
          <a:xfrm>
            <a:off x="7193160" y="5641560"/>
            <a:ext cx="1462680" cy="12708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800" spc="-1" strike="noStrike">
                <a:solidFill>
                  <a:srgbClr val="0b5bb5"/>
                </a:solidFill>
                <a:latin typeface="微软雅黑"/>
              </a:rPr>
              <a:t>双色节点：跨区共享边界</a:t>
            </a:r>
            <a:endParaRPr b="0" lang="en-US" sz="800" spc="-1" strike="noStrike">
              <a:latin typeface="Arial"/>
            </a:endParaRPr>
          </a:p>
        </p:txBody>
      </p:sp>
      <p:sp>
        <p:nvSpPr>
          <p:cNvPr id="579" name="Connector 222"/>
          <p:cNvSpPr/>
          <p:nvPr/>
        </p:nvSpPr>
        <p:spPr>
          <a:xfrm>
            <a:off x="7019280" y="5933880"/>
            <a:ext cx="146160" cy="360"/>
          </a:xfrm>
          <a:prstGeom prst="line">
            <a:avLst/>
          </a:prstGeom>
          <a:ln w="8255">
            <a:solidFill>
              <a:srgbClr val="0b5bb5"/>
            </a:solidFill>
            <a:prstDash val="dash"/>
          </a:ln>
        </p:spPr>
        <p:style>
          <a:lnRef idx="2">
            <a:schemeClr val="accent1"/>
          </a:lnRef>
          <a:fillRef idx="0">
            <a:schemeClr val="accent1"/>
          </a:fillRef>
          <a:effectRef idx="1">
            <a:schemeClr val="accent1"/>
          </a:effectRef>
          <a:fontRef idx="minor"/>
        </p:style>
      </p:sp>
      <p:sp>
        <p:nvSpPr>
          <p:cNvPr id="580" name="TextBox 223"/>
          <p:cNvSpPr/>
          <p:nvPr/>
        </p:nvSpPr>
        <p:spPr>
          <a:xfrm>
            <a:off x="7202160" y="5861160"/>
            <a:ext cx="1444320" cy="12708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800" spc="-1" strike="noStrike">
                <a:solidFill>
                  <a:srgbClr val="0b5bb5"/>
                </a:solidFill>
                <a:latin typeface="微软雅黑"/>
              </a:rPr>
              <a:t>虚线：边界节点复制关系</a:t>
            </a:r>
            <a:endParaRPr b="0" lang="en-US" sz="800" spc="-1" strike="noStrike">
              <a:latin typeface="Arial"/>
            </a:endParaRPr>
          </a:p>
        </p:txBody>
      </p:sp>
      <p:sp>
        <p:nvSpPr>
          <p:cNvPr id="581" name="Rounded Rectangle 224"/>
          <p:cNvSpPr/>
          <p:nvPr/>
        </p:nvSpPr>
        <p:spPr>
          <a:xfrm>
            <a:off x="9059400" y="2644200"/>
            <a:ext cx="2797560" cy="1188360"/>
          </a:xfrm>
          <a:prstGeom prst="roundRect">
            <a:avLst>
              <a:gd name="adj" fmla="val 16667"/>
            </a:avLst>
          </a:prstGeom>
          <a:solidFill>
            <a:srgbClr val="f8fbfe"/>
          </a:solidFill>
          <a:ln w="10160">
            <a:solidFill>
              <a:srgbClr val="0b5bb5"/>
            </a:solidFill>
          </a:ln>
        </p:spPr>
        <p:style>
          <a:lnRef idx="1">
            <a:schemeClr val="accent1"/>
          </a:lnRef>
          <a:fillRef idx="3">
            <a:schemeClr val="accent1"/>
          </a:fillRef>
          <a:effectRef idx="2">
            <a:schemeClr val="accent1"/>
          </a:effectRef>
          <a:fontRef idx="minor"/>
        </p:style>
      </p:sp>
      <p:sp>
        <p:nvSpPr>
          <p:cNvPr id="582" name="TextBox 225"/>
          <p:cNvSpPr/>
          <p:nvPr/>
        </p:nvSpPr>
        <p:spPr>
          <a:xfrm>
            <a:off x="9242280" y="2734200"/>
            <a:ext cx="2431800" cy="22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400" spc="-1" strike="noStrike">
                <a:solidFill>
                  <a:srgbClr val="0b5bb5"/>
                </a:solidFill>
                <a:latin typeface="微软雅黑"/>
              </a:rPr>
              <a:t>种子选择准则</a:t>
            </a:r>
            <a:endParaRPr b="0" lang="en-US" sz="1400" spc="-1" strike="noStrike">
              <a:latin typeface="Arial"/>
            </a:endParaRPr>
          </a:p>
        </p:txBody>
      </p:sp>
      <p:pic>
        <p:nvPicPr>
          <p:cNvPr id="583" name="Picture 226" descr="p3_seed_formula_one.png"/>
          <p:cNvPicPr/>
          <p:nvPr/>
        </p:nvPicPr>
        <p:blipFill>
          <a:blip r:embed="rId1"/>
          <a:stretch/>
        </p:blipFill>
        <p:spPr>
          <a:xfrm>
            <a:off x="9823320" y="3046320"/>
            <a:ext cx="1269720" cy="273960"/>
          </a:xfrm>
          <a:prstGeom prst="rect">
            <a:avLst/>
          </a:prstGeom>
          <a:ln w="0">
            <a:noFill/>
          </a:ln>
        </p:spPr>
      </p:pic>
      <p:pic>
        <p:nvPicPr>
          <p:cNvPr id="584" name="Picture 227" descr="p3_seed_formula_next.png"/>
          <p:cNvPicPr/>
          <p:nvPr/>
        </p:nvPicPr>
        <p:blipFill>
          <a:blip r:embed="rId2"/>
          <a:stretch/>
        </p:blipFill>
        <p:spPr>
          <a:xfrm>
            <a:off x="9485640" y="3412080"/>
            <a:ext cx="1945080" cy="273960"/>
          </a:xfrm>
          <a:prstGeom prst="rect">
            <a:avLst/>
          </a:prstGeom>
          <a:ln w="0">
            <a:noFill/>
          </a:ln>
        </p:spPr>
      </p:pic>
      <p:sp>
        <p:nvSpPr>
          <p:cNvPr id="585" name="Rounded Rectangle 228"/>
          <p:cNvSpPr/>
          <p:nvPr/>
        </p:nvSpPr>
        <p:spPr>
          <a:xfrm>
            <a:off x="9059400" y="4015800"/>
            <a:ext cx="2797560" cy="968760"/>
          </a:xfrm>
          <a:prstGeom prst="roundRect">
            <a:avLst>
              <a:gd name="adj" fmla="val 16667"/>
            </a:avLst>
          </a:prstGeom>
          <a:solidFill>
            <a:srgbClr val="f3f7fb"/>
          </a:solidFill>
          <a:ln w="10160">
            <a:solidFill>
              <a:srgbClr val="8fb1d2"/>
            </a:solidFill>
          </a:ln>
        </p:spPr>
        <p:style>
          <a:lnRef idx="1">
            <a:schemeClr val="accent1"/>
          </a:lnRef>
          <a:fillRef idx="3">
            <a:schemeClr val="accent1"/>
          </a:fillRef>
          <a:effectRef idx="2">
            <a:schemeClr val="accent1"/>
          </a:effectRef>
          <a:fontRef idx="minor"/>
        </p:style>
      </p:sp>
      <p:sp>
        <p:nvSpPr>
          <p:cNvPr id="586" name="TextBox 229"/>
          <p:cNvSpPr/>
          <p:nvPr/>
        </p:nvSpPr>
        <p:spPr>
          <a:xfrm>
            <a:off x="9242280" y="4110120"/>
            <a:ext cx="2431800" cy="203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280" spc="-1" strike="noStrike">
                <a:solidFill>
                  <a:srgbClr val="0b5bb5"/>
                </a:solidFill>
                <a:latin typeface="微软雅黑"/>
              </a:rPr>
              <a:t>选种策略</a:t>
            </a:r>
            <a:endParaRPr b="0" lang="en-US" sz="1280" spc="-1" strike="noStrike">
              <a:latin typeface="Arial"/>
            </a:endParaRPr>
          </a:p>
        </p:txBody>
      </p:sp>
      <p:sp>
        <p:nvSpPr>
          <p:cNvPr id="587" name="TextBox 230"/>
          <p:cNvSpPr/>
          <p:nvPr/>
        </p:nvSpPr>
        <p:spPr>
          <a:xfrm>
            <a:off x="9260640" y="4438440"/>
            <a:ext cx="2395440" cy="361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100" spc="-1" strike="noStrike">
                <a:solidFill>
                  <a:srgbClr val="181b1d"/>
                </a:solidFill>
                <a:latin typeface="微软雅黑"/>
              </a:rPr>
              <a:t>接口锚点优先</a:t>
            </a:r>
            <a:endParaRPr b="0" lang="en-US" sz="1100" spc="-1" strike="noStrike">
              <a:latin typeface="Arial"/>
            </a:endParaRPr>
          </a:p>
          <a:p>
            <a:pPr algn="ctr">
              <a:lnSpc>
                <a:spcPct val="104000"/>
              </a:lnSpc>
              <a:spcAft>
                <a:spcPts val="99"/>
              </a:spcAft>
              <a:buNone/>
            </a:pPr>
            <a:r>
              <a:rPr b="0" lang="zh-CN" sz="1100" spc="-1" strike="noStrike">
                <a:solidFill>
                  <a:srgbClr val="181b1d"/>
                </a:solidFill>
                <a:latin typeface="微软雅黑"/>
              </a:rPr>
              <a:t>按拓扑最远距离递推选择后续种子</a:t>
            </a:r>
            <a:endParaRPr b="0" lang="en-US" sz="1100" spc="-1" strike="noStrike">
              <a:latin typeface="Arial"/>
            </a:endParaRPr>
          </a:p>
        </p:txBody>
      </p:sp>
      <p:sp>
        <p:nvSpPr>
          <p:cNvPr id="588" name="Rounded Rectangle 231"/>
          <p:cNvSpPr/>
          <p:nvPr/>
        </p:nvSpPr>
        <p:spPr>
          <a:xfrm>
            <a:off x="9059400" y="5131440"/>
            <a:ext cx="2797560" cy="1023840"/>
          </a:xfrm>
          <a:prstGeom prst="roundRect">
            <a:avLst>
              <a:gd name="adj" fmla="val 16667"/>
            </a:avLst>
          </a:prstGeom>
          <a:solidFill>
            <a:srgbClr val="f3f9f7"/>
          </a:solidFill>
          <a:ln w="10160">
            <a:solidFill>
              <a:srgbClr val="8fbda7"/>
            </a:solidFill>
          </a:ln>
        </p:spPr>
        <p:style>
          <a:lnRef idx="1">
            <a:schemeClr val="accent1"/>
          </a:lnRef>
          <a:fillRef idx="3">
            <a:schemeClr val="accent1"/>
          </a:fillRef>
          <a:effectRef idx="2">
            <a:schemeClr val="accent1"/>
          </a:effectRef>
          <a:fontRef idx="minor"/>
        </p:style>
      </p:sp>
      <p:sp>
        <p:nvSpPr>
          <p:cNvPr id="589" name="TextBox 232"/>
          <p:cNvSpPr/>
          <p:nvPr/>
        </p:nvSpPr>
        <p:spPr>
          <a:xfrm>
            <a:off x="9242280" y="5225760"/>
            <a:ext cx="2431800" cy="203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280" spc="-1" strike="noStrike">
                <a:solidFill>
                  <a:srgbClr val="005d58"/>
                </a:solidFill>
                <a:latin typeface="微软雅黑"/>
              </a:rPr>
              <a:t>区域生长与边界处理</a:t>
            </a:r>
            <a:endParaRPr b="0" lang="en-US" sz="1280" spc="-1" strike="noStrike">
              <a:latin typeface="Arial"/>
            </a:endParaRPr>
          </a:p>
        </p:txBody>
      </p:sp>
      <p:sp>
        <p:nvSpPr>
          <p:cNvPr id="590" name="TextBox 233"/>
          <p:cNvSpPr/>
          <p:nvPr/>
        </p:nvSpPr>
        <p:spPr>
          <a:xfrm>
            <a:off x="9242280" y="5570280"/>
            <a:ext cx="2431800" cy="3646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1110" spc="-1" strike="noStrike">
                <a:solidFill>
                  <a:srgbClr val="181b1d"/>
                </a:solidFill>
                <a:latin typeface="微软雅黑"/>
              </a:rPr>
              <a:t>多源同步扩展形成连通子区</a:t>
            </a:r>
            <a:endParaRPr b="0" lang="en-US" sz="1110" spc="-1" strike="noStrike">
              <a:latin typeface="Arial"/>
            </a:endParaRPr>
          </a:p>
          <a:p>
            <a:pPr algn="ctr">
              <a:lnSpc>
                <a:spcPct val="104000"/>
              </a:lnSpc>
              <a:spcAft>
                <a:spcPts val="99"/>
              </a:spcAft>
              <a:buNone/>
            </a:pPr>
            <a:r>
              <a:rPr b="0" lang="zh-CN" sz="1110" spc="-1" strike="noStrike">
                <a:solidFill>
                  <a:srgbClr val="181b1d"/>
                </a:solidFill>
                <a:latin typeface="微软雅黑"/>
              </a:rPr>
              <a:t>跨区邻接节点在相邻子区共同保留</a:t>
            </a:r>
            <a:endParaRPr b="0" lang="en-US" sz="1110" spc="-1" strike="noStrike">
              <a:latin typeface="Arial"/>
            </a:endParaRPr>
          </a:p>
        </p:txBody>
      </p:sp>
      <p:sp>
        <p:nvSpPr>
          <p:cNvPr id="591" name="Rounded Rectangle 234"/>
          <p:cNvSpPr/>
          <p:nvPr/>
        </p:nvSpPr>
        <p:spPr>
          <a:xfrm>
            <a:off x="9114120" y="6301800"/>
            <a:ext cx="2688120" cy="328680"/>
          </a:xfrm>
          <a:prstGeom prst="roundRect">
            <a:avLst>
              <a:gd name="adj" fmla="val 16667"/>
            </a:avLst>
          </a:prstGeom>
          <a:solidFill>
            <a:srgbClr val="ecf3fa"/>
          </a:solidFill>
          <a:ln w="8890">
            <a:solidFill>
              <a:srgbClr val="93b2d0"/>
            </a:solidFill>
          </a:ln>
        </p:spPr>
        <p:style>
          <a:lnRef idx="1">
            <a:schemeClr val="accent1"/>
          </a:lnRef>
          <a:fillRef idx="3">
            <a:schemeClr val="accent1"/>
          </a:fillRef>
          <a:effectRef idx="2">
            <a:schemeClr val="accent1"/>
          </a:effectRef>
          <a:fontRef idx="minor"/>
        </p:style>
      </p:sp>
      <p:sp>
        <p:nvSpPr>
          <p:cNvPr id="592" name="TextBox 235"/>
          <p:cNvSpPr/>
          <p:nvPr/>
        </p:nvSpPr>
        <p:spPr>
          <a:xfrm>
            <a:off x="9187560" y="6296040"/>
            <a:ext cx="2541600" cy="331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050" spc="-1" strike="noStrike">
                <a:solidFill>
                  <a:srgbClr val="0b5bb5"/>
                </a:solidFill>
                <a:latin typeface="微软雅黑"/>
              </a:rPr>
              <a:t>输出：连通、均衡且边界可协调的主网子区</a:t>
            </a:r>
            <a:endParaRPr b="0" lang="en-US" sz="1050" spc="-1" strike="noStrike">
              <a:latin typeface="Arial"/>
            </a:endParaRPr>
          </a:p>
        </p:txBody>
      </p:sp>
    </p:spTree>
  </p:cSld>
  <mc:AlternateContent>
    <mc:Choice Requires="p14">
      <p:transition spd="slow" advTm="12000" p14:dur="2000"/>
    </mc:Choice>
    <mc:Fallback>
      <p:transition spd="slow" advTm="12000"/>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594"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595"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grpSp>
        <p:nvGrpSpPr>
          <p:cNvPr id="596" name="组合 7"/>
          <p:cNvGrpSpPr/>
          <p:nvPr/>
        </p:nvGrpSpPr>
        <p:grpSpPr>
          <a:xfrm>
            <a:off x="325800" y="1364040"/>
            <a:ext cx="11380320" cy="1223280"/>
            <a:chOff x="325800" y="1364040"/>
            <a:chExt cx="11380320" cy="1223280"/>
          </a:xfrm>
        </p:grpSpPr>
        <p:sp>
          <p:nvSpPr>
            <p:cNvPr id="597" name="任意多边形: 形状 128"/>
            <p:cNvSpPr/>
            <p:nvPr/>
          </p:nvSpPr>
          <p:spPr>
            <a:xfrm>
              <a:off x="325800" y="1463400"/>
              <a:ext cx="906120" cy="1049760"/>
            </a:xfrm>
            <a:custGeom>
              <a:avLst/>
              <a:gdLst/>
              <a:ahLst/>
              <a:rect l="l" t="t" r="r" b="b"/>
              <a:pathLst>
                <a:path w="906993" h="884766">
                  <a:moveTo>
                    <a:pt x="0" y="0"/>
                  </a:moveTo>
                  <a:lnTo>
                    <a:pt x="830106" y="0"/>
                  </a:lnTo>
                  <a:lnTo>
                    <a:pt x="830106" y="390642"/>
                  </a:lnTo>
                  <a:lnTo>
                    <a:pt x="906993" y="442382"/>
                  </a:lnTo>
                  <a:lnTo>
                    <a:pt x="830106" y="494122"/>
                  </a:lnTo>
                  <a:lnTo>
                    <a:pt x="830106" y="884766"/>
                  </a:lnTo>
                  <a:lnTo>
                    <a:pt x="0" y="884766"/>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598" name="文本框 129"/>
            <p:cNvSpPr/>
            <p:nvPr/>
          </p:nvSpPr>
          <p:spPr>
            <a:xfrm>
              <a:off x="383040" y="1632960"/>
              <a:ext cx="728280" cy="70380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技术创新</a:t>
              </a:r>
              <a:endParaRPr b="0" lang="en-US" sz="1979" spc="-1" strike="noStrike">
                <a:latin typeface="Arial"/>
              </a:endParaRPr>
            </a:p>
          </p:txBody>
        </p:sp>
        <p:sp>
          <p:nvSpPr>
            <p:cNvPr id="599" name="文本框 55"/>
            <p:cNvSpPr/>
            <p:nvPr/>
          </p:nvSpPr>
          <p:spPr>
            <a:xfrm>
              <a:off x="1232640" y="1364040"/>
              <a:ext cx="10473480" cy="1223280"/>
            </a:xfrm>
            <a:prstGeom prst="rect">
              <a:avLst/>
            </a:prstGeom>
            <a:noFill/>
            <a:ln w="9525">
              <a:noFill/>
            </a:ln>
          </p:spPr>
          <p:style>
            <a:lnRef idx="0"/>
            <a:fillRef idx="0"/>
            <a:effectRef idx="0"/>
            <a:fontRef idx="minor"/>
          </p:style>
          <p:txBody>
            <a:bodyPr lIns="90000" rIns="90000" tIns="45000" bIns="45000" anchor="t">
              <a:noAutofit/>
            </a:bodyPr>
            <a:p>
              <a:pPr algn="just">
                <a:lnSpc>
                  <a:spcPct val="120000"/>
                </a:lnSpc>
                <a:spcBef>
                  <a:spcPts val="601"/>
                </a:spcBef>
                <a:buNone/>
                <a:tabLst>
                  <a:tab algn="l" pos="0"/>
                </a:tabLst>
              </a:pPr>
              <a:r>
                <a:rPr b="0" lang="zh-CN" sz="2000" spc="-1" strike="noStrike">
                  <a:solidFill>
                    <a:srgbClr val="000000"/>
                  </a:solidFill>
                  <a:latin typeface="微软雅黑"/>
                  <a:ea typeface="微软雅黑"/>
                </a:rPr>
                <a:t>将配电网转换为带节点权和支路权的图模型，以负荷与注入表征计算权重，以阻抗和潮流表征电气耦合。通过多级缩约、</a:t>
              </a:r>
              <a:r>
                <a:rPr b="0" lang="en-US" sz="2000" spc="-1" strike="noStrike">
                  <a:solidFill>
                    <a:srgbClr val="000000"/>
                  </a:solidFill>
                  <a:latin typeface="微软雅黑"/>
                  <a:ea typeface="微软雅黑"/>
                </a:rPr>
                <a:t>k</a:t>
              </a:r>
              <a:r>
                <a:rPr b="0" lang="zh-CN" sz="2000" spc="-1" strike="noStrike">
                  <a:solidFill>
                    <a:srgbClr val="000000"/>
                  </a:solidFill>
                  <a:latin typeface="微软雅黑"/>
                  <a:ea typeface="微软雅黑"/>
                </a:rPr>
                <a:t>路划分、逐级投影及连通修复，形成区内强耦合、区间弱耦合且规模受控的子区。</a:t>
              </a:r>
              <a:endParaRPr b="0" lang="en-US" sz="2000" spc="-1" strike="noStrike">
                <a:latin typeface="Arial"/>
              </a:endParaRPr>
            </a:p>
            <a:p>
              <a:pPr algn="just">
                <a:lnSpc>
                  <a:spcPct val="120000"/>
                </a:lnSpc>
                <a:spcBef>
                  <a:spcPts val="601"/>
                </a:spcBef>
                <a:buNone/>
                <a:tabLst>
                  <a:tab algn="l" pos="0"/>
                </a:tabLst>
              </a:pPr>
              <a:endParaRPr b="0" lang="en-US" sz="2000" spc="-1" strike="noStrike">
                <a:latin typeface="Arial"/>
              </a:endParaRPr>
            </a:p>
          </p:txBody>
        </p:sp>
      </p:grpSp>
      <p:sp>
        <p:nvSpPr>
          <p:cNvPr id="600" name="文本框 30"/>
          <p:cNvSpPr/>
          <p:nvPr/>
        </p:nvSpPr>
        <p:spPr>
          <a:xfrm>
            <a:off x="257760" y="786240"/>
            <a:ext cx="9894960" cy="42948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nSpc>
                <a:spcPct val="100000"/>
              </a:lnSpc>
              <a:buNone/>
            </a:pPr>
            <a:r>
              <a:rPr b="1" lang="zh-CN" sz="2200" spc="-1" strike="noStrike">
                <a:solidFill>
                  <a:srgbClr val="ffffff"/>
                </a:solidFill>
                <a:latin typeface="微软雅黑"/>
                <a:ea typeface="微软雅黑"/>
              </a:rPr>
              <a:t>研究进展</a:t>
            </a:r>
            <a:r>
              <a:rPr b="1" lang="en-US" sz="2200" spc="-1" strike="noStrike">
                <a:solidFill>
                  <a:srgbClr val="ffffff"/>
                </a:solidFill>
                <a:latin typeface="微软雅黑"/>
                <a:ea typeface="微软雅黑"/>
              </a:rPr>
              <a:t>2.2.2</a:t>
            </a:r>
            <a:r>
              <a:rPr b="1" lang="zh-CN" sz="2200" spc="-1" strike="noStrike">
                <a:solidFill>
                  <a:srgbClr val="ffffff"/>
                </a:solidFill>
                <a:latin typeface="微软雅黑"/>
                <a:ea typeface="微软雅黑"/>
              </a:rPr>
              <a:t>：电气耦合约束的配网智能分区方法</a:t>
            </a:r>
            <a:endParaRPr b="0" lang="en-US" sz="2200" spc="-1" strike="noStrike">
              <a:latin typeface="Arial"/>
            </a:endParaRPr>
          </a:p>
        </p:txBody>
      </p:sp>
      <p:sp>
        <p:nvSpPr>
          <p:cNvPr id="601" name="Rounded Rectangle 13"/>
          <p:cNvSpPr/>
          <p:nvPr/>
        </p:nvSpPr>
        <p:spPr>
          <a:xfrm>
            <a:off x="384120" y="2649600"/>
            <a:ext cx="2761200" cy="1974600"/>
          </a:xfrm>
          <a:prstGeom prst="roundRect">
            <a:avLst>
              <a:gd name="adj" fmla="val 16667"/>
            </a:avLst>
          </a:prstGeom>
          <a:solidFill>
            <a:srgbClr val="fcfdfe"/>
          </a:solidFill>
          <a:ln w="9525">
            <a:solidFill>
              <a:srgbClr val="b9c1c5"/>
            </a:solidFill>
          </a:ln>
        </p:spPr>
        <p:style>
          <a:lnRef idx="1">
            <a:schemeClr val="accent1"/>
          </a:lnRef>
          <a:fillRef idx="3">
            <a:schemeClr val="accent1"/>
          </a:fillRef>
          <a:effectRef idx="2">
            <a:schemeClr val="accent1"/>
          </a:effectRef>
          <a:fontRef idx="minor"/>
        </p:style>
      </p:sp>
      <p:sp>
        <p:nvSpPr>
          <p:cNvPr id="602" name="TextBox 14"/>
          <p:cNvSpPr/>
          <p:nvPr/>
        </p:nvSpPr>
        <p:spPr>
          <a:xfrm>
            <a:off x="475560" y="2710800"/>
            <a:ext cx="2578320" cy="206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00" spc="-1" strike="noStrike">
                <a:solidFill>
                  <a:srgbClr val="1e5aa8"/>
                </a:solidFill>
                <a:latin typeface="微软雅黑"/>
              </a:rPr>
              <a:t>①  </a:t>
            </a:r>
            <a:r>
              <a:rPr b="1" lang="zh-CN" sz="1300" spc="-1" strike="noStrike">
                <a:solidFill>
                  <a:srgbClr val="1e5aa8"/>
                </a:solidFill>
                <a:latin typeface="微软雅黑"/>
              </a:rPr>
              <a:t>加权图构建</a:t>
            </a:r>
            <a:endParaRPr b="0" lang="en-US" sz="1300" spc="-1" strike="noStrike">
              <a:latin typeface="Arial"/>
            </a:endParaRPr>
          </a:p>
        </p:txBody>
      </p:sp>
      <p:sp>
        <p:nvSpPr>
          <p:cNvPr id="603" name="Rounded Rectangle 15"/>
          <p:cNvSpPr/>
          <p:nvPr/>
        </p:nvSpPr>
        <p:spPr>
          <a:xfrm>
            <a:off x="3255120" y="2649600"/>
            <a:ext cx="2761200" cy="1974600"/>
          </a:xfrm>
          <a:prstGeom prst="roundRect">
            <a:avLst>
              <a:gd name="adj" fmla="val 16667"/>
            </a:avLst>
          </a:prstGeom>
          <a:solidFill>
            <a:srgbClr val="fcfdfe"/>
          </a:solidFill>
          <a:ln w="9525">
            <a:solidFill>
              <a:srgbClr val="b9c1c5"/>
            </a:solidFill>
          </a:ln>
        </p:spPr>
        <p:style>
          <a:lnRef idx="1">
            <a:schemeClr val="accent1"/>
          </a:lnRef>
          <a:fillRef idx="3">
            <a:schemeClr val="accent1"/>
          </a:fillRef>
          <a:effectRef idx="2">
            <a:schemeClr val="accent1"/>
          </a:effectRef>
          <a:fontRef idx="minor"/>
        </p:style>
      </p:sp>
      <p:sp>
        <p:nvSpPr>
          <p:cNvPr id="604" name="TextBox 16"/>
          <p:cNvSpPr/>
          <p:nvPr/>
        </p:nvSpPr>
        <p:spPr>
          <a:xfrm>
            <a:off x="3346560" y="2710800"/>
            <a:ext cx="2578320" cy="206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00" spc="-1" strike="noStrike">
                <a:solidFill>
                  <a:srgbClr val="1e5aa8"/>
                </a:solidFill>
                <a:latin typeface="微软雅黑"/>
              </a:rPr>
              <a:t>②  </a:t>
            </a:r>
            <a:r>
              <a:rPr b="1" lang="zh-CN" sz="1300" spc="-1" strike="noStrike">
                <a:solidFill>
                  <a:srgbClr val="1e5aa8"/>
                </a:solidFill>
                <a:latin typeface="微软雅黑"/>
              </a:rPr>
              <a:t>多级缩约</a:t>
            </a:r>
            <a:endParaRPr b="0" lang="en-US" sz="1300" spc="-1" strike="noStrike">
              <a:latin typeface="Arial"/>
            </a:endParaRPr>
          </a:p>
        </p:txBody>
      </p:sp>
      <p:sp>
        <p:nvSpPr>
          <p:cNvPr id="605" name="Rounded Rectangle 17"/>
          <p:cNvSpPr/>
          <p:nvPr/>
        </p:nvSpPr>
        <p:spPr>
          <a:xfrm>
            <a:off x="6126480" y="2649600"/>
            <a:ext cx="2788560" cy="1974600"/>
          </a:xfrm>
          <a:prstGeom prst="roundRect">
            <a:avLst>
              <a:gd name="adj" fmla="val 16667"/>
            </a:avLst>
          </a:prstGeom>
          <a:solidFill>
            <a:srgbClr val="fcfdfe"/>
          </a:solidFill>
          <a:ln w="9525">
            <a:solidFill>
              <a:srgbClr val="b9c1c5"/>
            </a:solidFill>
          </a:ln>
        </p:spPr>
        <p:style>
          <a:lnRef idx="1">
            <a:schemeClr val="accent1"/>
          </a:lnRef>
          <a:fillRef idx="3">
            <a:schemeClr val="accent1"/>
          </a:fillRef>
          <a:effectRef idx="2">
            <a:schemeClr val="accent1"/>
          </a:effectRef>
          <a:fontRef idx="minor"/>
        </p:style>
      </p:sp>
      <p:sp>
        <p:nvSpPr>
          <p:cNvPr id="606" name="TextBox 18"/>
          <p:cNvSpPr/>
          <p:nvPr/>
        </p:nvSpPr>
        <p:spPr>
          <a:xfrm>
            <a:off x="6217920" y="2710800"/>
            <a:ext cx="2605680" cy="206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00" spc="-1" strike="noStrike">
                <a:solidFill>
                  <a:srgbClr val="1e5aa8"/>
                </a:solidFill>
                <a:latin typeface="微软雅黑"/>
              </a:rPr>
              <a:t>③  </a:t>
            </a:r>
            <a:r>
              <a:rPr b="1" lang="zh-CN" sz="1300" spc="-1" strike="noStrike">
                <a:solidFill>
                  <a:srgbClr val="1e5aa8"/>
                </a:solidFill>
                <a:latin typeface="微软雅黑"/>
              </a:rPr>
              <a:t>粗图 </a:t>
            </a:r>
            <a:r>
              <a:rPr b="1" lang="en-US" sz="1300" spc="-1" strike="noStrike">
                <a:solidFill>
                  <a:srgbClr val="1e5aa8"/>
                </a:solidFill>
                <a:latin typeface="微软雅黑"/>
              </a:rPr>
              <a:t>k </a:t>
            </a:r>
            <a:r>
              <a:rPr b="1" lang="zh-CN" sz="1300" spc="-1" strike="noStrike">
                <a:solidFill>
                  <a:srgbClr val="1e5aa8"/>
                </a:solidFill>
                <a:latin typeface="微软雅黑"/>
              </a:rPr>
              <a:t>路初始划分</a:t>
            </a:r>
            <a:endParaRPr b="0" lang="en-US" sz="1300" spc="-1" strike="noStrike">
              <a:latin typeface="Arial"/>
            </a:endParaRPr>
          </a:p>
        </p:txBody>
      </p:sp>
      <p:sp>
        <p:nvSpPr>
          <p:cNvPr id="607" name="Rounded Rectangle 19"/>
          <p:cNvSpPr/>
          <p:nvPr/>
        </p:nvSpPr>
        <p:spPr>
          <a:xfrm>
            <a:off x="9043560" y="2649600"/>
            <a:ext cx="2724480" cy="1974600"/>
          </a:xfrm>
          <a:prstGeom prst="roundRect">
            <a:avLst>
              <a:gd name="adj" fmla="val 16667"/>
            </a:avLst>
          </a:prstGeom>
          <a:solidFill>
            <a:srgbClr val="fcfdfe"/>
          </a:solidFill>
          <a:ln w="9525">
            <a:solidFill>
              <a:srgbClr val="b9c1c5"/>
            </a:solidFill>
          </a:ln>
        </p:spPr>
        <p:style>
          <a:lnRef idx="1">
            <a:schemeClr val="accent1"/>
          </a:lnRef>
          <a:fillRef idx="3">
            <a:schemeClr val="accent1"/>
          </a:fillRef>
          <a:effectRef idx="2">
            <a:schemeClr val="accent1"/>
          </a:effectRef>
          <a:fontRef idx="minor"/>
        </p:style>
      </p:sp>
      <p:sp>
        <p:nvSpPr>
          <p:cNvPr id="608" name="TextBox 20"/>
          <p:cNvSpPr/>
          <p:nvPr/>
        </p:nvSpPr>
        <p:spPr>
          <a:xfrm>
            <a:off x="9135000" y="2710800"/>
            <a:ext cx="2541600" cy="206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00" spc="-1" strike="noStrike">
                <a:solidFill>
                  <a:srgbClr val="1e5aa8"/>
                </a:solidFill>
                <a:latin typeface="微软雅黑"/>
              </a:rPr>
              <a:t>  </a:t>
            </a:r>
            <a:r>
              <a:rPr b="1" lang="zh-CN" sz="1300" spc="-1" strike="noStrike">
                <a:solidFill>
                  <a:srgbClr val="1e5aa8"/>
                </a:solidFill>
                <a:latin typeface="微软雅黑"/>
              </a:rPr>
              <a:t>权重定义</a:t>
            </a:r>
            <a:endParaRPr b="0" lang="en-US" sz="1300" spc="-1" strike="noStrike">
              <a:latin typeface="Arial"/>
            </a:endParaRPr>
          </a:p>
        </p:txBody>
      </p:sp>
      <p:sp>
        <p:nvSpPr>
          <p:cNvPr id="609" name="Rounded Rectangle 21"/>
          <p:cNvSpPr/>
          <p:nvPr/>
        </p:nvSpPr>
        <p:spPr>
          <a:xfrm>
            <a:off x="384120" y="4752720"/>
            <a:ext cx="5668920" cy="1974600"/>
          </a:xfrm>
          <a:prstGeom prst="roundRect">
            <a:avLst>
              <a:gd name="adj" fmla="val 16667"/>
            </a:avLst>
          </a:prstGeom>
          <a:solidFill>
            <a:srgbClr val="fcfdfe"/>
          </a:solidFill>
          <a:ln w="9525">
            <a:solidFill>
              <a:srgbClr val="b9c1c5"/>
            </a:solidFill>
          </a:ln>
        </p:spPr>
        <p:style>
          <a:lnRef idx="1">
            <a:schemeClr val="accent1"/>
          </a:lnRef>
          <a:fillRef idx="3">
            <a:schemeClr val="accent1"/>
          </a:fillRef>
          <a:effectRef idx="2">
            <a:schemeClr val="accent1"/>
          </a:effectRef>
          <a:fontRef idx="minor"/>
        </p:style>
      </p:sp>
      <p:sp>
        <p:nvSpPr>
          <p:cNvPr id="610" name="TextBox 22"/>
          <p:cNvSpPr/>
          <p:nvPr/>
        </p:nvSpPr>
        <p:spPr>
          <a:xfrm>
            <a:off x="475560" y="4813920"/>
            <a:ext cx="5486040" cy="206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00" spc="-1" strike="noStrike">
                <a:solidFill>
                  <a:srgbClr val="1e5aa8"/>
                </a:solidFill>
                <a:latin typeface="微软雅黑"/>
              </a:rPr>
              <a:t>④  </a:t>
            </a:r>
            <a:r>
              <a:rPr b="1" lang="zh-CN" sz="1300" spc="-1" strike="noStrike">
                <a:solidFill>
                  <a:srgbClr val="1e5aa8"/>
                </a:solidFill>
                <a:latin typeface="微软雅黑"/>
              </a:rPr>
              <a:t>逐级投影与局部优化</a:t>
            </a:r>
            <a:endParaRPr b="0" lang="en-US" sz="1300" spc="-1" strike="noStrike">
              <a:latin typeface="Arial"/>
            </a:endParaRPr>
          </a:p>
        </p:txBody>
      </p:sp>
      <p:sp>
        <p:nvSpPr>
          <p:cNvPr id="611" name="Rounded Rectangle 23"/>
          <p:cNvSpPr/>
          <p:nvPr/>
        </p:nvSpPr>
        <p:spPr>
          <a:xfrm>
            <a:off x="6163200" y="4752720"/>
            <a:ext cx="5604840" cy="1974600"/>
          </a:xfrm>
          <a:prstGeom prst="roundRect">
            <a:avLst>
              <a:gd name="adj" fmla="val 16667"/>
            </a:avLst>
          </a:prstGeom>
          <a:solidFill>
            <a:srgbClr val="fcfdfe"/>
          </a:solidFill>
          <a:ln w="9525">
            <a:solidFill>
              <a:srgbClr val="b9c1c5"/>
            </a:solidFill>
          </a:ln>
        </p:spPr>
        <p:style>
          <a:lnRef idx="1">
            <a:schemeClr val="accent1"/>
          </a:lnRef>
          <a:fillRef idx="3">
            <a:schemeClr val="accent1"/>
          </a:fillRef>
          <a:effectRef idx="2">
            <a:schemeClr val="accent1"/>
          </a:effectRef>
          <a:fontRef idx="minor"/>
        </p:style>
      </p:sp>
      <p:sp>
        <p:nvSpPr>
          <p:cNvPr id="612" name="TextBox 24"/>
          <p:cNvSpPr/>
          <p:nvPr/>
        </p:nvSpPr>
        <p:spPr>
          <a:xfrm>
            <a:off x="6254640" y="4813920"/>
            <a:ext cx="5421960" cy="206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1300" spc="-1" strike="noStrike">
                <a:solidFill>
                  <a:srgbClr val="1e5aa8"/>
                </a:solidFill>
                <a:latin typeface="微软雅黑"/>
              </a:rPr>
              <a:t>⑤  </a:t>
            </a:r>
            <a:r>
              <a:rPr b="1" lang="zh-CN" sz="1300" spc="-1" strike="noStrike">
                <a:solidFill>
                  <a:srgbClr val="1e5aa8"/>
                </a:solidFill>
                <a:latin typeface="微软雅黑"/>
              </a:rPr>
              <a:t>连通修复与过小子区合并</a:t>
            </a:r>
            <a:endParaRPr b="0" lang="en-US" sz="1300" spc="-1" strike="noStrike">
              <a:latin typeface="Arial"/>
            </a:endParaRPr>
          </a:p>
        </p:txBody>
      </p:sp>
      <p:sp>
        <p:nvSpPr>
          <p:cNvPr id="613" name="Connector 25"/>
          <p:cNvSpPr/>
          <p:nvPr/>
        </p:nvSpPr>
        <p:spPr>
          <a:xfrm flipV="1">
            <a:off x="640080" y="3097440"/>
            <a:ext cx="777240" cy="36720"/>
          </a:xfrm>
          <a:prstGeom prst="line">
            <a:avLst/>
          </a:prstGeom>
          <a:ln w="25400">
            <a:solidFill>
              <a:srgbClr val="666c70"/>
            </a:solidFill>
          </a:ln>
        </p:spPr>
        <p:style>
          <a:lnRef idx="2">
            <a:schemeClr val="accent1"/>
          </a:lnRef>
          <a:fillRef idx="0">
            <a:schemeClr val="accent1"/>
          </a:fillRef>
          <a:effectRef idx="1">
            <a:schemeClr val="accent1"/>
          </a:effectRef>
          <a:fontRef idx="minor"/>
        </p:style>
      </p:sp>
      <p:sp>
        <p:nvSpPr>
          <p:cNvPr id="614" name="Connector 26"/>
          <p:cNvSpPr/>
          <p:nvPr/>
        </p:nvSpPr>
        <p:spPr>
          <a:xfrm>
            <a:off x="1417320" y="3097440"/>
            <a:ext cx="923400" cy="73440"/>
          </a:xfrm>
          <a:prstGeom prst="line">
            <a:avLst/>
          </a:prstGeom>
          <a:ln w="22860">
            <a:solidFill>
              <a:srgbClr val="666c70"/>
            </a:solidFill>
          </a:ln>
        </p:spPr>
        <p:style>
          <a:lnRef idx="2">
            <a:schemeClr val="accent1"/>
          </a:lnRef>
          <a:fillRef idx="0">
            <a:schemeClr val="accent1"/>
          </a:fillRef>
          <a:effectRef idx="1">
            <a:schemeClr val="accent1"/>
          </a:effectRef>
          <a:fontRef idx="minor"/>
        </p:style>
      </p:sp>
      <p:sp>
        <p:nvSpPr>
          <p:cNvPr id="615" name="Connector 27"/>
          <p:cNvSpPr/>
          <p:nvPr/>
        </p:nvSpPr>
        <p:spPr>
          <a:xfrm flipH="1">
            <a:off x="530280" y="3134160"/>
            <a:ext cx="109800" cy="484560"/>
          </a:xfrm>
          <a:prstGeom prst="line">
            <a:avLst/>
          </a:prstGeom>
          <a:ln w="26670">
            <a:solidFill>
              <a:srgbClr val="666c70"/>
            </a:solidFill>
          </a:ln>
        </p:spPr>
        <p:style>
          <a:lnRef idx="2">
            <a:schemeClr val="accent1"/>
          </a:lnRef>
          <a:fillRef idx="0">
            <a:schemeClr val="accent1"/>
          </a:fillRef>
          <a:effectRef idx="1">
            <a:schemeClr val="accent1"/>
          </a:effectRef>
          <a:fontRef idx="minor"/>
        </p:style>
      </p:sp>
      <p:sp>
        <p:nvSpPr>
          <p:cNvPr id="616" name="Connector 28"/>
          <p:cNvSpPr/>
          <p:nvPr/>
        </p:nvSpPr>
        <p:spPr>
          <a:xfrm>
            <a:off x="640080" y="3134160"/>
            <a:ext cx="502920" cy="46620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617" name="Connector 29"/>
          <p:cNvSpPr/>
          <p:nvPr/>
        </p:nvSpPr>
        <p:spPr>
          <a:xfrm flipH="1">
            <a:off x="1143000" y="3097440"/>
            <a:ext cx="274320" cy="502920"/>
          </a:xfrm>
          <a:prstGeom prst="line">
            <a:avLst/>
          </a:prstGeom>
          <a:ln w="31750">
            <a:solidFill>
              <a:srgbClr val="666c70"/>
            </a:solidFill>
          </a:ln>
        </p:spPr>
        <p:style>
          <a:lnRef idx="2">
            <a:schemeClr val="accent1"/>
          </a:lnRef>
          <a:fillRef idx="0">
            <a:schemeClr val="accent1"/>
          </a:fillRef>
          <a:effectRef idx="1">
            <a:schemeClr val="accent1"/>
          </a:effectRef>
          <a:fontRef idx="minor"/>
        </p:style>
      </p:sp>
      <p:sp>
        <p:nvSpPr>
          <p:cNvPr id="618" name="Connector 30"/>
          <p:cNvSpPr/>
          <p:nvPr/>
        </p:nvSpPr>
        <p:spPr>
          <a:xfrm>
            <a:off x="1417320" y="3097440"/>
            <a:ext cx="429480" cy="521280"/>
          </a:xfrm>
          <a:prstGeom prst="line">
            <a:avLst/>
          </a:prstGeom>
          <a:ln w="15240">
            <a:solidFill>
              <a:srgbClr val="666c70"/>
            </a:solidFill>
          </a:ln>
        </p:spPr>
        <p:style>
          <a:lnRef idx="2">
            <a:schemeClr val="accent1"/>
          </a:lnRef>
          <a:fillRef idx="0">
            <a:schemeClr val="accent1"/>
          </a:fillRef>
          <a:effectRef idx="1">
            <a:schemeClr val="accent1"/>
          </a:effectRef>
          <a:fontRef idx="minor"/>
        </p:style>
      </p:sp>
      <p:sp>
        <p:nvSpPr>
          <p:cNvPr id="619" name="Connector 31"/>
          <p:cNvSpPr/>
          <p:nvPr/>
        </p:nvSpPr>
        <p:spPr>
          <a:xfrm flipH="1">
            <a:off x="1846800" y="3170880"/>
            <a:ext cx="493920" cy="447840"/>
          </a:xfrm>
          <a:prstGeom prst="line">
            <a:avLst/>
          </a:prstGeom>
          <a:ln w="25400">
            <a:solidFill>
              <a:srgbClr val="666c70"/>
            </a:solidFill>
          </a:ln>
        </p:spPr>
        <p:style>
          <a:lnRef idx="2">
            <a:schemeClr val="accent1"/>
          </a:lnRef>
          <a:fillRef idx="0">
            <a:schemeClr val="accent1"/>
          </a:fillRef>
          <a:effectRef idx="1">
            <a:schemeClr val="accent1"/>
          </a:effectRef>
          <a:fontRef idx="minor"/>
        </p:style>
      </p:sp>
      <p:sp>
        <p:nvSpPr>
          <p:cNvPr id="620" name="Connector 32"/>
          <p:cNvSpPr/>
          <p:nvPr/>
        </p:nvSpPr>
        <p:spPr>
          <a:xfrm>
            <a:off x="2340720" y="3170880"/>
            <a:ext cx="292680" cy="44784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621" name="Connector 33"/>
          <p:cNvSpPr/>
          <p:nvPr/>
        </p:nvSpPr>
        <p:spPr>
          <a:xfrm flipV="1">
            <a:off x="530280" y="3600360"/>
            <a:ext cx="612720" cy="18360"/>
          </a:xfrm>
          <a:prstGeom prst="line">
            <a:avLst/>
          </a:prstGeom>
          <a:ln w="27940">
            <a:solidFill>
              <a:srgbClr val="666c70"/>
            </a:solidFill>
          </a:ln>
        </p:spPr>
        <p:style>
          <a:lnRef idx="2">
            <a:schemeClr val="accent1"/>
          </a:lnRef>
          <a:fillRef idx="0">
            <a:schemeClr val="accent1"/>
          </a:fillRef>
          <a:effectRef idx="1">
            <a:schemeClr val="accent1"/>
          </a:effectRef>
          <a:fontRef idx="minor"/>
        </p:style>
      </p:sp>
      <p:sp>
        <p:nvSpPr>
          <p:cNvPr id="622" name="Connector 34"/>
          <p:cNvSpPr/>
          <p:nvPr/>
        </p:nvSpPr>
        <p:spPr>
          <a:xfrm>
            <a:off x="530280" y="3618720"/>
            <a:ext cx="191880" cy="448200"/>
          </a:xfrm>
          <a:prstGeom prst="line">
            <a:avLst/>
          </a:prstGeom>
          <a:ln w="20320">
            <a:solidFill>
              <a:srgbClr val="666c70"/>
            </a:solidFill>
          </a:ln>
        </p:spPr>
        <p:style>
          <a:lnRef idx="2">
            <a:schemeClr val="accent1"/>
          </a:lnRef>
          <a:fillRef idx="0">
            <a:schemeClr val="accent1"/>
          </a:fillRef>
          <a:effectRef idx="1">
            <a:schemeClr val="accent1"/>
          </a:effectRef>
          <a:fontRef idx="minor"/>
        </p:style>
      </p:sp>
      <p:sp>
        <p:nvSpPr>
          <p:cNvPr id="623" name="Connector 35"/>
          <p:cNvSpPr/>
          <p:nvPr/>
        </p:nvSpPr>
        <p:spPr>
          <a:xfrm>
            <a:off x="1143000" y="3600360"/>
            <a:ext cx="703800" cy="18360"/>
          </a:xfrm>
          <a:prstGeom prst="line">
            <a:avLst/>
          </a:prstGeom>
          <a:ln w="25400">
            <a:solidFill>
              <a:srgbClr val="666c70"/>
            </a:solidFill>
          </a:ln>
        </p:spPr>
        <p:style>
          <a:lnRef idx="2">
            <a:schemeClr val="accent1"/>
          </a:lnRef>
          <a:fillRef idx="0">
            <a:schemeClr val="accent1"/>
          </a:fillRef>
          <a:effectRef idx="1">
            <a:schemeClr val="accent1"/>
          </a:effectRef>
          <a:fontRef idx="minor"/>
        </p:style>
      </p:sp>
      <p:sp>
        <p:nvSpPr>
          <p:cNvPr id="624" name="Connector 36"/>
          <p:cNvSpPr/>
          <p:nvPr/>
        </p:nvSpPr>
        <p:spPr>
          <a:xfrm>
            <a:off x="1143000" y="3600360"/>
            <a:ext cx="182880" cy="475560"/>
          </a:xfrm>
          <a:prstGeom prst="line">
            <a:avLst/>
          </a:prstGeom>
          <a:ln>
            <a:solidFill>
              <a:srgbClr val="666c70"/>
            </a:solidFill>
          </a:ln>
        </p:spPr>
        <p:style>
          <a:lnRef idx="2">
            <a:schemeClr val="accent1"/>
          </a:lnRef>
          <a:fillRef idx="0">
            <a:schemeClr val="accent1"/>
          </a:fillRef>
          <a:effectRef idx="1">
            <a:schemeClr val="accent1"/>
          </a:effectRef>
          <a:fontRef idx="minor"/>
        </p:style>
      </p:sp>
      <p:sp>
        <p:nvSpPr>
          <p:cNvPr id="625" name="Connector 37"/>
          <p:cNvSpPr/>
          <p:nvPr/>
        </p:nvSpPr>
        <p:spPr>
          <a:xfrm>
            <a:off x="1846800" y="3618720"/>
            <a:ext cx="786600" cy="360"/>
          </a:xfrm>
          <a:prstGeom prst="line">
            <a:avLst/>
          </a:prstGeom>
          <a:ln>
            <a:solidFill>
              <a:srgbClr val="666c70"/>
            </a:solidFill>
          </a:ln>
        </p:spPr>
        <p:style>
          <a:lnRef idx="2">
            <a:schemeClr val="accent1"/>
          </a:lnRef>
          <a:fillRef idx="0">
            <a:schemeClr val="accent1"/>
          </a:fillRef>
          <a:effectRef idx="1">
            <a:schemeClr val="accent1"/>
          </a:effectRef>
          <a:fontRef idx="minor"/>
        </p:style>
      </p:sp>
      <p:sp>
        <p:nvSpPr>
          <p:cNvPr id="626" name="Connector 38"/>
          <p:cNvSpPr/>
          <p:nvPr/>
        </p:nvSpPr>
        <p:spPr>
          <a:xfrm>
            <a:off x="1846800" y="3618720"/>
            <a:ext cx="164880" cy="448200"/>
          </a:xfrm>
          <a:prstGeom prst="line">
            <a:avLst/>
          </a:prstGeom>
          <a:ln w="19050">
            <a:solidFill>
              <a:srgbClr val="666c70"/>
            </a:solidFill>
          </a:ln>
        </p:spPr>
        <p:style>
          <a:lnRef idx="2">
            <a:schemeClr val="accent1"/>
          </a:lnRef>
          <a:fillRef idx="0">
            <a:schemeClr val="accent1"/>
          </a:fillRef>
          <a:effectRef idx="1">
            <a:schemeClr val="accent1"/>
          </a:effectRef>
          <a:fontRef idx="minor"/>
        </p:style>
      </p:sp>
      <p:sp>
        <p:nvSpPr>
          <p:cNvPr id="627" name="Connector 39"/>
          <p:cNvSpPr/>
          <p:nvPr/>
        </p:nvSpPr>
        <p:spPr>
          <a:xfrm flipH="1">
            <a:off x="2606040" y="3618720"/>
            <a:ext cx="27360" cy="448200"/>
          </a:xfrm>
          <a:prstGeom prst="line">
            <a:avLst/>
          </a:prstGeom>
          <a:ln w="13970">
            <a:solidFill>
              <a:srgbClr val="666c70"/>
            </a:solidFill>
          </a:ln>
        </p:spPr>
        <p:style>
          <a:lnRef idx="2">
            <a:schemeClr val="accent1"/>
          </a:lnRef>
          <a:fillRef idx="0">
            <a:schemeClr val="accent1"/>
          </a:fillRef>
          <a:effectRef idx="1">
            <a:schemeClr val="accent1"/>
          </a:effectRef>
          <a:fontRef idx="minor"/>
        </p:style>
      </p:sp>
      <p:sp>
        <p:nvSpPr>
          <p:cNvPr id="628" name="Connector 40"/>
          <p:cNvSpPr/>
          <p:nvPr/>
        </p:nvSpPr>
        <p:spPr>
          <a:xfrm>
            <a:off x="722160" y="4066920"/>
            <a:ext cx="603720" cy="9000"/>
          </a:xfrm>
          <a:prstGeom prst="line">
            <a:avLst/>
          </a:prstGeom>
          <a:ln w="22860">
            <a:solidFill>
              <a:srgbClr val="666c70"/>
            </a:solidFill>
          </a:ln>
        </p:spPr>
        <p:style>
          <a:lnRef idx="2">
            <a:schemeClr val="accent1"/>
          </a:lnRef>
          <a:fillRef idx="0">
            <a:schemeClr val="accent1"/>
          </a:fillRef>
          <a:effectRef idx="1">
            <a:schemeClr val="accent1"/>
          </a:effectRef>
          <a:fontRef idx="minor"/>
        </p:style>
      </p:sp>
      <p:sp>
        <p:nvSpPr>
          <p:cNvPr id="629" name="Connector 41"/>
          <p:cNvSpPr/>
          <p:nvPr/>
        </p:nvSpPr>
        <p:spPr>
          <a:xfrm flipV="1">
            <a:off x="1325880" y="4066920"/>
            <a:ext cx="685800" cy="9000"/>
          </a:xfrm>
          <a:prstGeom prst="line">
            <a:avLst/>
          </a:prstGeom>
          <a:ln>
            <a:solidFill>
              <a:srgbClr val="666c70"/>
            </a:solidFill>
          </a:ln>
        </p:spPr>
        <p:style>
          <a:lnRef idx="2">
            <a:schemeClr val="accent1"/>
          </a:lnRef>
          <a:fillRef idx="0">
            <a:schemeClr val="accent1"/>
          </a:fillRef>
          <a:effectRef idx="1">
            <a:schemeClr val="accent1"/>
          </a:effectRef>
          <a:fontRef idx="minor"/>
        </p:style>
      </p:sp>
      <p:sp>
        <p:nvSpPr>
          <p:cNvPr id="630" name="Connector 42"/>
          <p:cNvSpPr/>
          <p:nvPr/>
        </p:nvSpPr>
        <p:spPr>
          <a:xfrm>
            <a:off x="2011680" y="4066920"/>
            <a:ext cx="594360" cy="360"/>
          </a:xfrm>
          <a:prstGeom prst="line">
            <a:avLst/>
          </a:prstGeom>
          <a:ln w="22860">
            <a:solidFill>
              <a:srgbClr val="666c70"/>
            </a:solidFill>
          </a:ln>
        </p:spPr>
        <p:style>
          <a:lnRef idx="2">
            <a:schemeClr val="accent1"/>
          </a:lnRef>
          <a:fillRef idx="0">
            <a:schemeClr val="accent1"/>
          </a:fillRef>
          <a:effectRef idx="1">
            <a:schemeClr val="accent1"/>
          </a:effectRef>
          <a:fontRef idx="minor"/>
        </p:style>
      </p:sp>
      <p:sp>
        <p:nvSpPr>
          <p:cNvPr id="631" name="Connector 43"/>
          <p:cNvSpPr/>
          <p:nvPr/>
        </p:nvSpPr>
        <p:spPr>
          <a:xfrm>
            <a:off x="1417320" y="3097440"/>
            <a:ext cx="429480" cy="521280"/>
          </a:xfrm>
          <a:prstGeom prst="line">
            <a:avLst/>
          </a:prstGeom>
          <a:ln w="13335">
            <a:solidFill>
              <a:srgbClr val="e22227"/>
            </a:solidFill>
            <a:prstDash val="dash"/>
          </a:ln>
        </p:spPr>
        <p:style>
          <a:lnRef idx="2">
            <a:schemeClr val="accent1"/>
          </a:lnRef>
          <a:fillRef idx="0">
            <a:schemeClr val="accent1"/>
          </a:fillRef>
          <a:effectRef idx="1">
            <a:schemeClr val="accent1"/>
          </a:effectRef>
          <a:fontRef idx="minor"/>
        </p:style>
      </p:sp>
      <p:sp>
        <p:nvSpPr>
          <p:cNvPr id="632" name="Connector 44"/>
          <p:cNvSpPr/>
          <p:nvPr/>
        </p:nvSpPr>
        <p:spPr>
          <a:xfrm>
            <a:off x="1143000" y="3600360"/>
            <a:ext cx="182880" cy="475560"/>
          </a:xfrm>
          <a:prstGeom prst="line">
            <a:avLst/>
          </a:prstGeom>
          <a:ln w="13335">
            <a:solidFill>
              <a:srgbClr val="e22227"/>
            </a:solidFill>
            <a:prstDash val="dash"/>
          </a:ln>
        </p:spPr>
        <p:style>
          <a:lnRef idx="2">
            <a:schemeClr val="accent1"/>
          </a:lnRef>
          <a:fillRef idx="0">
            <a:schemeClr val="accent1"/>
          </a:fillRef>
          <a:effectRef idx="1">
            <a:schemeClr val="accent1"/>
          </a:effectRef>
          <a:fontRef idx="minor"/>
        </p:style>
      </p:sp>
      <p:sp>
        <p:nvSpPr>
          <p:cNvPr id="633" name="Connector 45"/>
          <p:cNvSpPr/>
          <p:nvPr/>
        </p:nvSpPr>
        <p:spPr>
          <a:xfrm>
            <a:off x="1846800" y="3618720"/>
            <a:ext cx="786600" cy="360"/>
          </a:xfrm>
          <a:prstGeom prst="line">
            <a:avLst/>
          </a:prstGeom>
          <a:ln w="13335">
            <a:solidFill>
              <a:srgbClr val="e22227"/>
            </a:solidFill>
            <a:prstDash val="dash"/>
          </a:ln>
        </p:spPr>
        <p:style>
          <a:lnRef idx="2">
            <a:schemeClr val="accent1"/>
          </a:lnRef>
          <a:fillRef idx="0">
            <a:schemeClr val="accent1"/>
          </a:fillRef>
          <a:effectRef idx="1">
            <a:schemeClr val="accent1"/>
          </a:effectRef>
          <a:fontRef idx="minor"/>
        </p:style>
      </p:sp>
      <p:sp>
        <p:nvSpPr>
          <p:cNvPr id="634" name="Oval 46"/>
          <p:cNvSpPr/>
          <p:nvPr/>
        </p:nvSpPr>
        <p:spPr>
          <a:xfrm>
            <a:off x="534960" y="3029040"/>
            <a:ext cx="209880" cy="20988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35" name="TextBox 47"/>
          <p:cNvSpPr/>
          <p:nvPr/>
        </p:nvSpPr>
        <p:spPr>
          <a:xfrm>
            <a:off x="534960" y="3067920"/>
            <a:ext cx="2098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1</a:t>
            </a:r>
            <a:endParaRPr b="0" lang="en-US" sz="830" spc="-1" strike="noStrike">
              <a:latin typeface="Arial"/>
            </a:endParaRPr>
          </a:p>
        </p:txBody>
      </p:sp>
      <p:sp>
        <p:nvSpPr>
          <p:cNvPr id="636" name="Oval 48"/>
          <p:cNvSpPr/>
          <p:nvPr/>
        </p:nvSpPr>
        <p:spPr>
          <a:xfrm>
            <a:off x="1261800" y="2942280"/>
            <a:ext cx="310680" cy="31068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37" name="TextBox 49"/>
          <p:cNvSpPr/>
          <p:nvPr/>
        </p:nvSpPr>
        <p:spPr>
          <a:xfrm>
            <a:off x="1261800" y="3031560"/>
            <a:ext cx="3106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2</a:t>
            </a:r>
            <a:endParaRPr b="0" lang="en-US" sz="830" spc="-1" strike="noStrike">
              <a:latin typeface="Arial"/>
            </a:endParaRPr>
          </a:p>
        </p:txBody>
      </p:sp>
      <p:sp>
        <p:nvSpPr>
          <p:cNvPr id="638" name="Oval 50"/>
          <p:cNvSpPr/>
          <p:nvPr/>
        </p:nvSpPr>
        <p:spPr>
          <a:xfrm>
            <a:off x="2235600" y="3065760"/>
            <a:ext cx="209880" cy="20988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39" name="TextBox 51"/>
          <p:cNvSpPr/>
          <p:nvPr/>
        </p:nvSpPr>
        <p:spPr>
          <a:xfrm>
            <a:off x="2235600" y="3104640"/>
            <a:ext cx="2098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3</a:t>
            </a:r>
            <a:endParaRPr b="0" lang="en-US" sz="830" spc="-1" strike="noStrike">
              <a:latin typeface="Arial"/>
            </a:endParaRPr>
          </a:p>
        </p:txBody>
      </p:sp>
      <p:sp>
        <p:nvSpPr>
          <p:cNvPr id="640" name="Oval 52"/>
          <p:cNvSpPr/>
          <p:nvPr/>
        </p:nvSpPr>
        <p:spPr>
          <a:xfrm>
            <a:off x="374760" y="3463560"/>
            <a:ext cx="310680" cy="31068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41" name="TextBox 53"/>
          <p:cNvSpPr/>
          <p:nvPr/>
        </p:nvSpPr>
        <p:spPr>
          <a:xfrm>
            <a:off x="374760" y="3552840"/>
            <a:ext cx="3106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4</a:t>
            </a:r>
            <a:endParaRPr b="0" lang="en-US" sz="830" spc="-1" strike="noStrike">
              <a:latin typeface="Arial"/>
            </a:endParaRPr>
          </a:p>
        </p:txBody>
      </p:sp>
      <p:sp>
        <p:nvSpPr>
          <p:cNvPr id="642" name="Oval 54"/>
          <p:cNvSpPr/>
          <p:nvPr/>
        </p:nvSpPr>
        <p:spPr>
          <a:xfrm>
            <a:off x="1014840" y="3472560"/>
            <a:ext cx="255600" cy="25560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43" name="TextBox 55"/>
          <p:cNvSpPr/>
          <p:nvPr/>
        </p:nvSpPr>
        <p:spPr>
          <a:xfrm>
            <a:off x="1014840" y="3534120"/>
            <a:ext cx="25560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5</a:t>
            </a:r>
            <a:endParaRPr b="0" lang="en-US" sz="830" spc="-1" strike="noStrike">
              <a:latin typeface="Arial"/>
            </a:endParaRPr>
          </a:p>
        </p:txBody>
      </p:sp>
      <p:sp>
        <p:nvSpPr>
          <p:cNvPr id="644" name="Oval 56"/>
          <p:cNvSpPr/>
          <p:nvPr/>
        </p:nvSpPr>
        <p:spPr>
          <a:xfrm>
            <a:off x="1686960" y="3458880"/>
            <a:ext cx="319680" cy="31968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45" name="TextBox 57"/>
          <p:cNvSpPr/>
          <p:nvPr/>
        </p:nvSpPr>
        <p:spPr>
          <a:xfrm>
            <a:off x="1686960" y="3552480"/>
            <a:ext cx="3196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6</a:t>
            </a:r>
            <a:endParaRPr b="0" lang="en-US" sz="830" spc="-1" strike="noStrike">
              <a:latin typeface="Arial"/>
            </a:endParaRPr>
          </a:p>
        </p:txBody>
      </p:sp>
      <p:sp>
        <p:nvSpPr>
          <p:cNvPr id="646" name="Oval 58"/>
          <p:cNvSpPr/>
          <p:nvPr/>
        </p:nvSpPr>
        <p:spPr>
          <a:xfrm>
            <a:off x="2519280" y="3504600"/>
            <a:ext cx="228240" cy="22824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47" name="TextBox 59"/>
          <p:cNvSpPr/>
          <p:nvPr/>
        </p:nvSpPr>
        <p:spPr>
          <a:xfrm>
            <a:off x="2519280" y="3552480"/>
            <a:ext cx="22824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7</a:t>
            </a:r>
            <a:endParaRPr b="0" lang="en-US" sz="830" spc="-1" strike="noStrike">
              <a:latin typeface="Arial"/>
            </a:endParaRPr>
          </a:p>
        </p:txBody>
      </p:sp>
      <p:sp>
        <p:nvSpPr>
          <p:cNvPr id="648" name="Oval 60"/>
          <p:cNvSpPr/>
          <p:nvPr/>
        </p:nvSpPr>
        <p:spPr>
          <a:xfrm>
            <a:off x="626400" y="3971160"/>
            <a:ext cx="191520" cy="19152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49" name="TextBox 61"/>
          <p:cNvSpPr/>
          <p:nvPr/>
        </p:nvSpPr>
        <p:spPr>
          <a:xfrm>
            <a:off x="626400" y="4000680"/>
            <a:ext cx="19152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8</a:t>
            </a:r>
            <a:endParaRPr b="0" lang="en-US" sz="830" spc="-1" strike="noStrike">
              <a:latin typeface="Arial"/>
            </a:endParaRPr>
          </a:p>
        </p:txBody>
      </p:sp>
      <p:sp>
        <p:nvSpPr>
          <p:cNvPr id="650" name="Oval 62"/>
          <p:cNvSpPr/>
          <p:nvPr/>
        </p:nvSpPr>
        <p:spPr>
          <a:xfrm>
            <a:off x="1225440" y="3975480"/>
            <a:ext cx="200880" cy="20088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51" name="TextBox 63"/>
          <p:cNvSpPr/>
          <p:nvPr/>
        </p:nvSpPr>
        <p:spPr>
          <a:xfrm>
            <a:off x="1225440" y="4009680"/>
            <a:ext cx="2008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9</a:t>
            </a:r>
            <a:endParaRPr b="0" lang="en-US" sz="830" spc="-1" strike="noStrike">
              <a:latin typeface="Arial"/>
            </a:endParaRPr>
          </a:p>
        </p:txBody>
      </p:sp>
      <p:sp>
        <p:nvSpPr>
          <p:cNvPr id="652" name="Oval 64"/>
          <p:cNvSpPr/>
          <p:nvPr/>
        </p:nvSpPr>
        <p:spPr>
          <a:xfrm>
            <a:off x="1869840" y="3925440"/>
            <a:ext cx="282960" cy="28296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53" name="TextBox 65"/>
          <p:cNvSpPr/>
          <p:nvPr/>
        </p:nvSpPr>
        <p:spPr>
          <a:xfrm>
            <a:off x="1869840" y="4000680"/>
            <a:ext cx="28296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10</a:t>
            </a:r>
            <a:endParaRPr b="0" lang="en-US" sz="830" spc="-1" strike="noStrike">
              <a:latin typeface="Arial"/>
            </a:endParaRPr>
          </a:p>
        </p:txBody>
      </p:sp>
      <p:sp>
        <p:nvSpPr>
          <p:cNvPr id="654" name="Oval 66"/>
          <p:cNvSpPr/>
          <p:nvPr/>
        </p:nvSpPr>
        <p:spPr>
          <a:xfrm>
            <a:off x="2500920" y="3961800"/>
            <a:ext cx="209880" cy="209880"/>
          </a:xfrm>
          <a:prstGeom prst="ellipse">
            <a:avLst/>
          </a:prstGeom>
          <a:solidFill>
            <a:srgbClr val="f5f6f7"/>
          </a:solidFill>
          <a:ln w="9525">
            <a:solidFill>
              <a:srgbClr val="666c70"/>
            </a:solidFill>
          </a:ln>
        </p:spPr>
        <p:style>
          <a:lnRef idx="1">
            <a:schemeClr val="accent1"/>
          </a:lnRef>
          <a:fillRef idx="3">
            <a:schemeClr val="accent1"/>
          </a:fillRef>
          <a:effectRef idx="2">
            <a:schemeClr val="accent1"/>
          </a:effectRef>
          <a:fontRef idx="minor"/>
        </p:style>
      </p:sp>
      <p:sp>
        <p:nvSpPr>
          <p:cNvPr id="655" name="TextBox 67"/>
          <p:cNvSpPr/>
          <p:nvPr/>
        </p:nvSpPr>
        <p:spPr>
          <a:xfrm>
            <a:off x="2500920" y="4000680"/>
            <a:ext cx="2098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11</a:t>
            </a:r>
            <a:endParaRPr b="0" lang="en-US" sz="830" spc="-1" strike="noStrike">
              <a:latin typeface="Arial"/>
            </a:endParaRPr>
          </a:p>
        </p:txBody>
      </p:sp>
      <p:sp>
        <p:nvSpPr>
          <p:cNvPr id="656" name="Oval 68"/>
          <p:cNvSpPr/>
          <p:nvPr/>
        </p:nvSpPr>
        <p:spPr>
          <a:xfrm>
            <a:off x="548640" y="4277520"/>
            <a:ext cx="109440" cy="109440"/>
          </a:xfrm>
          <a:prstGeom prst="ellipse">
            <a:avLst/>
          </a:prstGeom>
          <a:solidFill>
            <a:srgbClr val="ffffff"/>
          </a:solidFill>
          <a:ln w="8255">
            <a:solidFill>
              <a:srgbClr val="666c70"/>
            </a:solidFill>
          </a:ln>
        </p:spPr>
        <p:style>
          <a:lnRef idx="1">
            <a:schemeClr val="accent1"/>
          </a:lnRef>
          <a:fillRef idx="3">
            <a:schemeClr val="accent1"/>
          </a:fillRef>
          <a:effectRef idx="2">
            <a:schemeClr val="accent1"/>
          </a:effectRef>
          <a:fontRef idx="minor"/>
        </p:style>
      </p:sp>
      <p:sp>
        <p:nvSpPr>
          <p:cNvPr id="657" name="TextBox 69"/>
          <p:cNvSpPr/>
          <p:nvPr/>
        </p:nvSpPr>
        <p:spPr>
          <a:xfrm>
            <a:off x="713160" y="4199760"/>
            <a:ext cx="941400" cy="24624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780" spc="-1" strike="noStrike">
                <a:solidFill>
                  <a:srgbClr val="181b1d"/>
                </a:solidFill>
                <a:latin typeface="微软雅黑"/>
              </a:rPr>
              <a:t>节点越大：计算权重越大</a:t>
            </a:r>
            <a:endParaRPr b="0" lang="en-US" sz="780" spc="-1" strike="noStrike">
              <a:latin typeface="Arial"/>
            </a:endParaRPr>
          </a:p>
        </p:txBody>
      </p:sp>
      <p:sp>
        <p:nvSpPr>
          <p:cNvPr id="658" name="Connector 70"/>
          <p:cNvSpPr/>
          <p:nvPr/>
        </p:nvSpPr>
        <p:spPr>
          <a:xfrm>
            <a:off x="1755360" y="4322880"/>
            <a:ext cx="228600" cy="360"/>
          </a:xfrm>
          <a:prstGeom prst="line">
            <a:avLst/>
          </a:prstGeom>
          <a:ln w="26670">
            <a:solidFill>
              <a:srgbClr val="666c70"/>
            </a:solidFill>
          </a:ln>
        </p:spPr>
        <p:style>
          <a:lnRef idx="2">
            <a:schemeClr val="accent1"/>
          </a:lnRef>
          <a:fillRef idx="0">
            <a:schemeClr val="accent1"/>
          </a:fillRef>
          <a:effectRef idx="1">
            <a:schemeClr val="accent1"/>
          </a:effectRef>
          <a:fontRef idx="minor"/>
        </p:style>
      </p:sp>
      <p:sp>
        <p:nvSpPr>
          <p:cNvPr id="659" name="TextBox 71"/>
          <p:cNvSpPr/>
          <p:nvPr/>
        </p:nvSpPr>
        <p:spPr>
          <a:xfrm>
            <a:off x="2011680" y="4260600"/>
            <a:ext cx="868320" cy="12420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780" spc="-1" strike="noStrike">
                <a:solidFill>
                  <a:srgbClr val="181b1d"/>
                </a:solidFill>
                <a:latin typeface="微软雅黑"/>
              </a:rPr>
              <a:t>粗边：电气耦合强</a:t>
            </a:r>
            <a:endParaRPr b="0" lang="en-US" sz="780" spc="-1" strike="noStrike">
              <a:latin typeface="Arial"/>
            </a:endParaRPr>
          </a:p>
        </p:txBody>
      </p:sp>
      <p:sp>
        <p:nvSpPr>
          <p:cNvPr id="660" name="Connector 72"/>
          <p:cNvSpPr/>
          <p:nvPr/>
        </p:nvSpPr>
        <p:spPr>
          <a:xfrm>
            <a:off x="603360" y="4505760"/>
            <a:ext cx="255960" cy="360"/>
          </a:xfrm>
          <a:prstGeom prst="line">
            <a:avLst/>
          </a:prstGeom>
          <a:ln>
            <a:solidFill>
              <a:srgbClr val="e22227"/>
            </a:solidFill>
            <a:prstDash val="dash"/>
          </a:ln>
        </p:spPr>
        <p:style>
          <a:lnRef idx="2">
            <a:schemeClr val="accent1"/>
          </a:lnRef>
          <a:fillRef idx="0">
            <a:schemeClr val="accent1"/>
          </a:fillRef>
          <a:effectRef idx="1">
            <a:schemeClr val="accent1"/>
          </a:effectRef>
          <a:fontRef idx="minor"/>
        </p:style>
      </p:sp>
      <p:sp>
        <p:nvSpPr>
          <p:cNvPr id="661" name="TextBox 73"/>
          <p:cNvSpPr/>
          <p:nvPr/>
        </p:nvSpPr>
        <p:spPr>
          <a:xfrm>
            <a:off x="905400" y="4443480"/>
            <a:ext cx="1462680" cy="12420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780" spc="-1" strike="noStrike">
                <a:solidFill>
                  <a:srgbClr val="e22227"/>
                </a:solidFill>
                <a:latin typeface="微软雅黑"/>
              </a:rPr>
              <a:t>红虚线：候选切割边</a:t>
            </a:r>
            <a:endParaRPr b="0" lang="en-US" sz="780" spc="-1" strike="noStrike">
              <a:latin typeface="Arial"/>
            </a:endParaRPr>
          </a:p>
        </p:txBody>
      </p:sp>
      <p:sp>
        <p:nvSpPr>
          <p:cNvPr id="662" name="TextBox 74"/>
          <p:cNvSpPr/>
          <p:nvPr/>
        </p:nvSpPr>
        <p:spPr>
          <a:xfrm>
            <a:off x="3438000" y="2929320"/>
            <a:ext cx="2395440" cy="2908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920" spc="-1" strike="noStrike">
                <a:solidFill>
                  <a:srgbClr val="181b1d"/>
                </a:solidFill>
                <a:latin typeface="微软雅黑"/>
              </a:rPr>
              <a:t>仅合并相邻强耦合节点，未匹配节点直接继承</a:t>
            </a:r>
            <a:endParaRPr b="0" lang="en-US" sz="920" spc="-1" strike="noStrike">
              <a:latin typeface="Arial"/>
            </a:endParaRPr>
          </a:p>
        </p:txBody>
      </p:sp>
      <p:sp>
        <p:nvSpPr>
          <p:cNvPr id="663" name="Rectangle 75"/>
          <p:cNvSpPr/>
          <p:nvPr/>
        </p:nvSpPr>
        <p:spPr>
          <a:xfrm>
            <a:off x="3310200" y="3299040"/>
            <a:ext cx="420120" cy="182520"/>
          </a:xfrm>
          <a:prstGeom prst="rect">
            <a:avLst/>
          </a:prstGeom>
          <a:noFill/>
          <a:ln w="8890">
            <a:solidFill>
              <a:srgbClr val="6f99c2"/>
            </a:solidFill>
            <a:prstDash val="dash"/>
          </a:ln>
        </p:spPr>
        <p:style>
          <a:lnRef idx="1">
            <a:schemeClr val="accent1"/>
          </a:lnRef>
          <a:fillRef idx="3">
            <a:schemeClr val="accent1"/>
          </a:fillRef>
          <a:effectRef idx="2">
            <a:schemeClr val="accent1"/>
          </a:effectRef>
          <a:fontRef idx="minor"/>
        </p:style>
      </p:sp>
      <p:sp>
        <p:nvSpPr>
          <p:cNvPr id="664" name="Rectangle 76"/>
          <p:cNvSpPr/>
          <p:nvPr/>
        </p:nvSpPr>
        <p:spPr>
          <a:xfrm>
            <a:off x="3273480" y="3573360"/>
            <a:ext cx="374400" cy="164160"/>
          </a:xfrm>
          <a:prstGeom prst="rect">
            <a:avLst/>
          </a:prstGeom>
          <a:noFill/>
          <a:ln w="8890">
            <a:solidFill>
              <a:srgbClr val="6f99c2"/>
            </a:solidFill>
            <a:prstDash val="dash"/>
          </a:ln>
        </p:spPr>
        <p:style>
          <a:lnRef idx="1">
            <a:schemeClr val="accent1"/>
          </a:lnRef>
          <a:fillRef idx="3">
            <a:schemeClr val="accent1"/>
          </a:fillRef>
          <a:effectRef idx="2">
            <a:schemeClr val="accent1"/>
          </a:effectRef>
          <a:fontRef idx="minor"/>
        </p:style>
      </p:sp>
      <p:sp>
        <p:nvSpPr>
          <p:cNvPr id="665" name="Rectangle 77"/>
          <p:cNvSpPr/>
          <p:nvPr/>
        </p:nvSpPr>
        <p:spPr>
          <a:xfrm>
            <a:off x="3328560" y="3820320"/>
            <a:ext cx="365400" cy="173520"/>
          </a:xfrm>
          <a:prstGeom prst="rect">
            <a:avLst/>
          </a:prstGeom>
          <a:noFill/>
          <a:ln w="8890">
            <a:solidFill>
              <a:srgbClr val="6f99c2"/>
            </a:solidFill>
            <a:prstDash val="dash"/>
          </a:ln>
        </p:spPr>
        <p:style>
          <a:lnRef idx="1">
            <a:schemeClr val="accent1"/>
          </a:lnRef>
          <a:fillRef idx="3">
            <a:schemeClr val="accent1"/>
          </a:fillRef>
          <a:effectRef idx="2">
            <a:schemeClr val="accent1"/>
          </a:effectRef>
          <a:fontRef idx="minor"/>
        </p:style>
      </p:sp>
      <p:sp>
        <p:nvSpPr>
          <p:cNvPr id="666" name="Connector 78"/>
          <p:cNvSpPr/>
          <p:nvPr/>
        </p:nvSpPr>
        <p:spPr>
          <a:xfrm flipV="1">
            <a:off x="3392280" y="3381120"/>
            <a:ext cx="246960" cy="273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67" name="Connector 79"/>
          <p:cNvSpPr/>
          <p:nvPr/>
        </p:nvSpPr>
        <p:spPr>
          <a:xfrm>
            <a:off x="3639240" y="3381120"/>
            <a:ext cx="274320" cy="4572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68" name="Connector 80"/>
          <p:cNvSpPr/>
          <p:nvPr/>
        </p:nvSpPr>
        <p:spPr>
          <a:xfrm flipH="1">
            <a:off x="3355560" y="3408480"/>
            <a:ext cx="36720" cy="2469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69" name="Connector 81"/>
          <p:cNvSpPr/>
          <p:nvPr/>
        </p:nvSpPr>
        <p:spPr>
          <a:xfrm>
            <a:off x="3392280" y="3408480"/>
            <a:ext cx="164520" cy="23760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0" name="Connector 82"/>
          <p:cNvSpPr/>
          <p:nvPr/>
        </p:nvSpPr>
        <p:spPr>
          <a:xfrm flipH="1">
            <a:off x="3556800" y="3381120"/>
            <a:ext cx="82440" cy="2649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1" name="Connector 83"/>
          <p:cNvSpPr/>
          <p:nvPr/>
        </p:nvSpPr>
        <p:spPr>
          <a:xfrm>
            <a:off x="3639240" y="3381120"/>
            <a:ext cx="137160" cy="27432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2" name="Connector 84"/>
          <p:cNvSpPr/>
          <p:nvPr/>
        </p:nvSpPr>
        <p:spPr>
          <a:xfrm flipH="1">
            <a:off x="3776400" y="3426840"/>
            <a:ext cx="137160" cy="22860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3" name="Connector 85"/>
          <p:cNvSpPr/>
          <p:nvPr/>
        </p:nvSpPr>
        <p:spPr>
          <a:xfrm>
            <a:off x="3913560" y="3426840"/>
            <a:ext cx="91440" cy="22860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4" name="Connector 86"/>
          <p:cNvSpPr/>
          <p:nvPr/>
        </p:nvSpPr>
        <p:spPr>
          <a:xfrm flipV="1">
            <a:off x="3355560" y="3646080"/>
            <a:ext cx="201240" cy="93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5" name="Connector 87"/>
          <p:cNvSpPr/>
          <p:nvPr/>
        </p:nvSpPr>
        <p:spPr>
          <a:xfrm>
            <a:off x="3355560" y="3655440"/>
            <a:ext cx="55080" cy="2469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6" name="Connector 88"/>
          <p:cNvSpPr/>
          <p:nvPr/>
        </p:nvSpPr>
        <p:spPr>
          <a:xfrm>
            <a:off x="3556800" y="3646080"/>
            <a:ext cx="219600" cy="93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7" name="Connector 89"/>
          <p:cNvSpPr/>
          <p:nvPr/>
        </p:nvSpPr>
        <p:spPr>
          <a:xfrm>
            <a:off x="3556800" y="3646080"/>
            <a:ext cx="45720" cy="26532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8" name="Connector 90"/>
          <p:cNvSpPr/>
          <p:nvPr/>
        </p:nvSpPr>
        <p:spPr>
          <a:xfrm>
            <a:off x="3776400" y="3655440"/>
            <a:ext cx="228600" cy="3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79" name="Connector 91"/>
          <p:cNvSpPr/>
          <p:nvPr/>
        </p:nvSpPr>
        <p:spPr>
          <a:xfrm>
            <a:off x="3776400" y="3655440"/>
            <a:ext cx="45720" cy="2469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80" name="Connector 92"/>
          <p:cNvSpPr/>
          <p:nvPr/>
        </p:nvSpPr>
        <p:spPr>
          <a:xfrm>
            <a:off x="4005000" y="3655440"/>
            <a:ext cx="360" cy="2469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81" name="Connector 93"/>
          <p:cNvSpPr/>
          <p:nvPr/>
        </p:nvSpPr>
        <p:spPr>
          <a:xfrm>
            <a:off x="3410640" y="3902400"/>
            <a:ext cx="191880" cy="900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82" name="Connector 94"/>
          <p:cNvSpPr/>
          <p:nvPr/>
        </p:nvSpPr>
        <p:spPr>
          <a:xfrm flipV="1">
            <a:off x="3602520" y="3902400"/>
            <a:ext cx="219600" cy="900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83" name="Connector 95"/>
          <p:cNvSpPr/>
          <p:nvPr/>
        </p:nvSpPr>
        <p:spPr>
          <a:xfrm>
            <a:off x="3822120" y="3902400"/>
            <a:ext cx="182880" cy="360"/>
          </a:xfrm>
          <a:prstGeom prst="line">
            <a:avLst/>
          </a:prstGeom>
          <a:ln w="4826">
            <a:solidFill>
              <a:srgbClr val="666c70"/>
            </a:solidFill>
          </a:ln>
        </p:spPr>
        <p:style>
          <a:lnRef idx="2">
            <a:schemeClr val="accent1"/>
          </a:lnRef>
          <a:fillRef idx="0">
            <a:schemeClr val="accent1"/>
          </a:fillRef>
          <a:effectRef idx="1">
            <a:schemeClr val="accent1"/>
          </a:effectRef>
          <a:fontRef idx="minor"/>
        </p:style>
      </p:sp>
      <p:sp>
        <p:nvSpPr>
          <p:cNvPr id="684" name="Oval 96"/>
          <p:cNvSpPr/>
          <p:nvPr/>
        </p:nvSpPr>
        <p:spPr>
          <a:xfrm>
            <a:off x="3349080" y="336528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685" name="TextBox 97"/>
          <p:cNvSpPr/>
          <p:nvPr/>
        </p:nvSpPr>
        <p:spPr>
          <a:xfrm>
            <a:off x="3349080" y="3375000"/>
            <a:ext cx="86400" cy="66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1</a:t>
            </a:r>
            <a:endParaRPr b="0" lang="en-US" sz="419" spc="-1" strike="noStrike">
              <a:latin typeface="Arial"/>
            </a:endParaRPr>
          </a:p>
        </p:txBody>
      </p:sp>
      <p:sp>
        <p:nvSpPr>
          <p:cNvPr id="686" name="Oval 98"/>
          <p:cNvSpPr/>
          <p:nvPr/>
        </p:nvSpPr>
        <p:spPr>
          <a:xfrm>
            <a:off x="3596040" y="333792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687" name="TextBox 99"/>
          <p:cNvSpPr/>
          <p:nvPr/>
        </p:nvSpPr>
        <p:spPr>
          <a:xfrm>
            <a:off x="3596040" y="3347640"/>
            <a:ext cx="86400" cy="66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2</a:t>
            </a:r>
            <a:endParaRPr b="0" lang="en-US" sz="419" spc="-1" strike="noStrike">
              <a:latin typeface="Arial"/>
            </a:endParaRPr>
          </a:p>
        </p:txBody>
      </p:sp>
      <p:sp>
        <p:nvSpPr>
          <p:cNvPr id="688" name="Oval 100"/>
          <p:cNvSpPr/>
          <p:nvPr/>
        </p:nvSpPr>
        <p:spPr>
          <a:xfrm>
            <a:off x="3870360" y="338364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689" name="TextBox 101"/>
          <p:cNvSpPr/>
          <p:nvPr/>
        </p:nvSpPr>
        <p:spPr>
          <a:xfrm>
            <a:off x="3870360" y="3393360"/>
            <a:ext cx="86400" cy="66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3</a:t>
            </a:r>
            <a:endParaRPr b="0" lang="en-US" sz="419" spc="-1" strike="noStrike">
              <a:latin typeface="Arial"/>
            </a:endParaRPr>
          </a:p>
        </p:txBody>
      </p:sp>
      <p:sp>
        <p:nvSpPr>
          <p:cNvPr id="690" name="Oval 102"/>
          <p:cNvSpPr/>
          <p:nvPr/>
        </p:nvSpPr>
        <p:spPr>
          <a:xfrm>
            <a:off x="3312360" y="361224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691" name="TextBox 103"/>
          <p:cNvSpPr/>
          <p:nvPr/>
        </p:nvSpPr>
        <p:spPr>
          <a:xfrm>
            <a:off x="3312360" y="3621960"/>
            <a:ext cx="86400" cy="66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4</a:t>
            </a:r>
            <a:endParaRPr b="0" lang="en-US" sz="419" spc="-1" strike="noStrike">
              <a:latin typeface="Arial"/>
            </a:endParaRPr>
          </a:p>
        </p:txBody>
      </p:sp>
      <p:sp>
        <p:nvSpPr>
          <p:cNvPr id="692" name="Oval 104"/>
          <p:cNvSpPr/>
          <p:nvPr/>
        </p:nvSpPr>
        <p:spPr>
          <a:xfrm>
            <a:off x="3513600" y="360288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693" name="TextBox 105"/>
          <p:cNvSpPr/>
          <p:nvPr/>
        </p:nvSpPr>
        <p:spPr>
          <a:xfrm>
            <a:off x="3513600" y="3612600"/>
            <a:ext cx="86400" cy="66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5</a:t>
            </a:r>
            <a:endParaRPr b="0" lang="en-US" sz="419" spc="-1" strike="noStrike">
              <a:latin typeface="Arial"/>
            </a:endParaRPr>
          </a:p>
        </p:txBody>
      </p:sp>
      <p:sp>
        <p:nvSpPr>
          <p:cNvPr id="694" name="Oval 106"/>
          <p:cNvSpPr/>
          <p:nvPr/>
        </p:nvSpPr>
        <p:spPr>
          <a:xfrm>
            <a:off x="3733200" y="361224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695" name="TextBox 107"/>
          <p:cNvSpPr/>
          <p:nvPr/>
        </p:nvSpPr>
        <p:spPr>
          <a:xfrm>
            <a:off x="3733200" y="3621960"/>
            <a:ext cx="86400" cy="66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6</a:t>
            </a:r>
            <a:endParaRPr b="0" lang="en-US" sz="419" spc="-1" strike="noStrike">
              <a:latin typeface="Arial"/>
            </a:endParaRPr>
          </a:p>
        </p:txBody>
      </p:sp>
      <p:sp>
        <p:nvSpPr>
          <p:cNvPr id="696" name="Oval 108"/>
          <p:cNvSpPr/>
          <p:nvPr/>
        </p:nvSpPr>
        <p:spPr>
          <a:xfrm>
            <a:off x="3961800" y="361224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697" name="TextBox 109"/>
          <p:cNvSpPr/>
          <p:nvPr/>
        </p:nvSpPr>
        <p:spPr>
          <a:xfrm>
            <a:off x="3961800" y="3621960"/>
            <a:ext cx="86400" cy="66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7</a:t>
            </a:r>
            <a:endParaRPr b="0" lang="en-US" sz="419" spc="-1" strike="noStrike">
              <a:latin typeface="Arial"/>
            </a:endParaRPr>
          </a:p>
        </p:txBody>
      </p:sp>
      <p:sp>
        <p:nvSpPr>
          <p:cNvPr id="698" name="Oval 110"/>
          <p:cNvSpPr/>
          <p:nvPr/>
        </p:nvSpPr>
        <p:spPr>
          <a:xfrm>
            <a:off x="3367440" y="385920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699" name="TextBox 111"/>
          <p:cNvSpPr/>
          <p:nvPr/>
        </p:nvSpPr>
        <p:spPr>
          <a:xfrm>
            <a:off x="3367440" y="3868920"/>
            <a:ext cx="86400" cy="66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8</a:t>
            </a:r>
            <a:endParaRPr b="0" lang="en-US" sz="419" spc="-1" strike="noStrike">
              <a:latin typeface="Arial"/>
            </a:endParaRPr>
          </a:p>
        </p:txBody>
      </p:sp>
      <p:sp>
        <p:nvSpPr>
          <p:cNvPr id="700" name="Oval 112"/>
          <p:cNvSpPr/>
          <p:nvPr/>
        </p:nvSpPr>
        <p:spPr>
          <a:xfrm>
            <a:off x="3559320" y="386820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01" name="TextBox 113"/>
          <p:cNvSpPr/>
          <p:nvPr/>
        </p:nvSpPr>
        <p:spPr>
          <a:xfrm>
            <a:off x="3559320" y="3877920"/>
            <a:ext cx="86400" cy="66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9</a:t>
            </a:r>
            <a:endParaRPr b="0" lang="en-US" sz="419" spc="-1" strike="noStrike">
              <a:latin typeface="Arial"/>
            </a:endParaRPr>
          </a:p>
        </p:txBody>
      </p:sp>
      <p:sp>
        <p:nvSpPr>
          <p:cNvPr id="702" name="Oval 114"/>
          <p:cNvSpPr/>
          <p:nvPr/>
        </p:nvSpPr>
        <p:spPr>
          <a:xfrm>
            <a:off x="3778920" y="385920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03" name="TextBox 115"/>
          <p:cNvSpPr/>
          <p:nvPr/>
        </p:nvSpPr>
        <p:spPr>
          <a:xfrm>
            <a:off x="3778920" y="3836520"/>
            <a:ext cx="86400" cy="1317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10</a:t>
            </a:r>
            <a:endParaRPr b="0" lang="en-US" sz="419" spc="-1" strike="noStrike">
              <a:latin typeface="Arial"/>
            </a:endParaRPr>
          </a:p>
        </p:txBody>
      </p:sp>
      <p:sp>
        <p:nvSpPr>
          <p:cNvPr id="704" name="Oval 116"/>
          <p:cNvSpPr/>
          <p:nvPr/>
        </p:nvSpPr>
        <p:spPr>
          <a:xfrm>
            <a:off x="3961800" y="3859200"/>
            <a:ext cx="86400" cy="8640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05" name="TextBox 117"/>
          <p:cNvSpPr/>
          <p:nvPr/>
        </p:nvSpPr>
        <p:spPr>
          <a:xfrm>
            <a:off x="3961800" y="3836520"/>
            <a:ext cx="86400" cy="1317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19" spc="-1" strike="noStrike">
                <a:solidFill>
                  <a:srgbClr val="181b1d"/>
                </a:solidFill>
                <a:latin typeface="微软雅黑"/>
              </a:rPr>
              <a:t>11</a:t>
            </a:r>
            <a:endParaRPr b="0" lang="en-US" sz="419" spc="-1" strike="noStrike">
              <a:latin typeface="Arial"/>
            </a:endParaRPr>
          </a:p>
        </p:txBody>
      </p:sp>
      <p:sp>
        <p:nvSpPr>
          <p:cNvPr id="706" name="Right Arrow 118"/>
          <p:cNvSpPr/>
          <p:nvPr/>
        </p:nvSpPr>
        <p:spPr>
          <a:xfrm>
            <a:off x="4069080" y="3573360"/>
            <a:ext cx="164160" cy="136800"/>
          </a:xfrm>
          <a:prstGeom prst="rightArrow">
            <a:avLst>
              <a:gd name="adj1" fmla="val 50000"/>
              <a:gd name="adj2" fmla="val 50000"/>
            </a:avLst>
          </a:prstGeom>
          <a:solidFill>
            <a:srgbClr val="666c70"/>
          </a:solidFill>
          <a:ln>
            <a:noFill/>
          </a:ln>
        </p:spPr>
        <p:style>
          <a:lnRef idx="1">
            <a:schemeClr val="accent1"/>
          </a:lnRef>
          <a:fillRef idx="3">
            <a:schemeClr val="accent1"/>
          </a:fillRef>
          <a:effectRef idx="2">
            <a:schemeClr val="accent1"/>
          </a:effectRef>
          <a:fontRef idx="minor"/>
        </p:style>
      </p:sp>
      <p:sp>
        <p:nvSpPr>
          <p:cNvPr id="707" name="Rectangle 119"/>
          <p:cNvSpPr/>
          <p:nvPr/>
        </p:nvSpPr>
        <p:spPr>
          <a:xfrm>
            <a:off x="4224600" y="3308040"/>
            <a:ext cx="420120" cy="173520"/>
          </a:xfrm>
          <a:prstGeom prst="rect">
            <a:avLst/>
          </a:prstGeom>
          <a:noFill/>
          <a:ln w="8890">
            <a:solidFill>
              <a:srgbClr val="6f99c2"/>
            </a:solidFill>
            <a:prstDash val="dash"/>
          </a:ln>
        </p:spPr>
        <p:style>
          <a:lnRef idx="1">
            <a:schemeClr val="accent1"/>
          </a:lnRef>
          <a:fillRef idx="3">
            <a:schemeClr val="accent1"/>
          </a:fillRef>
          <a:effectRef idx="2">
            <a:schemeClr val="accent1"/>
          </a:effectRef>
          <a:fontRef idx="minor"/>
        </p:style>
      </p:sp>
      <p:sp>
        <p:nvSpPr>
          <p:cNvPr id="708" name="Rectangle 120"/>
          <p:cNvSpPr/>
          <p:nvPr/>
        </p:nvSpPr>
        <p:spPr>
          <a:xfrm>
            <a:off x="4517280" y="3801960"/>
            <a:ext cx="402120" cy="182520"/>
          </a:xfrm>
          <a:prstGeom prst="rect">
            <a:avLst/>
          </a:prstGeom>
          <a:noFill/>
          <a:ln w="8890">
            <a:solidFill>
              <a:srgbClr val="6f99c2"/>
            </a:solidFill>
            <a:prstDash val="dash"/>
          </a:ln>
        </p:spPr>
        <p:style>
          <a:lnRef idx="1">
            <a:schemeClr val="accent1"/>
          </a:lnRef>
          <a:fillRef idx="3">
            <a:schemeClr val="accent1"/>
          </a:fillRef>
          <a:effectRef idx="2">
            <a:schemeClr val="accent1"/>
          </a:effectRef>
          <a:fontRef idx="minor"/>
        </p:style>
      </p:sp>
      <p:sp>
        <p:nvSpPr>
          <p:cNvPr id="709" name="Connector 121"/>
          <p:cNvSpPr/>
          <p:nvPr/>
        </p:nvSpPr>
        <p:spPr>
          <a:xfrm flipV="1">
            <a:off x="4315680" y="3390120"/>
            <a:ext cx="237960" cy="936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0" name="Connector 122"/>
          <p:cNvSpPr/>
          <p:nvPr/>
        </p:nvSpPr>
        <p:spPr>
          <a:xfrm flipH="1">
            <a:off x="4279320" y="3399480"/>
            <a:ext cx="36360" cy="26496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1" name="Connector 123"/>
          <p:cNvSpPr/>
          <p:nvPr/>
        </p:nvSpPr>
        <p:spPr>
          <a:xfrm>
            <a:off x="4315680" y="3399480"/>
            <a:ext cx="219600" cy="23760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2" name="Connector 124"/>
          <p:cNvSpPr/>
          <p:nvPr/>
        </p:nvSpPr>
        <p:spPr>
          <a:xfrm flipH="1">
            <a:off x="4535280" y="3390120"/>
            <a:ext cx="18360" cy="24696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3" name="Connector 125"/>
          <p:cNvSpPr/>
          <p:nvPr/>
        </p:nvSpPr>
        <p:spPr>
          <a:xfrm>
            <a:off x="4553640" y="3390120"/>
            <a:ext cx="246960" cy="26532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4" name="Connector 126"/>
          <p:cNvSpPr/>
          <p:nvPr/>
        </p:nvSpPr>
        <p:spPr>
          <a:xfrm flipV="1">
            <a:off x="4279320" y="3637080"/>
            <a:ext cx="255960" cy="2736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5" name="Connector 127"/>
          <p:cNvSpPr/>
          <p:nvPr/>
        </p:nvSpPr>
        <p:spPr>
          <a:xfrm>
            <a:off x="4279320" y="3664440"/>
            <a:ext cx="36360" cy="23796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6" name="Connector 128"/>
          <p:cNvSpPr/>
          <p:nvPr/>
        </p:nvSpPr>
        <p:spPr>
          <a:xfrm>
            <a:off x="4535280" y="3637080"/>
            <a:ext cx="265320" cy="1836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7" name="Connector 129"/>
          <p:cNvSpPr/>
          <p:nvPr/>
        </p:nvSpPr>
        <p:spPr>
          <a:xfrm>
            <a:off x="4535280" y="3637080"/>
            <a:ext cx="54720" cy="25596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8" name="Connector 130"/>
          <p:cNvSpPr/>
          <p:nvPr/>
        </p:nvSpPr>
        <p:spPr>
          <a:xfrm>
            <a:off x="4800600" y="3655440"/>
            <a:ext cx="27360" cy="23760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19" name="Connector 131"/>
          <p:cNvSpPr/>
          <p:nvPr/>
        </p:nvSpPr>
        <p:spPr>
          <a:xfrm flipV="1">
            <a:off x="4315680" y="3893040"/>
            <a:ext cx="274320" cy="936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20" name="Connector 132"/>
          <p:cNvSpPr/>
          <p:nvPr/>
        </p:nvSpPr>
        <p:spPr>
          <a:xfrm>
            <a:off x="4590000" y="3893040"/>
            <a:ext cx="237960" cy="360"/>
          </a:xfrm>
          <a:prstGeom prst="line">
            <a:avLst/>
          </a:prstGeom>
          <a:ln w="6604">
            <a:solidFill>
              <a:srgbClr val="666c70"/>
            </a:solidFill>
          </a:ln>
        </p:spPr>
        <p:style>
          <a:lnRef idx="2">
            <a:schemeClr val="accent1"/>
          </a:lnRef>
          <a:fillRef idx="0">
            <a:schemeClr val="accent1"/>
          </a:fillRef>
          <a:effectRef idx="1">
            <a:schemeClr val="accent1"/>
          </a:effectRef>
          <a:fontRef idx="minor"/>
        </p:style>
      </p:sp>
      <p:sp>
        <p:nvSpPr>
          <p:cNvPr id="721" name="Oval 133"/>
          <p:cNvSpPr/>
          <p:nvPr/>
        </p:nvSpPr>
        <p:spPr>
          <a:xfrm>
            <a:off x="4263480" y="3346920"/>
            <a:ext cx="104760" cy="10476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22" name="TextBox 134"/>
          <p:cNvSpPr/>
          <p:nvPr/>
        </p:nvSpPr>
        <p:spPr>
          <a:xfrm>
            <a:off x="4263480" y="3360960"/>
            <a:ext cx="10476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a</a:t>
            </a:r>
            <a:endParaRPr b="0" lang="en-US" sz="480" spc="-1" strike="noStrike">
              <a:latin typeface="Arial"/>
            </a:endParaRPr>
          </a:p>
        </p:txBody>
      </p:sp>
      <p:sp>
        <p:nvSpPr>
          <p:cNvPr id="723" name="Oval 135"/>
          <p:cNvSpPr/>
          <p:nvPr/>
        </p:nvSpPr>
        <p:spPr>
          <a:xfrm>
            <a:off x="4501080" y="3337920"/>
            <a:ext cx="104760" cy="10476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24" name="TextBox 136"/>
          <p:cNvSpPr/>
          <p:nvPr/>
        </p:nvSpPr>
        <p:spPr>
          <a:xfrm>
            <a:off x="4501080" y="3351960"/>
            <a:ext cx="10476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b</a:t>
            </a:r>
            <a:endParaRPr b="0" lang="en-US" sz="480" spc="-1" strike="noStrike">
              <a:latin typeface="Arial"/>
            </a:endParaRPr>
          </a:p>
        </p:txBody>
      </p:sp>
      <p:sp>
        <p:nvSpPr>
          <p:cNvPr id="725" name="Oval 137"/>
          <p:cNvSpPr/>
          <p:nvPr/>
        </p:nvSpPr>
        <p:spPr>
          <a:xfrm>
            <a:off x="4226760" y="3612240"/>
            <a:ext cx="104760" cy="10476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26" name="TextBox 138"/>
          <p:cNvSpPr/>
          <p:nvPr/>
        </p:nvSpPr>
        <p:spPr>
          <a:xfrm>
            <a:off x="4226760" y="3626280"/>
            <a:ext cx="10476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c</a:t>
            </a:r>
            <a:endParaRPr b="0" lang="en-US" sz="480" spc="-1" strike="noStrike">
              <a:latin typeface="Arial"/>
            </a:endParaRPr>
          </a:p>
        </p:txBody>
      </p:sp>
      <p:sp>
        <p:nvSpPr>
          <p:cNvPr id="727" name="Oval 139"/>
          <p:cNvSpPr/>
          <p:nvPr/>
        </p:nvSpPr>
        <p:spPr>
          <a:xfrm>
            <a:off x="4482720" y="3584880"/>
            <a:ext cx="104760" cy="10476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28" name="TextBox 140"/>
          <p:cNvSpPr/>
          <p:nvPr/>
        </p:nvSpPr>
        <p:spPr>
          <a:xfrm>
            <a:off x="4482720" y="3598920"/>
            <a:ext cx="10476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d</a:t>
            </a:r>
            <a:endParaRPr b="0" lang="en-US" sz="480" spc="-1" strike="noStrike">
              <a:latin typeface="Arial"/>
            </a:endParaRPr>
          </a:p>
        </p:txBody>
      </p:sp>
      <p:sp>
        <p:nvSpPr>
          <p:cNvPr id="729" name="Oval 141"/>
          <p:cNvSpPr/>
          <p:nvPr/>
        </p:nvSpPr>
        <p:spPr>
          <a:xfrm>
            <a:off x="4748040" y="3602880"/>
            <a:ext cx="104760" cy="10476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30" name="TextBox 142"/>
          <p:cNvSpPr/>
          <p:nvPr/>
        </p:nvSpPr>
        <p:spPr>
          <a:xfrm>
            <a:off x="4748040" y="3616920"/>
            <a:ext cx="10476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e</a:t>
            </a:r>
            <a:endParaRPr b="0" lang="en-US" sz="480" spc="-1" strike="noStrike">
              <a:latin typeface="Arial"/>
            </a:endParaRPr>
          </a:p>
        </p:txBody>
      </p:sp>
      <p:sp>
        <p:nvSpPr>
          <p:cNvPr id="731" name="Oval 143"/>
          <p:cNvSpPr/>
          <p:nvPr/>
        </p:nvSpPr>
        <p:spPr>
          <a:xfrm>
            <a:off x="4263480" y="3849840"/>
            <a:ext cx="104760" cy="10476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32" name="TextBox 144"/>
          <p:cNvSpPr/>
          <p:nvPr/>
        </p:nvSpPr>
        <p:spPr>
          <a:xfrm>
            <a:off x="4263480" y="3863880"/>
            <a:ext cx="10476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f</a:t>
            </a:r>
            <a:endParaRPr b="0" lang="en-US" sz="480" spc="-1" strike="noStrike">
              <a:latin typeface="Arial"/>
            </a:endParaRPr>
          </a:p>
        </p:txBody>
      </p:sp>
      <p:sp>
        <p:nvSpPr>
          <p:cNvPr id="733" name="Oval 145"/>
          <p:cNvSpPr/>
          <p:nvPr/>
        </p:nvSpPr>
        <p:spPr>
          <a:xfrm>
            <a:off x="4537800" y="3840840"/>
            <a:ext cx="104760" cy="10476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34" name="TextBox 146"/>
          <p:cNvSpPr/>
          <p:nvPr/>
        </p:nvSpPr>
        <p:spPr>
          <a:xfrm>
            <a:off x="4537800" y="3854880"/>
            <a:ext cx="10476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g</a:t>
            </a:r>
            <a:endParaRPr b="0" lang="en-US" sz="480" spc="-1" strike="noStrike">
              <a:latin typeface="Arial"/>
            </a:endParaRPr>
          </a:p>
        </p:txBody>
      </p:sp>
      <p:sp>
        <p:nvSpPr>
          <p:cNvPr id="735" name="Oval 147"/>
          <p:cNvSpPr/>
          <p:nvPr/>
        </p:nvSpPr>
        <p:spPr>
          <a:xfrm>
            <a:off x="4775400" y="3840840"/>
            <a:ext cx="104760" cy="10476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36" name="TextBox 148"/>
          <p:cNvSpPr/>
          <p:nvPr/>
        </p:nvSpPr>
        <p:spPr>
          <a:xfrm>
            <a:off x="4775400" y="3854880"/>
            <a:ext cx="10476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h</a:t>
            </a:r>
            <a:endParaRPr b="0" lang="en-US" sz="480" spc="-1" strike="noStrike">
              <a:latin typeface="Arial"/>
            </a:endParaRPr>
          </a:p>
        </p:txBody>
      </p:sp>
      <p:sp>
        <p:nvSpPr>
          <p:cNvPr id="737" name="Right Arrow 149"/>
          <p:cNvSpPr/>
          <p:nvPr/>
        </p:nvSpPr>
        <p:spPr>
          <a:xfrm>
            <a:off x="4919400" y="3573360"/>
            <a:ext cx="164160" cy="136800"/>
          </a:xfrm>
          <a:prstGeom prst="rightArrow">
            <a:avLst>
              <a:gd name="adj1" fmla="val 50000"/>
              <a:gd name="adj2" fmla="val 50000"/>
            </a:avLst>
          </a:prstGeom>
          <a:solidFill>
            <a:srgbClr val="666c70"/>
          </a:solidFill>
          <a:ln>
            <a:noFill/>
          </a:ln>
        </p:spPr>
        <p:style>
          <a:lnRef idx="1">
            <a:schemeClr val="accent1"/>
          </a:lnRef>
          <a:fillRef idx="3">
            <a:schemeClr val="accent1"/>
          </a:fillRef>
          <a:effectRef idx="2">
            <a:schemeClr val="accent1"/>
          </a:effectRef>
          <a:fontRef idx="minor"/>
        </p:style>
      </p:sp>
      <p:sp>
        <p:nvSpPr>
          <p:cNvPr id="738" name="Connector 150"/>
          <p:cNvSpPr/>
          <p:nvPr/>
        </p:nvSpPr>
        <p:spPr>
          <a:xfrm flipH="1">
            <a:off x="5193720" y="3390120"/>
            <a:ext cx="36360" cy="265320"/>
          </a:xfrm>
          <a:prstGeom prst="line">
            <a:avLst/>
          </a:prstGeom>
          <a:ln w="9525">
            <a:solidFill>
              <a:srgbClr val="666c70"/>
            </a:solidFill>
          </a:ln>
        </p:spPr>
        <p:style>
          <a:lnRef idx="2">
            <a:schemeClr val="accent1"/>
          </a:lnRef>
          <a:fillRef idx="0">
            <a:schemeClr val="accent1"/>
          </a:fillRef>
          <a:effectRef idx="1">
            <a:schemeClr val="accent1"/>
          </a:effectRef>
          <a:fontRef idx="minor"/>
        </p:style>
      </p:sp>
      <p:sp>
        <p:nvSpPr>
          <p:cNvPr id="739" name="Connector 151"/>
          <p:cNvSpPr/>
          <p:nvPr/>
        </p:nvSpPr>
        <p:spPr>
          <a:xfrm>
            <a:off x="5230080" y="3390120"/>
            <a:ext cx="237960" cy="228600"/>
          </a:xfrm>
          <a:prstGeom prst="line">
            <a:avLst/>
          </a:prstGeom>
          <a:ln w="9525">
            <a:solidFill>
              <a:srgbClr val="666c70"/>
            </a:solidFill>
          </a:ln>
        </p:spPr>
        <p:style>
          <a:lnRef idx="2">
            <a:schemeClr val="accent1"/>
          </a:lnRef>
          <a:fillRef idx="0">
            <a:schemeClr val="accent1"/>
          </a:fillRef>
          <a:effectRef idx="1">
            <a:schemeClr val="accent1"/>
          </a:effectRef>
          <a:fontRef idx="minor"/>
        </p:style>
      </p:sp>
      <p:sp>
        <p:nvSpPr>
          <p:cNvPr id="740" name="Connector 152"/>
          <p:cNvSpPr/>
          <p:nvPr/>
        </p:nvSpPr>
        <p:spPr>
          <a:xfrm>
            <a:off x="5230080" y="3390120"/>
            <a:ext cx="530640" cy="228600"/>
          </a:xfrm>
          <a:prstGeom prst="line">
            <a:avLst/>
          </a:prstGeom>
          <a:ln w="9525">
            <a:solidFill>
              <a:srgbClr val="666c70"/>
            </a:solidFill>
          </a:ln>
        </p:spPr>
        <p:style>
          <a:lnRef idx="2">
            <a:schemeClr val="accent1"/>
          </a:lnRef>
          <a:fillRef idx="0">
            <a:schemeClr val="accent1"/>
          </a:fillRef>
          <a:effectRef idx="1">
            <a:schemeClr val="accent1"/>
          </a:effectRef>
          <a:fontRef idx="minor"/>
        </p:style>
      </p:sp>
      <p:sp>
        <p:nvSpPr>
          <p:cNvPr id="741" name="Connector 153"/>
          <p:cNvSpPr/>
          <p:nvPr/>
        </p:nvSpPr>
        <p:spPr>
          <a:xfrm flipV="1">
            <a:off x="5193720" y="3618720"/>
            <a:ext cx="274320" cy="36720"/>
          </a:xfrm>
          <a:prstGeom prst="line">
            <a:avLst/>
          </a:prstGeom>
          <a:ln w="9525">
            <a:solidFill>
              <a:srgbClr val="666c70"/>
            </a:solidFill>
          </a:ln>
        </p:spPr>
        <p:style>
          <a:lnRef idx="2">
            <a:schemeClr val="accent1"/>
          </a:lnRef>
          <a:fillRef idx="0">
            <a:schemeClr val="accent1"/>
          </a:fillRef>
          <a:effectRef idx="1">
            <a:schemeClr val="accent1"/>
          </a:effectRef>
          <a:fontRef idx="minor"/>
        </p:style>
      </p:sp>
      <p:sp>
        <p:nvSpPr>
          <p:cNvPr id="742" name="Connector 154"/>
          <p:cNvSpPr/>
          <p:nvPr/>
        </p:nvSpPr>
        <p:spPr>
          <a:xfrm>
            <a:off x="5193720" y="3655440"/>
            <a:ext cx="36360" cy="246960"/>
          </a:xfrm>
          <a:prstGeom prst="line">
            <a:avLst/>
          </a:prstGeom>
          <a:ln w="9525">
            <a:solidFill>
              <a:srgbClr val="666c70"/>
            </a:solidFill>
          </a:ln>
        </p:spPr>
        <p:style>
          <a:lnRef idx="2">
            <a:schemeClr val="accent1"/>
          </a:lnRef>
          <a:fillRef idx="0">
            <a:schemeClr val="accent1"/>
          </a:fillRef>
          <a:effectRef idx="1">
            <a:schemeClr val="accent1"/>
          </a:effectRef>
          <a:fontRef idx="minor"/>
        </p:style>
      </p:sp>
      <p:sp>
        <p:nvSpPr>
          <p:cNvPr id="743" name="Connector 155"/>
          <p:cNvSpPr/>
          <p:nvPr/>
        </p:nvSpPr>
        <p:spPr>
          <a:xfrm>
            <a:off x="5468040" y="3618720"/>
            <a:ext cx="292680" cy="360"/>
          </a:xfrm>
          <a:prstGeom prst="line">
            <a:avLst/>
          </a:prstGeom>
          <a:ln w="9525">
            <a:solidFill>
              <a:srgbClr val="666c70"/>
            </a:solidFill>
          </a:ln>
        </p:spPr>
        <p:style>
          <a:lnRef idx="2">
            <a:schemeClr val="accent1"/>
          </a:lnRef>
          <a:fillRef idx="0">
            <a:schemeClr val="accent1"/>
          </a:fillRef>
          <a:effectRef idx="1">
            <a:schemeClr val="accent1"/>
          </a:effectRef>
          <a:fontRef idx="minor"/>
        </p:style>
      </p:sp>
      <p:sp>
        <p:nvSpPr>
          <p:cNvPr id="744" name="Connector 156"/>
          <p:cNvSpPr/>
          <p:nvPr/>
        </p:nvSpPr>
        <p:spPr>
          <a:xfrm>
            <a:off x="5468040" y="3618720"/>
            <a:ext cx="182880" cy="274320"/>
          </a:xfrm>
          <a:prstGeom prst="line">
            <a:avLst/>
          </a:prstGeom>
          <a:ln w="9525">
            <a:solidFill>
              <a:srgbClr val="666c70"/>
            </a:solidFill>
          </a:ln>
        </p:spPr>
        <p:style>
          <a:lnRef idx="2">
            <a:schemeClr val="accent1"/>
          </a:lnRef>
          <a:fillRef idx="0">
            <a:schemeClr val="accent1"/>
          </a:fillRef>
          <a:effectRef idx="1">
            <a:schemeClr val="accent1"/>
          </a:effectRef>
          <a:fontRef idx="minor"/>
        </p:style>
      </p:sp>
      <p:sp>
        <p:nvSpPr>
          <p:cNvPr id="745" name="Connector 157"/>
          <p:cNvSpPr/>
          <p:nvPr/>
        </p:nvSpPr>
        <p:spPr>
          <a:xfrm flipH="1">
            <a:off x="5650920" y="3618720"/>
            <a:ext cx="109800" cy="274320"/>
          </a:xfrm>
          <a:prstGeom prst="line">
            <a:avLst/>
          </a:prstGeom>
          <a:ln w="9525">
            <a:solidFill>
              <a:srgbClr val="666c70"/>
            </a:solidFill>
          </a:ln>
        </p:spPr>
        <p:style>
          <a:lnRef idx="2">
            <a:schemeClr val="accent1"/>
          </a:lnRef>
          <a:fillRef idx="0">
            <a:schemeClr val="accent1"/>
          </a:fillRef>
          <a:effectRef idx="1">
            <a:schemeClr val="accent1"/>
          </a:effectRef>
          <a:fontRef idx="minor"/>
        </p:style>
      </p:sp>
      <p:sp>
        <p:nvSpPr>
          <p:cNvPr id="746" name="Connector 158"/>
          <p:cNvSpPr/>
          <p:nvPr/>
        </p:nvSpPr>
        <p:spPr>
          <a:xfrm flipV="1">
            <a:off x="5230080" y="3893040"/>
            <a:ext cx="420840" cy="9360"/>
          </a:xfrm>
          <a:prstGeom prst="line">
            <a:avLst/>
          </a:prstGeom>
          <a:ln w="9525">
            <a:solidFill>
              <a:srgbClr val="666c70"/>
            </a:solidFill>
          </a:ln>
        </p:spPr>
        <p:style>
          <a:lnRef idx="2">
            <a:schemeClr val="accent1"/>
          </a:lnRef>
          <a:fillRef idx="0">
            <a:schemeClr val="accent1"/>
          </a:fillRef>
          <a:effectRef idx="1">
            <a:schemeClr val="accent1"/>
          </a:effectRef>
          <a:fontRef idx="minor"/>
        </p:style>
      </p:sp>
      <p:sp>
        <p:nvSpPr>
          <p:cNvPr id="747" name="Oval 159"/>
          <p:cNvSpPr/>
          <p:nvPr/>
        </p:nvSpPr>
        <p:spPr>
          <a:xfrm>
            <a:off x="5168520" y="3328560"/>
            <a:ext cx="123120" cy="12312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48" name="TextBox 160"/>
          <p:cNvSpPr/>
          <p:nvPr/>
        </p:nvSpPr>
        <p:spPr>
          <a:xfrm>
            <a:off x="5168520" y="3344760"/>
            <a:ext cx="123120" cy="907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70" spc="-1" strike="noStrike">
                <a:solidFill>
                  <a:srgbClr val="181b1d"/>
                </a:solidFill>
                <a:latin typeface="微软雅黑"/>
              </a:rPr>
              <a:t>A</a:t>
            </a:r>
            <a:endParaRPr b="0" lang="en-US" sz="570" spc="-1" strike="noStrike">
              <a:latin typeface="Arial"/>
            </a:endParaRPr>
          </a:p>
        </p:txBody>
      </p:sp>
      <p:sp>
        <p:nvSpPr>
          <p:cNvPr id="749" name="Oval 161"/>
          <p:cNvSpPr/>
          <p:nvPr/>
        </p:nvSpPr>
        <p:spPr>
          <a:xfrm>
            <a:off x="5132160" y="3593880"/>
            <a:ext cx="123120" cy="12312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50" name="TextBox 162"/>
          <p:cNvSpPr/>
          <p:nvPr/>
        </p:nvSpPr>
        <p:spPr>
          <a:xfrm>
            <a:off x="5132160" y="3610080"/>
            <a:ext cx="123120" cy="907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70" spc="-1" strike="noStrike">
                <a:solidFill>
                  <a:srgbClr val="181b1d"/>
                </a:solidFill>
                <a:latin typeface="微软雅黑"/>
              </a:rPr>
              <a:t>B</a:t>
            </a:r>
            <a:endParaRPr b="0" lang="en-US" sz="570" spc="-1" strike="noStrike">
              <a:latin typeface="Arial"/>
            </a:endParaRPr>
          </a:p>
        </p:txBody>
      </p:sp>
      <p:sp>
        <p:nvSpPr>
          <p:cNvPr id="751" name="Oval 163"/>
          <p:cNvSpPr/>
          <p:nvPr/>
        </p:nvSpPr>
        <p:spPr>
          <a:xfrm>
            <a:off x="5406480" y="3557160"/>
            <a:ext cx="123120" cy="12312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52" name="TextBox 164"/>
          <p:cNvSpPr/>
          <p:nvPr/>
        </p:nvSpPr>
        <p:spPr>
          <a:xfrm>
            <a:off x="5406480" y="3573360"/>
            <a:ext cx="123120" cy="907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70" spc="-1" strike="noStrike">
                <a:solidFill>
                  <a:srgbClr val="181b1d"/>
                </a:solidFill>
                <a:latin typeface="微软雅黑"/>
              </a:rPr>
              <a:t>C</a:t>
            </a:r>
            <a:endParaRPr b="0" lang="en-US" sz="570" spc="-1" strike="noStrike">
              <a:latin typeface="Arial"/>
            </a:endParaRPr>
          </a:p>
        </p:txBody>
      </p:sp>
      <p:sp>
        <p:nvSpPr>
          <p:cNvPr id="753" name="Oval 165"/>
          <p:cNvSpPr/>
          <p:nvPr/>
        </p:nvSpPr>
        <p:spPr>
          <a:xfrm>
            <a:off x="5699160" y="3557160"/>
            <a:ext cx="123120" cy="12312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54" name="TextBox 166"/>
          <p:cNvSpPr/>
          <p:nvPr/>
        </p:nvSpPr>
        <p:spPr>
          <a:xfrm>
            <a:off x="5699160" y="3573360"/>
            <a:ext cx="123120" cy="907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70" spc="-1" strike="noStrike">
                <a:solidFill>
                  <a:srgbClr val="181b1d"/>
                </a:solidFill>
                <a:latin typeface="微软雅黑"/>
              </a:rPr>
              <a:t>D</a:t>
            </a:r>
            <a:endParaRPr b="0" lang="en-US" sz="570" spc="-1" strike="noStrike">
              <a:latin typeface="Arial"/>
            </a:endParaRPr>
          </a:p>
        </p:txBody>
      </p:sp>
      <p:sp>
        <p:nvSpPr>
          <p:cNvPr id="755" name="Oval 167"/>
          <p:cNvSpPr/>
          <p:nvPr/>
        </p:nvSpPr>
        <p:spPr>
          <a:xfrm>
            <a:off x="5168520" y="3840840"/>
            <a:ext cx="123120" cy="12312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56" name="TextBox 168"/>
          <p:cNvSpPr/>
          <p:nvPr/>
        </p:nvSpPr>
        <p:spPr>
          <a:xfrm>
            <a:off x="5168520" y="3857040"/>
            <a:ext cx="123120" cy="907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70" spc="-1" strike="noStrike">
                <a:solidFill>
                  <a:srgbClr val="181b1d"/>
                </a:solidFill>
                <a:latin typeface="微软雅黑"/>
              </a:rPr>
              <a:t>E</a:t>
            </a:r>
            <a:endParaRPr b="0" lang="en-US" sz="570" spc="-1" strike="noStrike">
              <a:latin typeface="Arial"/>
            </a:endParaRPr>
          </a:p>
        </p:txBody>
      </p:sp>
      <p:sp>
        <p:nvSpPr>
          <p:cNvPr id="757" name="Oval 169"/>
          <p:cNvSpPr/>
          <p:nvPr/>
        </p:nvSpPr>
        <p:spPr>
          <a:xfrm>
            <a:off x="5589360" y="3831480"/>
            <a:ext cx="123120" cy="12312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58" name="TextBox 170"/>
          <p:cNvSpPr/>
          <p:nvPr/>
        </p:nvSpPr>
        <p:spPr>
          <a:xfrm>
            <a:off x="5589360" y="3847680"/>
            <a:ext cx="123120" cy="907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70" spc="-1" strike="noStrike">
                <a:solidFill>
                  <a:srgbClr val="181b1d"/>
                </a:solidFill>
                <a:latin typeface="微软雅黑"/>
              </a:rPr>
              <a:t>F</a:t>
            </a:r>
            <a:endParaRPr b="0" lang="en-US" sz="570" spc="-1" strike="noStrike">
              <a:latin typeface="Arial"/>
            </a:endParaRPr>
          </a:p>
        </p:txBody>
      </p:sp>
      <p:sp>
        <p:nvSpPr>
          <p:cNvPr id="759" name="TextBox 171"/>
          <p:cNvSpPr/>
          <p:nvPr/>
        </p:nvSpPr>
        <p:spPr>
          <a:xfrm>
            <a:off x="3300840" y="4138200"/>
            <a:ext cx="804240" cy="1130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10" spc="-1" strike="noStrike">
                <a:solidFill>
                  <a:srgbClr val="181b1d"/>
                </a:solidFill>
                <a:latin typeface="微软雅黑"/>
              </a:rPr>
              <a:t>原图  </a:t>
            </a:r>
            <a:r>
              <a:rPr b="1" lang="en-US" sz="710" spc="-1" strike="noStrike">
                <a:solidFill>
                  <a:srgbClr val="181b1d"/>
                </a:solidFill>
                <a:latin typeface="微软雅黑"/>
              </a:rPr>
              <a:t>n=11</a:t>
            </a:r>
            <a:endParaRPr b="0" lang="en-US" sz="710" spc="-1" strike="noStrike">
              <a:latin typeface="Arial"/>
            </a:endParaRPr>
          </a:p>
        </p:txBody>
      </p:sp>
      <p:sp>
        <p:nvSpPr>
          <p:cNvPr id="760" name="TextBox 172"/>
          <p:cNvSpPr/>
          <p:nvPr/>
        </p:nvSpPr>
        <p:spPr>
          <a:xfrm>
            <a:off x="4197240" y="4138200"/>
            <a:ext cx="767880" cy="1130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10" spc="-1" strike="noStrike">
                <a:solidFill>
                  <a:srgbClr val="181b1d"/>
                </a:solidFill>
                <a:latin typeface="微软雅黑"/>
              </a:rPr>
              <a:t>一级缩约  </a:t>
            </a:r>
            <a:r>
              <a:rPr b="1" lang="en-US" sz="710" spc="-1" strike="noStrike">
                <a:solidFill>
                  <a:srgbClr val="181b1d"/>
                </a:solidFill>
                <a:latin typeface="微软雅黑"/>
              </a:rPr>
              <a:t>n=8</a:t>
            </a:r>
            <a:endParaRPr b="0" lang="en-US" sz="710" spc="-1" strike="noStrike">
              <a:latin typeface="Arial"/>
            </a:endParaRPr>
          </a:p>
        </p:txBody>
      </p:sp>
      <p:sp>
        <p:nvSpPr>
          <p:cNvPr id="761" name="TextBox 173"/>
          <p:cNvSpPr/>
          <p:nvPr/>
        </p:nvSpPr>
        <p:spPr>
          <a:xfrm>
            <a:off x="5083920" y="4138200"/>
            <a:ext cx="831600" cy="1130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10" spc="-1" strike="noStrike">
                <a:solidFill>
                  <a:srgbClr val="181b1d"/>
                </a:solidFill>
                <a:latin typeface="微软雅黑"/>
              </a:rPr>
              <a:t>二级缩约  </a:t>
            </a:r>
            <a:r>
              <a:rPr b="1" lang="en-US" sz="710" spc="-1" strike="noStrike">
                <a:solidFill>
                  <a:srgbClr val="181b1d"/>
                </a:solidFill>
                <a:latin typeface="微软雅黑"/>
              </a:rPr>
              <a:t>n=6</a:t>
            </a:r>
            <a:endParaRPr b="0" lang="en-US" sz="710" spc="-1" strike="noStrike">
              <a:latin typeface="Arial"/>
            </a:endParaRPr>
          </a:p>
        </p:txBody>
      </p:sp>
      <p:sp>
        <p:nvSpPr>
          <p:cNvPr id="762" name="TextBox 174"/>
          <p:cNvSpPr/>
          <p:nvPr/>
        </p:nvSpPr>
        <p:spPr>
          <a:xfrm>
            <a:off x="3319200" y="4336560"/>
            <a:ext cx="2633040" cy="164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480" spc="-1" strike="noStrike">
                <a:solidFill>
                  <a:srgbClr val="1e5aa8"/>
                </a:solidFill>
                <a:latin typeface="微软雅黑"/>
              </a:rPr>
              <a:t>一级：</a:t>
            </a:r>
            <a:r>
              <a:rPr b="1" lang="en-US" sz="480" spc="-1" strike="noStrike">
                <a:solidFill>
                  <a:srgbClr val="1e5aa8"/>
                </a:solidFill>
                <a:latin typeface="微软雅黑"/>
              </a:rPr>
              <a:t>(1,2)→a</a:t>
            </a:r>
            <a:r>
              <a:rPr b="1" lang="zh-CN" sz="480" spc="-1" strike="noStrike">
                <a:solidFill>
                  <a:srgbClr val="1e5aa8"/>
                </a:solidFill>
                <a:latin typeface="微软雅黑"/>
              </a:rPr>
              <a:t>，</a:t>
            </a:r>
            <a:r>
              <a:rPr b="1" lang="en-US" sz="480" spc="-1" strike="noStrike">
                <a:solidFill>
                  <a:srgbClr val="1e5aa8"/>
                </a:solidFill>
                <a:latin typeface="微软雅黑"/>
              </a:rPr>
              <a:t>(4,5)→c</a:t>
            </a:r>
            <a:r>
              <a:rPr b="1" lang="zh-CN" sz="480" spc="-1" strike="noStrike">
                <a:solidFill>
                  <a:srgbClr val="1e5aa8"/>
                </a:solidFill>
                <a:latin typeface="微软雅黑"/>
              </a:rPr>
              <a:t>，</a:t>
            </a:r>
            <a:r>
              <a:rPr b="1" lang="en-US" sz="480" spc="-1" strike="noStrike">
                <a:solidFill>
                  <a:srgbClr val="1e5aa8"/>
                </a:solidFill>
                <a:latin typeface="微软雅黑"/>
              </a:rPr>
              <a:t>(8,9)→f</a:t>
            </a:r>
            <a:r>
              <a:rPr b="1" lang="zh-CN" sz="480" spc="-1" strike="noStrike">
                <a:solidFill>
                  <a:srgbClr val="1e5aa8"/>
                </a:solidFill>
                <a:latin typeface="微软雅黑"/>
              </a:rPr>
              <a:t>；其余继承</a:t>
            </a:r>
            <a:endParaRPr b="0" lang="en-US" sz="480" spc="-1" strike="noStrike">
              <a:latin typeface="Arial"/>
            </a:endParaRPr>
          </a:p>
          <a:p>
            <a:pPr algn="ctr">
              <a:lnSpc>
                <a:spcPct val="104000"/>
              </a:lnSpc>
              <a:spcAft>
                <a:spcPts val="99"/>
              </a:spcAft>
              <a:buNone/>
            </a:pPr>
            <a:r>
              <a:rPr b="1" lang="zh-CN" sz="480" spc="-1" strike="noStrike">
                <a:solidFill>
                  <a:srgbClr val="1e5aa8"/>
                </a:solidFill>
                <a:latin typeface="微软雅黑"/>
              </a:rPr>
              <a:t>二级：</a:t>
            </a:r>
            <a:r>
              <a:rPr b="1" lang="en-US" sz="480" spc="-1" strike="noStrike">
                <a:solidFill>
                  <a:srgbClr val="1e5aa8"/>
                </a:solidFill>
                <a:latin typeface="微软雅黑"/>
              </a:rPr>
              <a:t>(a,b)→A</a:t>
            </a:r>
            <a:r>
              <a:rPr b="1" lang="zh-CN" sz="480" spc="-1" strike="noStrike">
                <a:solidFill>
                  <a:srgbClr val="1e5aa8"/>
                </a:solidFill>
                <a:latin typeface="微软雅黑"/>
              </a:rPr>
              <a:t>，</a:t>
            </a:r>
            <a:r>
              <a:rPr b="1" lang="en-US" sz="480" spc="-1" strike="noStrike">
                <a:solidFill>
                  <a:srgbClr val="1e5aa8"/>
                </a:solidFill>
                <a:latin typeface="微软雅黑"/>
              </a:rPr>
              <a:t>(g,h)→F</a:t>
            </a:r>
            <a:r>
              <a:rPr b="1" lang="zh-CN" sz="480" spc="-1" strike="noStrike">
                <a:solidFill>
                  <a:srgbClr val="1e5aa8"/>
                </a:solidFill>
                <a:latin typeface="微软雅黑"/>
              </a:rPr>
              <a:t>；其余继承</a:t>
            </a:r>
            <a:endParaRPr b="0" lang="en-US" sz="480" spc="-1" strike="noStrike">
              <a:latin typeface="Arial"/>
            </a:endParaRPr>
          </a:p>
        </p:txBody>
      </p:sp>
      <p:sp>
        <p:nvSpPr>
          <p:cNvPr id="763" name="TextBox 175"/>
          <p:cNvSpPr/>
          <p:nvPr/>
        </p:nvSpPr>
        <p:spPr>
          <a:xfrm>
            <a:off x="6327720" y="2987640"/>
            <a:ext cx="2377080" cy="146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920" spc="-1" strike="noStrike">
                <a:solidFill>
                  <a:srgbClr val="181b1d"/>
                </a:solidFill>
                <a:latin typeface="微软雅黑"/>
              </a:rPr>
              <a:t>在 </a:t>
            </a:r>
            <a:r>
              <a:rPr b="0" lang="en-US" sz="920" spc="-1" strike="noStrike">
                <a:solidFill>
                  <a:srgbClr val="181b1d"/>
                </a:solidFill>
                <a:latin typeface="微软雅黑"/>
              </a:rPr>
              <a:t>6 </a:t>
            </a:r>
            <a:r>
              <a:rPr b="0" lang="zh-CN" sz="920" spc="-1" strike="noStrike">
                <a:solidFill>
                  <a:srgbClr val="181b1d"/>
                </a:solidFill>
                <a:latin typeface="微软雅黑"/>
              </a:rPr>
              <a:t>节点粗图上求解 </a:t>
            </a:r>
            <a:r>
              <a:rPr b="0" lang="en-US" sz="920" spc="-1" strike="noStrike">
                <a:solidFill>
                  <a:srgbClr val="181b1d"/>
                </a:solidFill>
                <a:latin typeface="微软雅黑"/>
              </a:rPr>
              <a:t>k=4 </a:t>
            </a:r>
            <a:r>
              <a:rPr b="0" lang="zh-CN" sz="920" spc="-1" strike="noStrike">
                <a:solidFill>
                  <a:srgbClr val="181b1d"/>
                </a:solidFill>
                <a:latin typeface="微软雅黑"/>
              </a:rPr>
              <a:t>的初始划分</a:t>
            </a:r>
            <a:endParaRPr b="0" lang="en-US" sz="920" spc="-1" strike="noStrike">
              <a:latin typeface="Arial"/>
            </a:endParaRPr>
          </a:p>
        </p:txBody>
      </p:sp>
      <p:sp>
        <p:nvSpPr>
          <p:cNvPr id="764" name="Connector 176"/>
          <p:cNvSpPr/>
          <p:nvPr/>
        </p:nvSpPr>
        <p:spPr>
          <a:xfrm flipH="1">
            <a:off x="6345720" y="3298680"/>
            <a:ext cx="36720" cy="30168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765" name="Connector 177"/>
          <p:cNvSpPr/>
          <p:nvPr/>
        </p:nvSpPr>
        <p:spPr>
          <a:xfrm>
            <a:off x="6382440" y="3298680"/>
            <a:ext cx="255960" cy="26532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766" name="Connector 178"/>
          <p:cNvSpPr/>
          <p:nvPr/>
        </p:nvSpPr>
        <p:spPr>
          <a:xfrm>
            <a:off x="6382440" y="3298680"/>
            <a:ext cx="557640" cy="26532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767" name="Connector 179"/>
          <p:cNvSpPr/>
          <p:nvPr/>
        </p:nvSpPr>
        <p:spPr>
          <a:xfrm flipV="1">
            <a:off x="6345720" y="3564000"/>
            <a:ext cx="292680" cy="3636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768" name="Connector 180"/>
          <p:cNvSpPr/>
          <p:nvPr/>
        </p:nvSpPr>
        <p:spPr>
          <a:xfrm>
            <a:off x="6345720" y="3600360"/>
            <a:ext cx="45720" cy="24696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769" name="Connector 181"/>
          <p:cNvSpPr/>
          <p:nvPr/>
        </p:nvSpPr>
        <p:spPr>
          <a:xfrm>
            <a:off x="6638400" y="3564000"/>
            <a:ext cx="301680" cy="36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770" name="Connector 182"/>
          <p:cNvSpPr/>
          <p:nvPr/>
        </p:nvSpPr>
        <p:spPr>
          <a:xfrm>
            <a:off x="6638400" y="3564000"/>
            <a:ext cx="201240" cy="28332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771" name="Connector 183"/>
          <p:cNvSpPr/>
          <p:nvPr/>
        </p:nvSpPr>
        <p:spPr>
          <a:xfrm flipH="1">
            <a:off x="6839640" y="3564000"/>
            <a:ext cx="100440" cy="28332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772" name="Connector 184"/>
          <p:cNvSpPr/>
          <p:nvPr/>
        </p:nvSpPr>
        <p:spPr>
          <a:xfrm>
            <a:off x="6391440" y="3847320"/>
            <a:ext cx="448200" cy="360"/>
          </a:xfrm>
          <a:prstGeom prst="line">
            <a:avLst/>
          </a:prstGeom>
          <a:ln w="10160">
            <a:solidFill>
              <a:srgbClr val="666c70"/>
            </a:solidFill>
          </a:ln>
        </p:spPr>
        <p:style>
          <a:lnRef idx="2">
            <a:schemeClr val="accent1"/>
          </a:lnRef>
          <a:fillRef idx="0">
            <a:schemeClr val="accent1"/>
          </a:fillRef>
          <a:effectRef idx="1">
            <a:schemeClr val="accent1"/>
          </a:effectRef>
          <a:fontRef idx="minor"/>
        </p:style>
      </p:sp>
      <p:sp>
        <p:nvSpPr>
          <p:cNvPr id="773" name="Oval 185"/>
          <p:cNvSpPr/>
          <p:nvPr/>
        </p:nvSpPr>
        <p:spPr>
          <a:xfrm>
            <a:off x="6311520" y="3228120"/>
            <a:ext cx="141480" cy="14148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74" name="TextBox 186"/>
          <p:cNvSpPr/>
          <p:nvPr/>
        </p:nvSpPr>
        <p:spPr>
          <a:xfrm>
            <a:off x="6311520" y="3249360"/>
            <a:ext cx="14148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A</a:t>
            </a:r>
            <a:endParaRPr b="0" lang="en-US" sz="620" spc="-1" strike="noStrike">
              <a:latin typeface="Arial"/>
            </a:endParaRPr>
          </a:p>
        </p:txBody>
      </p:sp>
      <p:sp>
        <p:nvSpPr>
          <p:cNvPr id="775" name="Oval 187"/>
          <p:cNvSpPr/>
          <p:nvPr/>
        </p:nvSpPr>
        <p:spPr>
          <a:xfrm>
            <a:off x="6275160" y="3529800"/>
            <a:ext cx="141480" cy="14148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76" name="TextBox 188"/>
          <p:cNvSpPr/>
          <p:nvPr/>
        </p:nvSpPr>
        <p:spPr>
          <a:xfrm>
            <a:off x="6275160" y="3551040"/>
            <a:ext cx="14148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B</a:t>
            </a:r>
            <a:endParaRPr b="0" lang="en-US" sz="620" spc="-1" strike="noStrike">
              <a:latin typeface="Arial"/>
            </a:endParaRPr>
          </a:p>
        </p:txBody>
      </p:sp>
      <p:sp>
        <p:nvSpPr>
          <p:cNvPr id="777" name="Oval 189"/>
          <p:cNvSpPr/>
          <p:nvPr/>
        </p:nvSpPr>
        <p:spPr>
          <a:xfrm>
            <a:off x="6567840" y="3493440"/>
            <a:ext cx="141480" cy="14148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78" name="TextBox 190"/>
          <p:cNvSpPr/>
          <p:nvPr/>
        </p:nvSpPr>
        <p:spPr>
          <a:xfrm>
            <a:off x="6567840" y="3514680"/>
            <a:ext cx="14148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C</a:t>
            </a:r>
            <a:endParaRPr b="0" lang="en-US" sz="620" spc="-1" strike="noStrike">
              <a:latin typeface="Arial"/>
            </a:endParaRPr>
          </a:p>
        </p:txBody>
      </p:sp>
      <p:sp>
        <p:nvSpPr>
          <p:cNvPr id="779" name="Oval 191"/>
          <p:cNvSpPr/>
          <p:nvPr/>
        </p:nvSpPr>
        <p:spPr>
          <a:xfrm>
            <a:off x="6869520" y="3493440"/>
            <a:ext cx="141480" cy="14148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80" name="TextBox 192"/>
          <p:cNvSpPr/>
          <p:nvPr/>
        </p:nvSpPr>
        <p:spPr>
          <a:xfrm>
            <a:off x="6869520" y="3514680"/>
            <a:ext cx="14148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D</a:t>
            </a:r>
            <a:endParaRPr b="0" lang="en-US" sz="620" spc="-1" strike="noStrike">
              <a:latin typeface="Arial"/>
            </a:endParaRPr>
          </a:p>
        </p:txBody>
      </p:sp>
      <p:sp>
        <p:nvSpPr>
          <p:cNvPr id="781" name="Oval 193"/>
          <p:cNvSpPr/>
          <p:nvPr/>
        </p:nvSpPr>
        <p:spPr>
          <a:xfrm>
            <a:off x="6320880" y="3776760"/>
            <a:ext cx="141480" cy="14148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82" name="TextBox 194"/>
          <p:cNvSpPr/>
          <p:nvPr/>
        </p:nvSpPr>
        <p:spPr>
          <a:xfrm>
            <a:off x="6320880" y="3798000"/>
            <a:ext cx="14148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E</a:t>
            </a:r>
            <a:endParaRPr b="0" lang="en-US" sz="620" spc="-1" strike="noStrike">
              <a:latin typeface="Arial"/>
            </a:endParaRPr>
          </a:p>
        </p:txBody>
      </p:sp>
      <p:sp>
        <p:nvSpPr>
          <p:cNvPr id="783" name="Oval 195"/>
          <p:cNvSpPr/>
          <p:nvPr/>
        </p:nvSpPr>
        <p:spPr>
          <a:xfrm>
            <a:off x="6768720" y="3776760"/>
            <a:ext cx="141480" cy="141480"/>
          </a:xfrm>
          <a:prstGeom prst="ellipse">
            <a:avLst/>
          </a:prstGeom>
          <a:solidFill>
            <a:srgbClr val="f6f7f8"/>
          </a:solidFill>
          <a:ln w="9525">
            <a:solidFill>
              <a:srgbClr val="666c70"/>
            </a:solidFill>
          </a:ln>
        </p:spPr>
        <p:style>
          <a:lnRef idx="1">
            <a:schemeClr val="accent1"/>
          </a:lnRef>
          <a:fillRef idx="3">
            <a:schemeClr val="accent1"/>
          </a:fillRef>
          <a:effectRef idx="2">
            <a:schemeClr val="accent1"/>
          </a:effectRef>
          <a:fontRef idx="minor"/>
        </p:style>
      </p:sp>
      <p:sp>
        <p:nvSpPr>
          <p:cNvPr id="784" name="TextBox 196"/>
          <p:cNvSpPr/>
          <p:nvPr/>
        </p:nvSpPr>
        <p:spPr>
          <a:xfrm>
            <a:off x="6768720" y="3798000"/>
            <a:ext cx="14148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F</a:t>
            </a:r>
            <a:endParaRPr b="0" lang="en-US" sz="620" spc="-1" strike="noStrike">
              <a:latin typeface="Arial"/>
            </a:endParaRPr>
          </a:p>
        </p:txBody>
      </p:sp>
      <p:sp>
        <p:nvSpPr>
          <p:cNvPr id="785" name="Right Arrow 197"/>
          <p:cNvSpPr/>
          <p:nvPr/>
        </p:nvSpPr>
        <p:spPr>
          <a:xfrm>
            <a:off x="7068240" y="3518280"/>
            <a:ext cx="228240" cy="173520"/>
          </a:xfrm>
          <a:prstGeom prst="rightArrow">
            <a:avLst>
              <a:gd name="adj1" fmla="val 50000"/>
              <a:gd name="adj2" fmla="val 50000"/>
            </a:avLst>
          </a:prstGeom>
          <a:solidFill>
            <a:srgbClr val="181b1d"/>
          </a:solidFill>
          <a:ln>
            <a:noFill/>
          </a:ln>
        </p:spPr>
        <p:style>
          <a:lnRef idx="1">
            <a:schemeClr val="accent1"/>
          </a:lnRef>
          <a:fillRef idx="3">
            <a:schemeClr val="accent1"/>
          </a:fillRef>
          <a:effectRef idx="2">
            <a:schemeClr val="accent1"/>
          </a:effectRef>
          <a:fontRef idx="minor"/>
        </p:style>
      </p:sp>
      <p:sp>
        <p:nvSpPr>
          <p:cNvPr id="786" name="Rounded Rectangle 198"/>
          <p:cNvSpPr/>
          <p:nvPr/>
        </p:nvSpPr>
        <p:spPr>
          <a:xfrm>
            <a:off x="7388280" y="3161880"/>
            <a:ext cx="566640" cy="383760"/>
          </a:xfrm>
          <a:prstGeom prst="roundRect">
            <a:avLst>
              <a:gd name="adj" fmla="val 16667"/>
            </a:avLst>
          </a:prstGeom>
          <a:noFill/>
          <a:ln w="8890">
            <a:solidFill>
              <a:srgbClr val="0b5bb5"/>
            </a:solidFill>
            <a:prstDash val="dash"/>
          </a:ln>
        </p:spPr>
        <p:style>
          <a:lnRef idx="1">
            <a:schemeClr val="accent1"/>
          </a:lnRef>
          <a:fillRef idx="3">
            <a:schemeClr val="accent1"/>
          </a:fillRef>
          <a:effectRef idx="2">
            <a:schemeClr val="accent1"/>
          </a:effectRef>
          <a:fontRef idx="minor"/>
        </p:style>
      </p:sp>
      <p:sp>
        <p:nvSpPr>
          <p:cNvPr id="787" name="TextBox 199"/>
          <p:cNvSpPr/>
          <p:nvPr/>
        </p:nvSpPr>
        <p:spPr>
          <a:xfrm>
            <a:off x="7415640" y="3168720"/>
            <a:ext cx="51156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39" spc="-1" strike="noStrike">
                <a:solidFill>
                  <a:srgbClr val="181b1d"/>
                </a:solidFill>
                <a:latin typeface="微软雅黑"/>
              </a:rPr>
              <a:t>P1</a:t>
            </a:r>
            <a:endParaRPr b="0" lang="en-US" sz="839" spc="-1" strike="noStrike">
              <a:latin typeface="Arial"/>
            </a:endParaRPr>
          </a:p>
        </p:txBody>
      </p:sp>
      <p:sp>
        <p:nvSpPr>
          <p:cNvPr id="788" name="Oval 200"/>
          <p:cNvSpPr/>
          <p:nvPr/>
        </p:nvSpPr>
        <p:spPr>
          <a:xfrm>
            <a:off x="7605360" y="3360600"/>
            <a:ext cx="132120" cy="13212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789" name="TextBox 201"/>
          <p:cNvSpPr/>
          <p:nvPr/>
        </p:nvSpPr>
        <p:spPr>
          <a:xfrm>
            <a:off x="7605360" y="3378600"/>
            <a:ext cx="132120" cy="957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00" spc="-1" strike="noStrike">
                <a:solidFill>
                  <a:srgbClr val="181b1d"/>
                </a:solidFill>
                <a:latin typeface="微软雅黑"/>
              </a:rPr>
              <a:t>A</a:t>
            </a:r>
            <a:endParaRPr b="0" lang="en-US" sz="600" spc="-1" strike="noStrike">
              <a:latin typeface="Arial"/>
            </a:endParaRPr>
          </a:p>
        </p:txBody>
      </p:sp>
      <p:sp>
        <p:nvSpPr>
          <p:cNvPr id="790" name="Rounded Rectangle 202"/>
          <p:cNvSpPr/>
          <p:nvPr/>
        </p:nvSpPr>
        <p:spPr>
          <a:xfrm>
            <a:off x="8065080" y="3161880"/>
            <a:ext cx="566640" cy="383760"/>
          </a:xfrm>
          <a:prstGeom prst="roundRect">
            <a:avLst>
              <a:gd name="adj" fmla="val 16667"/>
            </a:avLst>
          </a:prstGeom>
          <a:noFill/>
          <a:ln w="8890">
            <a:solidFill>
              <a:srgbClr val="368f45"/>
            </a:solidFill>
            <a:prstDash val="dash"/>
          </a:ln>
        </p:spPr>
        <p:style>
          <a:lnRef idx="1">
            <a:schemeClr val="accent1"/>
          </a:lnRef>
          <a:fillRef idx="3">
            <a:schemeClr val="accent1"/>
          </a:fillRef>
          <a:effectRef idx="2">
            <a:schemeClr val="accent1"/>
          </a:effectRef>
          <a:fontRef idx="minor"/>
        </p:style>
      </p:sp>
      <p:sp>
        <p:nvSpPr>
          <p:cNvPr id="791" name="TextBox 203"/>
          <p:cNvSpPr/>
          <p:nvPr/>
        </p:nvSpPr>
        <p:spPr>
          <a:xfrm>
            <a:off x="8092440" y="3168720"/>
            <a:ext cx="51156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39" spc="-1" strike="noStrike">
                <a:solidFill>
                  <a:srgbClr val="181b1d"/>
                </a:solidFill>
                <a:latin typeface="微软雅黑"/>
              </a:rPr>
              <a:t>P2</a:t>
            </a:r>
            <a:endParaRPr b="0" lang="en-US" sz="839" spc="-1" strike="noStrike">
              <a:latin typeface="Arial"/>
            </a:endParaRPr>
          </a:p>
        </p:txBody>
      </p:sp>
      <p:sp>
        <p:nvSpPr>
          <p:cNvPr id="792" name="Oval 204"/>
          <p:cNvSpPr/>
          <p:nvPr/>
        </p:nvSpPr>
        <p:spPr>
          <a:xfrm>
            <a:off x="8282160" y="3360600"/>
            <a:ext cx="132120" cy="132120"/>
          </a:xfrm>
          <a:prstGeom prst="ellipse">
            <a:avLst/>
          </a:prstGeom>
          <a:solidFill>
            <a:srgbClr val="e2f1df"/>
          </a:solidFill>
          <a:ln w="9525">
            <a:solidFill>
              <a:srgbClr val="368f45"/>
            </a:solidFill>
          </a:ln>
        </p:spPr>
        <p:style>
          <a:lnRef idx="1">
            <a:schemeClr val="accent1"/>
          </a:lnRef>
          <a:fillRef idx="3">
            <a:schemeClr val="accent1"/>
          </a:fillRef>
          <a:effectRef idx="2">
            <a:schemeClr val="accent1"/>
          </a:effectRef>
          <a:fontRef idx="minor"/>
        </p:style>
      </p:sp>
      <p:sp>
        <p:nvSpPr>
          <p:cNvPr id="793" name="TextBox 205"/>
          <p:cNvSpPr/>
          <p:nvPr/>
        </p:nvSpPr>
        <p:spPr>
          <a:xfrm>
            <a:off x="8282160" y="3378600"/>
            <a:ext cx="132120" cy="957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00" spc="-1" strike="noStrike">
                <a:solidFill>
                  <a:srgbClr val="181b1d"/>
                </a:solidFill>
                <a:latin typeface="微软雅黑"/>
              </a:rPr>
              <a:t>B</a:t>
            </a:r>
            <a:endParaRPr b="0" lang="en-US" sz="600" spc="-1" strike="noStrike">
              <a:latin typeface="Arial"/>
            </a:endParaRPr>
          </a:p>
        </p:txBody>
      </p:sp>
      <p:sp>
        <p:nvSpPr>
          <p:cNvPr id="794" name="Rounded Rectangle 206"/>
          <p:cNvSpPr/>
          <p:nvPr/>
        </p:nvSpPr>
        <p:spPr>
          <a:xfrm>
            <a:off x="7388280" y="3609720"/>
            <a:ext cx="566640" cy="38376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795" name="TextBox 207"/>
          <p:cNvSpPr/>
          <p:nvPr/>
        </p:nvSpPr>
        <p:spPr>
          <a:xfrm>
            <a:off x="7415640" y="3616920"/>
            <a:ext cx="51156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39" spc="-1" strike="noStrike">
                <a:solidFill>
                  <a:srgbClr val="181b1d"/>
                </a:solidFill>
                <a:latin typeface="微软雅黑"/>
              </a:rPr>
              <a:t>P3</a:t>
            </a:r>
            <a:endParaRPr b="0" lang="en-US" sz="839" spc="-1" strike="noStrike">
              <a:latin typeface="Arial"/>
            </a:endParaRPr>
          </a:p>
        </p:txBody>
      </p:sp>
      <p:sp>
        <p:nvSpPr>
          <p:cNvPr id="796" name="Oval 208"/>
          <p:cNvSpPr/>
          <p:nvPr/>
        </p:nvSpPr>
        <p:spPr>
          <a:xfrm>
            <a:off x="7513920" y="3817800"/>
            <a:ext cx="114120" cy="11412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797" name="TextBox 209"/>
          <p:cNvSpPr/>
          <p:nvPr/>
        </p:nvSpPr>
        <p:spPr>
          <a:xfrm>
            <a:off x="7513920" y="3836520"/>
            <a:ext cx="114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C</a:t>
            </a:r>
            <a:endParaRPr b="0" lang="en-US" sz="480" spc="-1" strike="noStrike">
              <a:latin typeface="Arial"/>
            </a:endParaRPr>
          </a:p>
        </p:txBody>
      </p:sp>
      <p:sp>
        <p:nvSpPr>
          <p:cNvPr id="798" name="Oval 210"/>
          <p:cNvSpPr/>
          <p:nvPr/>
        </p:nvSpPr>
        <p:spPr>
          <a:xfrm>
            <a:off x="7724520" y="3817800"/>
            <a:ext cx="114120" cy="11412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799" name="TextBox 211"/>
          <p:cNvSpPr/>
          <p:nvPr/>
        </p:nvSpPr>
        <p:spPr>
          <a:xfrm>
            <a:off x="7724520" y="3836520"/>
            <a:ext cx="114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E</a:t>
            </a:r>
            <a:endParaRPr b="0" lang="en-US" sz="480" spc="-1" strike="noStrike">
              <a:latin typeface="Arial"/>
            </a:endParaRPr>
          </a:p>
        </p:txBody>
      </p:sp>
      <p:sp>
        <p:nvSpPr>
          <p:cNvPr id="800" name="Rounded Rectangle 212"/>
          <p:cNvSpPr/>
          <p:nvPr/>
        </p:nvSpPr>
        <p:spPr>
          <a:xfrm>
            <a:off x="8065080" y="3609720"/>
            <a:ext cx="566640" cy="38376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801" name="TextBox 213"/>
          <p:cNvSpPr/>
          <p:nvPr/>
        </p:nvSpPr>
        <p:spPr>
          <a:xfrm>
            <a:off x="8092440" y="3616920"/>
            <a:ext cx="51156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39" spc="-1" strike="noStrike">
                <a:solidFill>
                  <a:srgbClr val="181b1d"/>
                </a:solidFill>
                <a:latin typeface="微软雅黑"/>
              </a:rPr>
              <a:t>P4</a:t>
            </a:r>
            <a:endParaRPr b="0" lang="en-US" sz="839" spc="-1" strike="noStrike">
              <a:latin typeface="Arial"/>
            </a:endParaRPr>
          </a:p>
        </p:txBody>
      </p:sp>
      <p:sp>
        <p:nvSpPr>
          <p:cNvPr id="802" name="Connector 214"/>
          <p:cNvSpPr/>
          <p:nvPr/>
        </p:nvSpPr>
        <p:spPr>
          <a:xfrm>
            <a:off x="8247600" y="3874680"/>
            <a:ext cx="210600" cy="360"/>
          </a:xfrm>
          <a:prstGeom prst="line">
            <a:avLst/>
          </a:prstGeom>
          <a:ln w="9525">
            <a:solidFill>
              <a:srgbClr val="7a4bb1"/>
            </a:solidFill>
          </a:ln>
        </p:spPr>
        <p:style>
          <a:lnRef idx="2">
            <a:schemeClr val="accent1"/>
          </a:lnRef>
          <a:fillRef idx="0">
            <a:schemeClr val="accent1"/>
          </a:fillRef>
          <a:effectRef idx="1">
            <a:schemeClr val="accent1"/>
          </a:effectRef>
          <a:fontRef idx="minor"/>
        </p:style>
      </p:sp>
      <p:sp>
        <p:nvSpPr>
          <p:cNvPr id="803" name="Oval 215"/>
          <p:cNvSpPr/>
          <p:nvPr/>
        </p:nvSpPr>
        <p:spPr>
          <a:xfrm>
            <a:off x="8190720" y="3817800"/>
            <a:ext cx="114120" cy="114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804" name="TextBox 216"/>
          <p:cNvSpPr/>
          <p:nvPr/>
        </p:nvSpPr>
        <p:spPr>
          <a:xfrm>
            <a:off x="8190720" y="3836520"/>
            <a:ext cx="114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D</a:t>
            </a:r>
            <a:endParaRPr b="0" lang="en-US" sz="480" spc="-1" strike="noStrike">
              <a:latin typeface="Arial"/>
            </a:endParaRPr>
          </a:p>
        </p:txBody>
      </p:sp>
      <p:sp>
        <p:nvSpPr>
          <p:cNvPr id="805" name="Oval 217"/>
          <p:cNvSpPr/>
          <p:nvPr/>
        </p:nvSpPr>
        <p:spPr>
          <a:xfrm>
            <a:off x="8400960" y="3817800"/>
            <a:ext cx="114120" cy="114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806" name="TextBox 218"/>
          <p:cNvSpPr/>
          <p:nvPr/>
        </p:nvSpPr>
        <p:spPr>
          <a:xfrm>
            <a:off x="8400960" y="3836520"/>
            <a:ext cx="114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F</a:t>
            </a:r>
            <a:endParaRPr b="0" lang="en-US" sz="480" spc="-1" strike="noStrike">
              <a:latin typeface="Arial"/>
            </a:endParaRPr>
          </a:p>
        </p:txBody>
      </p:sp>
      <p:sp>
        <p:nvSpPr>
          <p:cNvPr id="807" name="Rounded Rectangle 219"/>
          <p:cNvSpPr/>
          <p:nvPr/>
        </p:nvSpPr>
        <p:spPr>
          <a:xfrm>
            <a:off x="6272640" y="4057920"/>
            <a:ext cx="2495880" cy="292320"/>
          </a:xfrm>
          <a:prstGeom prst="roundRect">
            <a:avLst>
              <a:gd name="adj" fmla="val 16667"/>
            </a:avLst>
          </a:prstGeom>
          <a:solidFill>
            <a:srgbClr val="ffffff"/>
          </a:solidFill>
          <a:ln w="8890">
            <a:solidFill>
              <a:srgbClr val="0b5bb5"/>
            </a:solidFill>
          </a:ln>
        </p:spPr>
        <p:style>
          <a:lnRef idx="1">
            <a:schemeClr val="accent1"/>
          </a:lnRef>
          <a:fillRef idx="3">
            <a:schemeClr val="accent1"/>
          </a:fillRef>
          <a:effectRef idx="2">
            <a:schemeClr val="accent1"/>
          </a:effectRef>
          <a:fontRef idx="minor"/>
        </p:style>
      </p:sp>
      <p:pic>
        <p:nvPicPr>
          <p:cNvPr id="808" name="Picture 220" descr="p4_partition_objective.png"/>
          <p:cNvPicPr/>
          <p:nvPr/>
        </p:nvPicPr>
        <p:blipFill>
          <a:blip r:embed="rId1"/>
          <a:stretch/>
        </p:blipFill>
        <p:spPr>
          <a:xfrm>
            <a:off x="7011000" y="4103640"/>
            <a:ext cx="1019520" cy="200880"/>
          </a:xfrm>
          <a:prstGeom prst="rect">
            <a:avLst/>
          </a:prstGeom>
          <a:ln w="0">
            <a:noFill/>
          </a:ln>
        </p:spPr>
      </p:pic>
      <p:sp>
        <p:nvSpPr>
          <p:cNvPr id="809" name="TextBox 221"/>
          <p:cNvSpPr/>
          <p:nvPr/>
        </p:nvSpPr>
        <p:spPr>
          <a:xfrm>
            <a:off x="6272640" y="4409280"/>
            <a:ext cx="2495880" cy="119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50" spc="-1" strike="noStrike">
                <a:solidFill>
                  <a:srgbClr val="181b1d"/>
                </a:solidFill>
                <a:latin typeface="微软雅黑"/>
              </a:rPr>
              <a:t>唯一归属  </a:t>
            </a:r>
            <a:r>
              <a:rPr b="1" lang="en-US" sz="750" spc="-1" strike="noStrike">
                <a:solidFill>
                  <a:srgbClr val="181b1d"/>
                </a:solidFill>
                <a:latin typeface="微软雅黑"/>
              </a:rPr>
              <a:t>|  </a:t>
            </a:r>
            <a:r>
              <a:rPr b="1" lang="zh-CN" sz="750" spc="-1" strike="noStrike">
                <a:solidFill>
                  <a:srgbClr val="181b1d"/>
                </a:solidFill>
                <a:latin typeface="微软雅黑"/>
              </a:rPr>
              <a:t>权重均衡  </a:t>
            </a:r>
            <a:r>
              <a:rPr b="1" lang="en-US" sz="750" spc="-1" strike="noStrike">
                <a:solidFill>
                  <a:srgbClr val="181b1d"/>
                </a:solidFill>
                <a:latin typeface="微软雅黑"/>
              </a:rPr>
              <a:t>|  </a:t>
            </a:r>
            <a:r>
              <a:rPr b="1" lang="zh-CN" sz="750" spc="-1" strike="noStrike">
                <a:solidFill>
                  <a:srgbClr val="181b1d"/>
                </a:solidFill>
                <a:latin typeface="微软雅黑"/>
              </a:rPr>
              <a:t>连通性后验检测</a:t>
            </a:r>
            <a:endParaRPr b="0" lang="en-US" sz="750" spc="-1" strike="noStrike">
              <a:latin typeface="Arial"/>
            </a:endParaRPr>
          </a:p>
        </p:txBody>
      </p:sp>
      <p:sp>
        <p:nvSpPr>
          <p:cNvPr id="810" name="TextBox 222"/>
          <p:cNvSpPr/>
          <p:nvPr/>
        </p:nvSpPr>
        <p:spPr>
          <a:xfrm>
            <a:off x="9235440" y="2987280"/>
            <a:ext cx="566640" cy="13824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870" spc="-1" strike="noStrike">
                <a:solidFill>
                  <a:srgbClr val="0b5bb5"/>
                </a:solidFill>
                <a:latin typeface="微软雅黑"/>
              </a:rPr>
              <a:t>节点权</a:t>
            </a:r>
            <a:endParaRPr b="0" lang="en-US" sz="870" spc="-1" strike="noStrike">
              <a:latin typeface="Arial"/>
            </a:endParaRPr>
          </a:p>
        </p:txBody>
      </p:sp>
      <p:pic>
        <p:nvPicPr>
          <p:cNvPr id="811" name="Picture 223" descr="p4_weight_node.png"/>
          <p:cNvPicPr/>
          <p:nvPr/>
        </p:nvPicPr>
        <p:blipFill>
          <a:blip r:embed="rId2"/>
          <a:stretch/>
        </p:blipFill>
        <p:spPr>
          <a:xfrm>
            <a:off x="10019520" y="2942280"/>
            <a:ext cx="1248120" cy="228240"/>
          </a:xfrm>
          <a:prstGeom prst="rect">
            <a:avLst/>
          </a:prstGeom>
          <a:ln w="0">
            <a:noFill/>
          </a:ln>
        </p:spPr>
      </p:pic>
      <p:sp>
        <p:nvSpPr>
          <p:cNvPr id="812" name="TextBox 224"/>
          <p:cNvSpPr/>
          <p:nvPr/>
        </p:nvSpPr>
        <p:spPr>
          <a:xfrm>
            <a:off x="9235440" y="3362400"/>
            <a:ext cx="566640" cy="13824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870" spc="-1" strike="noStrike">
                <a:solidFill>
                  <a:srgbClr val="0b5bb5"/>
                </a:solidFill>
                <a:latin typeface="微软雅黑"/>
              </a:rPr>
              <a:t>线路权</a:t>
            </a:r>
            <a:endParaRPr b="0" lang="en-US" sz="870" spc="-1" strike="noStrike">
              <a:latin typeface="Arial"/>
            </a:endParaRPr>
          </a:p>
        </p:txBody>
      </p:sp>
      <p:pic>
        <p:nvPicPr>
          <p:cNvPr id="813" name="Picture 225" descr="p4_weight_line.png"/>
          <p:cNvPicPr/>
          <p:nvPr/>
        </p:nvPicPr>
        <p:blipFill>
          <a:blip r:embed="rId3"/>
          <a:stretch/>
        </p:blipFill>
        <p:spPr>
          <a:xfrm>
            <a:off x="9816480" y="3299040"/>
            <a:ext cx="1690200" cy="255600"/>
          </a:xfrm>
          <a:prstGeom prst="rect">
            <a:avLst/>
          </a:prstGeom>
          <a:ln w="0">
            <a:noFill/>
          </a:ln>
        </p:spPr>
      </p:pic>
      <p:sp>
        <p:nvSpPr>
          <p:cNvPr id="814" name="TextBox 226"/>
          <p:cNvSpPr/>
          <p:nvPr/>
        </p:nvSpPr>
        <p:spPr>
          <a:xfrm>
            <a:off x="9235440" y="3755520"/>
            <a:ext cx="566640" cy="13824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870" spc="-1" strike="noStrike">
                <a:solidFill>
                  <a:srgbClr val="0b5bb5"/>
                </a:solidFill>
                <a:latin typeface="微软雅黑"/>
              </a:rPr>
              <a:t>变压器权</a:t>
            </a:r>
            <a:endParaRPr b="0" lang="en-US" sz="870" spc="-1" strike="noStrike">
              <a:latin typeface="Arial"/>
            </a:endParaRPr>
          </a:p>
        </p:txBody>
      </p:sp>
      <p:pic>
        <p:nvPicPr>
          <p:cNvPr id="815" name="Picture 227" descr="p4_weight_transformer.png"/>
          <p:cNvPicPr/>
          <p:nvPr/>
        </p:nvPicPr>
        <p:blipFill>
          <a:blip r:embed="rId4"/>
          <a:stretch/>
        </p:blipFill>
        <p:spPr>
          <a:xfrm>
            <a:off x="9927000" y="3692160"/>
            <a:ext cx="1469520" cy="255600"/>
          </a:xfrm>
          <a:prstGeom prst="rect">
            <a:avLst/>
          </a:prstGeom>
          <a:ln w="0">
            <a:noFill/>
          </a:ln>
        </p:spPr>
      </p:pic>
      <p:sp>
        <p:nvSpPr>
          <p:cNvPr id="816" name="Connector 228"/>
          <p:cNvSpPr/>
          <p:nvPr/>
        </p:nvSpPr>
        <p:spPr>
          <a:xfrm>
            <a:off x="9198720" y="4112640"/>
            <a:ext cx="2414160" cy="360"/>
          </a:xfrm>
          <a:prstGeom prst="line">
            <a:avLst/>
          </a:prstGeom>
          <a:ln w="8255">
            <a:solidFill>
              <a:srgbClr val="0b5bb5"/>
            </a:solidFill>
            <a:prstDash val="dash"/>
          </a:ln>
        </p:spPr>
        <p:style>
          <a:lnRef idx="2">
            <a:schemeClr val="accent1"/>
          </a:lnRef>
          <a:fillRef idx="0">
            <a:schemeClr val="accent1"/>
          </a:fillRef>
          <a:effectRef idx="1">
            <a:schemeClr val="accent1"/>
          </a:effectRef>
          <a:fontRef idx="minor"/>
        </p:style>
      </p:sp>
      <p:sp>
        <p:nvSpPr>
          <p:cNvPr id="817" name="TextBox 229"/>
          <p:cNvSpPr/>
          <p:nvPr/>
        </p:nvSpPr>
        <p:spPr>
          <a:xfrm>
            <a:off x="9272160" y="4201200"/>
            <a:ext cx="2267280" cy="2984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900" spc="-1" strike="noStrike">
                <a:solidFill>
                  <a:srgbClr val="1e5aa8"/>
                </a:solidFill>
                <a:latin typeface="微软雅黑"/>
              </a:rPr>
              <a:t>权重经归一化与离散化后</a:t>
            </a:r>
            <a:endParaRPr b="0" lang="en-US" sz="900" spc="-1" strike="noStrike">
              <a:latin typeface="Arial"/>
            </a:endParaRPr>
          </a:p>
          <a:p>
            <a:pPr algn="ctr">
              <a:lnSpc>
                <a:spcPct val="104000"/>
              </a:lnSpc>
              <a:spcAft>
                <a:spcPts val="99"/>
              </a:spcAft>
              <a:buNone/>
            </a:pPr>
            <a:r>
              <a:rPr b="1" lang="zh-CN" sz="900" spc="-1" strike="noStrike">
                <a:solidFill>
                  <a:srgbClr val="1e5aa8"/>
                </a:solidFill>
                <a:latin typeface="微软雅黑"/>
              </a:rPr>
              <a:t>输入多级图划分器</a:t>
            </a:r>
            <a:endParaRPr b="0" lang="en-US" sz="900" spc="-1" strike="noStrike">
              <a:latin typeface="Arial"/>
            </a:endParaRPr>
          </a:p>
        </p:txBody>
      </p:sp>
      <p:sp>
        <p:nvSpPr>
          <p:cNvPr id="818" name="TextBox 230"/>
          <p:cNvSpPr/>
          <p:nvPr/>
        </p:nvSpPr>
        <p:spPr>
          <a:xfrm>
            <a:off x="640080" y="5059800"/>
            <a:ext cx="5166000" cy="1447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910" spc="-1" strike="noStrike">
                <a:solidFill>
                  <a:srgbClr val="181b1d"/>
                </a:solidFill>
                <a:latin typeface="微软雅黑"/>
              </a:rPr>
              <a:t>依据聚合映射逐层展开标签，并在每层搜索边界节点的迁移增益</a:t>
            </a:r>
            <a:endParaRPr b="0" lang="en-US" sz="910" spc="-1" strike="noStrike">
              <a:latin typeface="Arial"/>
            </a:endParaRPr>
          </a:p>
        </p:txBody>
      </p:sp>
      <p:sp>
        <p:nvSpPr>
          <p:cNvPr id="819" name="Rounded Rectangle 231"/>
          <p:cNvSpPr/>
          <p:nvPr/>
        </p:nvSpPr>
        <p:spPr>
          <a:xfrm>
            <a:off x="548640" y="5219280"/>
            <a:ext cx="292320" cy="301320"/>
          </a:xfrm>
          <a:prstGeom prst="roundRect">
            <a:avLst>
              <a:gd name="adj" fmla="val 16667"/>
            </a:avLst>
          </a:prstGeom>
          <a:noFill/>
          <a:ln w="8890">
            <a:solidFill>
              <a:srgbClr val="0b5bb5"/>
            </a:solidFill>
            <a:prstDash val="dash"/>
          </a:ln>
        </p:spPr>
        <p:style>
          <a:lnRef idx="1">
            <a:schemeClr val="accent1"/>
          </a:lnRef>
          <a:fillRef idx="3">
            <a:schemeClr val="accent1"/>
          </a:fillRef>
          <a:effectRef idx="2">
            <a:schemeClr val="accent1"/>
          </a:effectRef>
          <a:fontRef idx="minor"/>
        </p:style>
      </p:sp>
      <p:sp>
        <p:nvSpPr>
          <p:cNvPr id="820" name="Rounded Rectangle 232"/>
          <p:cNvSpPr/>
          <p:nvPr/>
        </p:nvSpPr>
        <p:spPr>
          <a:xfrm>
            <a:off x="502920" y="5566680"/>
            <a:ext cx="292320" cy="301320"/>
          </a:xfrm>
          <a:prstGeom prst="roundRect">
            <a:avLst>
              <a:gd name="adj" fmla="val 16667"/>
            </a:avLst>
          </a:prstGeom>
          <a:noFill/>
          <a:ln w="8890">
            <a:solidFill>
              <a:srgbClr val="368f45"/>
            </a:solidFill>
            <a:prstDash val="dash"/>
          </a:ln>
        </p:spPr>
        <p:style>
          <a:lnRef idx="1">
            <a:schemeClr val="accent1"/>
          </a:lnRef>
          <a:fillRef idx="3">
            <a:schemeClr val="accent1"/>
          </a:fillRef>
          <a:effectRef idx="2">
            <a:schemeClr val="accent1"/>
          </a:effectRef>
          <a:fontRef idx="minor"/>
        </p:style>
      </p:sp>
      <p:sp>
        <p:nvSpPr>
          <p:cNvPr id="821" name="Rounded Rectangle 233"/>
          <p:cNvSpPr/>
          <p:nvPr/>
        </p:nvSpPr>
        <p:spPr>
          <a:xfrm>
            <a:off x="831960" y="5520960"/>
            <a:ext cx="292320" cy="30132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822" name="Rounded Rectangle 234"/>
          <p:cNvSpPr/>
          <p:nvPr/>
        </p:nvSpPr>
        <p:spPr>
          <a:xfrm>
            <a:off x="1170360" y="5520960"/>
            <a:ext cx="292320" cy="30132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823" name="Rounded Rectangle 235"/>
          <p:cNvSpPr/>
          <p:nvPr/>
        </p:nvSpPr>
        <p:spPr>
          <a:xfrm>
            <a:off x="557640" y="5877720"/>
            <a:ext cx="292320" cy="30132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824" name="Rounded Rectangle 236"/>
          <p:cNvSpPr/>
          <p:nvPr/>
        </p:nvSpPr>
        <p:spPr>
          <a:xfrm>
            <a:off x="1078920" y="5877720"/>
            <a:ext cx="292320" cy="30132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825" name="Connector 237"/>
          <p:cNvSpPr/>
          <p:nvPr/>
        </p:nvSpPr>
        <p:spPr>
          <a:xfrm flipH="1">
            <a:off x="649080" y="5365440"/>
            <a:ext cx="45720" cy="347400"/>
          </a:xfrm>
          <a:prstGeom prst="line">
            <a:avLst/>
          </a:prstGeom>
          <a:ln w="7874">
            <a:solidFill>
              <a:srgbClr val="666c70"/>
            </a:solidFill>
          </a:ln>
        </p:spPr>
        <p:style>
          <a:lnRef idx="2">
            <a:schemeClr val="accent1"/>
          </a:lnRef>
          <a:fillRef idx="0">
            <a:schemeClr val="accent1"/>
          </a:fillRef>
          <a:effectRef idx="1">
            <a:schemeClr val="accent1"/>
          </a:effectRef>
          <a:fontRef idx="minor"/>
        </p:style>
      </p:sp>
      <p:sp>
        <p:nvSpPr>
          <p:cNvPr id="826" name="Connector 238"/>
          <p:cNvSpPr/>
          <p:nvPr/>
        </p:nvSpPr>
        <p:spPr>
          <a:xfrm>
            <a:off x="694800" y="5365440"/>
            <a:ext cx="283320" cy="310680"/>
          </a:xfrm>
          <a:prstGeom prst="line">
            <a:avLst/>
          </a:prstGeom>
          <a:ln w="7874">
            <a:solidFill>
              <a:srgbClr val="666c70"/>
            </a:solidFill>
          </a:ln>
        </p:spPr>
        <p:style>
          <a:lnRef idx="2">
            <a:schemeClr val="accent1"/>
          </a:lnRef>
          <a:fillRef idx="0">
            <a:schemeClr val="accent1"/>
          </a:fillRef>
          <a:effectRef idx="1">
            <a:schemeClr val="accent1"/>
          </a:effectRef>
          <a:fontRef idx="minor"/>
        </p:style>
      </p:sp>
      <p:sp>
        <p:nvSpPr>
          <p:cNvPr id="827" name="Connector 239"/>
          <p:cNvSpPr/>
          <p:nvPr/>
        </p:nvSpPr>
        <p:spPr>
          <a:xfrm>
            <a:off x="694800" y="5365440"/>
            <a:ext cx="621720" cy="310680"/>
          </a:xfrm>
          <a:prstGeom prst="line">
            <a:avLst/>
          </a:prstGeom>
          <a:ln w="7874">
            <a:solidFill>
              <a:srgbClr val="666c70"/>
            </a:solidFill>
          </a:ln>
        </p:spPr>
        <p:style>
          <a:lnRef idx="2">
            <a:schemeClr val="accent1"/>
          </a:lnRef>
          <a:fillRef idx="0">
            <a:schemeClr val="accent1"/>
          </a:fillRef>
          <a:effectRef idx="1">
            <a:schemeClr val="accent1"/>
          </a:effectRef>
          <a:fontRef idx="minor"/>
        </p:style>
      </p:sp>
      <p:sp>
        <p:nvSpPr>
          <p:cNvPr id="828" name="Connector 240"/>
          <p:cNvSpPr/>
          <p:nvPr/>
        </p:nvSpPr>
        <p:spPr>
          <a:xfrm flipV="1">
            <a:off x="649080" y="5676120"/>
            <a:ext cx="329040" cy="36720"/>
          </a:xfrm>
          <a:prstGeom prst="line">
            <a:avLst/>
          </a:prstGeom>
          <a:ln w="7874">
            <a:solidFill>
              <a:srgbClr val="666c70"/>
            </a:solidFill>
          </a:ln>
        </p:spPr>
        <p:style>
          <a:lnRef idx="2">
            <a:schemeClr val="accent1"/>
          </a:lnRef>
          <a:fillRef idx="0">
            <a:schemeClr val="accent1"/>
          </a:fillRef>
          <a:effectRef idx="1">
            <a:schemeClr val="accent1"/>
          </a:effectRef>
          <a:fontRef idx="minor"/>
        </p:style>
      </p:sp>
      <p:sp>
        <p:nvSpPr>
          <p:cNvPr id="829" name="Connector 241"/>
          <p:cNvSpPr/>
          <p:nvPr/>
        </p:nvSpPr>
        <p:spPr>
          <a:xfrm>
            <a:off x="649080" y="5712840"/>
            <a:ext cx="54720" cy="320040"/>
          </a:xfrm>
          <a:prstGeom prst="line">
            <a:avLst/>
          </a:prstGeom>
          <a:ln w="7874">
            <a:solidFill>
              <a:srgbClr val="666c70"/>
            </a:solidFill>
          </a:ln>
        </p:spPr>
        <p:style>
          <a:lnRef idx="2">
            <a:schemeClr val="accent1"/>
          </a:lnRef>
          <a:fillRef idx="0">
            <a:schemeClr val="accent1"/>
          </a:fillRef>
          <a:effectRef idx="1">
            <a:schemeClr val="accent1"/>
          </a:effectRef>
          <a:fontRef idx="minor"/>
        </p:style>
      </p:sp>
      <p:sp>
        <p:nvSpPr>
          <p:cNvPr id="830" name="Connector 242"/>
          <p:cNvSpPr/>
          <p:nvPr/>
        </p:nvSpPr>
        <p:spPr>
          <a:xfrm>
            <a:off x="978120" y="5676120"/>
            <a:ext cx="338400" cy="360"/>
          </a:xfrm>
          <a:prstGeom prst="line">
            <a:avLst/>
          </a:prstGeom>
          <a:ln w="7874">
            <a:solidFill>
              <a:srgbClr val="666c70"/>
            </a:solidFill>
          </a:ln>
        </p:spPr>
        <p:style>
          <a:lnRef idx="2">
            <a:schemeClr val="accent1"/>
          </a:lnRef>
          <a:fillRef idx="0">
            <a:schemeClr val="accent1"/>
          </a:fillRef>
          <a:effectRef idx="1">
            <a:schemeClr val="accent1"/>
          </a:effectRef>
          <a:fontRef idx="minor"/>
        </p:style>
      </p:sp>
      <p:sp>
        <p:nvSpPr>
          <p:cNvPr id="831" name="Connector 243"/>
          <p:cNvSpPr/>
          <p:nvPr/>
        </p:nvSpPr>
        <p:spPr>
          <a:xfrm>
            <a:off x="978120" y="5676120"/>
            <a:ext cx="246960" cy="356760"/>
          </a:xfrm>
          <a:prstGeom prst="line">
            <a:avLst/>
          </a:prstGeom>
          <a:ln w="7874">
            <a:solidFill>
              <a:srgbClr val="666c70"/>
            </a:solidFill>
          </a:ln>
        </p:spPr>
        <p:style>
          <a:lnRef idx="2">
            <a:schemeClr val="accent1"/>
          </a:lnRef>
          <a:fillRef idx="0">
            <a:schemeClr val="accent1"/>
          </a:fillRef>
          <a:effectRef idx="1">
            <a:schemeClr val="accent1"/>
          </a:effectRef>
          <a:fontRef idx="minor"/>
        </p:style>
      </p:sp>
      <p:sp>
        <p:nvSpPr>
          <p:cNvPr id="832" name="Connector 244"/>
          <p:cNvSpPr/>
          <p:nvPr/>
        </p:nvSpPr>
        <p:spPr>
          <a:xfrm flipH="1">
            <a:off x="1225080" y="5676120"/>
            <a:ext cx="91440" cy="356760"/>
          </a:xfrm>
          <a:prstGeom prst="line">
            <a:avLst/>
          </a:prstGeom>
          <a:ln w="7874">
            <a:solidFill>
              <a:srgbClr val="666c70"/>
            </a:solidFill>
          </a:ln>
        </p:spPr>
        <p:style>
          <a:lnRef idx="2">
            <a:schemeClr val="accent1"/>
          </a:lnRef>
          <a:fillRef idx="0">
            <a:schemeClr val="accent1"/>
          </a:fillRef>
          <a:effectRef idx="1">
            <a:schemeClr val="accent1"/>
          </a:effectRef>
          <a:fontRef idx="minor"/>
        </p:style>
      </p:sp>
      <p:sp>
        <p:nvSpPr>
          <p:cNvPr id="833" name="Connector 245"/>
          <p:cNvSpPr/>
          <p:nvPr/>
        </p:nvSpPr>
        <p:spPr>
          <a:xfrm>
            <a:off x="703800" y="6032880"/>
            <a:ext cx="521280" cy="360"/>
          </a:xfrm>
          <a:prstGeom prst="line">
            <a:avLst/>
          </a:prstGeom>
          <a:ln w="7874">
            <a:solidFill>
              <a:srgbClr val="666c70"/>
            </a:solidFill>
          </a:ln>
        </p:spPr>
        <p:style>
          <a:lnRef idx="2">
            <a:schemeClr val="accent1"/>
          </a:lnRef>
          <a:fillRef idx="0">
            <a:schemeClr val="accent1"/>
          </a:fillRef>
          <a:effectRef idx="1">
            <a:schemeClr val="accent1"/>
          </a:effectRef>
          <a:fontRef idx="minor"/>
        </p:style>
      </p:sp>
      <p:sp>
        <p:nvSpPr>
          <p:cNvPr id="834" name="Oval 246"/>
          <p:cNvSpPr/>
          <p:nvPr/>
        </p:nvSpPr>
        <p:spPr>
          <a:xfrm>
            <a:off x="628560" y="5299200"/>
            <a:ext cx="132120" cy="13212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835" name="TextBox 247"/>
          <p:cNvSpPr/>
          <p:nvPr/>
        </p:nvSpPr>
        <p:spPr>
          <a:xfrm>
            <a:off x="628560" y="531828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A</a:t>
            </a:r>
            <a:endParaRPr b="0" lang="en-US" sz="590" spc="-1" strike="noStrike">
              <a:latin typeface="Arial"/>
            </a:endParaRPr>
          </a:p>
        </p:txBody>
      </p:sp>
      <p:sp>
        <p:nvSpPr>
          <p:cNvPr id="836" name="Oval 248"/>
          <p:cNvSpPr/>
          <p:nvPr/>
        </p:nvSpPr>
        <p:spPr>
          <a:xfrm>
            <a:off x="582840" y="5646600"/>
            <a:ext cx="132120" cy="132120"/>
          </a:xfrm>
          <a:prstGeom prst="ellipse">
            <a:avLst/>
          </a:prstGeom>
          <a:solidFill>
            <a:srgbClr val="e2f1df"/>
          </a:solidFill>
          <a:ln w="9525">
            <a:solidFill>
              <a:srgbClr val="368f45"/>
            </a:solidFill>
          </a:ln>
        </p:spPr>
        <p:style>
          <a:lnRef idx="1">
            <a:schemeClr val="accent1"/>
          </a:lnRef>
          <a:fillRef idx="3">
            <a:schemeClr val="accent1"/>
          </a:fillRef>
          <a:effectRef idx="2">
            <a:schemeClr val="accent1"/>
          </a:effectRef>
          <a:fontRef idx="minor"/>
        </p:style>
      </p:sp>
      <p:sp>
        <p:nvSpPr>
          <p:cNvPr id="837" name="TextBox 249"/>
          <p:cNvSpPr/>
          <p:nvPr/>
        </p:nvSpPr>
        <p:spPr>
          <a:xfrm>
            <a:off x="582840" y="566568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B</a:t>
            </a:r>
            <a:endParaRPr b="0" lang="en-US" sz="590" spc="-1" strike="noStrike">
              <a:latin typeface="Arial"/>
            </a:endParaRPr>
          </a:p>
        </p:txBody>
      </p:sp>
      <p:sp>
        <p:nvSpPr>
          <p:cNvPr id="838" name="Oval 250"/>
          <p:cNvSpPr/>
          <p:nvPr/>
        </p:nvSpPr>
        <p:spPr>
          <a:xfrm>
            <a:off x="912240" y="5610240"/>
            <a:ext cx="132120" cy="13212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839" name="TextBox 251"/>
          <p:cNvSpPr/>
          <p:nvPr/>
        </p:nvSpPr>
        <p:spPr>
          <a:xfrm>
            <a:off x="912240" y="562932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C</a:t>
            </a:r>
            <a:endParaRPr b="0" lang="en-US" sz="590" spc="-1" strike="noStrike">
              <a:latin typeface="Arial"/>
            </a:endParaRPr>
          </a:p>
        </p:txBody>
      </p:sp>
      <p:sp>
        <p:nvSpPr>
          <p:cNvPr id="840" name="Oval 252"/>
          <p:cNvSpPr/>
          <p:nvPr/>
        </p:nvSpPr>
        <p:spPr>
          <a:xfrm>
            <a:off x="1250280" y="5610240"/>
            <a:ext cx="132120" cy="132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841" name="TextBox 253"/>
          <p:cNvSpPr/>
          <p:nvPr/>
        </p:nvSpPr>
        <p:spPr>
          <a:xfrm>
            <a:off x="1250280" y="562932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D</a:t>
            </a:r>
            <a:endParaRPr b="0" lang="en-US" sz="590" spc="-1" strike="noStrike">
              <a:latin typeface="Arial"/>
            </a:endParaRPr>
          </a:p>
        </p:txBody>
      </p:sp>
      <p:sp>
        <p:nvSpPr>
          <p:cNvPr id="842" name="Oval 254"/>
          <p:cNvSpPr/>
          <p:nvPr/>
        </p:nvSpPr>
        <p:spPr>
          <a:xfrm>
            <a:off x="637920" y="5966640"/>
            <a:ext cx="132120" cy="13212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843" name="TextBox 255"/>
          <p:cNvSpPr/>
          <p:nvPr/>
        </p:nvSpPr>
        <p:spPr>
          <a:xfrm>
            <a:off x="637920" y="598572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E</a:t>
            </a:r>
            <a:endParaRPr b="0" lang="en-US" sz="590" spc="-1" strike="noStrike">
              <a:latin typeface="Arial"/>
            </a:endParaRPr>
          </a:p>
        </p:txBody>
      </p:sp>
      <p:sp>
        <p:nvSpPr>
          <p:cNvPr id="844" name="Oval 256"/>
          <p:cNvSpPr/>
          <p:nvPr/>
        </p:nvSpPr>
        <p:spPr>
          <a:xfrm>
            <a:off x="1158840" y="5966640"/>
            <a:ext cx="132120" cy="132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845" name="TextBox 257"/>
          <p:cNvSpPr/>
          <p:nvPr/>
        </p:nvSpPr>
        <p:spPr>
          <a:xfrm>
            <a:off x="1158840" y="598572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F</a:t>
            </a:r>
            <a:endParaRPr b="0" lang="en-US" sz="590" spc="-1" strike="noStrike">
              <a:latin typeface="Arial"/>
            </a:endParaRPr>
          </a:p>
        </p:txBody>
      </p:sp>
      <p:sp>
        <p:nvSpPr>
          <p:cNvPr id="846" name="Right Arrow 258"/>
          <p:cNvSpPr/>
          <p:nvPr/>
        </p:nvSpPr>
        <p:spPr>
          <a:xfrm>
            <a:off x="1517760" y="5703840"/>
            <a:ext cx="246600" cy="173520"/>
          </a:xfrm>
          <a:prstGeom prst="rightArrow">
            <a:avLst>
              <a:gd name="adj1" fmla="val 50000"/>
              <a:gd name="adj2" fmla="val 50000"/>
            </a:avLst>
          </a:prstGeom>
          <a:solidFill>
            <a:srgbClr val="181b1d"/>
          </a:solidFill>
          <a:ln>
            <a:noFill/>
          </a:ln>
        </p:spPr>
        <p:style>
          <a:lnRef idx="1">
            <a:schemeClr val="accent1"/>
          </a:lnRef>
          <a:fillRef idx="3">
            <a:schemeClr val="accent1"/>
          </a:fillRef>
          <a:effectRef idx="2">
            <a:schemeClr val="accent1"/>
          </a:effectRef>
          <a:fontRef idx="minor"/>
        </p:style>
      </p:sp>
      <p:sp>
        <p:nvSpPr>
          <p:cNvPr id="847" name="Rounded Rectangle 259"/>
          <p:cNvSpPr/>
          <p:nvPr/>
        </p:nvSpPr>
        <p:spPr>
          <a:xfrm>
            <a:off x="1883520" y="5200920"/>
            <a:ext cx="658080" cy="310680"/>
          </a:xfrm>
          <a:prstGeom prst="roundRect">
            <a:avLst>
              <a:gd name="adj" fmla="val 16667"/>
            </a:avLst>
          </a:prstGeom>
          <a:noFill/>
          <a:ln w="8890">
            <a:solidFill>
              <a:srgbClr val="0b5bb5"/>
            </a:solidFill>
            <a:prstDash val="dash"/>
          </a:ln>
        </p:spPr>
        <p:style>
          <a:lnRef idx="1">
            <a:schemeClr val="accent1"/>
          </a:lnRef>
          <a:fillRef idx="3">
            <a:schemeClr val="accent1"/>
          </a:fillRef>
          <a:effectRef idx="2">
            <a:schemeClr val="accent1"/>
          </a:effectRef>
          <a:fontRef idx="minor"/>
        </p:style>
      </p:sp>
      <p:sp>
        <p:nvSpPr>
          <p:cNvPr id="848" name="Rounded Rectangle 260"/>
          <p:cNvSpPr/>
          <p:nvPr/>
        </p:nvSpPr>
        <p:spPr>
          <a:xfrm>
            <a:off x="1792080" y="5557680"/>
            <a:ext cx="310680" cy="319680"/>
          </a:xfrm>
          <a:prstGeom prst="roundRect">
            <a:avLst>
              <a:gd name="adj" fmla="val 16667"/>
            </a:avLst>
          </a:prstGeom>
          <a:noFill/>
          <a:ln w="8890">
            <a:solidFill>
              <a:srgbClr val="368f45"/>
            </a:solidFill>
            <a:prstDash val="dash"/>
          </a:ln>
        </p:spPr>
        <p:style>
          <a:lnRef idx="1">
            <a:schemeClr val="accent1"/>
          </a:lnRef>
          <a:fillRef idx="3">
            <a:schemeClr val="accent1"/>
          </a:fillRef>
          <a:effectRef idx="2">
            <a:schemeClr val="accent1"/>
          </a:effectRef>
          <a:fontRef idx="minor"/>
        </p:style>
      </p:sp>
      <p:sp>
        <p:nvSpPr>
          <p:cNvPr id="849" name="Rounded Rectangle 261"/>
          <p:cNvSpPr/>
          <p:nvPr/>
        </p:nvSpPr>
        <p:spPr>
          <a:xfrm>
            <a:off x="2212920" y="5520960"/>
            <a:ext cx="310680" cy="31968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850" name="Rounded Rectangle 262"/>
          <p:cNvSpPr/>
          <p:nvPr/>
        </p:nvSpPr>
        <p:spPr>
          <a:xfrm>
            <a:off x="2679120" y="5520960"/>
            <a:ext cx="310680" cy="31968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851" name="Rounded Rectangle 263"/>
          <p:cNvSpPr/>
          <p:nvPr/>
        </p:nvSpPr>
        <p:spPr>
          <a:xfrm>
            <a:off x="1929240" y="5895720"/>
            <a:ext cx="310680" cy="31968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852" name="Rounded Rectangle 264"/>
          <p:cNvSpPr/>
          <p:nvPr/>
        </p:nvSpPr>
        <p:spPr>
          <a:xfrm>
            <a:off x="2350080" y="5895720"/>
            <a:ext cx="694440" cy="31968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853" name="Connector 265"/>
          <p:cNvSpPr/>
          <p:nvPr/>
        </p:nvSpPr>
        <p:spPr>
          <a:xfrm>
            <a:off x="2048040" y="5356080"/>
            <a:ext cx="329400" cy="36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54" name="Connector 266"/>
          <p:cNvSpPr/>
          <p:nvPr/>
        </p:nvSpPr>
        <p:spPr>
          <a:xfrm flipH="1">
            <a:off x="1947600" y="5356080"/>
            <a:ext cx="100440" cy="35676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55" name="Connector 267"/>
          <p:cNvSpPr/>
          <p:nvPr/>
        </p:nvSpPr>
        <p:spPr>
          <a:xfrm>
            <a:off x="2048040" y="5356080"/>
            <a:ext cx="320040" cy="32004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56" name="Connector 268"/>
          <p:cNvSpPr/>
          <p:nvPr/>
        </p:nvSpPr>
        <p:spPr>
          <a:xfrm flipH="1">
            <a:off x="2368080" y="5356080"/>
            <a:ext cx="9360" cy="32004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57" name="Connector 269"/>
          <p:cNvSpPr/>
          <p:nvPr/>
        </p:nvSpPr>
        <p:spPr>
          <a:xfrm>
            <a:off x="2377440" y="5356080"/>
            <a:ext cx="457200" cy="32004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58" name="Connector 270"/>
          <p:cNvSpPr/>
          <p:nvPr/>
        </p:nvSpPr>
        <p:spPr>
          <a:xfrm flipV="1">
            <a:off x="1947600" y="5676120"/>
            <a:ext cx="420480" cy="3672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59" name="Connector 271"/>
          <p:cNvSpPr/>
          <p:nvPr/>
        </p:nvSpPr>
        <p:spPr>
          <a:xfrm>
            <a:off x="1947600" y="5712840"/>
            <a:ext cx="137160" cy="33840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60" name="Connector 272"/>
          <p:cNvSpPr/>
          <p:nvPr/>
        </p:nvSpPr>
        <p:spPr>
          <a:xfrm>
            <a:off x="2368080" y="5676120"/>
            <a:ext cx="466560" cy="36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61" name="Connector 273"/>
          <p:cNvSpPr/>
          <p:nvPr/>
        </p:nvSpPr>
        <p:spPr>
          <a:xfrm>
            <a:off x="2368080" y="5676120"/>
            <a:ext cx="137160" cy="37512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62" name="Connector 274"/>
          <p:cNvSpPr/>
          <p:nvPr/>
        </p:nvSpPr>
        <p:spPr>
          <a:xfrm>
            <a:off x="2834640" y="5676120"/>
            <a:ext cx="54720" cy="37512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63" name="Connector 275"/>
          <p:cNvSpPr/>
          <p:nvPr/>
        </p:nvSpPr>
        <p:spPr>
          <a:xfrm>
            <a:off x="2084760" y="6051240"/>
            <a:ext cx="420480" cy="36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64" name="Connector 276"/>
          <p:cNvSpPr/>
          <p:nvPr/>
        </p:nvSpPr>
        <p:spPr>
          <a:xfrm>
            <a:off x="2505240" y="6051240"/>
            <a:ext cx="384120" cy="360"/>
          </a:xfrm>
          <a:prstGeom prst="line">
            <a:avLst/>
          </a:prstGeom>
          <a:ln w="7238">
            <a:solidFill>
              <a:srgbClr val="666c70"/>
            </a:solidFill>
          </a:ln>
        </p:spPr>
        <p:style>
          <a:lnRef idx="2">
            <a:schemeClr val="accent1"/>
          </a:lnRef>
          <a:fillRef idx="0">
            <a:schemeClr val="accent1"/>
          </a:fillRef>
          <a:effectRef idx="1">
            <a:schemeClr val="accent1"/>
          </a:effectRef>
          <a:fontRef idx="minor"/>
        </p:style>
      </p:sp>
      <p:sp>
        <p:nvSpPr>
          <p:cNvPr id="865" name="Oval 277"/>
          <p:cNvSpPr/>
          <p:nvPr/>
        </p:nvSpPr>
        <p:spPr>
          <a:xfrm>
            <a:off x="1986480" y="5294520"/>
            <a:ext cx="123120" cy="12312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866" name="TextBox 278"/>
          <p:cNvSpPr/>
          <p:nvPr/>
        </p:nvSpPr>
        <p:spPr>
          <a:xfrm>
            <a:off x="1986480" y="5317920"/>
            <a:ext cx="123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a</a:t>
            </a:r>
            <a:endParaRPr b="0" lang="en-US" sz="480" spc="-1" strike="noStrike">
              <a:latin typeface="Arial"/>
            </a:endParaRPr>
          </a:p>
        </p:txBody>
      </p:sp>
      <p:sp>
        <p:nvSpPr>
          <p:cNvPr id="867" name="Oval 279"/>
          <p:cNvSpPr/>
          <p:nvPr/>
        </p:nvSpPr>
        <p:spPr>
          <a:xfrm>
            <a:off x="2315880" y="5294520"/>
            <a:ext cx="123120" cy="12312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868" name="TextBox 280"/>
          <p:cNvSpPr/>
          <p:nvPr/>
        </p:nvSpPr>
        <p:spPr>
          <a:xfrm>
            <a:off x="2315880" y="5317920"/>
            <a:ext cx="123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b</a:t>
            </a:r>
            <a:endParaRPr b="0" lang="en-US" sz="480" spc="-1" strike="noStrike">
              <a:latin typeface="Arial"/>
            </a:endParaRPr>
          </a:p>
        </p:txBody>
      </p:sp>
      <p:sp>
        <p:nvSpPr>
          <p:cNvPr id="869" name="Oval 281"/>
          <p:cNvSpPr/>
          <p:nvPr/>
        </p:nvSpPr>
        <p:spPr>
          <a:xfrm>
            <a:off x="1886040" y="5651280"/>
            <a:ext cx="123120" cy="123120"/>
          </a:xfrm>
          <a:prstGeom prst="ellipse">
            <a:avLst/>
          </a:prstGeom>
          <a:solidFill>
            <a:srgbClr val="e2f1df"/>
          </a:solidFill>
          <a:ln w="9525">
            <a:solidFill>
              <a:srgbClr val="368f45"/>
            </a:solidFill>
          </a:ln>
        </p:spPr>
        <p:style>
          <a:lnRef idx="1">
            <a:schemeClr val="accent1"/>
          </a:lnRef>
          <a:fillRef idx="3">
            <a:schemeClr val="accent1"/>
          </a:fillRef>
          <a:effectRef idx="2">
            <a:schemeClr val="accent1"/>
          </a:effectRef>
          <a:fontRef idx="minor"/>
        </p:style>
      </p:sp>
      <p:sp>
        <p:nvSpPr>
          <p:cNvPr id="870" name="TextBox 282"/>
          <p:cNvSpPr/>
          <p:nvPr/>
        </p:nvSpPr>
        <p:spPr>
          <a:xfrm>
            <a:off x="1886040" y="5674680"/>
            <a:ext cx="123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c</a:t>
            </a:r>
            <a:endParaRPr b="0" lang="en-US" sz="480" spc="-1" strike="noStrike">
              <a:latin typeface="Arial"/>
            </a:endParaRPr>
          </a:p>
        </p:txBody>
      </p:sp>
      <p:sp>
        <p:nvSpPr>
          <p:cNvPr id="871" name="Oval 283"/>
          <p:cNvSpPr/>
          <p:nvPr/>
        </p:nvSpPr>
        <p:spPr>
          <a:xfrm>
            <a:off x="2306520" y="5614560"/>
            <a:ext cx="123120" cy="12312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872" name="TextBox 284"/>
          <p:cNvSpPr/>
          <p:nvPr/>
        </p:nvSpPr>
        <p:spPr>
          <a:xfrm>
            <a:off x="2306520" y="5637960"/>
            <a:ext cx="123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d</a:t>
            </a:r>
            <a:endParaRPr b="0" lang="en-US" sz="480" spc="-1" strike="noStrike">
              <a:latin typeface="Arial"/>
            </a:endParaRPr>
          </a:p>
        </p:txBody>
      </p:sp>
      <p:sp>
        <p:nvSpPr>
          <p:cNvPr id="873" name="Oval 285"/>
          <p:cNvSpPr/>
          <p:nvPr/>
        </p:nvSpPr>
        <p:spPr>
          <a:xfrm>
            <a:off x="2773080" y="5614560"/>
            <a:ext cx="123120" cy="123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874" name="TextBox 286"/>
          <p:cNvSpPr/>
          <p:nvPr/>
        </p:nvSpPr>
        <p:spPr>
          <a:xfrm>
            <a:off x="2773080" y="5637960"/>
            <a:ext cx="123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e</a:t>
            </a:r>
            <a:endParaRPr b="0" lang="en-US" sz="480" spc="-1" strike="noStrike">
              <a:latin typeface="Arial"/>
            </a:endParaRPr>
          </a:p>
        </p:txBody>
      </p:sp>
      <p:sp>
        <p:nvSpPr>
          <p:cNvPr id="875" name="Oval 287"/>
          <p:cNvSpPr/>
          <p:nvPr/>
        </p:nvSpPr>
        <p:spPr>
          <a:xfrm>
            <a:off x="2023200" y="5989680"/>
            <a:ext cx="123120" cy="12312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876" name="TextBox 288"/>
          <p:cNvSpPr/>
          <p:nvPr/>
        </p:nvSpPr>
        <p:spPr>
          <a:xfrm>
            <a:off x="2023200" y="6013080"/>
            <a:ext cx="123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f</a:t>
            </a:r>
            <a:endParaRPr b="0" lang="en-US" sz="480" spc="-1" strike="noStrike">
              <a:latin typeface="Arial"/>
            </a:endParaRPr>
          </a:p>
        </p:txBody>
      </p:sp>
      <p:sp>
        <p:nvSpPr>
          <p:cNvPr id="877" name="Oval 289"/>
          <p:cNvSpPr/>
          <p:nvPr/>
        </p:nvSpPr>
        <p:spPr>
          <a:xfrm>
            <a:off x="2443680" y="5989680"/>
            <a:ext cx="123120" cy="123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878" name="TextBox 290"/>
          <p:cNvSpPr/>
          <p:nvPr/>
        </p:nvSpPr>
        <p:spPr>
          <a:xfrm>
            <a:off x="2443680" y="6013080"/>
            <a:ext cx="123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g</a:t>
            </a:r>
            <a:endParaRPr b="0" lang="en-US" sz="480" spc="-1" strike="noStrike">
              <a:latin typeface="Arial"/>
            </a:endParaRPr>
          </a:p>
        </p:txBody>
      </p:sp>
      <p:sp>
        <p:nvSpPr>
          <p:cNvPr id="879" name="Oval 291"/>
          <p:cNvSpPr/>
          <p:nvPr/>
        </p:nvSpPr>
        <p:spPr>
          <a:xfrm>
            <a:off x="2827800" y="5989680"/>
            <a:ext cx="123120" cy="123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880" name="TextBox 292"/>
          <p:cNvSpPr/>
          <p:nvPr/>
        </p:nvSpPr>
        <p:spPr>
          <a:xfrm>
            <a:off x="2827800" y="6013080"/>
            <a:ext cx="123120" cy="763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480" spc="-1" strike="noStrike">
                <a:solidFill>
                  <a:srgbClr val="181b1d"/>
                </a:solidFill>
                <a:latin typeface="微软雅黑"/>
              </a:rPr>
              <a:t>h</a:t>
            </a:r>
            <a:endParaRPr b="0" lang="en-US" sz="480" spc="-1" strike="noStrike">
              <a:latin typeface="Arial"/>
            </a:endParaRPr>
          </a:p>
        </p:txBody>
      </p:sp>
      <p:sp>
        <p:nvSpPr>
          <p:cNvPr id="881" name="Right Arrow 293"/>
          <p:cNvSpPr/>
          <p:nvPr/>
        </p:nvSpPr>
        <p:spPr>
          <a:xfrm>
            <a:off x="3145680" y="5703840"/>
            <a:ext cx="246600" cy="173520"/>
          </a:xfrm>
          <a:prstGeom prst="rightArrow">
            <a:avLst>
              <a:gd name="adj1" fmla="val 50000"/>
              <a:gd name="adj2" fmla="val 50000"/>
            </a:avLst>
          </a:prstGeom>
          <a:solidFill>
            <a:srgbClr val="181b1d"/>
          </a:solidFill>
          <a:ln>
            <a:noFill/>
          </a:ln>
        </p:spPr>
        <p:style>
          <a:lnRef idx="1">
            <a:schemeClr val="accent1"/>
          </a:lnRef>
          <a:fillRef idx="3">
            <a:schemeClr val="accent1"/>
          </a:fillRef>
          <a:effectRef idx="2">
            <a:schemeClr val="accent1"/>
          </a:effectRef>
          <a:fontRef idx="minor"/>
        </p:style>
      </p:sp>
      <p:sp>
        <p:nvSpPr>
          <p:cNvPr id="882" name="Rounded Rectangle 294"/>
          <p:cNvSpPr/>
          <p:nvPr/>
        </p:nvSpPr>
        <p:spPr>
          <a:xfrm>
            <a:off x="3502080" y="5246640"/>
            <a:ext cx="1389600" cy="319680"/>
          </a:xfrm>
          <a:prstGeom prst="roundRect">
            <a:avLst>
              <a:gd name="adj" fmla="val 16667"/>
            </a:avLst>
          </a:prstGeom>
          <a:noFill/>
          <a:ln w="8890">
            <a:solidFill>
              <a:srgbClr val="0b5bb5"/>
            </a:solidFill>
            <a:prstDash val="dash"/>
          </a:ln>
        </p:spPr>
        <p:style>
          <a:lnRef idx="1">
            <a:schemeClr val="accent1"/>
          </a:lnRef>
          <a:fillRef idx="3">
            <a:schemeClr val="accent1"/>
          </a:fillRef>
          <a:effectRef idx="2">
            <a:schemeClr val="accent1"/>
          </a:effectRef>
          <a:fontRef idx="minor"/>
        </p:style>
      </p:sp>
      <p:sp>
        <p:nvSpPr>
          <p:cNvPr id="883" name="Rounded Rectangle 295"/>
          <p:cNvSpPr/>
          <p:nvPr/>
        </p:nvSpPr>
        <p:spPr>
          <a:xfrm>
            <a:off x="3401640" y="5612400"/>
            <a:ext cx="905040" cy="310680"/>
          </a:xfrm>
          <a:prstGeom prst="roundRect">
            <a:avLst>
              <a:gd name="adj" fmla="val 16667"/>
            </a:avLst>
          </a:prstGeom>
          <a:noFill/>
          <a:ln w="8890">
            <a:solidFill>
              <a:srgbClr val="368f45"/>
            </a:solidFill>
            <a:prstDash val="dash"/>
          </a:ln>
        </p:spPr>
        <p:style>
          <a:lnRef idx="1">
            <a:schemeClr val="accent1"/>
          </a:lnRef>
          <a:fillRef idx="3">
            <a:schemeClr val="accent1"/>
          </a:fillRef>
          <a:effectRef idx="2">
            <a:schemeClr val="accent1"/>
          </a:effectRef>
          <a:fontRef idx="minor"/>
        </p:style>
      </p:sp>
      <p:sp>
        <p:nvSpPr>
          <p:cNvPr id="884" name="Rounded Rectangle 296"/>
          <p:cNvSpPr/>
          <p:nvPr/>
        </p:nvSpPr>
        <p:spPr>
          <a:xfrm>
            <a:off x="4389120" y="5612400"/>
            <a:ext cx="484200" cy="31068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885" name="Rounded Rectangle 297"/>
          <p:cNvSpPr/>
          <p:nvPr/>
        </p:nvSpPr>
        <p:spPr>
          <a:xfrm>
            <a:off x="4965120" y="5603400"/>
            <a:ext cx="456840" cy="31968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886" name="Rounded Rectangle 298"/>
          <p:cNvSpPr/>
          <p:nvPr/>
        </p:nvSpPr>
        <p:spPr>
          <a:xfrm>
            <a:off x="3474720" y="5969160"/>
            <a:ext cx="914040" cy="31968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887" name="Rounded Rectangle 299"/>
          <p:cNvSpPr/>
          <p:nvPr/>
        </p:nvSpPr>
        <p:spPr>
          <a:xfrm>
            <a:off x="4590360" y="5969160"/>
            <a:ext cx="932400" cy="31968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888" name="Connector 300"/>
          <p:cNvSpPr/>
          <p:nvPr/>
        </p:nvSpPr>
        <p:spPr>
          <a:xfrm>
            <a:off x="3703320" y="5401800"/>
            <a:ext cx="48456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89" name="Connector 301"/>
          <p:cNvSpPr/>
          <p:nvPr/>
        </p:nvSpPr>
        <p:spPr>
          <a:xfrm>
            <a:off x="4187880" y="5401800"/>
            <a:ext cx="49356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0" name="Connector 302"/>
          <p:cNvSpPr/>
          <p:nvPr/>
        </p:nvSpPr>
        <p:spPr>
          <a:xfrm flipH="1">
            <a:off x="3593520" y="5401800"/>
            <a:ext cx="109800" cy="37512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1" name="Connector 303"/>
          <p:cNvSpPr/>
          <p:nvPr/>
        </p:nvSpPr>
        <p:spPr>
          <a:xfrm>
            <a:off x="3703320" y="5401800"/>
            <a:ext cx="39312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2" name="Connector 304"/>
          <p:cNvSpPr/>
          <p:nvPr/>
        </p:nvSpPr>
        <p:spPr>
          <a:xfrm flipH="1">
            <a:off x="4096440" y="5401800"/>
            <a:ext cx="9144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3" name="Connector 305"/>
          <p:cNvSpPr/>
          <p:nvPr/>
        </p:nvSpPr>
        <p:spPr>
          <a:xfrm>
            <a:off x="4187880" y="5401800"/>
            <a:ext cx="45720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4" name="Connector 306"/>
          <p:cNvSpPr/>
          <p:nvPr/>
        </p:nvSpPr>
        <p:spPr>
          <a:xfrm flipH="1">
            <a:off x="4645080" y="5401800"/>
            <a:ext cx="3636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5" name="Connector 307"/>
          <p:cNvSpPr/>
          <p:nvPr/>
        </p:nvSpPr>
        <p:spPr>
          <a:xfrm>
            <a:off x="4681440" y="5401800"/>
            <a:ext cx="51228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6" name="Connector 308"/>
          <p:cNvSpPr/>
          <p:nvPr/>
        </p:nvSpPr>
        <p:spPr>
          <a:xfrm flipV="1">
            <a:off x="3593520" y="5758560"/>
            <a:ext cx="502920" cy="18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7" name="Connector 309"/>
          <p:cNvSpPr/>
          <p:nvPr/>
        </p:nvSpPr>
        <p:spPr>
          <a:xfrm>
            <a:off x="3593520" y="5776920"/>
            <a:ext cx="82080" cy="35640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8" name="Connector 310"/>
          <p:cNvSpPr/>
          <p:nvPr/>
        </p:nvSpPr>
        <p:spPr>
          <a:xfrm>
            <a:off x="4096440" y="5758560"/>
            <a:ext cx="54864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899" name="Connector 311"/>
          <p:cNvSpPr/>
          <p:nvPr/>
        </p:nvSpPr>
        <p:spPr>
          <a:xfrm>
            <a:off x="4096440" y="5758560"/>
            <a:ext cx="82080" cy="374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00" name="Connector 312"/>
          <p:cNvSpPr/>
          <p:nvPr/>
        </p:nvSpPr>
        <p:spPr>
          <a:xfrm>
            <a:off x="4645080" y="5758560"/>
            <a:ext cx="54864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01" name="Connector 313"/>
          <p:cNvSpPr/>
          <p:nvPr/>
        </p:nvSpPr>
        <p:spPr>
          <a:xfrm>
            <a:off x="4645080" y="5758560"/>
            <a:ext cx="164520" cy="374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02" name="Connector 314"/>
          <p:cNvSpPr/>
          <p:nvPr/>
        </p:nvSpPr>
        <p:spPr>
          <a:xfrm>
            <a:off x="5193720" y="5758560"/>
            <a:ext cx="91440" cy="374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03" name="Connector 315"/>
          <p:cNvSpPr/>
          <p:nvPr/>
        </p:nvSpPr>
        <p:spPr>
          <a:xfrm>
            <a:off x="3675600" y="6133320"/>
            <a:ext cx="50292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04" name="Connector 316"/>
          <p:cNvSpPr/>
          <p:nvPr/>
        </p:nvSpPr>
        <p:spPr>
          <a:xfrm>
            <a:off x="4178520" y="6133320"/>
            <a:ext cx="63108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05" name="Connector 317"/>
          <p:cNvSpPr/>
          <p:nvPr/>
        </p:nvSpPr>
        <p:spPr>
          <a:xfrm>
            <a:off x="4809600" y="6133320"/>
            <a:ext cx="47556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06" name="Oval 318"/>
          <p:cNvSpPr/>
          <p:nvPr/>
        </p:nvSpPr>
        <p:spPr>
          <a:xfrm>
            <a:off x="3634560" y="5333400"/>
            <a:ext cx="136800" cy="13680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907" name="TextBox 319"/>
          <p:cNvSpPr/>
          <p:nvPr/>
        </p:nvSpPr>
        <p:spPr>
          <a:xfrm>
            <a:off x="3634560" y="535248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1</a:t>
            </a:r>
            <a:endParaRPr b="0" lang="en-US" sz="620" spc="-1" strike="noStrike">
              <a:latin typeface="Arial"/>
            </a:endParaRPr>
          </a:p>
        </p:txBody>
      </p:sp>
      <p:sp>
        <p:nvSpPr>
          <p:cNvPr id="908" name="Oval 320"/>
          <p:cNvSpPr/>
          <p:nvPr/>
        </p:nvSpPr>
        <p:spPr>
          <a:xfrm>
            <a:off x="4119480" y="5333400"/>
            <a:ext cx="136800" cy="13680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909" name="TextBox 321"/>
          <p:cNvSpPr/>
          <p:nvPr/>
        </p:nvSpPr>
        <p:spPr>
          <a:xfrm>
            <a:off x="4119480" y="535248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2</a:t>
            </a:r>
            <a:endParaRPr b="0" lang="en-US" sz="620" spc="-1" strike="noStrike">
              <a:latin typeface="Arial"/>
            </a:endParaRPr>
          </a:p>
        </p:txBody>
      </p:sp>
      <p:sp>
        <p:nvSpPr>
          <p:cNvPr id="910" name="Oval 322"/>
          <p:cNvSpPr/>
          <p:nvPr/>
        </p:nvSpPr>
        <p:spPr>
          <a:xfrm>
            <a:off x="4613040" y="5333400"/>
            <a:ext cx="136800" cy="13680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911" name="TextBox 323"/>
          <p:cNvSpPr/>
          <p:nvPr/>
        </p:nvSpPr>
        <p:spPr>
          <a:xfrm>
            <a:off x="4613040" y="535248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3</a:t>
            </a:r>
            <a:endParaRPr b="0" lang="en-US" sz="620" spc="-1" strike="noStrike">
              <a:latin typeface="Arial"/>
            </a:endParaRPr>
          </a:p>
        </p:txBody>
      </p:sp>
      <p:sp>
        <p:nvSpPr>
          <p:cNvPr id="912" name="Oval 324"/>
          <p:cNvSpPr/>
          <p:nvPr/>
        </p:nvSpPr>
        <p:spPr>
          <a:xfrm>
            <a:off x="3525120" y="5708520"/>
            <a:ext cx="136800" cy="136800"/>
          </a:xfrm>
          <a:prstGeom prst="ellipse">
            <a:avLst/>
          </a:prstGeom>
          <a:solidFill>
            <a:srgbClr val="e2f1df"/>
          </a:solidFill>
          <a:ln w="9525">
            <a:solidFill>
              <a:srgbClr val="368f45"/>
            </a:solidFill>
          </a:ln>
        </p:spPr>
        <p:style>
          <a:lnRef idx="1">
            <a:schemeClr val="accent1"/>
          </a:lnRef>
          <a:fillRef idx="3">
            <a:schemeClr val="accent1"/>
          </a:fillRef>
          <a:effectRef idx="2">
            <a:schemeClr val="accent1"/>
          </a:effectRef>
          <a:fontRef idx="minor"/>
        </p:style>
      </p:sp>
      <p:sp>
        <p:nvSpPr>
          <p:cNvPr id="913" name="TextBox 325"/>
          <p:cNvSpPr/>
          <p:nvPr/>
        </p:nvSpPr>
        <p:spPr>
          <a:xfrm>
            <a:off x="3525120" y="572760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4</a:t>
            </a:r>
            <a:endParaRPr b="0" lang="en-US" sz="620" spc="-1" strike="noStrike">
              <a:latin typeface="Arial"/>
            </a:endParaRPr>
          </a:p>
        </p:txBody>
      </p:sp>
      <p:sp>
        <p:nvSpPr>
          <p:cNvPr id="914" name="Oval 326"/>
          <p:cNvSpPr/>
          <p:nvPr/>
        </p:nvSpPr>
        <p:spPr>
          <a:xfrm>
            <a:off x="4028040" y="5690160"/>
            <a:ext cx="136800" cy="136800"/>
          </a:xfrm>
          <a:prstGeom prst="ellipse">
            <a:avLst/>
          </a:prstGeom>
          <a:solidFill>
            <a:srgbClr val="e2f1df"/>
          </a:solidFill>
          <a:ln w="9525">
            <a:solidFill>
              <a:srgbClr val="368f45"/>
            </a:solidFill>
          </a:ln>
        </p:spPr>
        <p:style>
          <a:lnRef idx="1">
            <a:schemeClr val="accent1"/>
          </a:lnRef>
          <a:fillRef idx="3">
            <a:schemeClr val="accent1"/>
          </a:fillRef>
          <a:effectRef idx="2">
            <a:schemeClr val="accent1"/>
          </a:effectRef>
          <a:fontRef idx="minor"/>
        </p:style>
      </p:sp>
      <p:sp>
        <p:nvSpPr>
          <p:cNvPr id="915" name="TextBox 327"/>
          <p:cNvSpPr/>
          <p:nvPr/>
        </p:nvSpPr>
        <p:spPr>
          <a:xfrm>
            <a:off x="4028040" y="570924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5</a:t>
            </a:r>
            <a:endParaRPr b="0" lang="en-US" sz="620" spc="-1" strike="noStrike">
              <a:latin typeface="Arial"/>
            </a:endParaRPr>
          </a:p>
        </p:txBody>
      </p:sp>
      <p:sp>
        <p:nvSpPr>
          <p:cNvPr id="916" name="Oval 328"/>
          <p:cNvSpPr/>
          <p:nvPr/>
        </p:nvSpPr>
        <p:spPr>
          <a:xfrm>
            <a:off x="4576680" y="5690160"/>
            <a:ext cx="136800" cy="13680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917" name="TextBox 329"/>
          <p:cNvSpPr/>
          <p:nvPr/>
        </p:nvSpPr>
        <p:spPr>
          <a:xfrm>
            <a:off x="4576680" y="570924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6</a:t>
            </a:r>
            <a:endParaRPr b="0" lang="en-US" sz="620" spc="-1" strike="noStrike">
              <a:latin typeface="Arial"/>
            </a:endParaRPr>
          </a:p>
        </p:txBody>
      </p:sp>
      <p:sp>
        <p:nvSpPr>
          <p:cNvPr id="918" name="Oval 330"/>
          <p:cNvSpPr/>
          <p:nvPr/>
        </p:nvSpPr>
        <p:spPr>
          <a:xfrm>
            <a:off x="5125320" y="5690160"/>
            <a:ext cx="136800" cy="13680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919" name="TextBox 331"/>
          <p:cNvSpPr/>
          <p:nvPr/>
        </p:nvSpPr>
        <p:spPr>
          <a:xfrm>
            <a:off x="5125320" y="570924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7</a:t>
            </a:r>
            <a:endParaRPr b="0" lang="en-US" sz="620" spc="-1" strike="noStrike">
              <a:latin typeface="Arial"/>
            </a:endParaRPr>
          </a:p>
        </p:txBody>
      </p:sp>
      <p:sp>
        <p:nvSpPr>
          <p:cNvPr id="920" name="Oval 332"/>
          <p:cNvSpPr/>
          <p:nvPr/>
        </p:nvSpPr>
        <p:spPr>
          <a:xfrm>
            <a:off x="3607200" y="6064920"/>
            <a:ext cx="136800" cy="13680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921" name="TextBox 333"/>
          <p:cNvSpPr/>
          <p:nvPr/>
        </p:nvSpPr>
        <p:spPr>
          <a:xfrm>
            <a:off x="3607200" y="608400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8</a:t>
            </a:r>
            <a:endParaRPr b="0" lang="en-US" sz="620" spc="-1" strike="noStrike">
              <a:latin typeface="Arial"/>
            </a:endParaRPr>
          </a:p>
        </p:txBody>
      </p:sp>
      <p:sp>
        <p:nvSpPr>
          <p:cNvPr id="922" name="Oval 334"/>
          <p:cNvSpPr/>
          <p:nvPr/>
        </p:nvSpPr>
        <p:spPr>
          <a:xfrm>
            <a:off x="4110120" y="6064920"/>
            <a:ext cx="136800" cy="13680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923" name="TextBox 335"/>
          <p:cNvSpPr/>
          <p:nvPr/>
        </p:nvSpPr>
        <p:spPr>
          <a:xfrm>
            <a:off x="4110120" y="608400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9</a:t>
            </a:r>
            <a:endParaRPr b="0" lang="en-US" sz="620" spc="-1" strike="noStrike">
              <a:latin typeface="Arial"/>
            </a:endParaRPr>
          </a:p>
        </p:txBody>
      </p:sp>
      <p:sp>
        <p:nvSpPr>
          <p:cNvPr id="924" name="Oval 336"/>
          <p:cNvSpPr/>
          <p:nvPr/>
        </p:nvSpPr>
        <p:spPr>
          <a:xfrm>
            <a:off x="4741200" y="6064920"/>
            <a:ext cx="136800" cy="13680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925" name="TextBox 337"/>
          <p:cNvSpPr/>
          <p:nvPr/>
        </p:nvSpPr>
        <p:spPr>
          <a:xfrm>
            <a:off x="4741200" y="6035760"/>
            <a:ext cx="136800" cy="195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10</a:t>
            </a:r>
            <a:endParaRPr b="0" lang="en-US" sz="620" spc="-1" strike="noStrike">
              <a:latin typeface="Arial"/>
            </a:endParaRPr>
          </a:p>
        </p:txBody>
      </p:sp>
      <p:sp>
        <p:nvSpPr>
          <p:cNvPr id="926" name="Oval 338"/>
          <p:cNvSpPr/>
          <p:nvPr/>
        </p:nvSpPr>
        <p:spPr>
          <a:xfrm>
            <a:off x="5216760" y="6064920"/>
            <a:ext cx="136800" cy="13680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927" name="TextBox 339"/>
          <p:cNvSpPr/>
          <p:nvPr/>
        </p:nvSpPr>
        <p:spPr>
          <a:xfrm>
            <a:off x="5216760" y="6035760"/>
            <a:ext cx="136800" cy="195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11</a:t>
            </a:r>
            <a:endParaRPr b="0" lang="en-US" sz="620" spc="-1" strike="noStrike">
              <a:latin typeface="Arial"/>
            </a:endParaRPr>
          </a:p>
        </p:txBody>
      </p:sp>
      <p:sp>
        <p:nvSpPr>
          <p:cNvPr id="928" name="TextBox 340"/>
          <p:cNvSpPr/>
          <p:nvPr/>
        </p:nvSpPr>
        <p:spPr>
          <a:xfrm>
            <a:off x="457200" y="6397560"/>
            <a:ext cx="1261440" cy="120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60" spc="-1" strike="noStrike">
                <a:solidFill>
                  <a:srgbClr val="181b1d"/>
                </a:solidFill>
                <a:latin typeface="微软雅黑"/>
              </a:rPr>
              <a:t>二级粗图初始划分</a:t>
            </a:r>
            <a:endParaRPr b="0" lang="en-US" sz="760" spc="-1" strike="noStrike">
              <a:latin typeface="Arial"/>
            </a:endParaRPr>
          </a:p>
        </p:txBody>
      </p:sp>
      <p:sp>
        <p:nvSpPr>
          <p:cNvPr id="929" name="TextBox 341"/>
          <p:cNvSpPr/>
          <p:nvPr/>
        </p:nvSpPr>
        <p:spPr>
          <a:xfrm>
            <a:off x="1746360" y="6397560"/>
            <a:ext cx="1380240" cy="120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60" spc="-1" strike="noStrike">
                <a:solidFill>
                  <a:srgbClr val="181b1d"/>
                </a:solidFill>
                <a:latin typeface="微软雅黑"/>
              </a:rPr>
              <a:t>投影至一级缩约图</a:t>
            </a:r>
            <a:endParaRPr b="0" lang="en-US" sz="760" spc="-1" strike="noStrike">
              <a:latin typeface="Arial"/>
            </a:endParaRPr>
          </a:p>
        </p:txBody>
      </p:sp>
      <p:sp>
        <p:nvSpPr>
          <p:cNvPr id="930" name="TextBox 342"/>
          <p:cNvSpPr/>
          <p:nvPr/>
        </p:nvSpPr>
        <p:spPr>
          <a:xfrm>
            <a:off x="3493080" y="6397560"/>
            <a:ext cx="1992960" cy="120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60" spc="-1" strike="noStrike">
                <a:solidFill>
                  <a:srgbClr val="181b1d"/>
                </a:solidFill>
                <a:latin typeface="微软雅黑"/>
              </a:rPr>
              <a:t>投影至原图并局部优化</a:t>
            </a:r>
            <a:endParaRPr b="0" lang="en-US" sz="760" spc="-1" strike="noStrike">
              <a:latin typeface="Arial"/>
            </a:endParaRPr>
          </a:p>
        </p:txBody>
      </p:sp>
      <p:sp>
        <p:nvSpPr>
          <p:cNvPr id="931" name="TextBox 343"/>
          <p:cNvSpPr/>
          <p:nvPr/>
        </p:nvSpPr>
        <p:spPr>
          <a:xfrm>
            <a:off x="749880" y="6570360"/>
            <a:ext cx="4919040" cy="1227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70" spc="-1" strike="noStrike">
                <a:solidFill>
                  <a:srgbClr val="1e5aa8"/>
                </a:solidFill>
                <a:latin typeface="微软雅黑"/>
              </a:rPr>
              <a:t>标签按聚合映射逐层展开，仅对边界节点执行增益搜索</a:t>
            </a:r>
            <a:endParaRPr b="0" lang="en-US" sz="770" spc="-1" strike="noStrike">
              <a:latin typeface="Arial"/>
            </a:endParaRPr>
          </a:p>
        </p:txBody>
      </p:sp>
      <p:sp>
        <p:nvSpPr>
          <p:cNvPr id="932" name="TextBox 344"/>
          <p:cNvSpPr/>
          <p:nvPr/>
        </p:nvSpPr>
        <p:spPr>
          <a:xfrm>
            <a:off x="6382440" y="5057280"/>
            <a:ext cx="5074560" cy="149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939" spc="-1" strike="noStrike">
                <a:solidFill>
                  <a:srgbClr val="181b1d"/>
                </a:solidFill>
                <a:latin typeface="微软雅黑"/>
              </a:rPr>
              <a:t>优先恢复子区连通性，再将规模过小的子区并入耦合最强的相邻区域</a:t>
            </a:r>
            <a:endParaRPr b="0" lang="en-US" sz="939" spc="-1" strike="noStrike">
              <a:latin typeface="Arial"/>
            </a:endParaRPr>
          </a:p>
        </p:txBody>
      </p:sp>
      <p:sp>
        <p:nvSpPr>
          <p:cNvPr id="933" name="Rounded Rectangle 345"/>
          <p:cNvSpPr/>
          <p:nvPr/>
        </p:nvSpPr>
        <p:spPr>
          <a:xfrm>
            <a:off x="6318360" y="5246640"/>
            <a:ext cx="1416960" cy="319680"/>
          </a:xfrm>
          <a:prstGeom prst="roundRect">
            <a:avLst>
              <a:gd name="adj" fmla="val 16667"/>
            </a:avLst>
          </a:prstGeom>
          <a:noFill/>
          <a:ln w="8890">
            <a:solidFill>
              <a:srgbClr val="0b5bb5"/>
            </a:solidFill>
            <a:prstDash val="dash"/>
          </a:ln>
        </p:spPr>
        <p:style>
          <a:lnRef idx="1">
            <a:schemeClr val="accent1"/>
          </a:lnRef>
          <a:fillRef idx="3">
            <a:schemeClr val="accent1"/>
          </a:fillRef>
          <a:effectRef idx="2">
            <a:schemeClr val="accent1"/>
          </a:effectRef>
          <a:fontRef idx="minor"/>
        </p:style>
      </p:sp>
      <p:sp>
        <p:nvSpPr>
          <p:cNvPr id="934" name="Rounded Rectangle 346"/>
          <p:cNvSpPr/>
          <p:nvPr/>
        </p:nvSpPr>
        <p:spPr>
          <a:xfrm>
            <a:off x="6217920" y="5612400"/>
            <a:ext cx="932400" cy="310680"/>
          </a:xfrm>
          <a:prstGeom prst="roundRect">
            <a:avLst>
              <a:gd name="adj" fmla="val 16667"/>
            </a:avLst>
          </a:prstGeom>
          <a:noFill/>
          <a:ln w="8890">
            <a:solidFill>
              <a:srgbClr val="368f45"/>
            </a:solidFill>
            <a:prstDash val="dash"/>
          </a:ln>
        </p:spPr>
        <p:style>
          <a:lnRef idx="1">
            <a:schemeClr val="accent1"/>
          </a:lnRef>
          <a:fillRef idx="3">
            <a:schemeClr val="accent1"/>
          </a:fillRef>
          <a:effectRef idx="2">
            <a:schemeClr val="accent1"/>
          </a:effectRef>
          <a:fontRef idx="minor"/>
        </p:style>
      </p:sp>
      <p:sp>
        <p:nvSpPr>
          <p:cNvPr id="935" name="Rounded Rectangle 347"/>
          <p:cNvSpPr/>
          <p:nvPr/>
        </p:nvSpPr>
        <p:spPr>
          <a:xfrm>
            <a:off x="7232760" y="5612400"/>
            <a:ext cx="475200" cy="31068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936" name="Rounded Rectangle 348"/>
          <p:cNvSpPr/>
          <p:nvPr/>
        </p:nvSpPr>
        <p:spPr>
          <a:xfrm>
            <a:off x="7809120" y="5603400"/>
            <a:ext cx="465840" cy="31968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937" name="Rounded Rectangle 349"/>
          <p:cNvSpPr/>
          <p:nvPr/>
        </p:nvSpPr>
        <p:spPr>
          <a:xfrm>
            <a:off x="6364080" y="5969160"/>
            <a:ext cx="914040" cy="31968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938" name="Rounded Rectangle 350"/>
          <p:cNvSpPr/>
          <p:nvPr/>
        </p:nvSpPr>
        <p:spPr>
          <a:xfrm>
            <a:off x="7479720" y="5969160"/>
            <a:ext cx="941400" cy="31968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939" name="Connector 351"/>
          <p:cNvSpPr/>
          <p:nvPr/>
        </p:nvSpPr>
        <p:spPr>
          <a:xfrm>
            <a:off x="6510240" y="5401800"/>
            <a:ext cx="51228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0" name="Connector 352"/>
          <p:cNvSpPr/>
          <p:nvPr/>
        </p:nvSpPr>
        <p:spPr>
          <a:xfrm>
            <a:off x="7022520" y="5401800"/>
            <a:ext cx="51192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1" name="Connector 353"/>
          <p:cNvSpPr/>
          <p:nvPr/>
        </p:nvSpPr>
        <p:spPr>
          <a:xfrm flipH="1">
            <a:off x="6418800" y="5401800"/>
            <a:ext cx="91440" cy="37512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2" name="Connector 354"/>
          <p:cNvSpPr/>
          <p:nvPr/>
        </p:nvSpPr>
        <p:spPr>
          <a:xfrm>
            <a:off x="6510240" y="5401800"/>
            <a:ext cx="42084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3" name="Connector 355"/>
          <p:cNvSpPr/>
          <p:nvPr/>
        </p:nvSpPr>
        <p:spPr>
          <a:xfrm flipH="1">
            <a:off x="6931080" y="5401800"/>
            <a:ext cx="9144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4" name="Connector 356"/>
          <p:cNvSpPr/>
          <p:nvPr/>
        </p:nvSpPr>
        <p:spPr>
          <a:xfrm>
            <a:off x="7022520" y="5401800"/>
            <a:ext cx="45720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5" name="Connector 357"/>
          <p:cNvSpPr/>
          <p:nvPr/>
        </p:nvSpPr>
        <p:spPr>
          <a:xfrm flipH="1">
            <a:off x="7479720" y="5401800"/>
            <a:ext cx="5472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6" name="Connector 358"/>
          <p:cNvSpPr/>
          <p:nvPr/>
        </p:nvSpPr>
        <p:spPr>
          <a:xfrm>
            <a:off x="7534440" y="5401800"/>
            <a:ext cx="512280" cy="356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7" name="Connector 359"/>
          <p:cNvSpPr/>
          <p:nvPr/>
        </p:nvSpPr>
        <p:spPr>
          <a:xfrm flipV="1">
            <a:off x="6418800" y="5758560"/>
            <a:ext cx="512280" cy="18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8" name="Connector 360"/>
          <p:cNvSpPr/>
          <p:nvPr/>
        </p:nvSpPr>
        <p:spPr>
          <a:xfrm>
            <a:off x="6418800" y="5776920"/>
            <a:ext cx="146520" cy="35640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49" name="Connector 361"/>
          <p:cNvSpPr/>
          <p:nvPr/>
        </p:nvSpPr>
        <p:spPr>
          <a:xfrm>
            <a:off x="6931080" y="5758560"/>
            <a:ext cx="54864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50" name="Connector 362"/>
          <p:cNvSpPr/>
          <p:nvPr/>
        </p:nvSpPr>
        <p:spPr>
          <a:xfrm>
            <a:off x="6931080" y="5758560"/>
            <a:ext cx="127800" cy="374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51" name="Connector 363"/>
          <p:cNvSpPr/>
          <p:nvPr/>
        </p:nvSpPr>
        <p:spPr>
          <a:xfrm>
            <a:off x="7479720" y="5758560"/>
            <a:ext cx="56700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52" name="Connector 364"/>
          <p:cNvSpPr/>
          <p:nvPr/>
        </p:nvSpPr>
        <p:spPr>
          <a:xfrm>
            <a:off x="7479720" y="5758560"/>
            <a:ext cx="219240" cy="374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53" name="Connector 365"/>
          <p:cNvSpPr/>
          <p:nvPr/>
        </p:nvSpPr>
        <p:spPr>
          <a:xfrm>
            <a:off x="8046720" y="5758560"/>
            <a:ext cx="136800" cy="3747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54" name="Connector 366"/>
          <p:cNvSpPr/>
          <p:nvPr/>
        </p:nvSpPr>
        <p:spPr>
          <a:xfrm>
            <a:off x="6565320" y="6133320"/>
            <a:ext cx="49356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55" name="Connector 367"/>
          <p:cNvSpPr/>
          <p:nvPr/>
        </p:nvSpPr>
        <p:spPr>
          <a:xfrm>
            <a:off x="7058880" y="6133320"/>
            <a:ext cx="64008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56" name="Connector 368"/>
          <p:cNvSpPr/>
          <p:nvPr/>
        </p:nvSpPr>
        <p:spPr>
          <a:xfrm>
            <a:off x="7698960" y="6133320"/>
            <a:ext cx="484560" cy="360"/>
          </a:xfrm>
          <a:prstGeom prst="line">
            <a:avLst/>
          </a:prstGeom>
          <a:ln w="7365">
            <a:solidFill>
              <a:srgbClr val="666c70"/>
            </a:solidFill>
          </a:ln>
        </p:spPr>
        <p:style>
          <a:lnRef idx="2">
            <a:schemeClr val="accent1"/>
          </a:lnRef>
          <a:fillRef idx="0">
            <a:schemeClr val="accent1"/>
          </a:fillRef>
          <a:effectRef idx="1">
            <a:schemeClr val="accent1"/>
          </a:effectRef>
          <a:fontRef idx="minor"/>
        </p:style>
      </p:sp>
      <p:sp>
        <p:nvSpPr>
          <p:cNvPr id="957" name="Oval 369"/>
          <p:cNvSpPr/>
          <p:nvPr/>
        </p:nvSpPr>
        <p:spPr>
          <a:xfrm>
            <a:off x="6441840" y="5333400"/>
            <a:ext cx="136800" cy="13680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958" name="TextBox 370"/>
          <p:cNvSpPr/>
          <p:nvPr/>
        </p:nvSpPr>
        <p:spPr>
          <a:xfrm>
            <a:off x="6441840" y="535248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1</a:t>
            </a:r>
            <a:endParaRPr b="0" lang="en-US" sz="620" spc="-1" strike="noStrike">
              <a:latin typeface="Arial"/>
            </a:endParaRPr>
          </a:p>
        </p:txBody>
      </p:sp>
      <p:sp>
        <p:nvSpPr>
          <p:cNvPr id="959" name="Oval 371"/>
          <p:cNvSpPr/>
          <p:nvPr/>
        </p:nvSpPr>
        <p:spPr>
          <a:xfrm>
            <a:off x="6954120" y="5333400"/>
            <a:ext cx="136800" cy="13680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960" name="TextBox 372"/>
          <p:cNvSpPr/>
          <p:nvPr/>
        </p:nvSpPr>
        <p:spPr>
          <a:xfrm>
            <a:off x="6954120" y="535248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2</a:t>
            </a:r>
            <a:endParaRPr b="0" lang="en-US" sz="620" spc="-1" strike="noStrike">
              <a:latin typeface="Arial"/>
            </a:endParaRPr>
          </a:p>
        </p:txBody>
      </p:sp>
      <p:sp>
        <p:nvSpPr>
          <p:cNvPr id="961" name="Oval 373"/>
          <p:cNvSpPr/>
          <p:nvPr/>
        </p:nvSpPr>
        <p:spPr>
          <a:xfrm>
            <a:off x="7466040" y="5333400"/>
            <a:ext cx="136800" cy="136800"/>
          </a:xfrm>
          <a:prstGeom prst="ellipse">
            <a:avLst/>
          </a:prstGeom>
          <a:solidFill>
            <a:srgbClr val="d9e9fa"/>
          </a:solidFill>
          <a:ln w="9525">
            <a:solidFill>
              <a:srgbClr val="0b5bb5"/>
            </a:solidFill>
          </a:ln>
        </p:spPr>
        <p:style>
          <a:lnRef idx="1">
            <a:schemeClr val="accent1"/>
          </a:lnRef>
          <a:fillRef idx="3">
            <a:schemeClr val="accent1"/>
          </a:fillRef>
          <a:effectRef idx="2">
            <a:schemeClr val="accent1"/>
          </a:effectRef>
          <a:fontRef idx="minor"/>
        </p:style>
      </p:sp>
      <p:sp>
        <p:nvSpPr>
          <p:cNvPr id="962" name="TextBox 374"/>
          <p:cNvSpPr/>
          <p:nvPr/>
        </p:nvSpPr>
        <p:spPr>
          <a:xfrm>
            <a:off x="7466040" y="535248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3</a:t>
            </a:r>
            <a:endParaRPr b="0" lang="en-US" sz="620" spc="-1" strike="noStrike">
              <a:latin typeface="Arial"/>
            </a:endParaRPr>
          </a:p>
        </p:txBody>
      </p:sp>
      <p:sp>
        <p:nvSpPr>
          <p:cNvPr id="963" name="Oval 375"/>
          <p:cNvSpPr/>
          <p:nvPr/>
        </p:nvSpPr>
        <p:spPr>
          <a:xfrm>
            <a:off x="6350400" y="5708520"/>
            <a:ext cx="136800" cy="136800"/>
          </a:xfrm>
          <a:prstGeom prst="ellipse">
            <a:avLst/>
          </a:prstGeom>
          <a:solidFill>
            <a:srgbClr val="e2f1df"/>
          </a:solidFill>
          <a:ln w="9525">
            <a:solidFill>
              <a:srgbClr val="368f45"/>
            </a:solidFill>
          </a:ln>
        </p:spPr>
        <p:style>
          <a:lnRef idx="1">
            <a:schemeClr val="accent1"/>
          </a:lnRef>
          <a:fillRef idx="3">
            <a:schemeClr val="accent1"/>
          </a:fillRef>
          <a:effectRef idx="2">
            <a:schemeClr val="accent1"/>
          </a:effectRef>
          <a:fontRef idx="minor"/>
        </p:style>
      </p:sp>
      <p:sp>
        <p:nvSpPr>
          <p:cNvPr id="964" name="TextBox 376"/>
          <p:cNvSpPr/>
          <p:nvPr/>
        </p:nvSpPr>
        <p:spPr>
          <a:xfrm>
            <a:off x="6350400" y="572760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4</a:t>
            </a:r>
            <a:endParaRPr b="0" lang="en-US" sz="620" spc="-1" strike="noStrike">
              <a:latin typeface="Arial"/>
            </a:endParaRPr>
          </a:p>
        </p:txBody>
      </p:sp>
      <p:sp>
        <p:nvSpPr>
          <p:cNvPr id="965" name="Oval 377"/>
          <p:cNvSpPr/>
          <p:nvPr/>
        </p:nvSpPr>
        <p:spPr>
          <a:xfrm>
            <a:off x="6862680" y="5690160"/>
            <a:ext cx="136800" cy="136800"/>
          </a:xfrm>
          <a:prstGeom prst="ellipse">
            <a:avLst/>
          </a:prstGeom>
          <a:solidFill>
            <a:srgbClr val="e2f1df"/>
          </a:solidFill>
          <a:ln w="9525">
            <a:solidFill>
              <a:srgbClr val="368f45"/>
            </a:solidFill>
          </a:ln>
        </p:spPr>
        <p:style>
          <a:lnRef idx="1">
            <a:schemeClr val="accent1"/>
          </a:lnRef>
          <a:fillRef idx="3">
            <a:schemeClr val="accent1"/>
          </a:fillRef>
          <a:effectRef idx="2">
            <a:schemeClr val="accent1"/>
          </a:effectRef>
          <a:fontRef idx="minor"/>
        </p:style>
      </p:sp>
      <p:sp>
        <p:nvSpPr>
          <p:cNvPr id="966" name="TextBox 378"/>
          <p:cNvSpPr/>
          <p:nvPr/>
        </p:nvSpPr>
        <p:spPr>
          <a:xfrm>
            <a:off x="6862680" y="570924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5</a:t>
            </a:r>
            <a:endParaRPr b="0" lang="en-US" sz="620" spc="-1" strike="noStrike">
              <a:latin typeface="Arial"/>
            </a:endParaRPr>
          </a:p>
        </p:txBody>
      </p:sp>
      <p:sp>
        <p:nvSpPr>
          <p:cNvPr id="967" name="Oval 379"/>
          <p:cNvSpPr/>
          <p:nvPr/>
        </p:nvSpPr>
        <p:spPr>
          <a:xfrm>
            <a:off x="7411320" y="5690160"/>
            <a:ext cx="136800" cy="13680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968" name="TextBox 380"/>
          <p:cNvSpPr/>
          <p:nvPr/>
        </p:nvSpPr>
        <p:spPr>
          <a:xfrm>
            <a:off x="7411320" y="570924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6</a:t>
            </a:r>
            <a:endParaRPr b="0" lang="en-US" sz="620" spc="-1" strike="noStrike">
              <a:latin typeface="Arial"/>
            </a:endParaRPr>
          </a:p>
        </p:txBody>
      </p:sp>
      <p:sp>
        <p:nvSpPr>
          <p:cNvPr id="969" name="Oval 381"/>
          <p:cNvSpPr/>
          <p:nvPr/>
        </p:nvSpPr>
        <p:spPr>
          <a:xfrm>
            <a:off x="7978320" y="5690160"/>
            <a:ext cx="136800" cy="13680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970" name="TextBox 382"/>
          <p:cNvSpPr/>
          <p:nvPr/>
        </p:nvSpPr>
        <p:spPr>
          <a:xfrm>
            <a:off x="7978320" y="570924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7</a:t>
            </a:r>
            <a:endParaRPr b="0" lang="en-US" sz="620" spc="-1" strike="noStrike">
              <a:latin typeface="Arial"/>
            </a:endParaRPr>
          </a:p>
        </p:txBody>
      </p:sp>
      <p:sp>
        <p:nvSpPr>
          <p:cNvPr id="971" name="Oval 383"/>
          <p:cNvSpPr/>
          <p:nvPr/>
        </p:nvSpPr>
        <p:spPr>
          <a:xfrm>
            <a:off x="6496920" y="6064920"/>
            <a:ext cx="136800" cy="13680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972" name="TextBox 384"/>
          <p:cNvSpPr/>
          <p:nvPr/>
        </p:nvSpPr>
        <p:spPr>
          <a:xfrm>
            <a:off x="6496920" y="608400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8</a:t>
            </a:r>
            <a:endParaRPr b="0" lang="en-US" sz="620" spc="-1" strike="noStrike">
              <a:latin typeface="Arial"/>
            </a:endParaRPr>
          </a:p>
        </p:txBody>
      </p:sp>
      <p:sp>
        <p:nvSpPr>
          <p:cNvPr id="973" name="Oval 385"/>
          <p:cNvSpPr/>
          <p:nvPr/>
        </p:nvSpPr>
        <p:spPr>
          <a:xfrm>
            <a:off x="6990480" y="6064920"/>
            <a:ext cx="136800" cy="13680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974" name="TextBox 386"/>
          <p:cNvSpPr/>
          <p:nvPr/>
        </p:nvSpPr>
        <p:spPr>
          <a:xfrm>
            <a:off x="6990480" y="6084000"/>
            <a:ext cx="136800" cy="98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9</a:t>
            </a:r>
            <a:endParaRPr b="0" lang="en-US" sz="620" spc="-1" strike="noStrike">
              <a:latin typeface="Arial"/>
            </a:endParaRPr>
          </a:p>
        </p:txBody>
      </p:sp>
      <p:sp>
        <p:nvSpPr>
          <p:cNvPr id="975" name="Oval 387"/>
          <p:cNvSpPr/>
          <p:nvPr/>
        </p:nvSpPr>
        <p:spPr>
          <a:xfrm>
            <a:off x="7630560" y="6064920"/>
            <a:ext cx="136800" cy="13680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976" name="TextBox 388"/>
          <p:cNvSpPr/>
          <p:nvPr/>
        </p:nvSpPr>
        <p:spPr>
          <a:xfrm>
            <a:off x="7630560" y="6035760"/>
            <a:ext cx="136800" cy="195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10</a:t>
            </a:r>
            <a:endParaRPr b="0" lang="en-US" sz="620" spc="-1" strike="noStrike">
              <a:latin typeface="Arial"/>
            </a:endParaRPr>
          </a:p>
        </p:txBody>
      </p:sp>
      <p:sp>
        <p:nvSpPr>
          <p:cNvPr id="977" name="Oval 389"/>
          <p:cNvSpPr/>
          <p:nvPr/>
        </p:nvSpPr>
        <p:spPr>
          <a:xfrm>
            <a:off x="8115480" y="6064920"/>
            <a:ext cx="136800" cy="13680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978" name="TextBox 390"/>
          <p:cNvSpPr/>
          <p:nvPr/>
        </p:nvSpPr>
        <p:spPr>
          <a:xfrm>
            <a:off x="8115480" y="6035760"/>
            <a:ext cx="136800" cy="195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620" spc="-1" strike="noStrike">
                <a:solidFill>
                  <a:srgbClr val="181b1d"/>
                </a:solidFill>
                <a:latin typeface="微软雅黑"/>
              </a:rPr>
              <a:t>11</a:t>
            </a:r>
            <a:endParaRPr b="0" lang="en-US" sz="620" spc="-1" strike="noStrike">
              <a:latin typeface="Arial"/>
            </a:endParaRPr>
          </a:p>
        </p:txBody>
      </p:sp>
      <p:sp>
        <p:nvSpPr>
          <p:cNvPr id="979" name="Oval 391"/>
          <p:cNvSpPr/>
          <p:nvPr/>
        </p:nvSpPr>
        <p:spPr>
          <a:xfrm>
            <a:off x="7356240" y="5635080"/>
            <a:ext cx="246600" cy="246600"/>
          </a:xfrm>
          <a:prstGeom prst="ellipse">
            <a:avLst/>
          </a:prstGeom>
          <a:noFill/>
          <a:ln w="13970">
            <a:solidFill>
              <a:srgbClr val="e22227"/>
            </a:solidFill>
          </a:ln>
        </p:spPr>
        <p:style>
          <a:lnRef idx="1">
            <a:schemeClr val="accent1"/>
          </a:lnRef>
          <a:fillRef idx="3">
            <a:schemeClr val="accent1"/>
          </a:fillRef>
          <a:effectRef idx="2">
            <a:schemeClr val="accent1"/>
          </a:effectRef>
          <a:fontRef idx="minor"/>
        </p:style>
      </p:sp>
      <p:sp>
        <p:nvSpPr>
          <p:cNvPr id="980" name="Oval 392"/>
          <p:cNvSpPr/>
          <p:nvPr/>
        </p:nvSpPr>
        <p:spPr>
          <a:xfrm>
            <a:off x="7324200" y="5603400"/>
            <a:ext cx="310680" cy="310680"/>
          </a:xfrm>
          <a:prstGeom prst="ellipse">
            <a:avLst/>
          </a:prstGeom>
          <a:noFill/>
          <a:ln w="8890">
            <a:solidFill>
              <a:srgbClr val="e22227"/>
            </a:solidFill>
          </a:ln>
        </p:spPr>
        <p:style>
          <a:lnRef idx="1">
            <a:schemeClr val="accent1"/>
          </a:lnRef>
          <a:fillRef idx="3">
            <a:schemeClr val="accent1"/>
          </a:fillRef>
          <a:effectRef idx="2">
            <a:schemeClr val="accent1"/>
          </a:effectRef>
          <a:fontRef idx="minor"/>
        </p:style>
      </p:sp>
      <p:sp>
        <p:nvSpPr>
          <p:cNvPr id="981" name="Right Arrow 393"/>
          <p:cNvSpPr/>
          <p:nvPr/>
        </p:nvSpPr>
        <p:spPr>
          <a:xfrm>
            <a:off x="7644240" y="5676480"/>
            <a:ext cx="255600" cy="109440"/>
          </a:xfrm>
          <a:prstGeom prst="rightArrow">
            <a:avLst>
              <a:gd name="adj1" fmla="val 50000"/>
              <a:gd name="adj2" fmla="val 50000"/>
            </a:avLst>
          </a:prstGeom>
          <a:solidFill>
            <a:srgbClr val="0b5bb5"/>
          </a:solidFill>
          <a:ln>
            <a:noFill/>
          </a:ln>
        </p:spPr>
        <p:style>
          <a:lnRef idx="1">
            <a:schemeClr val="accent1"/>
          </a:lnRef>
          <a:fillRef idx="3">
            <a:schemeClr val="accent1"/>
          </a:fillRef>
          <a:effectRef idx="2">
            <a:schemeClr val="accent1"/>
          </a:effectRef>
          <a:fontRef idx="minor"/>
        </p:style>
      </p:sp>
      <p:sp>
        <p:nvSpPr>
          <p:cNvPr id="982" name="TextBox 394"/>
          <p:cNvSpPr/>
          <p:nvPr/>
        </p:nvSpPr>
        <p:spPr>
          <a:xfrm>
            <a:off x="6419160" y="6370560"/>
            <a:ext cx="1901520" cy="119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50" spc="-1" strike="noStrike">
                <a:solidFill>
                  <a:srgbClr val="1e5aa8"/>
                </a:solidFill>
                <a:latin typeface="微软雅黑"/>
              </a:rPr>
              <a:t>节点 </a:t>
            </a:r>
            <a:r>
              <a:rPr b="1" lang="en-US" sz="750" spc="-1" strike="noStrike">
                <a:solidFill>
                  <a:srgbClr val="1e5aa8"/>
                </a:solidFill>
                <a:latin typeface="微软雅黑"/>
              </a:rPr>
              <a:t>6</a:t>
            </a:r>
            <a:r>
              <a:rPr b="1" lang="zh-CN" sz="750" spc="-1" strike="noStrike">
                <a:solidFill>
                  <a:srgbClr val="1e5aa8"/>
                </a:solidFill>
                <a:latin typeface="微软雅黑"/>
              </a:rPr>
              <a:t>：</a:t>
            </a:r>
            <a:r>
              <a:rPr b="1" lang="en-US" sz="750" spc="-1" strike="noStrike">
                <a:solidFill>
                  <a:srgbClr val="1e5aa8"/>
                </a:solidFill>
                <a:latin typeface="微软雅黑"/>
              </a:rPr>
              <a:t>P3→P4</a:t>
            </a:r>
            <a:r>
              <a:rPr b="1" lang="zh-CN" sz="750" spc="-1" strike="noStrike">
                <a:solidFill>
                  <a:srgbClr val="1e5aa8"/>
                </a:solidFill>
                <a:latin typeface="微软雅黑"/>
              </a:rPr>
              <a:t>，使 </a:t>
            </a:r>
            <a:r>
              <a:rPr b="1" lang="en-US" sz="750" spc="-1" strike="noStrike">
                <a:solidFill>
                  <a:srgbClr val="1e5aa8"/>
                </a:solidFill>
                <a:latin typeface="微软雅黑"/>
              </a:rPr>
              <a:t>P3</a:t>
            </a:r>
            <a:r>
              <a:rPr b="1" lang="zh-CN" sz="750" spc="-1" strike="noStrike">
                <a:solidFill>
                  <a:srgbClr val="1e5aa8"/>
                </a:solidFill>
                <a:latin typeface="微软雅黑"/>
              </a:rPr>
              <a:t>、</a:t>
            </a:r>
            <a:r>
              <a:rPr b="1" lang="en-US" sz="750" spc="-1" strike="noStrike">
                <a:solidFill>
                  <a:srgbClr val="1e5aa8"/>
                </a:solidFill>
                <a:latin typeface="微软雅黑"/>
              </a:rPr>
              <a:t>P4 </a:t>
            </a:r>
            <a:r>
              <a:rPr b="1" lang="zh-CN" sz="750" spc="-1" strike="noStrike">
                <a:solidFill>
                  <a:srgbClr val="1e5aa8"/>
                </a:solidFill>
                <a:latin typeface="微软雅黑"/>
              </a:rPr>
              <a:t>均连通</a:t>
            </a:r>
            <a:endParaRPr b="0" lang="en-US" sz="750" spc="-1" strike="noStrike">
              <a:latin typeface="Arial"/>
            </a:endParaRPr>
          </a:p>
        </p:txBody>
      </p:sp>
      <p:sp>
        <p:nvSpPr>
          <p:cNvPr id="983" name="Rounded Rectangle 395"/>
          <p:cNvSpPr/>
          <p:nvPr/>
        </p:nvSpPr>
        <p:spPr>
          <a:xfrm>
            <a:off x="8503920" y="5365440"/>
            <a:ext cx="273960" cy="319680"/>
          </a:xfrm>
          <a:prstGeom prst="roundRect">
            <a:avLst>
              <a:gd name="adj" fmla="val 16667"/>
            </a:avLst>
          </a:prstGeom>
          <a:noFill/>
          <a:ln w="8890">
            <a:solidFill>
              <a:srgbClr val="368f45"/>
            </a:solidFill>
            <a:prstDash val="dash"/>
          </a:ln>
        </p:spPr>
        <p:style>
          <a:lnRef idx="1">
            <a:schemeClr val="accent1"/>
          </a:lnRef>
          <a:fillRef idx="3">
            <a:schemeClr val="accent1"/>
          </a:fillRef>
          <a:effectRef idx="2">
            <a:schemeClr val="accent1"/>
          </a:effectRef>
          <a:fontRef idx="minor"/>
        </p:style>
      </p:sp>
      <p:sp>
        <p:nvSpPr>
          <p:cNvPr id="984" name="Rounded Rectangle 396"/>
          <p:cNvSpPr/>
          <p:nvPr/>
        </p:nvSpPr>
        <p:spPr>
          <a:xfrm>
            <a:off x="8787240" y="5365440"/>
            <a:ext cx="255600" cy="319680"/>
          </a:xfrm>
          <a:prstGeom prst="roundRect">
            <a:avLst>
              <a:gd name="adj" fmla="val 16667"/>
            </a:avLst>
          </a:prstGeom>
          <a:noFill/>
          <a:ln w="8890">
            <a:solidFill>
              <a:srgbClr val="e57816"/>
            </a:solidFill>
            <a:prstDash val="dash"/>
          </a:ln>
        </p:spPr>
        <p:style>
          <a:lnRef idx="1">
            <a:schemeClr val="accent1"/>
          </a:lnRef>
          <a:fillRef idx="3">
            <a:schemeClr val="accent1"/>
          </a:fillRef>
          <a:effectRef idx="2">
            <a:schemeClr val="accent1"/>
          </a:effectRef>
          <a:fontRef idx="minor"/>
        </p:style>
      </p:sp>
      <p:sp>
        <p:nvSpPr>
          <p:cNvPr id="985" name="Rounded Rectangle 397"/>
          <p:cNvSpPr/>
          <p:nvPr/>
        </p:nvSpPr>
        <p:spPr>
          <a:xfrm>
            <a:off x="9061560" y="5365440"/>
            <a:ext cx="282960" cy="31968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986" name="Connector 398"/>
          <p:cNvSpPr/>
          <p:nvPr/>
        </p:nvSpPr>
        <p:spPr>
          <a:xfrm>
            <a:off x="8641080" y="5529960"/>
            <a:ext cx="274320" cy="360"/>
          </a:xfrm>
          <a:prstGeom prst="line">
            <a:avLst/>
          </a:prstGeom>
          <a:ln w="6096">
            <a:solidFill>
              <a:srgbClr val="666c70"/>
            </a:solidFill>
          </a:ln>
        </p:spPr>
        <p:style>
          <a:lnRef idx="2">
            <a:schemeClr val="accent1"/>
          </a:lnRef>
          <a:fillRef idx="0">
            <a:schemeClr val="accent1"/>
          </a:fillRef>
          <a:effectRef idx="1">
            <a:schemeClr val="accent1"/>
          </a:effectRef>
          <a:fontRef idx="minor"/>
        </p:style>
      </p:sp>
      <p:sp>
        <p:nvSpPr>
          <p:cNvPr id="987" name="Connector 399"/>
          <p:cNvSpPr/>
          <p:nvPr/>
        </p:nvSpPr>
        <p:spPr>
          <a:xfrm>
            <a:off x="8915400" y="5529960"/>
            <a:ext cx="283320" cy="360"/>
          </a:xfrm>
          <a:prstGeom prst="line">
            <a:avLst/>
          </a:prstGeom>
          <a:ln w="17145">
            <a:solidFill>
              <a:srgbClr val="666c70"/>
            </a:solidFill>
          </a:ln>
        </p:spPr>
        <p:style>
          <a:lnRef idx="2">
            <a:schemeClr val="accent1"/>
          </a:lnRef>
          <a:fillRef idx="0">
            <a:schemeClr val="accent1"/>
          </a:fillRef>
          <a:effectRef idx="1">
            <a:schemeClr val="accent1"/>
          </a:effectRef>
          <a:fontRef idx="minor"/>
        </p:style>
      </p:sp>
      <p:sp>
        <p:nvSpPr>
          <p:cNvPr id="988" name="Oval 400"/>
          <p:cNvSpPr/>
          <p:nvPr/>
        </p:nvSpPr>
        <p:spPr>
          <a:xfrm>
            <a:off x="8574840" y="5463720"/>
            <a:ext cx="132120" cy="132120"/>
          </a:xfrm>
          <a:prstGeom prst="ellipse">
            <a:avLst/>
          </a:prstGeom>
          <a:solidFill>
            <a:srgbClr val="e2f1df"/>
          </a:solidFill>
          <a:ln w="9525">
            <a:solidFill>
              <a:srgbClr val="368f45"/>
            </a:solidFill>
          </a:ln>
        </p:spPr>
        <p:style>
          <a:lnRef idx="1">
            <a:schemeClr val="accent1"/>
          </a:lnRef>
          <a:fillRef idx="3">
            <a:schemeClr val="accent1"/>
          </a:fillRef>
          <a:effectRef idx="2">
            <a:schemeClr val="accent1"/>
          </a:effectRef>
          <a:fontRef idx="minor"/>
        </p:style>
      </p:sp>
      <p:sp>
        <p:nvSpPr>
          <p:cNvPr id="989" name="TextBox 401"/>
          <p:cNvSpPr/>
          <p:nvPr/>
        </p:nvSpPr>
        <p:spPr>
          <a:xfrm>
            <a:off x="8574840" y="548280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A</a:t>
            </a:r>
            <a:endParaRPr b="0" lang="en-US" sz="590" spc="-1" strike="noStrike">
              <a:latin typeface="Arial"/>
            </a:endParaRPr>
          </a:p>
        </p:txBody>
      </p:sp>
      <p:sp>
        <p:nvSpPr>
          <p:cNvPr id="990" name="Oval 402"/>
          <p:cNvSpPr/>
          <p:nvPr/>
        </p:nvSpPr>
        <p:spPr>
          <a:xfrm>
            <a:off x="8849160" y="5463720"/>
            <a:ext cx="132120" cy="132120"/>
          </a:xfrm>
          <a:prstGeom prst="ellipse">
            <a:avLst/>
          </a:prstGeom>
          <a:solidFill>
            <a:srgbClr val="faeada"/>
          </a:solidFill>
          <a:ln w="9525">
            <a:solidFill>
              <a:srgbClr val="e57816"/>
            </a:solidFill>
          </a:ln>
        </p:spPr>
        <p:style>
          <a:lnRef idx="1">
            <a:schemeClr val="accent1"/>
          </a:lnRef>
          <a:fillRef idx="3">
            <a:schemeClr val="accent1"/>
          </a:fillRef>
          <a:effectRef idx="2">
            <a:schemeClr val="accent1"/>
          </a:effectRef>
          <a:fontRef idx="minor"/>
        </p:style>
      </p:sp>
      <p:sp>
        <p:nvSpPr>
          <p:cNvPr id="991" name="TextBox 403"/>
          <p:cNvSpPr/>
          <p:nvPr/>
        </p:nvSpPr>
        <p:spPr>
          <a:xfrm>
            <a:off x="8849160" y="548280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S</a:t>
            </a:r>
            <a:endParaRPr b="0" lang="en-US" sz="590" spc="-1" strike="noStrike">
              <a:latin typeface="Arial"/>
            </a:endParaRPr>
          </a:p>
        </p:txBody>
      </p:sp>
      <p:sp>
        <p:nvSpPr>
          <p:cNvPr id="992" name="Oval 404"/>
          <p:cNvSpPr/>
          <p:nvPr/>
        </p:nvSpPr>
        <p:spPr>
          <a:xfrm>
            <a:off x="9132480" y="5463720"/>
            <a:ext cx="132120" cy="132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993" name="TextBox 405"/>
          <p:cNvSpPr/>
          <p:nvPr/>
        </p:nvSpPr>
        <p:spPr>
          <a:xfrm>
            <a:off x="9132480" y="548280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B</a:t>
            </a:r>
            <a:endParaRPr b="0" lang="en-US" sz="590" spc="-1" strike="noStrike">
              <a:latin typeface="Arial"/>
            </a:endParaRPr>
          </a:p>
        </p:txBody>
      </p:sp>
      <p:pic>
        <p:nvPicPr>
          <p:cNvPr id="994" name="Picture 406" descr="p4_merge_rule.png"/>
          <p:cNvPicPr/>
          <p:nvPr/>
        </p:nvPicPr>
        <p:blipFill>
          <a:blip r:embed="rId5"/>
          <a:stretch/>
        </p:blipFill>
        <p:spPr>
          <a:xfrm>
            <a:off x="8613720" y="5720400"/>
            <a:ext cx="621360" cy="112680"/>
          </a:xfrm>
          <a:prstGeom prst="rect">
            <a:avLst/>
          </a:prstGeom>
          <a:ln w="0">
            <a:noFill/>
          </a:ln>
        </p:spPr>
      </p:pic>
      <p:sp>
        <p:nvSpPr>
          <p:cNvPr id="995" name="Down Arrow 407"/>
          <p:cNvSpPr/>
          <p:nvPr/>
        </p:nvSpPr>
        <p:spPr>
          <a:xfrm>
            <a:off x="8832960" y="5868360"/>
            <a:ext cx="164160" cy="182520"/>
          </a:xfrm>
          <a:prstGeom prst="downArrow">
            <a:avLst>
              <a:gd name="adj1" fmla="val 50000"/>
              <a:gd name="adj2" fmla="val 50000"/>
            </a:avLst>
          </a:prstGeom>
          <a:solidFill>
            <a:srgbClr val="e22227"/>
          </a:solidFill>
          <a:ln>
            <a:noFill/>
          </a:ln>
        </p:spPr>
        <p:style>
          <a:lnRef idx="1">
            <a:schemeClr val="accent1"/>
          </a:lnRef>
          <a:fillRef idx="3">
            <a:schemeClr val="accent1"/>
          </a:fillRef>
          <a:effectRef idx="2">
            <a:schemeClr val="accent1"/>
          </a:effectRef>
          <a:fontRef idx="minor"/>
        </p:style>
      </p:sp>
      <p:sp>
        <p:nvSpPr>
          <p:cNvPr id="996" name="Rounded Rectangle 408"/>
          <p:cNvSpPr/>
          <p:nvPr/>
        </p:nvSpPr>
        <p:spPr>
          <a:xfrm>
            <a:off x="8494920" y="6106320"/>
            <a:ext cx="273960" cy="319680"/>
          </a:xfrm>
          <a:prstGeom prst="roundRect">
            <a:avLst>
              <a:gd name="adj" fmla="val 16667"/>
            </a:avLst>
          </a:prstGeom>
          <a:noFill/>
          <a:ln w="8890">
            <a:solidFill>
              <a:srgbClr val="368f45"/>
            </a:solidFill>
            <a:prstDash val="dash"/>
          </a:ln>
        </p:spPr>
        <p:style>
          <a:lnRef idx="1">
            <a:schemeClr val="accent1"/>
          </a:lnRef>
          <a:fillRef idx="3">
            <a:schemeClr val="accent1"/>
          </a:fillRef>
          <a:effectRef idx="2">
            <a:schemeClr val="accent1"/>
          </a:effectRef>
          <a:fontRef idx="minor"/>
        </p:style>
      </p:sp>
      <p:sp>
        <p:nvSpPr>
          <p:cNvPr id="997" name="Rounded Rectangle 409"/>
          <p:cNvSpPr/>
          <p:nvPr/>
        </p:nvSpPr>
        <p:spPr>
          <a:xfrm>
            <a:off x="8787240" y="6106320"/>
            <a:ext cx="557280" cy="319680"/>
          </a:xfrm>
          <a:prstGeom prst="roundRect">
            <a:avLst>
              <a:gd name="adj" fmla="val 16667"/>
            </a:avLst>
          </a:prstGeom>
          <a:noFill/>
          <a:ln w="8890">
            <a:solidFill>
              <a:srgbClr val="7a4bb1"/>
            </a:solidFill>
            <a:prstDash val="dash"/>
          </a:ln>
        </p:spPr>
        <p:style>
          <a:lnRef idx="1">
            <a:schemeClr val="accent1"/>
          </a:lnRef>
          <a:fillRef idx="3">
            <a:schemeClr val="accent1"/>
          </a:fillRef>
          <a:effectRef idx="2">
            <a:schemeClr val="accent1"/>
          </a:effectRef>
          <a:fontRef idx="minor"/>
        </p:style>
      </p:sp>
      <p:sp>
        <p:nvSpPr>
          <p:cNvPr id="998" name="Connector 410"/>
          <p:cNvSpPr/>
          <p:nvPr/>
        </p:nvSpPr>
        <p:spPr>
          <a:xfrm>
            <a:off x="8924400" y="6270480"/>
            <a:ext cx="274320" cy="360"/>
          </a:xfrm>
          <a:prstGeom prst="line">
            <a:avLst/>
          </a:prstGeom>
          <a:ln w="10414">
            <a:solidFill>
              <a:srgbClr val="7a4bb1"/>
            </a:solidFill>
          </a:ln>
        </p:spPr>
        <p:style>
          <a:lnRef idx="2">
            <a:schemeClr val="accent1"/>
          </a:lnRef>
          <a:fillRef idx="0">
            <a:schemeClr val="accent1"/>
          </a:fillRef>
          <a:effectRef idx="1">
            <a:schemeClr val="accent1"/>
          </a:effectRef>
          <a:fontRef idx="minor"/>
        </p:style>
      </p:sp>
      <p:sp>
        <p:nvSpPr>
          <p:cNvPr id="999" name="Oval 411"/>
          <p:cNvSpPr/>
          <p:nvPr/>
        </p:nvSpPr>
        <p:spPr>
          <a:xfrm>
            <a:off x="8565480" y="6204600"/>
            <a:ext cx="132120" cy="132120"/>
          </a:xfrm>
          <a:prstGeom prst="ellipse">
            <a:avLst/>
          </a:prstGeom>
          <a:solidFill>
            <a:srgbClr val="e2f1df"/>
          </a:solidFill>
          <a:ln w="9525">
            <a:solidFill>
              <a:srgbClr val="368f45"/>
            </a:solidFill>
          </a:ln>
        </p:spPr>
        <p:style>
          <a:lnRef idx="1">
            <a:schemeClr val="accent1"/>
          </a:lnRef>
          <a:fillRef idx="3">
            <a:schemeClr val="accent1"/>
          </a:fillRef>
          <a:effectRef idx="2">
            <a:schemeClr val="accent1"/>
          </a:effectRef>
          <a:fontRef idx="minor"/>
        </p:style>
      </p:sp>
      <p:sp>
        <p:nvSpPr>
          <p:cNvPr id="1000" name="TextBox 412"/>
          <p:cNvSpPr/>
          <p:nvPr/>
        </p:nvSpPr>
        <p:spPr>
          <a:xfrm>
            <a:off x="8565480" y="622368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A</a:t>
            </a:r>
            <a:endParaRPr b="0" lang="en-US" sz="590" spc="-1" strike="noStrike">
              <a:latin typeface="Arial"/>
            </a:endParaRPr>
          </a:p>
        </p:txBody>
      </p:sp>
      <p:sp>
        <p:nvSpPr>
          <p:cNvPr id="1001" name="Oval 413"/>
          <p:cNvSpPr/>
          <p:nvPr/>
        </p:nvSpPr>
        <p:spPr>
          <a:xfrm>
            <a:off x="8858160" y="6204600"/>
            <a:ext cx="132120" cy="132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1002" name="TextBox 414"/>
          <p:cNvSpPr/>
          <p:nvPr/>
        </p:nvSpPr>
        <p:spPr>
          <a:xfrm>
            <a:off x="8858160" y="622368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S</a:t>
            </a:r>
            <a:endParaRPr b="0" lang="en-US" sz="590" spc="-1" strike="noStrike">
              <a:latin typeface="Arial"/>
            </a:endParaRPr>
          </a:p>
        </p:txBody>
      </p:sp>
      <p:sp>
        <p:nvSpPr>
          <p:cNvPr id="1003" name="Oval 415"/>
          <p:cNvSpPr/>
          <p:nvPr/>
        </p:nvSpPr>
        <p:spPr>
          <a:xfrm>
            <a:off x="9132480" y="6204600"/>
            <a:ext cx="132120" cy="132120"/>
          </a:xfrm>
          <a:prstGeom prst="ellipse">
            <a:avLst/>
          </a:prstGeom>
          <a:solidFill>
            <a:srgbClr val="ece4f5"/>
          </a:solidFill>
          <a:ln w="9525">
            <a:solidFill>
              <a:srgbClr val="7a4bb1"/>
            </a:solidFill>
          </a:ln>
        </p:spPr>
        <p:style>
          <a:lnRef idx="1">
            <a:schemeClr val="accent1"/>
          </a:lnRef>
          <a:fillRef idx="3">
            <a:schemeClr val="accent1"/>
          </a:fillRef>
          <a:effectRef idx="2">
            <a:schemeClr val="accent1"/>
          </a:effectRef>
          <a:fontRef idx="minor"/>
        </p:style>
      </p:sp>
      <p:sp>
        <p:nvSpPr>
          <p:cNvPr id="1004" name="TextBox 416"/>
          <p:cNvSpPr/>
          <p:nvPr/>
        </p:nvSpPr>
        <p:spPr>
          <a:xfrm>
            <a:off x="9132480" y="6223680"/>
            <a:ext cx="132120" cy="93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590" spc="-1" strike="noStrike">
                <a:solidFill>
                  <a:srgbClr val="181b1d"/>
                </a:solidFill>
                <a:latin typeface="微软雅黑"/>
              </a:rPr>
              <a:t>B</a:t>
            </a:r>
            <a:endParaRPr b="0" lang="en-US" sz="590" spc="-1" strike="noStrike">
              <a:latin typeface="Arial"/>
            </a:endParaRPr>
          </a:p>
        </p:txBody>
      </p:sp>
      <p:sp>
        <p:nvSpPr>
          <p:cNvPr id="1005" name="TextBox 417"/>
          <p:cNvSpPr/>
          <p:nvPr/>
        </p:nvSpPr>
        <p:spPr>
          <a:xfrm>
            <a:off x="8412480" y="6459120"/>
            <a:ext cx="1078560" cy="208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60" spc="-1" strike="noStrike">
                <a:solidFill>
                  <a:srgbClr val="7a4bb1"/>
                </a:solidFill>
                <a:latin typeface="微软雅黑"/>
              </a:rPr>
              <a:t>S </a:t>
            </a:r>
            <a:r>
              <a:rPr b="1" lang="zh-CN" sz="660" spc="-1" strike="noStrike">
                <a:solidFill>
                  <a:srgbClr val="7a4bb1"/>
                </a:solidFill>
                <a:latin typeface="微软雅黑"/>
              </a:rPr>
              <a:t>并入耦合更强的 </a:t>
            </a:r>
            <a:r>
              <a:rPr b="1" lang="en-US" sz="660" spc="-1" strike="noStrike">
                <a:solidFill>
                  <a:srgbClr val="7a4bb1"/>
                </a:solidFill>
                <a:latin typeface="微软雅黑"/>
              </a:rPr>
              <a:t>B </a:t>
            </a:r>
            <a:r>
              <a:rPr b="1" lang="zh-CN" sz="660" spc="-1" strike="noStrike">
                <a:solidFill>
                  <a:srgbClr val="7a4bb1"/>
                </a:solidFill>
                <a:latin typeface="微软雅黑"/>
              </a:rPr>
              <a:t>所在分区</a:t>
            </a:r>
            <a:endParaRPr b="0" lang="en-US" sz="660" spc="-1" strike="noStrike">
              <a:latin typeface="Arial"/>
            </a:endParaRPr>
          </a:p>
        </p:txBody>
      </p:sp>
      <p:sp>
        <p:nvSpPr>
          <p:cNvPr id="1006" name="TextBox 418"/>
          <p:cNvSpPr/>
          <p:nvPr/>
        </p:nvSpPr>
        <p:spPr>
          <a:xfrm>
            <a:off x="9528120" y="5177880"/>
            <a:ext cx="1938240" cy="11793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889" spc="-1" strike="noStrike">
                <a:solidFill>
                  <a:srgbClr val="181b1d"/>
                </a:solidFill>
                <a:latin typeface="微软雅黑"/>
              </a:rPr>
              <a:t>连通修复</a:t>
            </a:r>
            <a:endParaRPr b="0" lang="en-US" sz="889" spc="-1" strike="noStrike">
              <a:latin typeface="Arial"/>
            </a:endParaRPr>
          </a:p>
          <a:p>
            <a:pPr>
              <a:lnSpc>
                <a:spcPct val="104000"/>
              </a:lnSpc>
              <a:spcAft>
                <a:spcPts val="99"/>
              </a:spcAft>
              <a:buNone/>
            </a:pPr>
            <a:r>
              <a:rPr b="0" lang="zh-CN" sz="889" spc="-1" strike="noStrike">
                <a:solidFill>
                  <a:srgbClr val="181b1d"/>
                </a:solidFill>
                <a:latin typeface="微软雅黑"/>
              </a:rPr>
              <a:t>移动孤立分量中的边界节点，使相关子区均保持连通。</a:t>
            </a:r>
            <a:endParaRPr b="0" lang="en-US" sz="889" spc="-1" strike="noStrike">
              <a:latin typeface="Arial"/>
            </a:endParaRPr>
          </a:p>
          <a:p>
            <a:pPr>
              <a:lnSpc>
                <a:spcPct val="104000"/>
              </a:lnSpc>
              <a:spcAft>
                <a:spcPts val="99"/>
              </a:spcAft>
              <a:buNone/>
            </a:pPr>
            <a:endParaRPr b="0" lang="en-US" sz="1800" spc="-1" strike="noStrike">
              <a:latin typeface="Arial"/>
            </a:endParaRPr>
          </a:p>
          <a:p>
            <a:pPr>
              <a:lnSpc>
                <a:spcPct val="104000"/>
              </a:lnSpc>
              <a:spcAft>
                <a:spcPts val="99"/>
              </a:spcAft>
              <a:buNone/>
            </a:pPr>
            <a:r>
              <a:rPr b="0" lang="zh-CN" sz="889" spc="-1" strike="noStrike">
                <a:solidFill>
                  <a:srgbClr val="181b1d"/>
                </a:solidFill>
                <a:latin typeface="微软雅黑"/>
              </a:rPr>
              <a:t>过小子区合并</a:t>
            </a:r>
            <a:endParaRPr b="0" lang="en-US" sz="889" spc="-1" strike="noStrike">
              <a:latin typeface="Arial"/>
            </a:endParaRPr>
          </a:p>
          <a:p>
            <a:pPr>
              <a:lnSpc>
                <a:spcPct val="104000"/>
              </a:lnSpc>
              <a:spcAft>
                <a:spcPts val="99"/>
              </a:spcAft>
              <a:buNone/>
            </a:pPr>
            <a:r>
              <a:rPr b="0" lang="zh-CN" sz="889" spc="-1" strike="noStrike">
                <a:solidFill>
                  <a:srgbClr val="181b1d"/>
                </a:solidFill>
                <a:latin typeface="微软雅黑"/>
              </a:rPr>
              <a:t>在满足规模上限的相邻区中，选择边界耦合权重最大的目标区。</a:t>
            </a:r>
            <a:endParaRPr b="0" lang="en-US" sz="889" spc="-1" strike="noStrike">
              <a:latin typeface="Arial"/>
            </a:endParaRPr>
          </a:p>
        </p:txBody>
      </p:sp>
      <p:sp>
        <p:nvSpPr>
          <p:cNvPr id="1007" name="Rounded Rectangle 419"/>
          <p:cNvSpPr/>
          <p:nvPr/>
        </p:nvSpPr>
        <p:spPr>
          <a:xfrm>
            <a:off x="9555480" y="6343920"/>
            <a:ext cx="1874160" cy="273960"/>
          </a:xfrm>
          <a:prstGeom prst="roundRect">
            <a:avLst>
              <a:gd name="adj" fmla="val 16667"/>
            </a:avLst>
          </a:prstGeom>
          <a:solidFill>
            <a:srgbClr val="eef4fa"/>
          </a:solidFill>
          <a:ln w="8890">
            <a:solidFill>
              <a:srgbClr val="98b6d2"/>
            </a:solidFill>
          </a:ln>
        </p:spPr>
        <p:style>
          <a:lnRef idx="1">
            <a:schemeClr val="accent1"/>
          </a:lnRef>
          <a:fillRef idx="3">
            <a:schemeClr val="accent1"/>
          </a:fillRef>
          <a:effectRef idx="2">
            <a:schemeClr val="accent1"/>
          </a:effectRef>
          <a:fontRef idx="minor"/>
        </p:style>
      </p:sp>
      <p:sp>
        <p:nvSpPr>
          <p:cNvPr id="1008" name="TextBox 420"/>
          <p:cNvSpPr/>
          <p:nvPr/>
        </p:nvSpPr>
        <p:spPr>
          <a:xfrm>
            <a:off x="9610200" y="6415560"/>
            <a:ext cx="1764360" cy="129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20" spc="-1" strike="noStrike">
                <a:solidFill>
                  <a:srgbClr val="1e5aa8"/>
                </a:solidFill>
                <a:latin typeface="微软雅黑"/>
              </a:rPr>
              <a:t>减少割边  </a:t>
            </a:r>
            <a:r>
              <a:rPr b="1" lang="en-US" sz="820" spc="-1" strike="noStrike">
                <a:solidFill>
                  <a:srgbClr val="1e5aa8"/>
                </a:solidFill>
                <a:latin typeface="微软雅黑"/>
              </a:rPr>
              <a:t>|  </a:t>
            </a:r>
            <a:r>
              <a:rPr b="1" lang="zh-CN" sz="820" spc="-1" strike="noStrike">
                <a:solidFill>
                  <a:srgbClr val="1e5aa8"/>
                </a:solidFill>
                <a:latin typeface="微软雅黑"/>
              </a:rPr>
              <a:t>保证连通  </a:t>
            </a:r>
            <a:r>
              <a:rPr b="1" lang="en-US" sz="820" spc="-1" strike="noStrike">
                <a:solidFill>
                  <a:srgbClr val="1e5aa8"/>
                </a:solidFill>
                <a:latin typeface="微软雅黑"/>
              </a:rPr>
              <a:t>|  </a:t>
            </a:r>
            <a:r>
              <a:rPr b="1" lang="zh-CN" sz="820" spc="-1" strike="noStrike">
                <a:solidFill>
                  <a:srgbClr val="1e5aa8"/>
                </a:solidFill>
                <a:latin typeface="微软雅黑"/>
              </a:rPr>
              <a:t>约束规模</a:t>
            </a:r>
            <a:endParaRPr b="0" lang="en-US" sz="820" spc="-1" strike="noStrike">
              <a:latin typeface="Arial"/>
            </a:endParaRPr>
          </a:p>
        </p:txBody>
      </p:sp>
    </p:spTree>
  </p:cSld>
  <mc:AlternateContent>
    <mc:Choice Requires="p14">
      <p:transition spd="slow" advTm="12000" p14:dur="2000"/>
    </mc:Choice>
    <mc:Fallback>
      <p:transition spd="slow" advTm="12000"/>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1010"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1011"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sp>
        <p:nvSpPr>
          <p:cNvPr id="1012" name="文本框 30"/>
          <p:cNvSpPr/>
          <p:nvPr/>
        </p:nvSpPr>
        <p:spPr>
          <a:xfrm>
            <a:off x="257760" y="786240"/>
            <a:ext cx="8022240" cy="42948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nSpc>
                <a:spcPct val="100000"/>
              </a:lnSpc>
              <a:buNone/>
            </a:pPr>
            <a:r>
              <a:rPr b="1" lang="zh-CN" sz="2200" spc="-1" strike="noStrike">
                <a:solidFill>
                  <a:srgbClr val="ffffff"/>
                </a:solidFill>
                <a:latin typeface="微软雅黑"/>
                <a:ea typeface="微软雅黑"/>
              </a:rPr>
              <a:t>研究进展</a:t>
            </a:r>
            <a:r>
              <a:rPr b="1" lang="en-US" sz="2200" spc="-1" strike="noStrike">
                <a:solidFill>
                  <a:srgbClr val="ffffff"/>
                </a:solidFill>
                <a:latin typeface="微软雅黑"/>
                <a:ea typeface="微软雅黑"/>
              </a:rPr>
              <a:t>2.3.1</a:t>
            </a:r>
            <a:r>
              <a:rPr b="1" lang="zh-CN" sz="2200" spc="-1" strike="noStrike">
                <a:solidFill>
                  <a:srgbClr val="ffffff"/>
                </a:solidFill>
                <a:latin typeface="微软雅黑"/>
                <a:ea typeface="微软雅黑"/>
              </a:rPr>
              <a:t>：边界节点复制与接口等值解耦方法</a:t>
            </a:r>
            <a:endParaRPr b="0" lang="en-US" sz="2200" spc="-1" strike="noStrike">
              <a:latin typeface="Arial"/>
            </a:endParaRPr>
          </a:p>
          <a:p>
            <a:pPr>
              <a:lnSpc>
                <a:spcPct val="100000"/>
              </a:lnSpc>
              <a:buNone/>
            </a:pPr>
            <a:endParaRPr b="0" lang="en-US" sz="2200" spc="-1" strike="noStrike">
              <a:latin typeface="Arial"/>
            </a:endParaRPr>
          </a:p>
        </p:txBody>
      </p:sp>
      <p:pic>
        <p:nvPicPr>
          <p:cNvPr id="1013" name="Picture 13" descr="p5_interface.png"/>
          <p:cNvPicPr/>
          <p:nvPr/>
        </p:nvPicPr>
        <p:blipFill>
          <a:blip r:embed="rId1"/>
          <a:stretch/>
        </p:blipFill>
        <p:spPr>
          <a:xfrm>
            <a:off x="438840" y="2644200"/>
            <a:ext cx="7625880" cy="2280240"/>
          </a:xfrm>
          <a:prstGeom prst="rect">
            <a:avLst/>
          </a:prstGeom>
          <a:ln w="7620">
            <a:solidFill>
              <a:srgbClr val="d7dddf"/>
            </a:solidFill>
            <a:round/>
          </a:ln>
        </p:spPr>
      </p:pic>
      <p:sp>
        <p:nvSpPr>
          <p:cNvPr id="1014" name="Rounded Rectangle 14"/>
          <p:cNvSpPr/>
          <p:nvPr/>
        </p:nvSpPr>
        <p:spPr>
          <a:xfrm>
            <a:off x="8192880" y="2632320"/>
            <a:ext cx="3538440" cy="2304000"/>
          </a:xfrm>
          <a:prstGeom prst="roundRect">
            <a:avLst>
              <a:gd name="adj" fmla="val 16667"/>
            </a:avLst>
          </a:prstGeom>
          <a:solidFill>
            <a:srgbClr val="fafbfc"/>
          </a:solidFill>
          <a:ln w="10160">
            <a:solidFill>
              <a:srgbClr val="9bb9d8"/>
            </a:solidFill>
          </a:ln>
        </p:spPr>
        <p:style>
          <a:lnRef idx="1">
            <a:schemeClr val="accent1"/>
          </a:lnRef>
          <a:fillRef idx="3">
            <a:schemeClr val="accent1"/>
          </a:fillRef>
          <a:effectRef idx="2">
            <a:schemeClr val="accent1"/>
          </a:effectRef>
          <a:fontRef idx="minor"/>
        </p:style>
      </p:sp>
      <p:sp>
        <p:nvSpPr>
          <p:cNvPr id="1015" name="TextBox 15"/>
          <p:cNvSpPr/>
          <p:nvPr/>
        </p:nvSpPr>
        <p:spPr>
          <a:xfrm>
            <a:off x="8366760" y="2735280"/>
            <a:ext cx="3191040" cy="19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240" spc="-1" strike="noStrike">
                <a:solidFill>
                  <a:srgbClr val="1e5aa8"/>
                </a:solidFill>
                <a:latin typeface="微软雅黑"/>
              </a:rPr>
              <a:t>边界副本与局部网络生成</a:t>
            </a:r>
            <a:endParaRPr b="0" lang="en-US" sz="1240" spc="-1" strike="noStrike">
              <a:latin typeface="Arial"/>
            </a:endParaRPr>
          </a:p>
        </p:txBody>
      </p:sp>
      <p:sp>
        <p:nvSpPr>
          <p:cNvPr id="1016" name="Connector 16"/>
          <p:cNvSpPr/>
          <p:nvPr/>
        </p:nvSpPr>
        <p:spPr>
          <a:xfrm>
            <a:off x="8366760" y="2988720"/>
            <a:ext cx="3191040" cy="360"/>
          </a:xfrm>
          <a:prstGeom prst="line">
            <a:avLst/>
          </a:prstGeom>
          <a:ln w="8890">
            <a:solidFill>
              <a:srgbClr val="9bb9d8"/>
            </a:solidFill>
          </a:ln>
        </p:spPr>
        <p:style>
          <a:lnRef idx="2">
            <a:schemeClr val="accent1"/>
          </a:lnRef>
          <a:fillRef idx="0">
            <a:schemeClr val="accent1"/>
          </a:fillRef>
          <a:effectRef idx="1">
            <a:schemeClr val="accent1"/>
          </a:effectRef>
          <a:fontRef idx="minor"/>
        </p:style>
      </p:sp>
      <p:sp>
        <p:nvSpPr>
          <p:cNvPr id="1017" name="Oval 17"/>
          <p:cNvSpPr/>
          <p:nvPr/>
        </p:nvSpPr>
        <p:spPr>
          <a:xfrm>
            <a:off x="8344080" y="3148920"/>
            <a:ext cx="228240" cy="228240"/>
          </a:xfrm>
          <a:prstGeom prst="ellipse">
            <a:avLst/>
          </a:prstGeom>
          <a:solidFill>
            <a:srgbClr val="1e5aa8"/>
          </a:solidFill>
          <a:ln>
            <a:solidFill>
              <a:srgbClr val="1e5aa8"/>
            </a:solidFill>
          </a:ln>
        </p:spPr>
        <p:style>
          <a:lnRef idx="1">
            <a:schemeClr val="accent1"/>
          </a:lnRef>
          <a:fillRef idx="3">
            <a:schemeClr val="accent1"/>
          </a:fillRef>
          <a:effectRef idx="2">
            <a:schemeClr val="accent1"/>
          </a:effectRef>
          <a:fontRef idx="minor"/>
        </p:style>
      </p:sp>
      <p:sp>
        <p:nvSpPr>
          <p:cNvPr id="1018" name="TextBox 18"/>
          <p:cNvSpPr/>
          <p:nvPr/>
        </p:nvSpPr>
        <p:spPr>
          <a:xfrm>
            <a:off x="8348400" y="3193920"/>
            <a:ext cx="219240" cy="138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70" spc="-1" strike="noStrike">
                <a:solidFill>
                  <a:srgbClr val="ffffff"/>
                </a:solidFill>
                <a:latin typeface="微软雅黑"/>
              </a:rPr>
              <a:t>1</a:t>
            </a:r>
            <a:endParaRPr b="0" lang="en-US" sz="870" spc="-1" strike="noStrike">
              <a:latin typeface="Arial"/>
            </a:endParaRPr>
          </a:p>
        </p:txBody>
      </p:sp>
      <p:sp>
        <p:nvSpPr>
          <p:cNvPr id="1019" name="TextBox 19"/>
          <p:cNvSpPr/>
          <p:nvPr/>
        </p:nvSpPr>
        <p:spPr>
          <a:xfrm>
            <a:off x="8668440" y="3100680"/>
            <a:ext cx="1060200" cy="1605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1010" spc="-1" strike="noStrike">
                <a:solidFill>
                  <a:srgbClr val="1e5aa8"/>
                </a:solidFill>
                <a:latin typeface="微软雅黑"/>
              </a:rPr>
              <a:t>切口识别</a:t>
            </a:r>
            <a:endParaRPr b="0" lang="en-US" sz="1010" spc="-1" strike="noStrike">
              <a:latin typeface="Arial"/>
            </a:endParaRPr>
          </a:p>
        </p:txBody>
      </p:sp>
      <p:sp>
        <p:nvSpPr>
          <p:cNvPr id="1020" name="TextBox 20"/>
          <p:cNvSpPr/>
          <p:nvPr/>
        </p:nvSpPr>
        <p:spPr>
          <a:xfrm>
            <a:off x="9655920" y="3099600"/>
            <a:ext cx="1746000" cy="2721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860" spc="-1" strike="noStrike">
                <a:solidFill>
                  <a:srgbClr val="181b1d"/>
                </a:solidFill>
                <a:latin typeface="微软雅黑"/>
              </a:rPr>
              <a:t>定位跨区线路或变压器，形成边界节点集合 </a:t>
            </a:r>
            <a:r>
              <a:rPr b="0" lang="en-US" sz="860" spc="-1" strike="noStrike">
                <a:solidFill>
                  <a:srgbClr val="181b1d"/>
                </a:solidFill>
                <a:latin typeface="微软雅黑"/>
              </a:rPr>
              <a:t>B</a:t>
            </a:r>
            <a:r>
              <a:rPr b="0" lang="zh-CN" sz="860" spc="-1" strike="noStrike">
                <a:solidFill>
                  <a:srgbClr val="181b1d"/>
                </a:solidFill>
                <a:latin typeface="微软雅黑"/>
              </a:rPr>
              <a:t>。</a:t>
            </a:r>
            <a:endParaRPr b="0" lang="en-US" sz="860" spc="-1" strike="noStrike">
              <a:latin typeface="Arial"/>
            </a:endParaRPr>
          </a:p>
        </p:txBody>
      </p:sp>
      <p:sp>
        <p:nvSpPr>
          <p:cNvPr id="1021" name="Connector 21"/>
          <p:cNvSpPr/>
          <p:nvPr/>
        </p:nvSpPr>
        <p:spPr>
          <a:xfrm>
            <a:off x="8366760" y="3519360"/>
            <a:ext cx="3191040" cy="360"/>
          </a:xfrm>
          <a:prstGeom prst="line">
            <a:avLst/>
          </a:prstGeom>
          <a:ln w="6985">
            <a:solidFill>
              <a:srgbClr val="d7dddf"/>
            </a:solidFill>
          </a:ln>
        </p:spPr>
        <p:style>
          <a:lnRef idx="2">
            <a:schemeClr val="accent1"/>
          </a:lnRef>
          <a:fillRef idx="0">
            <a:schemeClr val="accent1"/>
          </a:fillRef>
          <a:effectRef idx="1">
            <a:schemeClr val="accent1"/>
          </a:effectRef>
          <a:fontRef idx="minor"/>
        </p:style>
      </p:sp>
      <p:sp>
        <p:nvSpPr>
          <p:cNvPr id="1022" name="Oval 22"/>
          <p:cNvSpPr/>
          <p:nvPr/>
        </p:nvSpPr>
        <p:spPr>
          <a:xfrm>
            <a:off x="8344080" y="3734280"/>
            <a:ext cx="228240" cy="228240"/>
          </a:xfrm>
          <a:prstGeom prst="ellipse">
            <a:avLst/>
          </a:prstGeom>
          <a:solidFill>
            <a:srgbClr val="4e8c35"/>
          </a:solidFill>
          <a:ln>
            <a:solidFill>
              <a:srgbClr val="4e8c35"/>
            </a:solidFill>
          </a:ln>
        </p:spPr>
        <p:style>
          <a:lnRef idx="1">
            <a:schemeClr val="accent1"/>
          </a:lnRef>
          <a:fillRef idx="3">
            <a:schemeClr val="accent1"/>
          </a:fillRef>
          <a:effectRef idx="2">
            <a:schemeClr val="accent1"/>
          </a:effectRef>
          <a:fontRef idx="minor"/>
        </p:style>
      </p:sp>
      <p:sp>
        <p:nvSpPr>
          <p:cNvPr id="1023" name="TextBox 23"/>
          <p:cNvSpPr/>
          <p:nvPr/>
        </p:nvSpPr>
        <p:spPr>
          <a:xfrm>
            <a:off x="8348400" y="3779280"/>
            <a:ext cx="219240" cy="138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70" spc="-1" strike="noStrike">
                <a:solidFill>
                  <a:srgbClr val="ffffff"/>
                </a:solidFill>
                <a:latin typeface="微软雅黑"/>
              </a:rPr>
              <a:t>2</a:t>
            </a:r>
            <a:endParaRPr b="0" lang="en-US" sz="870" spc="-1" strike="noStrike">
              <a:latin typeface="Arial"/>
            </a:endParaRPr>
          </a:p>
        </p:txBody>
      </p:sp>
      <p:sp>
        <p:nvSpPr>
          <p:cNvPr id="1024" name="TextBox 24"/>
          <p:cNvSpPr/>
          <p:nvPr/>
        </p:nvSpPr>
        <p:spPr>
          <a:xfrm>
            <a:off x="8668440" y="3676680"/>
            <a:ext cx="1060200" cy="1605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1010" spc="-1" strike="noStrike">
                <a:solidFill>
                  <a:srgbClr val="4e8c35"/>
                </a:solidFill>
                <a:latin typeface="微软雅黑"/>
              </a:rPr>
              <a:t>节点复制</a:t>
            </a:r>
            <a:endParaRPr b="0" lang="en-US" sz="1010" spc="-1" strike="noStrike">
              <a:latin typeface="Arial"/>
            </a:endParaRPr>
          </a:p>
        </p:txBody>
      </p:sp>
      <p:pic>
        <p:nvPicPr>
          <p:cNvPr id="1025" name="Picture 25" descr="p5_boundary_copy.png"/>
          <p:cNvPicPr/>
          <p:nvPr/>
        </p:nvPicPr>
        <p:blipFill>
          <a:blip r:embed="rId2"/>
          <a:stretch/>
        </p:blipFill>
        <p:spPr>
          <a:xfrm>
            <a:off x="9834840" y="3638160"/>
            <a:ext cx="1260720" cy="219240"/>
          </a:xfrm>
          <a:prstGeom prst="rect">
            <a:avLst/>
          </a:prstGeom>
          <a:ln w="0">
            <a:noFill/>
          </a:ln>
        </p:spPr>
      </p:pic>
      <p:sp>
        <p:nvSpPr>
          <p:cNvPr id="1026" name="TextBox 26"/>
          <p:cNvSpPr/>
          <p:nvPr/>
        </p:nvSpPr>
        <p:spPr>
          <a:xfrm>
            <a:off x="8668440" y="3955320"/>
            <a:ext cx="2742840" cy="1335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839" spc="-1" strike="noStrike">
                <a:solidFill>
                  <a:srgbClr val="181b1d"/>
                </a:solidFill>
                <a:latin typeface="微软雅黑"/>
              </a:rPr>
              <a:t>两个副本分别纳入相邻局部子图，保留各自拓扑闭合。</a:t>
            </a:r>
            <a:endParaRPr b="0" lang="en-US" sz="839" spc="-1" strike="noStrike">
              <a:latin typeface="Arial"/>
            </a:endParaRPr>
          </a:p>
        </p:txBody>
      </p:sp>
      <p:sp>
        <p:nvSpPr>
          <p:cNvPr id="1027" name="Connector 27"/>
          <p:cNvSpPr/>
          <p:nvPr/>
        </p:nvSpPr>
        <p:spPr>
          <a:xfrm>
            <a:off x="8366760" y="4177440"/>
            <a:ext cx="3191040" cy="360"/>
          </a:xfrm>
          <a:prstGeom prst="line">
            <a:avLst/>
          </a:prstGeom>
          <a:ln w="6985">
            <a:solidFill>
              <a:srgbClr val="d7dddf"/>
            </a:solidFill>
          </a:ln>
        </p:spPr>
        <p:style>
          <a:lnRef idx="2">
            <a:schemeClr val="accent1"/>
          </a:lnRef>
          <a:fillRef idx="0">
            <a:schemeClr val="accent1"/>
          </a:fillRef>
          <a:effectRef idx="1">
            <a:schemeClr val="accent1"/>
          </a:effectRef>
          <a:fontRef idx="minor"/>
        </p:style>
      </p:sp>
      <p:sp>
        <p:nvSpPr>
          <p:cNvPr id="1028" name="Oval 28"/>
          <p:cNvSpPr/>
          <p:nvPr/>
        </p:nvSpPr>
        <p:spPr>
          <a:xfrm>
            <a:off x="8344080" y="4383360"/>
            <a:ext cx="228240" cy="228240"/>
          </a:xfrm>
          <a:prstGeom prst="ellipse">
            <a:avLst/>
          </a:prstGeom>
          <a:solidFill>
            <a:srgbClr val="dc6b12"/>
          </a:solidFill>
          <a:ln>
            <a:solidFill>
              <a:srgbClr val="dc6b12"/>
            </a:solidFill>
          </a:ln>
        </p:spPr>
        <p:style>
          <a:lnRef idx="1">
            <a:schemeClr val="accent1"/>
          </a:lnRef>
          <a:fillRef idx="3">
            <a:schemeClr val="accent1"/>
          </a:fillRef>
          <a:effectRef idx="2">
            <a:schemeClr val="accent1"/>
          </a:effectRef>
          <a:fontRef idx="minor"/>
        </p:style>
      </p:sp>
      <p:sp>
        <p:nvSpPr>
          <p:cNvPr id="1029" name="TextBox 29"/>
          <p:cNvSpPr/>
          <p:nvPr/>
        </p:nvSpPr>
        <p:spPr>
          <a:xfrm>
            <a:off x="8348400" y="4428360"/>
            <a:ext cx="219240" cy="138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70" spc="-1" strike="noStrike">
                <a:solidFill>
                  <a:srgbClr val="ffffff"/>
                </a:solidFill>
                <a:latin typeface="微软雅黑"/>
              </a:rPr>
              <a:t>3</a:t>
            </a:r>
            <a:endParaRPr b="0" lang="en-US" sz="870" spc="-1" strike="noStrike">
              <a:latin typeface="Arial"/>
            </a:endParaRPr>
          </a:p>
        </p:txBody>
      </p:sp>
      <p:sp>
        <p:nvSpPr>
          <p:cNvPr id="1030" name="TextBox 30"/>
          <p:cNvSpPr/>
          <p:nvPr/>
        </p:nvSpPr>
        <p:spPr>
          <a:xfrm>
            <a:off x="8668440" y="4307760"/>
            <a:ext cx="1142640" cy="1605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1010" spc="-1" strike="noStrike">
                <a:solidFill>
                  <a:srgbClr val="dc6b12"/>
                </a:solidFill>
                <a:latin typeface="微软雅黑"/>
              </a:rPr>
              <a:t>外部量替代</a:t>
            </a:r>
            <a:endParaRPr b="0" lang="en-US" sz="1010" spc="-1" strike="noStrike">
              <a:latin typeface="Arial"/>
            </a:endParaRPr>
          </a:p>
        </p:txBody>
      </p:sp>
      <p:sp>
        <p:nvSpPr>
          <p:cNvPr id="1031" name="TextBox 31"/>
          <p:cNvSpPr/>
          <p:nvPr/>
        </p:nvSpPr>
        <p:spPr>
          <a:xfrm>
            <a:off x="9711000" y="4344480"/>
            <a:ext cx="1728000" cy="27000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0" lang="zh-CN" sz="850" spc="-1" strike="noStrike">
                <a:solidFill>
                  <a:srgbClr val="181b1d"/>
                </a:solidFill>
                <a:latin typeface="微软雅黑"/>
              </a:rPr>
              <a:t>边界电压作为参考条件，切除网络以 </a:t>
            </a:r>
            <a:r>
              <a:rPr b="0" lang="en-US" sz="850" spc="-1" strike="noStrike">
                <a:solidFill>
                  <a:srgbClr val="181b1d"/>
                </a:solidFill>
                <a:latin typeface="微软雅黑"/>
              </a:rPr>
              <a:t>P/Q </a:t>
            </a:r>
            <a:r>
              <a:rPr b="0" lang="zh-CN" sz="850" spc="-1" strike="noStrike">
                <a:solidFill>
                  <a:srgbClr val="181b1d"/>
                </a:solidFill>
                <a:latin typeface="微软雅黑"/>
              </a:rPr>
              <a:t>等值注入替代。</a:t>
            </a:r>
            <a:endParaRPr b="0" lang="en-US" sz="850" spc="-1" strike="noStrike">
              <a:latin typeface="Arial"/>
            </a:endParaRPr>
          </a:p>
        </p:txBody>
      </p:sp>
      <p:sp>
        <p:nvSpPr>
          <p:cNvPr id="1032" name="TextBox 32"/>
          <p:cNvSpPr/>
          <p:nvPr/>
        </p:nvSpPr>
        <p:spPr>
          <a:xfrm>
            <a:off x="8659440" y="4711680"/>
            <a:ext cx="2770200" cy="129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20" spc="-1" strike="noStrike">
                <a:solidFill>
                  <a:srgbClr val="1e5aa8"/>
                </a:solidFill>
                <a:latin typeface="微软雅黑"/>
              </a:rPr>
              <a:t>全网耦合关系转化为低维接口变量耦合</a:t>
            </a:r>
            <a:endParaRPr b="0" lang="en-US" sz="820" spc="-1" strike="noStrike">
              <a:latin typeface="Arial"/>
            </a:endParaRPr>
          </a:p>
        </p:txBody>
      </p:sp>
      <p:pic>
        <p:nvPicPr>
          <p:cNvPr id="1033" name="Picture 33" descr="p5_mg.png"/>
          <p:cNvPicPr/>
          <p:nvPr/>
        </p:nvPicPr>
        <p:blipFill>
          <a:blip r:embed="rId3"/>
          <a:stretch/>
        </p:blipFill>
        <p:spPr>
          <a:xfrm>
            <a:off x="438840" y="5144760"/>
            <a:ext cx="5357880" cy="1440000"/>
          </a:xfrm>
          <a:prstGeom prst="rect">
            <a:avLst/>
          </a:prstGeom>
          <a:ln w="7620">
            <a:solidFill>
              <a:srgbClr val="d7dddf"/>
            </a:solidFill>
            <a:round/>
          </a:ln>
        </p:spPr>
      </p:pic>
      <p:sp>
        <p:nvSpPr>
          <p:cNvPr id="1034" name="Rounded Rectangle 34"/>
          <p:cNvSpPr/>
          <p:nvPr/>
        </p:nvSpPr>
        <p:spPr>
          <a:xfrm>
            <a:off x="5934600" y="5055480"/>
            <a:ext cx="2843280" cy="1618200"/>
          </a:xfrm>
          <a:prstGeom prst="roundRect">
            <a:avLst>
              <a:gd name="adj" fmla="val 16667"/>
            </a:avLst>
          </a:prstGeom>
          <a:solidFill>
            <a:srgbClr val="fafbfc"/>
          </a:solidFill>
          <a:ln w="10160">
            <a:solidFill>
              <a:srgbClr val="9bb9d8"/>
            </a:solidFill>
          </a:ln>
        </p:spPr>
        <p:style>
          <a:lnRef idx="1">
            <a:schemeClr val="accent1"/>
          </a:lnRef>
          <a:fillRef idx="3">
            <a:schemeClr val="accent1"/>
          </a:fillRef>
          <a:effectRef idx="2">
            <a:schemeClr val="accent1"/>
          </a:effectRef>
          <a:fontRef idx="minor"/>
        </p:style>
      </p:sp>
      <p:sp>
        <p:nvSpPr>
          <p:cNvPr id="1035" name="TextBox 35"/>
          <p:cNvSpPr/>
          <p:nvPr/>
        </p:nvSpPr>
        <p:spPr>
          <a:xfrm>
            <a:off x="6080760" y="5151240"/>
            <a:ext cx="2550960" cy="174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00" spc="-1" strike="noStrike">
                <a:solidFill>
                  <a:srgbClr val="1e5aa8"/>
                </a:solidFill>
                <a:latin typeface="微软雅黑"/>
              </a:rPr>
              <a:t>局部潮流子问题</a:t>
            </a:r>
            <a:endParaRPr b="0" lang="en-US" sz="1100" spc="-1" strike="noStrike">
              <a:latin typeface="Arial"/>
            </a:endParaRPr>
          </a:p>
        </p:txBody>
      </p:sp>
      <p:sp>
        <p:nvSpPr>
          <p:cNvPr id="1036" name="Connector 36"/>
          <p:cNvSpPr/>
          <p:nvPr/>
        </p:nvSpPr>
        <p:spPr>
          <a:xfrm>
            <a:off x="6080760" y="5384520"/>
            <a:ext cx="2550960" cy="360"/>
          </a:xfrm>
          <a:prstGeom prst="line">
            <a:avLst/>
          </a:prstGeom>
          <a:ln w="8255">
            <a:solidFill>
              <a:srgbClr val="9bb9d8"/>
            </a:solidFill>
          </a:ln>
        </p:spPr>
        <p:style>
          <a:lnRef idx="2">
            <a:schemeClr val="accent1"/>
          </a:lnRef>
          <a:fillRef idx="0">
            <a:schemeClr val="accent1"/>
          </a:fillRef>
          <a:effectRef idx="1">
            <a:schemeClr val="accent1"/>
          </a:effectRef>
          <a:fontRef idx="minor"/>
        </p:style>
      </p:sp>
      <p:sp>
        <p:nvSpPr>
          <p:cNvPr id="1037" name="TextBox 37"/>
          <p:cNvSpPr/>
          <p:nvPr/>
        </p:nvSpPr>
        <p:spPr>
          <a:xfrm>
            <a:off x="6080760" y="5507640"/>
            <a:ext cx="365400" cy="138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70" spc="-1" strike="noStrike">
                <a:solidFill>
                  <a:srgbClr val="1e5aa8"/>
                </a:solidFill>
                <a:latin typeface="微软雅黑"/>
              </a:rPr>
              <a:t>主网</a:t>
            </a:r>
            <a:endParaRPr b="0" lang="en-US" sz="870" spc="-1" strike="noStrike">
              <a:latin typeface="Arial"/>
            </a:endParaRPr>
          </a:p>
        </p:txBody>
      </p:sp>
      <p:pic>
        <p:nvPicPr>
          <p:cNvPr id="1038" name="Picture 38" descr="p5_local_t.png"/>
          <p:cNvPicPr/>
          <p:nvPr/>
        </p:nvPicPr>
        <p:blipFill>
          <a:blip r:embed="rId4"/>
          <a:stretch/>
        </p:blipFill>
        <p:spPr>
          <a:xfrm>
            <a:off x="6761160" y="5476320"/>
            <a:ext cx="1528560" cy="200880"/>
          </a:xfrm>
          <a:prstGeom prst="rect">
            <a:avLst/>
          </a:prstGeom>
          <a:ln w="0">
            <a:noFill/>
          </a:ln>
        </p:spPr>
      </p:pic>
      <p:sp>
        <p:nvSpPr>
          <p:cNvPr id="1039" name="TextBox 39"/>
          <p:cNvSpPr/>
          <p:nvPr/>
        </p:nvSpPr>
        <p:spPr>
          <a:xfrm>
            <a:off x="6080760" y="5827680"/>
            <a:ext cx="365400" cy="138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70" spc="-1" strike="noStrike">
                <a:solidFill>
                  <a:srgbClr val="4e8c35"/>
                </a:solidFill>
                <a:latin typeface="微软雅黑"/>
              </a:rPr>
              <a:t>配网</a:t>
            </a:r>
            <a:endParaRPr b="0" lang="en-US" sz="870" spc="-1" strike="noStrike">
              <a:latin typeface="Arial"/>
            </a:endParaRPr>
          </a:p>
        </p:txBody>
      </p:sp>
      <p:pic>
        <p:nvPicPr>
          <p:cNvPr id="1040" name="Picture 40" descr="p5_local_d.png"/>
          <p:cNvPicPr/>
          <p:nvPr/>
        </p:nvPicPr>
        <p:blipFill>
          <a:blip r:embed="rId5"/>
          <a:stretch/>
        </p:blipFill>
        <p:spPr>
          <a:xfrm>
            <a:off x="6825240" y="5796360"/>
            <a:ext cx="1400040" cy="200880"/>
          </a:xfrm>
          <a:prstGeom prst="rect">
            <a:avLst/>
          </a:prstGeom>
          <a:ln w="0">
            <a:noFill/>
          </a:ln>
        </p:spPr>
      </p:pic>
      <p:sp>
        <p:nvSpPr>
          <p:cNvPr id="1041" name="TextBox 41"/>
          <p:cNvSpPr/>
          <p:nvPr/>
        </p:nvSpPr>
        <p:spPr>
          <a:xfrm>
            <a:off x="6080760" y="6147720"/>
            <a:ext cx="365400" cy="138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70" spc="-1" strike="noStrike">
                <a:solidFill>
                  <a:srgbClr val="dc6b12"/>
                </a:solidFill>
                <a:latin typeface="微软雅黑"/>
              </a:rPr>
              <a:t>微网</a:t>
            </a:r>
            <a:endParaRPr b="0" lang="en-US" sz="870" spc="-1" strike="noStrike">
              <a:latin typeface="Arial"/>
            </a:endParaRPr>
          </a:p>
        </p:txBody>
      </p:sp>
      <p:pic>
        <p:nvPicPr>
          <p:cNvPr id="1042" name="Picture 42" descr="p5_local_m.png"/>
          <p:cNvPicPr/>
          <p:nvPr/>
        </p:nvPicPr>
        <p:blipFill>
          <a:blip r:embed="rId6"/>
          <a:stretch/>
        </p:blipFill>
        <p:spPr>
          <a:xfrm>
            <a:off x="6784200" y="6116400"/>
            <a:ext cx="1482480" cy="200880"/>
          </a:xfrm>
          <a:prstGeom prst="rect">
            <a:avLst/>
          </a:prstGeom>
          <a:ln w="0">
            <a:noFill/>
          </a:ln>
        </p:spPr>
      </p:pic>
      <p:sp>
        <p:nvSpPr>
          <p:cNvPr id="1043" name="Rounded Rectangle 43"/>
          <p:cNvSpPr/>
          <p:nvPr/>
        </p:nvSpPr>
        <p:spPr>
          <a:xfrm>
            <a:off x="6126480" y="6409080"/>
            <a:ext cx="2459520" cy="164160"/>
          </a:xfrm>
          <a:prstGeom prst="roundRect">
            <a:avLst>
              <a:gd name="adj" fmla="val 16667"/>
            </a:avLst>
          </a:prstGeom>
          <a:solidFill>
            <a:srgbClr val="f1f6fc"/>
          </a:solidFill>
          <a:ln>
            <a:noFill/>
          </a:ln>
        </p:spPr>
        <p:style>
          <a:lnRef idx="1">
            <a:schemeClr val="accent1"/>
          </a:lnRef>
          <a:fillRef idx="3">
            <a:schemeClr val="accent1"/>
          </a:fillRef>
          <a:effectRef idx="2">
            <a:schemeClr val="accent1"/>
          </a:effectRef>
          <a:fontRef idx="minor"/>
        </p:style>
      </p:sp>
      <p:sp>
        <p:nvSpPr>
          <p:cNvPr id="1044" name="TextBox 44"/>
          <p:cNvSpPr/>
          <p:nvPr/>
        </p:nvSpPr>
        <p:spPr>
          <a:xfrm>
            <a:off x="6144840" y="6430680"/>
            <a:ext cx="2422800" cy="111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00" spc="-1" strike="noStrike">
                <a:solidFill>
                  <a:srgbClr val="1e5aa8"/>
                </a:solidFill>
                <a:latin typeface="微软雅黑"/>
              </a:rPr>
              <a:t>局部拓扑完整，仅通过接口变量耦合</a:t>
            </a:r>
            <a:endParaRPr b="0" lang="en-US" sz="700" spc="-1" strike="noStrike">
              <a:latin typeface="Arial"/>
            </a:endParaRPr>
          </a:p>
        </p:txBody>
      </p:sp>
      <p:sp>
        <p:nvSpPr>
          <p:cNvPr id="1045" name="Rounded Rectangle 45"/>
          <p:cNvSpPr/>
          <p:nvPr/>
        </p:nvSpPr>
        <p:spPr>
          <a:xfrm>
            <a:off x="8888040" y="5055480"/>
            <a:ext cx="2843280" cy="1618200"/>
          </a:xfrm>
          <a:prstGeom prst="roundRect">
            <a:avLst>
              <a:gd name="adj" fmla="val 16667"/>
            </a:avLst>
          </a:prstGeom>
          <a:solidFill>
            <a:srgbClr val="fafbfc"/>
          </a:solidFill>
          <a:ln w="10160">
            <a:solidFill>
              <a:srgbClr val="9bb9d8"/>
            </a:solidFill>
          </a:ln>
        </p:spPr>
        <p:style>
          <a:lnRef idx="1">
            <a:schemeClr val="accent1"/>
          </a:lnRef>
          <a:fillRef idx="3">
            <a:schemeClr val="accent1"/>
          </a:fillRef>
          <a:effectRef idx="2">
            <a:schemeClr val="accent1"/>
          </a:effectRef>
          <a:fontRef idx="minor"/>
        </p:style>
      </p:sp>
      <p:sp>
        <p:nvSpPr>
          <p:cNvPr id="1046" name="TextBox 46"/>
          <p:cNvSpPr/>
          <p:nvPr/>
        </p:nvSpPr>
        <p:spPr>
          <a:xfrm>
            <a:off x="9034200" y="5151240"/>
            <a:ext cx="2550960" cy="174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00" spc="-1" strike="noStrike">
                <a:solidFill>
                  <a:srgbClr val="1e5aa8"/>
                </a:solidFill>
                <a:latin typeface="微软雅黑"/>
              </a:rPr>
              <a:t>接口变量映射</a:t>
            </a:r>
            <a:endParaRPr b="0" lang="en-US" sz="1100" spc="-1" strike="noStrike">
              <a:latin typeface="Arial"/>
            </a:endParaRPr>
          </a:p>
        </p:txBody>
      </p:sp>
      <p:sp>
        <p:nvSpPr>
          <p:cNvPr id="1047" name="Connector 47"/>
          <p:cNvSpPr/>
          <p:nvPr/>
        </p:nvSpPr>
        <p:spPr>
          <a:xfrm>
            <a:off x="9034200" y="5384520"/>
            <a:ext cx="2550960" cy="360"/>
          </a:xfrm>
          <a:prstGeom prst="line">
            <a:avLst/>
          </a:prstGeom>
          <a:ln w="8255">
            <a:solidFill>
              <a:srgbClr val="9bb9d8"/>
            </a:solidFill>
          </a:ln>
        </p:spPr>
        <p:style>
          <a:lnRef idx="2">
            <a:schemeClr val="accent1"/>
          </a:lnRef>
          <a:fillRef idx="0">
            <a:schemeClr val="accent1"/>
          </a:fillRef>
          <a:effectRef idx="1">
            <a:schemeClr val="accent1"/>
          </a:effectRef>
          <a:fontRef idx="minor"/>
        </p:style>
      </p:sp>
      <p:sp>
        <p:nvSpPr>
          <p:cNvPr id="1048" name="TextBox 48"/>
          <p:cNvSpPr/>
          <p:nvPr/>
        </p:nvSpPr>
        <p:spPr>
          <a:xfrm>
            <a:off x="9034200" y="5508720"/>
            <a:ext cx="502560" cy="1353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50" spc="-1" strike="noStrike">
                <a:solidFill>
                  <a:srgbClr val="1e5aa8"/>
                </a:solidFill>
                <a:latin typeface="微软雅黑"/>
              </a:rPr>
              <a:t>主→配</a:t>
            </a:r>
            <a:endParaRPr b="0" lang="en-US" sz="850" spc="-1" strike="noStrike">
              <a:latin typeface="Arial"/>
            </a:endParaRPr>
          </a:p>
        </p:txBody>
      </p:sp>
      <p:pic>
        <p:nvPicPr>
          <p:cNvPr id="1049" name="Picture 49" descr="p5_state_vector.png"/>
          <p:cNvPicPr/>
          <p:nvPr/>
        </p:nvPicPr>
        <p:blipFill>
          <a:blip r:embed="rId7"/>
          <a:stretch/>
        </p:blipFill>
        <p:spPr>
          <a:xfrm>
            <a:off x="9912960" y="5466960"/>
            <a:ext cx="1150200" cy="209880"/>
          </a:xfrm>
          <a:prstGeom prst="rect">
            <a:avLst/>
          </a:prstGeom>
          <a:ln w="0">
            <a:noFill/>
          </a:ln>
        </p:spPr>
      </p:pic>
      <p:sp>
        <p:nvSpPr>
          <p:cNvPr id="1050" name="TextBox 50"/>
          <p:cNvSpPr/>
          <p:nvPr/>
        </p:nvSpPr>
        <p:spPr>
          <a:xfrm>
            <a:off x="9034200" y="5828760"/>
            <a:ext cx="502560" cy="1353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50" spc="-1" strike="noStrike">
                <a:solidFill>
                  <a:srgbClr val="dc6b12"/>
                </a:solidFill>
                <a:latin typeface="微软雅黑"/>
              </a:rPr>
              <a:t>配→主</a:t>
            </a:r>
            <a:endParaRPr b="0" lang="en-US" sz="850" spc="-1" strike="noStrike">
              <a:latin typeface="Arial"/>
            </a:endParaRPr>
          </a:p>
        </p:txBody>
      </p:sp>
      <p:pic>
        <p:nvPicPr>
          <p:cNvPr id="1051" name="Picture 51" descr="p5_power_vector.png"/>
          <p:cNvPicPr/>
          <p:nvPr/>
        </p:nvPicPr>
        <p:blipFill>
          <a:blip r:embed="rId8"/>
          <a:stretch/>
        </p:blipFill>
        <p:spPr>
          <a:xfrm>
            <a:off x="9902880" y="5787000"/>
            <a:ext cx="1170360" cy="209880"/>
          </a:xfrm>
          <a:prstGeom prst="rect">
            <a:avLst/>
          </a:prstGeom>
          <a:ln w="0">
            <a:noFill/>
          </a:ln>
        </p:spPr>
      </p:pic>
      <p:sp>
        <p:nvSpPr>
          <p:cNvPr id="1052" name="TextBox 52"/>
          <p:cNvSpPr/>
          <p:nvPr/>
        </p:nvSpPr>
        <p:spPr>
          <a:xfrm>
            <a:off x="9034200" y="6148800"/>
            <a:ext cx="502560" cy="1353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50" spc="-1" strike="noStrike">
                <a:solidFill>
                  <a:srgbClr val="4e8c35"/>
                </a:solidFill>
                <a:latin typeface="微软雅黑"/>
              </a:rPr>
              <a:t>配↔微</a:t>
            </a:r>
            <a:endParaRPr b="0" lang="en-US" sz="850" spc="-1" strike="noStrike">
              <a:latin typeface="Arial"/>
            </a:endParaRPr>
          </a:p>
        </p:txBody>
      </p:sp>
      <p:pic>
        <p:nvPicPr>
          <p:cNvPr id="1053" name="Picture 53" descr="p5_mg_equiv.png"/>
          <p:cNvPicPr/>
          <p:nvPr/>
        </p:nvPicPr>
        <p:blipFill>
          <a:blip r:embed="rId9"/>
          <a:stretch/>
        </p:blipFill>
        <p:spPr>
          <a:xfrm>
            <a:off x="9767520" y="6107040"/>
            <a:ext cx="1441440" cy="209880"/>
          </a:xfrm>
          <a:prstGeom prst="rect">
            <a:avLst/>
          </a:prstGeom>
          <a:ln w="0">
            <a:noFill/>
          </a:ln>
        </p:spPr>
      </p:pic>
      <p:sp>
        <p:nvSpPr>
          <p:cNvPr id="1054" name="Rounded Rectangle 54"/>
          <p:cNvSpPr/>
          <p:nvPr/>
        </p:nvSpPr>
        <p:spPr>
          <a:xfrm>
            <a:off x="9079920" y="6409080"/>
            <a:ext cx="2459520" cy="164160"/>
          </a:xfrm>
          <a:prstGeom prst="roundRect">
            <a:avLst>
              <a:gd name="adj" fmla="val 16667"/>
            </a:avLst>
          </a:prstGeom>
          <a:solidFill>
            <a:srgbClr val="f2f8ef"/>
          </a:solidFill>
          <a:ln>
            <a:noFill/>
          </a:ln>
        </p:spPr>
        <p:style>
          <a:lnRef idx="1">
            <a:schemeClr val="accent1"/>
          </a:lnRef>
          <a:fillRef idx="3">
            <a:schemeClr val="accent1"/>
          </a:fillRef>
          <a:effectRef idx="2">
            <a:schemeClr val="accent1"/>
          </a:effectRef>
          <a:fontRef idx="minor"/>
        </p:style>
      </p:sp>
      <p:sp>
        <p:nvSpPr>
          <p:cNvPr id="1055" name="TextBox 55"/>
          <p:cNvSpPr/>
          <p:nvPr/>
        </p:nvSpPr>
        <p:spPr>
          <a:xfrm>
            <a:off x="9098280" y="6430680"/>
            <a:ext cx="2422800" cy="111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00" spc="-1" strike="noStrike">
                <a:solidFill>
                  <a:srgbClr val="4e8c35"/>
                </a:solidFill>
                <a:latin typeface="微软雅黑"/>
              </a:rPr>
              <a:t>电压作边界条件，功率作等值反馈</a:t>
            </a:r>
            <a:endParaRPr b="0" lang="en-US" sz="700" spc="-1" strike="noStrike">
              <a:latin typeface="Arial"/>
            </a:endParaRPr>
          </a:p>
        </p:txBody>
      </p:sp>
      <p:grpSp>
        <p:nvGrpSpPr>
          <p:cNvPr id="1056" name="组合 11"/>
          <p:cNvGrpSpPr/>
          <p:nvPr/>
        </p:nvGrpSpPr>
        <p:grpSpPr>
          <a:xfrm>
            <a:off x="325800" y="1364040"/>
            <a:ext cx="11380320" cy="1223280"/>
            <a:chOff x="325800" y="1364040"/>
            <a:chExt cx="11380320" cy="1223280"/>
          </a:xfrm>
        </p:grpSpPr>
        <p:sp>
          <p:nvSpPr>
            <p:cNvPr id="1057" name="任意多边形: 形状 128"/>
            <p:cNvSpPr/>
            <p:nvPr/>
          </p:nvSpPr>
          <p:spPr>
            <a:xfrm>
              <a:off x="325800" y="1463400"/>
              <a:ext cx="906120" cy="1049760"/>
            </a:xfrm>
            <a:custGeom>
              <a:avLst/>
              <a:gdLst/>
              <a:ahLst/>
              <a:rect l="l" t="t" r="r" b="b"/>
              <a:pathLst>
                <a:path w="906993" h="884766">
                  <a:moveTo>
                    <a:pt x="0" y="0"/>
                  </a:moveTo>
                  <a:lnTo>
                    <a:pt x="830106" y="0"/>
                  </a:lnTo>
                  <a:lnTo>
                    <a:pt x="830106" y="390642"/>
                  </a:lnTo>
                  <a:lnTo>
                    <a:pt x="906993" y="442382"/>
                  </a:lnTo>
                  <a:lnTo>
                    <a:pt x="830106" y="494122"/>
                  </a:lnTo>
                  <a:lnTo>
                    <a:pt x="830106" y="884766"/>
                  </a:lnTo>
                  <a:lnTo>
                    <a:pt x="0" y="884766"/>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1058" name="文本框 129"/>
            <p:cNvSpPr/>
            <p:nvPr/>
          </p:nvSpPr>
          <p:spPr>
            <a:xfrm>
              <a:off x="383040" y="1632960"/>
              <a:ext cx="728280" cy="70380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技术创新</a:t>
              </a:r>
              <a:endParaRPr b="0" lang="en-US" sz="1979" spc="-1" strike="noStrike">
                <a:latin typeface="Arial"/>
              </a:endParaRPr>
            </a:p>
          </p:txBody>
        </p:sp>
        <p:sp>
          <p:nvSpPr>
            <p:cNvPr id="1059" name="文本框 55"/>
            <p:cNvSpPr/>
            <p:nvPr/>
          </p:nvSpPr>
          <p:spPr>
            <a:xfrm>
              <a:off x="1232640" y="1364040"/>
              <a:ext cx="10473480" cy="1223280"/>
            </a:xfrm>
            <a:prstGeom prst="rect">
              <a:avLst/>
            </a:prstGeom>
            <a:noFill/>
            <a:ln w="9525">
              <a:noFill/>
            </a:ln>
          </p:spPr>
          <p:style>
            <a:lnRef idx="0"/>
            <a:fillRef idx="0"/>
            <a:effectRef idx="0"/>
            <a:fontRef idx="minor"/>
          </p:style>
          <p:txBody>
            <a:bodyPr lIns="90000" rIns="90000" tIns="45000" bIns="45000" anchor="t">
              <a:noAutofit/>
            </a:bodyPr>
            <a:p>
              <a:pPr algn="just">
                <a:lnSpc>
                  <a:spcPct val="120000"/>
                </a:lnSpc>
                <a:spcBef>
                  <a:spcPts val="601"/>
                </a:spcBef>
                <a:buNone/>
                <a:tabLst>
                  <a:tab algn="l" pos="0"/>
                </a:tabLst>
              </a:pPr>
              <a:r>
                <a:rPr b="0" lang="zh-CN" sz="2000" spc="-1" strike="noStrike">
                  <a:solidFill>
                    <a:srgbClr val="000000"/>
                  </a:solidFill>
                  <a:latin typeface="微软雅黑"/>
                  <a:ea typeface="微软雅黑"/>
                </a:rPr>
                <a:t>通过局部网络截取和切口节点复制，将全网模型转换为多个拓扑完整的局部潮流子问题。上游子区提供边界电压，下游子区返回等值功率，微网通过</a:t>
              </a:r>
              <a:r>
                <a:rPr b="0" lang="en-US" sz="2000" spc="-1" strike="noStrike">
                  <a:solidFill>
                    <a:srgbClr val="000000"/>
                  </a:solidFill>
                  <a:latin typeface="微软雅黑"/>
                  <a:ea typeface="微软雅黑"/>
                </a:rPr>
                <a:t>PCC</a:t>
              </a:r>
              <a:r>
                <a:rPr b="0" lang="zh-CN" sz="2000" spc="-1" strike="noStrike">
                  <a:solidFill>
                    <a:srgbClr val="000000"/>
                  </a:solidFill>
                  <a:latin typeface="微软雅黑"/>
                  <a:ea typeface="微软雅黑"/>
                </a:rPr>
                <a:t>电压与等值注入接入配网局部模型。</a:t>
              </a:r>
              <a:endParaRPr b="0" lang="en-US" sz="2000" spc="-1" strike="noStrike">
                <a:latin typeface="Arial"/>
              </a:endParaRPr>
            </a:p>
          </p:txBody>
        </p:sp>
      </p:grpSp>
    </p:spTree>
  </p:cSld>
  <mc:AlternateContent>
    <mc:Choice Requires="p14">
      <p:transition spd="slow" advTm="12000" p14:dur="2000"/>
    </mc:Choice>
    <mc:Fallback>
      <p:transition spd="slow" advTm="12000"/>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1061"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1062"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grpSp>
        <p:nvGrpSpPr>
          <p:cNvPr id="1063" name="组合 7"/>
          <p:cNvGrpSpPr/>
          <p:nvPr/>
        </p:nvGrpSpPr>
        <p:grpSpPr>
          <a:xfrm>
            <a:off x="325800" y="1364040"/>
            <a:ext cx="11379600" cy="1149120"/>
            <a:chOff x="325800" y="1364040"/>
            <a:chExt cx="11379600" cy="1149120"/>
          </a:xfrm>
        </p:grpSpPr>
        <p:sp>
          <p:nvSpPr>
            <p:cNvPr id="1064" name="任意多边形: 形状 128"/>
            <p:cNvSpPr/>
            <p:nvPr/>
          </p:nvSpPr>
          <p:spPr>
            <a:xfrm>
              <a:off x="325800" y="1463400"/>
              <a:ext cx="906120" cy="1049760"/>
            </a:xfrm>
            <a:custGeom>
              <a:avLst/>
              <a:gdLst/>
              <a:ahLst/>
              <a:rect l="l" t="t" r="r" b="b"/>
              <a:pathLst>
                <a:path w="906993" h="884766">
                  <a:moveTo>
                    <a:pt x="0" y="0"/>
                  </a:moveTo>
                  <a:lnTo>
                    <a:pt x="830106" y="0"/>
                  </a:lnTo>
                  <a:lnTo>
                    <a:pt x="830106" y="390642"/>
                  </a:lnTo>
                  <a:lnTo>
                    <a:pt x="906993" y="442382"/>
                  </a:lnTo>
                  <a:lnTo>
                    <a:pt x="830106" y="494122"/>
                  </a:lnTo>
                  <a:lnTo>
                    <a:pt x="830106" y="884766"/>
                  </a:lnTo>
                  <a:lnTo>
                    <a:pt x="0" y="884766"/>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1065" name="文本框 129"/>
            <p:cNvSpPr/>
            <p:nvPr/>
          </p:nvSpPr>
          <p:spPr>
            <a:xfrm>
              <a:off x="383040" y="1632960"/>
              <a:ext cx="728280" cy="70380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技术创新</a:t>
              </a:r>
              <a:endParaRPr b="0" lang="en-US" sz="1979" spc="-1" strike="noStrike">
                <a:latin typeface="Arial"/>
              </a:endParaRPr>
            </a:p>
          </p:txBody>
        </p:sp>
        <p:sp>
          <p:nvSpPr>
            <p:cNvPr id="1066" name="文本框 55"/>
            <p:cNvSpPr/>
            <p:nvPr/>
          </p:nvSpPr>
          <p:spPr>
            <a:xfrm>
              <a:off x="1232280" y="1364040"/>
              <a:ext cx="10473120" cy="821160"/>
            </a:xfrm>
            <a:prstGeom prst="rect">
              <a:avLst/>
            </a:prstGeom>
            <a:noFill/>
            <a:ln w="9525">
              <a:noFill/>
            </a:ln>
          </p:spPr>
          <p:style>
            <a:lnRef idx="0"/>
            <a:fillRef idx="0"/>
            <a:effectRef idx="0"/>
            <a:fontRef idx="minor"/>
          </p:style>
          <p:txBody>
            <a:bodyPr lIns="90000" rIns="90000" tIns="45000" bIns="45000" anchor="t">
              <a:spAutoFit/>
            </a:bodyPr>
            <a:p>
              <a:pPr algn="just">
                <a:lnSpc>
                  <a:spcPct val="120000"/>
                </a:lnSpc>
                <a:spcBef>
                  <a:spcPts val="601"/>
                </a:spcBef>
                <a:buNone/>
                <a:tabLst>
                  <a:tab algn="l" pos="0"/>
                </a:tabLst>
              </a:pPr>
              <a:r>
                <a:rPr b="0" lang="zh-CN" sz="2000" spc="-1" strike="noStrike">
                  <a:solidFill>
                    <a:srgbClr val="000000"/>
                  </a:solidFill>
                  <a:latin typeface="微软雅黑"/>
                  <a:ea typeface="微软雅黑"/>
                </a:rPr>
                <a:t>按照主网边界电压下发、配网交换功率计算和微网等值注入更新的顺序交替求解。采用松弛更新抑制边界变量振荡，并以主配交换功率残差和边界电压残差联合判断协调收敛。</a:t>
              </a:r>
              <a:endParaRPr b="0" lang="en-US" sz="2000" spc="-1" strike="noStrike">
                <a:latin typeface="Arial"/>
              </a:endParaRPr>
            </a:p>
          </p:txBody>
        </p:sp>
      </p:grpSp>
      <p:sp>
        <p:nvSpPr>
          <p:cNvPr id="1067" name="文本框 30"/>
          <p:cNvSpPr/>
          <p:nvPr/>
        </p:nvSpPr>
        <p:spPr>
          <a:xfrm>
            <a:off x="257760" y="786240"/>
            <a:ext cx="9894960" cy="42948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nSpc>
                <a:spcPct val="100000"/>
              </a:lnSpc>
              <a:buNone/>
            </a:pPr>
            <a:r>
              <a:rPr b="1" lang="zh-CN" sz="2200" spc="-1" strike="noStrike">
                <a:solidFill>
                  <a:srgbClr val="ffffff"/>
                </a:solidFill>
                <a:latin typeface="微软雅黑"/>
                <a:ea typeface="微软雅黑"/>
              </a:rPr>
              <a:t>研究进展</a:t>
            </a:r>
            <a:r>
              <a:rPr b="1" lang="en-US" sz="2200" spc="-1" strike="noStrike">
                <a:solidFill>
                  <a:srgbClr val="ffffff"/>
                </a:solidFill>
                <a:latin typeface="微软雅黑"/>
                <a:ea typeface="微软雅黑"/>
              </a:rPr>
              <a:t>2.3.2</a:t>
            </a:r>
            <a:r>
              <a:rPr b="1" lang="zh-CN" sz="2200" spc="-1" strike="noStrike">
                <a:solidFill>
                  <a:srgbClr val="ffffff"/>
                </a:solidFill>
                <a:latin typeface="微软雅黑"/>
                <a:ea typeface="微软雅黑"/>
              </a:rPr>
              <a:t>：边界电压与功率协调迭代方法</a:t>
            </a:r>
            <a:endParaRPr b="0" lang="en-US" sz="2200" spc="-1" strike="noStrike">
              <a:latin typeface="Arial"/>
            </a:endParaRPr>
          </a:p>
          <a:p>
            <a:pPr>
              <a:lnSpc>
                <a:spcPct val="100000"/>
              </a:lnSpc>
              <a:buNone/>
            </a:pPr>
            <a:endParaRPr b="0" lang="en-US" sz="2200" spc="-1" strike="noStrike">
              <a:latin typeface="Arial"/>
            </a:endParaRPr>
          </a:p>
        </p:txBody>
      </p:sp>
      <p:sp>
        <p:nvSpPr>
          <p:cNvPr id="1069" name="Rounded Rectangle 14"/>
          <p:cNvSpPr/>
          <p:nvPr/>
        </p:nvSpPr>
        <p:spPr>
          <a:xfrm>
            <a:off x="594360" y="2930652"/>
            <a:ext cx="2605680" cy="233172"/>
          </a:xfrm>
          <a:prstGeom prst="roundRect">
            <a:avLst>
              <a:gd name="adj" fmla="val 16667"/>
            </a:avLst>
          </a:prstGeom>
          <a:solidFill>
            <a:srgbClr val="eef4fc"/>
          </a:solidFill>
          <a:ln>
            <a:noFill/>
          </a:ln>
        </p:spPr>
        <p:style>
          <a:lnRef idx="1">
            <a:schemeClr val="accent1"/>
          </a:lnRef>
          <a:fillRef idx="3">
            <a:schemeClr val="accent1"/>
          </a:fillRef>
          <a:effectRef idx="2">
            <a:schemeClr val="accent1"/>
          </a:effectRef>
          <a:fontRef idx="minor"/>
        </p:style>
      </p:sp>
      <p:sp>
        <p:nvSpPr>
          <p:cNvPr id="1070" name="Oval 15"/>
          <p:cNvSpPr/>
          <p:nvPr/>
        </p:nvSpPr>
        <p:spPr>
          <a:xfrm>
            <a:off x="631080" y="2930760"/>
            <a:ext cx="200880" cy="200880"/>
          </a:xfrm>
          <a:prstGeom prst="ellipse">
            <a:avLst/>
          </a:prstGeom>
          <a:solidFill>
            <a:srgbClr val="1e5aa8"/>
          </a:solidFill>
          <a:ln w="5080">
            <a:solidFill>
              <a:srgbClr val="1e5aa8"/>
            </a:solidFill>
          </a:ln>
        </p:spPr>
        <p:style>
          <a:lnRef idx="1">
            <a:schemeClr val="accent1"/>
          </a:lnRef>
          <a:fillRef idx="3">
            <a:schemeClr val="accent1"/>
          </a:fillRef>
          <a:effectRef idx="2">
            <a:schemeClr val="accent1"/>
          </a:effectRef>
          <a:fontRef idx="minor"/>
        </p:style>
      </p:sp>
      <p:sp>
        <p:nvSpPr>
          <p:cNvPr id="1071" name="TextBox 16"/>
          <p:cNvSpPr/>
          <p:nvPr/>
        </p:nvSpPr>
        <p:spPr>
          <a:xfrm>
            <a:off x="631080" y="2964960"/>
            <a:ext cx="2008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30" spc="-1" strike="noStrike">
                <a:solidFill>
                  <a:srgbClr val="ffffff"/>
                </a:solidFill>
                <a:latin typeface="微软雅黑"/>
              </a:rPr>
              <a:t>1</a:t>
            </a:r>
            <a:endParaRPr b="0" lang="en-US" sz="830" spc="-1" strike="noStrike">
              <a:latin typeface="Arial"/>
            </a:endParaRPr>
          </a:p>
        </p:txBody>
      </p:sp>
      <p:sp>
        <p:nvSpPr>
          <p:cNvPr id="1072" name="TextBox 17"/>
          <p:cNvSpPr/>
          <p:nvPr/>
        </p:nvSpPr>
        <p:spPr>
          <a:xfrm>
            <a:off x="896040" y="2942640"/>
            <a:ext cx="2267280" cy="176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10" spc="-1" strike="noStrike">
                <a:solidFill>
                  <a:srgbClr val="1e5aa8"/>
                </a:solidFill>
                <a:latin typeface="微软雅黑"/>
              </a:rPr>
              <a:t>主网分区潮流</a:t>
            </a:r>
            <a:endParaRPr b="0" lang="en-US" sz="1110" spc="-1" strike="noStrike">
              <a:latin typeface="Arial"/>
            </a:endParaRPr>
          </a:p>
        </p:txBody>
      </p:sp>
      <p:sp>
        <p:nvSpPr>
          <p:cNvPr id="1074" name="Rounded Rectangle 19"/>
          <p:cNvSpPr/>
          <p:nvPr/>
        </p:nvSpPr>
        <p:spPr>
          <a:xfrm>
            <a:off x="3767400" y="2930652"/>
            <a:ext cx="3602520" cy="233172"/>
          </a:xfrm>
          <a:prstGeom prst="roundRect">
            <a:avLst>
              <a:gd name="adj" fmla="val 16667"/>
            </a:avLst>
          </a:prstGeom>
          <a:solidFill>
            <a:srgbClr val="f0f7ed"/>
          </a:solidFill>
          <a:ln>
            <a:noFill/>
          </a:ln>
        </p:spPr>
        <p:style>
          <a:lnRef idx="1">
            <a:schemeClr val="accent1"/>
          </a:lnRef>
          <a:fillRef idx="3">
            <a:schemeClr val="accent1"/>
          </a:fillRef>
          <a:effectRef idx="2">
            <a:schemeClr val="accent1"/>
          </a:effectRef>
          <a:fontRef idx="minor"/>
        </p:style>
      </p:sp>
      <p:sp>
        <p:nvSpPr>
          <p:cNvPr id="1075" name="Oval 20"/>
          <p:cNvSpPr/>
          <p:nvPr/>
        </p:nvSpPr>
        <p:spPr>
          <a:xfrm>
            <a:off x="3803760" y="2930760"/>
            <a:ext cx="200880" cy="200880"/>
          </a:xfrm>
          <a:prstGeom prst="ellipse">
            <a:avLst/>
          </a:prstGeom>
          <a:solidFill>
            <a:srgbClr val="4e8c35"/>
          </a:solidFill>
          <a:ln w="5080">
            <a:solidFill>
              <a:srgbClr val="4e8c35"/>
            </a:solidFill>
          </a:ln>
        </p:spPr>
        <p:style>
          <a:lnRef idx="1">
            <a:schemeClr val="accent1"/>
          </a:lnRef>
          <a:fillRef idx="3">
            <a:schemeClr val="accent1"/>
          </a:fillRef>
          <a:effectRef idx="2">
            <a:schemeClr val="accent1"/>
          </a:effectRef>
          <a:fontRef idx="minor"/>
        </p:style>
      </p:sp>
      <p:sp>
        <p:nvSpPr>
          <p:cNvPr id="1076" name="TextBox 21"/>
          <p:cNvSpPr/>
          <p:nvPr/>
        </p:nvSpPr>
        <p:spPr>
          <a:xfrm>
            <a:off x="3803760" y="2964960"/>
            <a:ext cx="2008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30" spc="-1" strike="noStrike">
                <a:solidFill>
                  <a:srgbClr val="ffffff"/>
                </a:solidFill>
                <a:latin typeface="微软雅黑"/>
              </a:rPr>
              <a:t>2</a:t>
            </a:r>
            <a:endParaRPr b="0" lang="en-US" sz="830" spc="-1" strike="noStrike">
              <a:latin typeface="Arial"/>
            </a:endParaRPr>
          </a:p>
        </p:txBody>
      </p:sp>
      <p:sp>
        <p:nvSpPr>
          <p:cNvPr id="1077" name="TextBox 22"/>
          <p:cNvSpPr/>
          <p:nvPr/>
        </p:nvSpPr>
        <p:spPr>
          <a:xfrm>
            <a:off x="4069080" y="2942640"/>
            <a:ext cx="3264120" cy="176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10" spc="-1" strike="noStrike">
                <a:solidFill>
                  <a:srgbClr val="4e8c35"/>
                </a:solidFill>
                <a:latin typeface="微软雅黑"/>
              </a:rPr>
              <a:t>配网分区潮流</a:t>
            </a:r>
            <a:endParaRPr b="0" lang="en-US" sz="1110" spc="-1" strike="noStrike">
              <a:latin typeface="Arial"/>
            </a:endParaRPr>
          </a:p>
        </p:txBody>
      </p:sp>
      <p:sp>
        <p:nvSpPr>
          <p:cNvPr id="1079" name="Rounded Rectangle 24"/>
          <p:cNvSpPr/>
          <p:nvPr/>
        </p:nvSpPr>
        <p:spPr>
          <a:xfrm>
            <a:off x="7936920" y="2930652"/>
            <a:ext cx="3657240" cy="233172"/>
          </a:xfrm>
          <a:prstGeom prst="roundRect">
            <a:avLst>
              <a:gd name="adj" fmla="val 16667"/>
            </a:avLst>
          </a:prstGeom>
          <a:solidFill>
            <a:srgbClr val="fef2e9"/>
          </a:solidFill>
          <a:ln>
            <a:noFill/>
          </a:ln>
        </p:spPr>
        <p:style>
          <a:lnRef idx="1">
            <a:schemeClr val="accent1"/>
          </a:lnRef>
          <a:fillRef idx="3">
            <a:schemeClr val="accent1"/>
          </a:fillRef>
          <a:effectRef idx="2">
            <a:schemeClr val="accent1"/>
          </a:effectRef>
          <a:fontRef idx="minor"/>
        </p:style>
      </p:sp>
      <p:sp>
        <p:nvSpPr>
          <p:cNvPr id="1080" name="Oval 25"/>
          <p:cNvSpPr/>
          <p:nvPr/>
        </p:nvSpPr>
        <p:spPr>
          <a:xfrm>
            <a:off x="7973640" y="2930760"/>
            <a:ext cx="200880" cy="200880"/>
          </a:xfrm>
          <a:prstGeom prst="ellipse">
            <a:avLst/>
          </a:prstGeom>
          <a:solidFill>
            <a:srgbClr val="dc6b12"/>
          </a:solidFill>
          <a:ln w="5080">
            <a:solidFill>
              <a:srgbClr val="dc6b12"/>
            </a:solidFill>
          </a:ln>
        </p:spPr>
        <p:style>
          <a:lnRef idx="1">
            <a:schemeClr val="accent1"/>
          </a:lnRef>
          <a:fillRef idx="3">
            <a:schemeClr val="accent1"/>
          </a:fillRef>
          <a:effectRef idx="2">
            <a:schemeClr val="accent1"/>
          </a:effectRef>
          <a:fontRef idx="minor"/>
        </p:style>
      </p:sp>
      <p:sp>
        <p:nvSpPr>
          <p:cNvPr id="1081" name="TextBox 26"/>
          <p:cNvSpPr/>
          <p:nvPr/>
        </p:nvSpPr>
        <p:spPr>
          <a:xfrm>
            <a:off x="7973640" y="2964960"/>
            <a:ext cx="2008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30" spc="-1" strike="noStrike">
                <a:solidFill>
                  <a:srgbClr val="ffffff"/>
                </a:solidFill>
                <a:latin typeface="微软雅黑"/>
              </a:rPr>
              <a:t>3</a:t>
            </a:r>
            <a:endParaRPr b="0" lang="en-US" sz="830" spc="-1" strike="noStrike">
              <a:latin typeface="Arial"/>
            </a:endParaRPr>
          </a:p>
        </p:txBody>
      </p:sp>
      <p:sp>
        <p:nvSpPr>
          <p:cNvPr id="1082" name="TextBox 27"/>
          <p:cNvSpPr/>
          <p:nvPr/>
        </p:nvSpPr>
        <p:spPr>
          <a:xfrm>
            <a:off x="8238600" y="2942640"/>
            <a:ext cx="3318840" cy="176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10" spc="-1" strike="noStrike">
                <a:solidFill>
                  <a:srgbClr val="dc6b12"/>
                </a:solidFill>
                <a:latin typeface="微软雅黑"/>
              </a:rPr>
              <a:t>微网局部潮流</a:t>
            </a:r>
            <a:endParaRPr b="0" lang="en-US" sz="1110" spc="-1" strike="noStrike">
              <a:latin typeface="Arial"/>
            </a:endParaRPr>
          </a:p>
        </p:txBody>
      </p:sp>
      <p:sp>
        <p:nvSpPr>
          <p:cNvPr id="1083" name="Right Arrow 28"/>
          <p:cNvSpPr/>
          <p:nvPr/>
        </p:nvSpPr>
        <p:spPr>
          <a:xfrm>
            <a:off x="3346560" y="3374280"/>
            <a:ext cx="255600" cy="182520"/>
          </a:xfrm>
          <a:prstGeom prst="rightArrow">
            <a:avLst>
              <a:gd name="adj1" fmla="val 50000"/>
              <a:gd name="adj2" fmla="val 50000"/>
            </a:avLst>
          </a:prstGeom>
          <a:solidFill>
            <a:srgbClr val="1e5aa8"/>
          </a:solidFill>
          <a:ln>
            <a:noFill/>
          </a:ln>
        </p:spPr>
        <p:style>
          <a:lnRef idx="1">
            <a:schemeClr val="accent1"/>
          </a:lnRef>
          <a:fillRef idx="3">
            <a:schemeClr val="accent1"/>
          </a:fillRef>
          <a:effectRef idx="2">
            <a:schemeClr val="accent1"/>
          </a:effectRef>
          <a:fontRef idx="minor"/>
        </p:style>
      </p:sp>
      <p:sp>
        <p:nvSpPr>
          <p:cNvPr id="1084" name="Right Arrow 29"/>
          <p:cNvSpPr/>
          <p:nvPr/>
        </p:nvSpPr>
        <p:spPr>
          <a:xfrm>
            <a:off x="7525440" y="3374280"/>
            <a:ext cx="255600" cy="182520"/>
          </a:xfrm>
          <a:prstGeom prst="rightArrow">
            <a:avLst>
              <a:gd name="adj1" fmla="val 50000"/>
              <a:gd name="adj2" fmla="val 50000"/>
            </a:avLst>
          </a:prstGeom>
          <a:solidFill>
            <a:srgbClr val="4e8c35"/>
          </a:solidFill>
          <a:ln>
            <a:noFill/>
          </a:ln>
        </p:spPr>
        <p:style>
          <a:lnRef idx="1">
            <a:schemeClr val="accent1"/>
          </a:lnRef>
          <a:fillRef idx="3">
            <a:schemeClr val="accent1"/>
          </a:fillRef>
          <a:effectRef idx="2">
            <a:schemeClr val="accent1"/>
          </a:effectRef>
          <a:fontRef idx="minor"/>
        </p:style>
      </p:sp>
      <p:sp>
        <p:nvSpPr>
          <p:cNvPr id="1085" name="TextBox 30"/>
          <p:cNvSpPr/>
          <p:nvPr/>
        </p:nvSpPr>
        <p:spPr>
          <a:xfrm>
            <a:off x="667440" y="3240360"/>
            <a:ext cx="2450160" cy="129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820" spc="-1" strike="noStrike">
                <a:solidFill>
                  <a:srgbClr val="181b1d"/>
                </a:solidFill>
                <a:latin typeface="微软雅黑"/>
              </a:rPr>
              <a:t>各主网子区并行求解并汇总共享边界状态</a:t>
            </a:r>
            <a:endParaRPr b="0" lang="en-US" sz="820" spc="-1" strike="noStrike">
              <a:latin typeface="Arial"/>
            </a:endParaRPr>
          </a:p>
        </p:txBody>
      </p:sp>
      <p:sp>
        <p:nvSpPr>
          <p:cNvPr id="1086" name="Connector 31"/>
          <p:cNvSpPr/>
          <p:nvPr/>
        </p:nvSpPr>
        <p:spPr>
          <a:xfrm flipH="1">
            <a:off x="685800" y="3492720"/>
            <a:ext cx="228600" cy="365760"/>
          </a:xfrm>
          <a:prstGeom prst="line">
            <a:avLst/>
          </a:prstGeom>
          <a:ln w="11430">
            <a:solidFill>
              <a:srgbClr val="1e5aa8"/>
            </a:solidFill>
          </a:ln>
        </p:spPr>
        <p:style>
          <a:lnRef idx="2">
            <a:schemeClr val="accent1"/>
          </a:lnRef>
          <a:fillRef idx="0">
            <a:schemeClr val="accent1"/>
          </a:fillRef>
          <a:effectRef idx="1">
            <a:schemeClr val="accent1"/>
          </a:effectRef>
          <a:fontRef idx="minor"/>
        </p:style>
      </p:sp>
      <p:sp>
        <p:nvSpPr>
          <p:cNvPr id="1087" name="Connector 32"/>
          <p:cNvSpPr/>
          <p:nvPr/>
        </p:nvSpPr>
        <p:spPr>
          <a:xfrm>
            <a:off x="914400" y="3492720"/>
            <a:ext cx="228600" cy="365760"/>
          </a:xfrm>
          <a:prstGeom prst="line">
            <a:avLst/>
          </a:prstGeom>
          <a:ln w="11430">
            <a:solidFill>
              <a:srgbClr val="1e5aa8"/>
            </a:solidFill>
          </a:ln>
        </p:spPr>
        <p:style>
          <a:lnRef idx="2">
            <a:schemeClr val="accent1"/>
          </a:lnRef>
          <a:fillRef idx="0">
            <a:schemeClr val="accent1"/>
          </a:fillRef>
          <a:effectRef idx="1">
            <a:schemeClr val="accent1"/>
          </a:effectRef>
          <a:fontRef idx="minor"/>
        </p:style>
      </p:sp>
      <p:sp>
        <p:nvSpPr>
          <p:cNvPr id="1088" name="Connector 33"/>
          <p:cNvSpPr/>
          <p:nvPr/>
        </p:nvSpPr>
        <p:spPr>
          <a:xfrm flipV="1">
            <a:off x="685800" y="3739680"/>
            <a:ext cx="228600" cy="118800"/>
          </a:xfrm>
          <a:prstGeom prst="line">
            <a:avLst/>
          </a:prstGeom>
          <a:ln w="11430">
            <a:solidFill>
              <a:srgbClr val="1e5aa8"/>
            </a:solidFill>
          </a:ln>
        </p:spPr>
        <p:style>
          <a:lnRef idx="2">
            <a:schemeClr val="accent1"/>
          </a:lnRef>
          <a:fillRef idx="0">
            <a:schemeClr val="accent1"/>
          </a:fillRef>
          <a:effectRef idx="1">
            <a:schemeClr val="accent1"/>
          </a:effectRef>
          <a:fontRef idx="minor"/>
        </p:style>
      </p:sp>
      <p:sp>
        <p:nvSpPr>
          <p:cNvPr id="1089" name="Connector 34"/>
          <p:cNvSpPr/>
          <p:nvPr/>
        </p:nvSpPr>
        <p:spPr>
          <a:xfrm flipH="1" flipV="1">
            <a:off x="914400" y="3739680"/>
            <a:ext cx="228600" cy="118800"/>
          </a:xfrm>
          <a:prstGeom prst="line">
            <a:avLst/>
          </a:prstGeom>
          <a:ln w="11430">
            <a:solidFill>
              <a:srgbClr val="1e5aa8"/>
            </a:solidFill>
          </a:ln>
        </p:spPr>
        <p:style>
          <a:lnRef idx="2">
            <a:schemeClr val="accent1"/>
          </a:lnRef>
          <a:fillRef idx="0">
            <a:schemeClr val="accent1"/>
          </a:fillRef>
          <a:effectRef idx="1">
            <a:schemeClr val="accent1"/>
          </a:effectRef>
          <a:fontRef idx="minor"/>
        </p:style>
      </p:sp>
      <p:sp>
        <p:nvSpPr>
          <p:cNvPr id="1090" name="Connector 35"/>
          <p:cNvSpPr/>
          <p:nvPr/>
        </p:nvSpPr>
        <p:spPr>
          <a:xfrm>
            <a:off x="685800" y="3858480"/>
            <a:ext cx="457200" cy="360"/>
          </a:xfrm>
          <a:prstGeom prst="line">
            <a:avLst/>
          </a:prstGeom>
          <a:ln w="11430">
            <a:solidFill>
              <a:srgbClr val="1e5aa8"/>
            </a:solidFill>
          </a:ln>
        </p:spPr>
        <p:style>
          <a:lnRef idx="2">
            <a:schemeClr val="accent1"/>
          </a:lnRef>
          <a:fillRef idx="0">
            <a:schemeClr val="accent1"/>
          </a:fillRef>
          <a:effectRef idx="1">
            <a:schemeClr val="accent1"/>
          </a:effectRef>
          <a:fontRef idx="minor"/>
        </p:style>
      </p:sp>
      <p:sp>
        <p:nvSpPr>
          <p:cNvPr id="1091" name="Oval 36"/>
          <p:cNvSpPr/>
          <p:nvPr/>
        </p:nvSpPr>
        <p:spPr>
          <a:xfrm>
            <a:off x="873360" y="3451680"/>
            <a:ext cx="82080" cy="82080"/>
          </a:xfrm>
          <a:prstGeom prst="ellipse">
            <a:avLst/>
          </a:prstGeom>
          <a:solidFill>
            <a:srgbClr val="ffffff"/>
          </a:solidFill>
          <a:ln w="10160">
            <a:solidFill>
              <a:srgbClr val="1e5aa8"/>
            </a:solidFill>
          </a:ln>
        </p:spPr>
        <p:style>
          <a:lnRef idx="1">
            <a:schemeClr val="accent1"/>
          </a:lnRef>
          <a:fillRef idx="3">
            <a:schemeClr val="accent1"/>
          </a:fillRef>
          <a:effectRef idx="2">
            <a:schemeClr val="accent1"/>
          </a:effectRef>
          <a:fontRef idx="minor"/>
        </p:style>
      </p:sp>
      <p:sp>
        <p:nvSpPr>
          <p:cNvPr id="1092" name="Oval 37"/>
          <p:cNvSpPr/>
          <p:nvPr/>
        </p:nvSpPr>
        <p:spPr>
          <a:xfrm>
            <a:off x="644760" y="3817800"/>
            <a:ext cx="82080" cy="82080"/>
          </a:xfrm>
          <a:prstGeom prst="ellipse">
            <a:avLst/>
          </a:prstGeom>
          <a:solidFill>
            <a:srgbClr val="ffffff"/>
          </a:solidFill>
          <a:ln w="10160">
            <a:solidFill>
              <a:srgbClr val="1e5aa8"/>
            </a:solidFill>
          </a:ln>
        </p:spPr>
        <p:style>
          <a:lnRef idx="1">
            <a:schemeClr val="accent1"/>
          </a:lnRef>
          <a:fillRef idx="3">
            <a:schemeClr val="accent1"/>
          </a:fillRef>
          <a:effectRef idx="2">
            <a:schemeClr val="accent1"/>
          </a:effectRef>
          <a:fontRef idx="minor"/>
        </p:style>
      </p:sp>
      <p:sp>
        <p:nvSpPr>
          <p:cNvPr id="1093" name="Oval 38"/>
          <p:cNvSpPr/>
          <p:nvPr/>
        </p:nvSpPr>
        <p:spPr>
          <a:xfrm>
            <a:off x="1101960" y="3817800"/>
            <a:ext cx="82080" cy="82080"/>
          </a:xfrm>
          <a:prstGeom prst="ellipse">
            <a:avLst/>
          </a:prstGeom>
          <a:solidFill>
            <a:srgbClr val="ffffff"/>
          </a:solidFill>
          <a:ln w="10160">
            <a:solidFill>
              <a:srgbClr val="1e5aa8"/>
            </a:solidFill>
          </a:ln>
        </p:spPr>
        <p:style>
          <a:lnRef idx="1">
            <a:schemeClr val="accent1"/>
          </a:lnRef>
          <a:fillRef idx="3">
            <a:schemeClr val="accent1"/>
          </a:fillRef>
          <a:effectRef idx="2">
            <a:schemeClr val="accent1"/>
          </a:effectRef>
          <a:fontRef idx="minor"/>
        </p:style>
      </p:sp>
      <p:sp>
        <p:nvSpPr>
          <p:cNvPr id="1094" name="Oval 39"/>
          <p:cNvSpPr/>
          <p:nvPr/>
        </p:nvSpPr>
        <p:spPr>
          <a:xfrm>
            <a:off x="873360" y="3698640"/>
            <a:ext cx="82080" cy="82080"/>
          </a:xfrm>
          <a:prstGeom prst="ellipse">
            <a:avLst/>
          </a:prstGeom>
          <a:solidFill>
            <a:srgbClr val="ffffff"/>
          </a:solidFill>
          <a:ln w="10160">
            <a:solidFill>
              <a:srgbClr val="1e5aa8"/>
            </a:solidFill>
          </a:ln>
        </p:spPr>
        <p:style>
          <a:lnRef idx="1">
            <a:schemeClr val="accent1"/>
          </a:lnRef>
          <a:fillRef idx="3">
            <a:schemeClr val="accent1"/>
          </a:fillRef>
          <a:effectRef idx="2">
            <a:schemeClr val="accent1"/>
          </a:effectRef>
          <a:fontRef idx="minor"/>
        </p:style>
      </p:sp>
      <p:pic>
        <p:nvPicPr>
          <p:cNvPr id="1095" name="Picture 40" descr="p6_t_io.png"/>
          <p:cNvPicPr/>
          <p:nvPr/>
        </p:nvPicPr>
        <p:blipFill>
          <a:blip r:embed="rId1"/>
          <a:stretch/>
        </p:blipFill>
        <p:spPr>
          <a:xfrm>
            <a:off x="1243440" y="3515760"/>
            <a:ext cx="1846800" cy="219240"/>
          </a:xfrm>
          <a:prstGeom prst="rect">
            <a:avLst/>
          </a:prstGeom>
          <a:ln w="0">
            <a:noFill/>
          </a:ln>
        </p:spPr>
      </p:pic>
      <p:sp>
        <p:nvSpPr>
          <p:cNvPr id="1096" name="TextBox 41"/>
          <p:cNvSpPr/>
          <p:nvPr/>
        </p:nvSpPr>
        <p:spPr>
          <a:xfrm>
            <a:off x="1252800" y="3817080"/>
            <a:ext cx="1819440" cy="119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50" spc="-1" strike="noStrike">
                <a:solidFill>
                  <a:srgbClr val="1e5aa8"/>
                </a:solidFill>
                <a:latin typeface="微软雅黑"/>
              </a:rPr>
              <a:t>输入交换功率，输出边界电压</a:t>
            </a:r>
            <a:endParaRPr b="0" lang="en-US" sz="750" spc="-1" strike="noStrike">
              <a:latin typeface="Arial"/>
            </a:endParaRPr>
          </a:p>
        </p:txBody>
      </p:sp>
      <p:sp>
        <p:nvSpPr>
          <p:cNvPr id="1097" name="TextBox 42"/>
          <p:cNvSpPr/>
          <p:nvPr/>
        </p:nvSpPr>
        <p:spPr>
          <a:xfrm>
            <a:off x="3858840" y="3240360"/>
            <a:ext cx="3401280" cy="129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820" spc="-1" strike="noStrike">
                <a:solidFill>
                  <a:srgbClr val="181b1d"/>
                </a:solidFill>
                <a:latin typeface="微软雅黑"/>
              </a:rPr>
              <a:t>读取边界电压与上一轮微网注入，求解各配网实例</a:t>
            </a:r>
            <a:endParaRPr b="0" lang="en-US" sz="820" spc="-1" strike="noStrike">
              <a:latin typeface="Arial"/>
            </a:endParaRPr>
          </a:p>
        </p:txBody>
      </p:sp>
      <p:sp>
        <p:nvSpPr>
          <p:cNvPr id="1098" name="Connector 43"/>
          <p:cNvSpPr/>
          <p:nvPr/>
        </p:nvSpPr>
        <p:spPr>
          <a:xfrm>
            <a:off x="4096440" y="3492720"/>
            <a:ext cx="360" cy="402480"/>
          </a:xfrm>
          <a:prstGeom prst="line">
            <a:avLst/>
          </a:prstGeom>
          <a:ln>
            <a:solidFill>
              <a:srgbClr val="4e8c35"/>
            </a:solidFill>
          </a:ln>
        </p:spPr>
        <p:style>
          <a:lnRef idx="2">
            <a:schemeClr val="accent1"/>
          </a:lnRef>
          <a:fillRef idx="0">
            <a:schemeClr val="accent1"/>
          </a:fillRef>
          <a:effectRef idx="1">
            <a:schemeClr val="accent1"/>
          </a:effectRef>
          <a:fontRef idx="minor"/>
        </p:style>
      </p:sp>
      <p:sp>
        <p:nvSpPr>
          <p:cNvPr id="1099" name="Connector 44"/>
          <p:cNvSpPr/>
          <p:nvPr/>
        </p:nvSpPr>
        <p:spPr>
          <a:xfrm>
            <a:off x="3840480" y="3602520"/>
            <a:ext cx="511920" cy="360"/>
          </a:xfrm>
          <a:prstGeom prst="line">
            <a:avLst/>
          </a:prstGeom>
          <a:ln>
            <a:solidFill>
              <a:srgbClr val="4e8c35"/>
            </a:solidFill>
          </a:ln>
        </p:spPr>
        <p:style>
          <a:lnRef idx="2">
            <a:schemeClr val="accent1"/>
          </a:lnRef>
          <a:fillRef idx="0">
            <a:schemeClr val="accent1"/>
          </a:fillRef>
          <a:effectRef idx="1">
            <a:schemeClr val="accent1"/>
          </a:effectRef>
          <a:fontRef idx="minor"/>
        </p:style>
      </p:sp>
      <p:sp>
        <p:nvSpPr>
          <p:cNvPr id="1100" name="Connector 45"/>
          <p:cNvSpPr/>
          <p:nvPr/>
        </p:nvSpPr>
        <p:spPr>
          <a:xfrm>
            <a:off x="3886200" y="3602520"/>
            <a:ext cx="360" cy="237960"/>
          </a:xfrm>
          <a:prstGeom prst="line">
            <a:avLst/>
          </a:prstGeom>
          <a:ln w="10160">
            <a:solidFill>
              <a:srgbClr val="4e8c35"/>
            </a:solidFill>
          </a:ln>
        </p:spPr>
        <p:style>
          <a:lnRef idx="2">
            <a:schemeClr val="accent1"/>
          </a:lnRef>
          <a:fillRef idx="0">
            <a:schemeClr val="accent1"/>
          </a:fillRef>
          <a:effectRef idx="1">
            <a:schemeClr val="accent1"/>
          </a:effectRef>
          <a:fontRef idx="minor"/>
        </p:style>
      </p:sp>
      <p:sp>
        <p:nvSpPr>
          <p:cNvPr id="1101" name="Rectangle 46"/>
          <p:cNvSpPr/>
          <p:nvPr/>
        </p:nvSpPr>
        <p:spPr>
          <a:xfrm>
            <a:off x="3845160" y="3831480"/>
            <a:ext cx="82080" cy="82080"/>
          </a:xfrm>
          <a:prstGeom prst="rect">
            <a:avLst/>
          </a:prstGeom>
          <a:solidFill>
            <a:srgbClr val="ffffff"/>
          </a:solidFill>
          <a:ln w="8890">
            <a:solidFill>
              <a:srgbClr val="4e8c35"/>
            </a:solidFill>
          </a:ln>
        </p:spPr>
        <p:style>
          <a:lnRef idx="1">
            <a:schemeClr val="accent1"/>
          </a:lnRef>
          <a:fillRef idx="3">
            <a:schemeClr val="accent1"/>
          </a:fillRef>
          <a:effectRef idx="2">
            <a:schemeClr val="accent1"/>
          </a:effectRef>
          <a:fontRef idx="minor"/>
        </p:style>
      </p:sp>
      <p:sp>
        <p:nvSpPr>
          <p:cNvPr id="1102" name="Connector 47"/>
          <p:cNvSpPr/>
          <p:nvPr/>
        </p:nvSpPr>
        <p:spPr>
          <a:xfrm>
            <a:off x="4096440" y="3602520"/>
            <a:ext cx="360" cy="237960"/>
          </a:xfrm>
          <a:prstGeom prst="line">
            <a:avLst/>
          </a:prstGeom>
          <a:ln w="10160">
            <a:solidFill>
              <a:srgbClr val="4e8c35"/>
            </a:solidFill>
          </a:ln>
        </p:spPr>
        <p:style>
          <a:lnRef idx="2">
            <a:schemeClr val="accent1"/>
          </a:lnRef>
          <a:fillRef idx="0">
            <a:schemeClr val="accent1"/>
          </a:fillRef>
          <a:effectRef idx="1">
            <a:schemeClr val="accent1"/>
          </a:effectRef>
          <a:fontRef idx="minor"/>
        </p:style>
      </p:sp>
      <p:sp>
        <p:nvSpPr>
          <p:cNvPr id="1103" name="Rectangle 48"/>
          <p:cNvSpPr/>
          <p:nvPr/>
        </p:nvSpPr>
        <p:spPr>
          <a:xfrm>
            <a:off x="4055400" y="3831480"/>
            <a:ext cx="82080" cy="82080"/>
          </a:xfrm>
          <a:prstGeom prst="rect">
            <a:avLst/>
          </a:prstGeom>
          <a:solidFill>
            <a:srgbClr val="ffffff"/>
          </a:solidFill>
          <a:ln w="8890">
            <a:solidFill>
              <a:srgbClr val="4e8c35"/>
            </a:solidFill>
          </a:ln>
        </p:spPr>
        <p:style>
          <a:lnRef idx="1">
            <a:schemeClr val="accent1"/>
          </a:lnRef>
          <a:fillRef idx="3">
            <a:schemeClr val="accent1"/>
          </a:fillRef>
          <a:effectRef idx="2">
            <a:schemeClr val="accent1"/>
          </a:effectRef>
          <a:fontRef idx="minor"/>
        </p:style>
      </p:sp>
      <p:sp>
        <p:nvSpPr>
          <p:cNvPr id="1104" name="Connector 49"/>
          <p:cNvSpPr/>
          <p:nvPr/>
        </p:nvSpPr>
        <p:spPr>
          <a:xfrm>
            <a:off x="4306680" y="3602520"/>
            <a:ext cx="360" cy="237960"/>
          </a:xfrm>
          <a:prstGeom prst="line">
            <a:avLst/>
          </a:prstGeom>
          <a:ln w="10160">
            <a:solidFill>
              <a:srgbClr val="4e8c35"/>
            </a:solidFill>
          </a:ln>
        </p:spPr>
        <p:style>
          <a:lnRef idx="2">
            <a:schemeClr val="accent1"/>
          </a:lnRef>
          <a:fillRef idx="0">
            <a:schemeClr val="accent1"/>
          </a:fillRef>
          <a:effectRef idx="1">
            <a:schemeClr val="accent1"/>
          </a:effectRef>
          <a:fontRef idx="minor"/>
        </p:style>
      </p:sp>
      <p:sp>
        <p:nvSpPr>
          <p:cNvPr id="1105" name="Rectangle 50"/>
          <p:cNvSpPr/>
          <p:nvPr/>
        </p:nvSpPr>
        <p:spPr>
          <a:xfrm>
            <a:off x="4265640" y="3831480"/>
            <a:ext cx="82080" cy="82080"/>
          </a:xfrm>
          <a:prstGeom prst="rect">
            <a:avLst/>
          </a:prstGeom>
          <a:solidFill>
            <a:srgbClr val="ffffff"/>
          </a:solidFill>
          <a:ln w="8890">
            <a:solidFill>
              <a:srgbClr val="4e8c35"/>
            </a:solidFill>
          </a:ln>
        </p:spPr>
        <p:style>
          <a:lnRef idx="1">
            <a:schemeClr val="accent1"/>
          </a:lnRef>
          <a:fillRef idx="3">
            <a:schemeClr val="accent1"/>
          </a:fillRef>
          <a:effectRef idx="2">
            <a:schemeClr val="accent1"/>
          </a:effectRef>
          <a:fontRef idx="minor"/>
        </p:style>
      </p:sp>
      <p:pic>
        <p:nvPicPr>
          <p:cNvPr id="1106" name="Picture 51" descr="p6_d_io.png"/>
          <p:cNvPicPr/>
          <p:nvPr/>
        </p:nvPicPr>
        <p:blipFill>
          <a:blip r:embed="rId2"/>
          <a:stretch/>
        </p:blipFill>
        <p:spPr>
          <a:xfrm>
            <a:off x="4891320" y="3493080"/>
            <a:ext cx="1929960" cy="255600"/>
          </a:xfrm>
          <a:prstGeom prst="rect">
            <a:avLst/>
          </a:prstGeom>
          <a:ln w="0">
            <a:noFill/>
          </a:ln>
        </p:spPr>
      </p:pic>
      <p:sp>
        <p:nvSpPr>
          <p:cNvPr id="1107" name="TextBox 52"/>
          <p:cNvSpPr/>
          <p:nvPr/>
        </p:nvSpPr>
        <p:spPr>
          <a:xfrm>
            <a:off x="4480560" y="3817080"/>
            <a:ext cx="2742840" cy="119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50" spc="-1" strike="noStrike">
                <a:solidFill>
                  <a:srgbClr val="4e8c35"/>
                </a:solidFill>
                <a:latin typeface="微软雅黑"/>
              </a:rPr>
              <a:t>输出主配交换功率与 </a:t>
            </a:r>
            <a:r>
              <a:rPr b="1" lang="en-US" sz="750" spc="-1" strike="noStrike">
                <a:solidFill>
                  <a:srgbClr val="4e8c35"/>
                </a:solidFill>
                <a:latin typeface="微软雅黑"/>
              </a:rPr>
              <a:t>PCC </a:t>
            </a:r>
            <a:r>
              <a:rPr b="1" lang="zh-CN" sz="750" spc="-1" strike="noStrike">
                <a:solidFill>
                  <a:srgbClr val="4e8c35"/>
                </a:solidFill>
                <a:latin typeface="微软雅黑"/>
              </a:rPr>
              <a:t>电压</a:t>
            </a:r>
            <a:endParaRPr b="0" lang="en-US" sz="750" spc="-1" strike="noStrike">
              <a:latin typeface="Arial"/>
            </a:endParaRPr>
          </a:p>
        </p:txBody>
      </p:sp>
      <p:sp>
        <p:nvSpPr>
          <p:cNvPr id="1108" name="TextBox 53"/>
          <p:cNvSpPr/>
          <p:nvPr/>
        </p:nvSpPr>
        <p:spPr>
          <a:xfrm>
            <a:off x="8028360" y="3240360"/>
            <a:ext cx="3456000" cy="1299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820" spc="-1" strike="noStrike">
                <a:solidFill>
                  <a:srgbClr val="181b1d"/>
                </a:solidFill>
                <a:latin typeface="微软雅黑"/>
              </a:rPr>
              <a:t>在给定 </a:t>
            </a:r>
            <a:r>
              <a:rPr b="0" lang="en-US" sz="820" spc="-1" strike="noStrike">
                <a:solidFill>
                  <a:srgbClr val="181b1d"/>
                </a:solidFill>
                <a:latin typeface="微软雅黑"/>
              </a:rPr>
              <a:t>PCC </a:t>
            </a:r>
            <a:r>
              <a:rPr b="0" lang="zh-CN" sz="820" spc="-1" strike="noStrike">
                <a:solidFill>
                  <a:srgbClr val="181b1d"/>
                </a:solidFill>
                <a:latin typeface="微软雅黑"/>
              </a:rPr>
              <a:t>电压下独立计算微网等值注入</a:t>
            </a:r>
            <a:endParaRPr b="0" lang="en-US" sz="820" spc="-1" strike="noStrike">
              <a:latin typeface="Arial"/>
            </a:endParaRPr>
          </a:p>
        </p:txBody>
      </p:sp>
      <p:sp>
        <p:nvSpPr>
          <p:cNvPr id="1109" name="Connector 54"/>
          <p:cNvSpPr/>
          <p:nvPr/>
        </p:nvSpPr>
        <p:spPr>
          <a:xfrm flipH="1" flipV="1">
            <a:off x="8074080" y="3529440"/>
            <a:ext cx="228600" cy="164520"/>
          </a:xfrm>
          <a:prstGeom prst="line">
            <a:avLst/>
          </a:prstGeom>
          <a:ln w="10795">
            <a:solidFill>
              <a:srgbClr val="dc6b12"/>
            </a:solidFill>
          </a:ln>
        </p:spPr>
        <p:style>
          <a:lnRef idx="2">
            <a:schemeClr val="accent1"/>
          </a:lnRef>
          <a:fillRef idx="0">
            <a:schemeClr val="accent1"/>
          </a:fillRef>
          <a:effectRef idx="1">
            <a:schemeClr val="accent1"/>
          </a:effectRef>
          <a:fontRef idx="minor"/>
        </p:style>
      </p:sp>
      <p:sp>
        <p:nvSpPr>
          <p:cNvPr id="1110" name="Connector 55"/>
          <p:cNvSpPr/>
          <p:nvPr/>
        </p:nvSpPr>
        <p:spPr>
          <a:xfrm flipV="1">
            <a:off x="8302680" y="3529440"/>
            <a:ext cx="228600" cy="164520"/>
          </a:xfrm>
          <a:prstGeom prst="line">
            <a:avLst/>
          </a:prstGeom>
          <a:ln w="10795">
            <a:solidFill>
              <a:srgbClr val="dc6b12"/>
            </a:solidFill>
          </a:ln>
        </p:spPr>
        <p:style>
          <a:lnRef idx="2">
            <a:schemeClr val="accent1"/>
          </a:lnRef>
          <a:fillRef idx="0">
            <a:schemeClr val="accent1"/>
          </a:fillRef>
          <a:effectRef idx="1">
            <a:schemeClr val="accent1"/>
          </a:effectRef>
          <a:fontRef idx="minor"/>
        </p:style>
      </p:sp>
      <p:sp>
        <p:nvSpPr>
          <p:cNvPr id="1111" name="Connector 56"/>
          <p:cNvSpPr/>
          <p:nvPr/>
        </p:nvSpPr>
        <p:spPr>
          <a:xfrm>
            <a:off x="8302680" y="3693960"/>
            <a:ext cx="360" cy="201240"/>
          </a:xfrm>
          <a:prstGeom prst="line">
            <a:avLst/>
          </a:prstGeom>
          <a:ln w="10795">
            <a:solidFill>
              <a:srgbClr val="dc6b12"/>
            </a:solidFill>
          </a:ln>
        </p:spPr>
        <p:style>
          <a:lnRef idx="2">
            <a:schemeClr val="accent1"/>
          </a:lnRef>
          <a:fillRef idx="0">
            <a:schemeClr val="accent1"/>
          </a:fillRef>
          <a:effectRef idx="1">
            <a:schemeClr val="accent1"/>
          </a:effectRef>
          <a:fontRef idx="minor"/>
        </p:style>
      </p:sp>
      <p:sp>
        <p:nvSpPr>
          <p:cNvPr id="1112" name="Oval 57"/>
          <p:cNvSpPr/>
          <p:nvPr/>
        </p:nvSpPr>
        <p:spPr>
          <a:xfrm>
            <a:off x="8252640" y="3643920"/>
            <a:ext cx="100080" cy="100080"/>
          </a:xfrm>
          <a:prstGeom prst="ellipse">
            <a:avLst/>
          </a:prstGeom>
          <a:solidFill>
            <a:srgbClr val="ffffff"/>
          </a:solidFill>
          <a:ln w="10160">
            <a:solidFill>
              <a:srgbClr val="dc6b12"/>
            </a:solidFill>
          </a:ln>
        </p:spPr>
        <p:style>
          <a:lnRef idx="1">
            <a:schemeClr val="accent1"/>
          </a:lnRef>
          <a:fillRef idx="3">
            <a:schemeClr val="accent1"/>
          </a:fillRef>
          <a:effectRef idx="2">
            <a:schemeClr val="accent1"/>
          </a:effectRef>
          <a:fontRef idx="minor"/>
        </p:style>
      </p:sp>
      <p:sp>
        <p:nvSpPr>
          <p:cNvPr id="1113" name="Oval 58"/>
          <p:cNvSpPr/>
          <p:nvPr/>
        </p:nvSpPr>
        <p:spPr>
          <a:xfrm>
            <a:off x="8010000" y="3465720"/>
            <a:ext cx="127800" cy="127800"/>
          </a:xfrm>
          <a:prstGeom prst="ellipse">
            <a:avLst/>
          </a:prstGeom>
          <a:solidFill>
            <a:srgbClr val="ffffff"/>
          </a:solidFill>
          <a:ln w="10160">
            <a:solidFill>
              <a:srgbClr val="dc6b12"/>
            </a:solidFill>
          </a:ln>
        </p:spPr>
        <p:style>
          <a:lnRef idx="1">
            <a:schemeClr val="accent1"/>
          </a:lnRef>
          <a:fillRef idx="3">
            <a:schemeClr val="accent1"/>
          </a:fillRef>
          <a:effectRef idx="2">
            <a:schemeClr val="accent1"/>
          </a:effectRef>
          <a:fontRef idx="minor"/>
        </p:style>
      </p:sp>
      <p:sp>
        <p:nvSpPr>
          <p:cNvPr id="1114" name="TextBox 59"/>
          <p:cNvSpPr/>
          <p:nvPr/>
        </p:nvSpPr>
        <p:spPr>
          <a:xfrm>
            <a:off x="8010000" y="3493800"/>
            <a:ext cx="127800" cy="71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450" spc="-1" strike="noStrike">
                <a:solidFill>
                  <a:srgbClr val="dc6b12"/>
                </a:solidFill>
                <a:latin typeface="微软雅黑"/>
              </a:rPr>
              <a:t>PV</a:t>
            </a:r>
            <a:endParaRPr b="0" lang="en-US" sz="450" spc="-1" strike="noStrike">
              <a:latin typeface="Arial"/>
            </a:endParaRPr>
          </a:p>
        </p:txBody>
      </p:sp>
      <p:sp>
        <p:nvSpPr>
          <p:cNvPr id="1115" name="Oval 60"/>
          <p:cNvSpPr/>
          <p:nvPr/>
        </p:nvSpPr>
        <p:spPr>
          <a:xfrm>
            <a:off x="8467200" y="3465720"/>
            <a:ext cx="127800" cy="127800"/>
          </a:xfrm>
          <a:prstGeom prst="ellipse">
            <a:avLst/>
          </a:prstGeom>
          <a:solidFill>
            <a:srgbClr val="ffffff"/>
          </a:solidFill>
          <a:ln w="10160">
            <a:solidFill>
              <a:srgbClr val="dc6b12"/>
            </a:solidFill>
          </a:ln>
        </p:spPr>
        <p:style>
          <a:lnRef idx="1">
            <a:schemeClr val="accent1"/>
          </a:lnRef>
          <a:fillRef idx="3">
            <a:schemeClr val="accent1"/>
          </a:fillRef>
          <a:effectRef idx="2">
            <a:schemeClr val="accent1"/>
          </a:effectRef>
          <a:fontRef idx="minor"/>
        </p:style>
      </p:sp>
      <p:sp>
        <p:nvSpPr>
          <p:cNvPr id="1116" name="TextBox 61"/>
          <p:cNvSpPr/>
          <p:nvPr/>
        </p:nvSpPr>
        <p:spPr>
          <a:xfrm>
            <a:off x="8467200" y="3493800"/>
            <a:ext cx="127800" cy="71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450" spc="-1" strike="noStrike">
                <a:solidFill>
                  <a:srgbClr val="dc6b12"/>
                </a:solidFill>
                <a:latin typeface="微软雅黑"/>
              </a:rPr>
              <a:t>ES</a:t>
            </a:r>
            <a:endParaRPr b="0" lang="en-US" sz="450" spc="-1" strike="noStrike">
              <a:latin typeface="Arial"/>
            </a:endParaRPr>
          </a:p>
        </p:txBody>
      </p:sp>
      <p:sp>
        <p:nvSpPr>
          <p:cNvPr id="1117" name="Oval 62"/>
          <p:cNvSpPr/>
          <p:nvPr/>
        </p:nvSpPr>
        <p:spPr>
          <a:xfrm>
            <a:off x="8238600" y="3831480"/>
            <a:ext cx="127800" cy="127800"/>
          </a:xfrm>
          <a:prstGeom prst="ellipse">
            <a:avLst/>
          </a:prstGeom>
          <a:solidFill>
            <a:srgbClr val="ffffff"/>
          </a:solidFill>
          <a:ln w="10160">
            <a:solidFill>
              <a:srgbClr val="dc6b12"/>
            </a:solidFill>
          </a:ln>
        </p:spPr>
        <p:style>
          <a:lnRef idx="1">
            <a:schemeClr val="accent1"/>
          </a:lnRef>
          <a:fillRef idx="3">
            <a:schemeClr val="accent1"/>
          </a:fillRef>
          <a:effectRef idx="2">
            <a:schemeClr val="accent1"/>
          </a:effectRef>
          <a:fontRef idx="minor"/>
        </p:style>
      </p:sp>
      <p:sp>
        <p:nvSpPr>
          <p:cNvPr id="1118" name="TextBox 63"/>
          <p:cNvSpPr/>
          <p:nvPr/>
        </p:nvSpPr>
        <p:spPr>
          <a:xfrm>
            <a:off x="8238600" y="3859560"/>
            <a:ext cx="127800" cy="71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450" spc="-1" strike="noStrike">
                <a:solidFill>
                  <a:srgbClr val="dc6b12"/>
                </a:solidFill>
                <a:latin typeface="微软雅黑"/>
              </a:rPr>
              <a:t>L</a:t>
            </a:r>
            <a:endParaRPr b="0" lang="en-US" sz="450" spc="-1" strike="noStrike">
              <a:latin typeface="Arial"/>
            </a:endParaRPr>
          </a:p>
        </p:txBody>
      </p:sp>
      <p:pic>
        <p:nvPicPr>
          <p:cNvPr id="1119" name="Picture 64" descr="p6_m_io.png"/>
          <p:cNvPicPr/>
          <p:nvPr/>
        </p:nvPicPr>
        <p:blipFill>
          <a:blip r:embed="rId3"/>
          <a:stretch/>
        </p:blipFill>
        <p:spPr>
          <a:xfrm>
            <a:off x="9529200" y="3502080"/>
            <a:ext cx="929880" cy="246600"/>
          </a:xfrm>
          <a:prstGeom prst="rect">
            <a:avLst/>
          </a:prstGeom>
          <a:ln w="0">
            <a:noFill/>
          </a:ln>
        </p:spPr>
      </p:pic>
      <p:sp>
        <p:nvSpPr>
          <p:cNvPr id="1120" name="TextBox 65"/>
          <p:cNvSpPr/>
          <p:nvPr/>
        </p:nvSpPr>
        <p:spPr>
          <a:xfrm>
            <a:off x="8750880" y="3817080"/>
            <a:ext cx="2495880" cy="119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50" spc="-1" strike="noStrike">
                <a:solidFill>
                  <a:srgbClr val="dc6b12"/>
                </a:solidFill>
                <a:latin typeface="微软雅黑"/>
              </a:rPr>
              <a:t>输出等值有功、无功注入</a:t>
            </a:r>
            <a:endParaRPr b="0" lang="en-US" sz="750" spc="-1" strike="noStrike">
              <a:latin typeface="Arial"/>
            </a:endParaRPr>
          </a:p>
        </p:txBody>
      </p:sp>
      <p:sp>
        <p:nvSpPr>
          <p:cNvPr id="1122" name="Rounded Rectangle 67"/>
          <p:cNvSpPr/>
          <p:nvPr/>
        </p:nvSpPr>
        <p:spPr>
          <a:xfrm>
            <a:off x="594360" y="4512492"/>
            <a:ext cx="4891680" cy="233172"/>
          </a:xfrm>
          <a:prstGeom prst="roundRect">
            <a:avLst>
              <a:gd name="adj" fmla="val 16667"/>
            </a:avLst>
          </a:prstGeom>
          <a:solidFill>
            <a:srgbClr val="eef4fc"/>
          </a:solidFill>
          <a:ln>
            <a:noFill/>
          </a:ln>
        </p:spPr>
        <p:style>
          <a:lnRef idx="1">
            <a:schemeClr val="accent1"/>
          </a:lnRef>
          <a:fillRef idx="3">
            <a:schemeClr val="accent1"/>
          </a:fillRef>
          <a:effectRef idx="2">
            <a:schemeClr val="accent1"/>
          </a:effectRef>
          <a:fontRef idx="minor"/>
        </p:style>
      </p:sp>
      <p:sp>
        <p:nvSpPr>
          <p:cNvPr id="1123" name="Oval 68"/>
          <p:cNvSpPr/>
          <p:nvPr/>
        </p:nvSpPr>
        <p:spPr>
          <a:xfrm>
            <a:off x="631080" y="4512600"/>
            <a:ext cx="200880" cy="200880"/>
          </a:xfrm>
          <a:prstGeom prst="ellipse">
            <a:avLst/>
          </a:prstGeom>
          <a:solidFill>
            <a:srgbClr val="1e5aa8"/>
          </a:solidFill>
          <a:ln w="5080">
            <a:solidFill>
              <a:srgbClr val="1e5aa8"/>
            </a:solidFill>
          </a:ln>
        </p:spPr>
        <p:style>
          <a:lnRef idx="1">
            <a:schemeClr val="accent1"/>
          </a:lnRef>
          <a:fillRef idx="3">
            <a:schemeClr val="accent1"/>
          </a:fillRef>
          <a:effectRef idx="2">
            <a:schemeClr val="accent1"/>
          </a:effectRef>
          <a:fontRef idx="minor"/>
        </p:style>
      </p:sp>
      <p:sp>
        <p:nvSpPr>
          <p:cNvPr id="1124" name="TextBox 69"/>
          <p:cNvSpPr/>
          <p:nvPr/>
        </p:nvSpPr>
        <p:spPr>
          <a:xfrm>
            <a:off x="631080" y="4546800"/>
            <a:ext cx="2008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30" spc="-1" strike="noStrike">
                <a:solidFill>
                  <a:srgbClr val="ffffff"/>
                </a:solidFill>
                <a:latin typeface="微软雅黑"/>
              </a:rPr>
              <a:t>5</a:t>
            </a:r>
            <a:endParaRPr b="0" lang="en-US" sz="830" spc="-1" strike="noStrike">
              <a:latin typeface="Arial"/>
            </a:endParaRPr>
          </a:p>
        </p:txBody>
      </p:sp>
      <p:sp>
        <p:nvSpPr>
          <p:cNvPr id="1125" name="TextBox 70"/>
          <p:cNvSpPr/>
          <p:nvPr/>
        </p:nvSpPr>
        <p:spPr>
          <a:xfrm>
            <a:off x="896040" y="4524480"/>
            <a:ext cx="4553280" cy="176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10" spc="-1" strike="noStrike">
                <a:solidFill>
                  <a:srgbClr val="1e5aa8"/>
                </a:solidFill>
                <a:latin typeface="微软雅黑"/>
              </a:rPr>
              <a:t>功率残差与电压残差判定</a:t>
            </a:r>
            <a:endParaRPr b="0" lang="en-US" sz="1110" spc="-1" strike="noStrike">
              <a:latin typeface="Arial"/>
            </a:endParaRPr>
          </a:p>
        </p:txBody>
      </p:sp>
      <p:sp>
        <p:nvSpPr>
          <p:cNvPr id="1127" name="Rounded Rectangle 72"/>
          <p:cNvSpPr/>
          <p:nvPr/>
        </p:nvSpPr>
        <p:spPr>
          <a:xfrm>
            <a:off x="6016680" y="4512492"/>
            <a:ext cx="5577480" cy="233172"/>
          </a:xfrm>
          <a:prstGeom prst="roundRect">
            <a:avLst>
              <a:gd name="adj" fmla="val 16667"/>
            </a:avLst>
          </a:prstGeom>
          <a:solidFill>
            <a:srgbClr val="ecf7f6"/>
          </a:solidFill>
          <a:ln>
            <a:noFill/>
          </a:ln>
        </p:spPr>
        <p:style>
          <a:lnRef idx="1">
            <a:schemeClr val="accent1"/>
          </a:lnRef>
          <a:fillRef idx="3">
            <a:schemeClr val="accent1"/>
          </a:fillRef>
          <a:effectRef idx="2">
            <a:schemeClr val="accent1"/>
          </a:effectRef>
          <a:fontRef idx="minor"/>
        </p:style>
      </p:sp>
      <p:sp>
        <p:nvSpPr>
          <p:cNvPr id="1128" name="Oval 73"/>
          <p:cNvSpPr/>
          <p:nvPr/>
        </p:nvSpPr>
        <p:spPr>
          <a:xfrm>
            <a:off x="6053400" y="4512600"/>
            <a:ext cx="200880" cy="200880"/>
          </a:xfrm>
          <a:prstGeom prst="ellipse">
            <a:avLst/>
          </a:prstGeom>
          <a:solidFill>
            <a:srgbClr val="007a72"/>
          </a:solidFill>
          <a:ln w="5080">
            <a:solidFill>
              <a:srgbClr val="007a72"/>
            </a:solidFill>
          </a:ln>
        </p:spPr>
        <p:style>
          <a:lnRef idx="1">
            <a:schemeClr val="accent1"/>
          </a:lnRef>
          <a:fillRef idx="3">
            <a:schemeClr val="accent1"/>
          </a:fillRef>
          <a:effectRef idx="2">
            <a:schemeClr val="accent1"/>
          </a:effectRef>
          <a:fontRef idx="minor"/>
        </p:style>
      </p:sp>
      <p:sp>
        <p:nvSpPr>
          <p:cNvPr id="1129" name="TextBox 74"/>
          <p:cNvSpPr/>
          <p:nvPr/>
        </p:nvSpPr>
        <p:spPr>
          <a:xfrm>
            <a:off x="6053400" y="4546800"/>
            <a:ext cx="200880" cy="132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30" spc="-1" strike="noStrike">
                <a:solidFill>
                  <a:srgbClr val="ffffff"/>
                </a:solidFill>
                <a:latin typeface="微软雅黑"/>
              </a:rPr>
              <a:t>4</a:t>
            </a:r>
            <a:endParaRPr b="0" lang="en-US" sz="830" spc="-1" strike="noStrike">
              <a:latin typeface="Arial"/>
            </a:endParaRPr>
          </a:p>
        </p:txBody>
      </p:sp>
      <p:sp>
        <p:nvSpPr>
          <p:cNvPr id="1130" name="TextBox 75"/>
          <p:cNvSpPr/>
          <p:nvPr/>
        </p:nvSpPr>
        <p:spPr>
          <a:xfrm>
            <a:off x="6318360" y="4524480"/>
            <a:ext cx="5239080" cy="176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10" spc="-1" strike="noStrike">
                <a:solidFill>
                  <a:srgbClr val="007a72"/>
                </a:solidFill>
                <a:latin typeface="微软雅黑"/>
              </a:rPr>
              <a:t>边界变量松弛更新</a:t>
            </a:r>
            <a:endParaRPr b="0" lang="en-US" sz="1110" spc="-1" strike="noStrike">
              <a:latin typeface="Arial"/>
            </a:endParaRPr>
          </a:p>
        </p:txBody>
      </p:sp>
      <p:sp>
        <p:nvSpPr>
          <p:cNvPr id="1131" name="Down Arrow 76"/>
          <p:cNvSpPr/>
          <p:nvPr/>
        </p:nvSpPr>
        <p:spPr>
          <a:xfrm>
            <a:off x="9655920" y="4169520"/>
            <a:ext cx="219240" cy="228240"/>
          </a:xfrm>
          <a:prstGeom prst="downArrow">
            <a:avLst>
              <a:gd name="adj1" fmla="val 50000"/>
              <a:gd name="adj2" fmla="val 50000"/>
            </a:avLst>
          </a:prstGeom>
          <a:solidFill>
            <a:srgbClr val="dc6b12"/>
          </a:solidFill>
          <a:ln>
            <a:noFill/>
          </a:ln>
        </p:spPr>
        <p:style>
          <a:lnRef idx="1">
            <a:schemeClr val="accent1"/>
          </a:lnRef>
          <a:fillRef idx="3">
            <a:schemeClr val="accent1"/>
          </a:fillRef>
          <a:effectRef idx="2">
            <a:schemeClr val="accent1"/>
          </a:effectRef>
          <a:fontRef idx="minor"/>
        </p:style>
      </p:sp>
      <p:sp>
        <p:nvSpPr>
          <p:cNvPr id="1132" name="Left Arrow 77"/>
          <p:cNvSpPr/>
          <p:nvPr/>
        </p:nvSpPr>
        <p:spPr>
          <a:xfrm>
            <a:off x="5614560" y="5047560"/>
            <a:ext cx="255600" cy="182520"/>
          </a:xfrm>
          <a:prstGeom prst="leftArrow">
            <a:avLst>
              <a:gd name="adj1" fmla="val 50000"/>
              <a:gd name="adj2" fmla="val 50000"/>
            </a:avLst>
          </a:prstGeom>
          <a:solidFill>
            <a:srgbClr val="007a72"/>
          </a:solidFill>
          <a:ln>
            <a:noFill/>
          </a:ln>
        </p:spPr>
        <p:style>
          <a:lnRef idx="1">
            <a:schemeClr val="accent1"/>
          </a:lnRef>
          <a:fillRef idx="3">
            <a:schemeClr val="accent1"/>
          </a:fillRef>
          <a:effectRef idx="2">
            <a:schemeClr val="accent1"/>
          </a:effectRef>
          <a:fontRef idx="minor"/>
        </p:style>
      </p:sp>
      <p:pic>
        <p:nvPicPr>
          <p:cNvPr id="1133" name="Picture 78" descr="p6_update_mg.png"/>
          <p:cNvPicPr/>
          <p:nvPr/>
        </p:nvPicPr>
        <p:blipFill>
          <a:blip r:embed="rId4"/>
          <a:stretch/>
        </p:blipFill>
        <p:spPr>
          <a:xfrm>
            <a:off x="7107840" y="4910400"/>
            <a:ext cx="1520640" cy="219240"/>
          </a:xfrm>
          <a:prstGeom prst="rect">
            <a:avLst/>
          </a:prstGeom>
          <a:ln w="0">
            <a:noFill/>
          </a:ln>
        </p:spPr>
      </p:pic>
      <p:pic>
        <p:nvPicPr>
          <p:cNvPr id="1134" name="Picture 79" descr="p6_update_td.png"/>
          <p:cNvPicPr/>
          <p:nvPr/>
        </p:nvPicPr>
        <p:blipFill>
          <a:blip r:embed="rId5"/>
          <a:stretch/>
        </p:blipFill>
        <p:spPr>
          <a:xfrm>
            <a:off x="7113960" y="5257800"/>
            <a:ext cx="1508400" cy="219240"/>
          </a:xfrm>
          <a:prstGeom prst="rect">
            <a:avLst/>
          </a:prstGeom>
          <a:ln w="0">
            <a:noFill/>
          </a:ln>
        </p:spPr>
      </p:pic>
      <p:sp>
        <p:nvSpPr>
          <p:cNvPr id="1135" name="Rounded Rectangle 80"/>
          <p:cNvSpPr/>
          <p:nvPr/>
        </p:nvSpPr>
        <p:spPr>
          <a:xfrm>
            <a:off x="9711000" y="4864680"/>
            <a:ext cx="1700280" cy="676440"/>
          </a:xfrm>
          <a:prstGeom prst="roundRect">
            <a:avLst>
              <a:gd name="adj" fmla="val 16667"/>
            </a:avLst>
          </a:prstGeom>
          <a:solidFill>
            <a:srgbClr val="f3f8f8"/>
          </a:solidFill>
          <a:ln w="7620">
            <a:solidFill>
              <a:srgbClr val="9bb9d8"/>
            </a:solidFill>
          </a:ln>
        </p:spPr>
        <p:style>
          <a:lnRef idx="1">
            <a:schemeClr val="accent1"/>
          </a:lnRef>
          <a:fillRef idx="3">
            <a:schemeClr val="accent1"/>
          </a:fillRef>
          <a:effectRef idx="2">
            <a:schemeClr val="accent1"/>
          </a:effectRef>
          <a:fontRef idx="minor"/>
        </p:style>
      </p:sp>
      <p:sp>
        <p:nvSpPr>
          <p:cNvPr id="1136" name="TextBox 81"/>
          <p:cNvSpPr/>
          <p:nvPr/>
        </p:nvSpPr>
        <p:spPr>
          <a:xfrm>
            <a:off x="9784080" y="4981320"/>
            <a:ext cx="1554120" cy="433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60" spc="-1" strike="noStrike">
                <a:solidFill>
                  <a:srgbClr val="005d58"/>
                </a:solidFill>
                <a:latin typeface="微软雅黑"/>
              </a:rPr>
              <a:t>α</a:t>
            </a:r>
            <a:r>
              <a:rPr b="1" lang="zh-CN" sz="860" spc="-1" strike="noStrike">
                <a:solidFill>
                  <a:srgbClr val="005d58"/>
                </a:solidFill>
                <a:latin typeface="微软雅黑"/>
              </a:rPr>
              <a:t>：微网等值注入</a:t>
            </a:r>
            <a:endParaRPr b="0" lang="en-US" sz="860" spc="-1" strike="noStrike">
              <a:latin typeface="Arial"/>
            </a:endParaRPr>
          </a:p>
          <a:p>
            <a:pPr algn="ctr">
              <a:lnSpc>
                <a:spcPct val="104000"/>
              </a:lnSpc>
              <a:spcAft>
                <a:spcPts val="99"/>
              </a:spcAft>
              <a:buNone/>
            </a:pPr>
            <a:r>
              <a:rPr b="1" lang="en-US" sz="860" spc="-1" strike="noStrike">
                <a:solidFill>
                  <a:srgbClr val="005d58"/>
                </a:solidFill>
                <a:latin typeface="微软雅黑"/>
              </a:rPr>
              <a:t>β</a:t>
            </a:r>
            <a:r>
              <a:rPr b="1" lang="zh-CN" sz="860" spc="-1" strike="noStrike">
                <a:solidFill>
                  <a:srgbClr val="005d58"/>
                </a:solidFill>
                <a:latin typeface="微软雅黑"/>
              </a:rPr>
              <a:t>：主配交换功率</a:t>
            </a:r>
            <a:endParaRPr b="0" lang="en-US" sz="860" spc="-1" strike="noStrike">
              <a:latin typeface="Arial"/>
            </a:endParaRPr>
          </a:p>
          <a:p>
            <a:pPr algn="ctr">
              <a:lnSpc>
                <a:spcPct val="104000"/>
              </a:lnSpc>
              <a:spcAft>
                <a:spcPts val="99"/>
              </a:spcAft>
              <a:buNone/>
            </a:pPr>
            <a:r>
              <a:rPr b="1" lang="en-US" sz="860" spc="-1" strike="noStrike">
                <a:solidFill>
                  <a:srgbClr val="005d58"/>
                </a:solidFill>
                <a:latin typeface="微软雅黑"/>
              </a:rPr>
              <a:t>0 &lt; α, β ≤ 1</a:t>
            </a:r>
            <a:endParaRPr b="0" lang="en-US" sz="860" spc="-1" strike="noStrike">
              <a:latin typeface="Arial"/>
            </a:endParaRPr>
          </a:p>
        </p:txBody>
      </p:sp>
      <p:sp>
        <p:nvSpPr>
          <p:cNvPr id="1137" name="TextBox 82"/>
          <p:cNvSpPr/>
          <p:nvPr/>
        </p:nvSpPr>
        <p:spPr>
          <a:xfrm>
            <a:off x="6272640" y="5624280"/>
            <a:ext cx="4983120" cy="125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90" spc="-1" strike="noStrike">
                <a:solidFill>
                  <a:srgbClr val="005d58"/>
                </a:solidFill>
                <a:latin typeface="微软雅黑"/>
              </a:rPr>
              <a:t>松弛更新抑制相邻轮次边界变量振荡</a:t>
            </a:r>
            <a:endParaRPr b="0" lang="en-US" sz="790" spc="-1" strike="noStrike">
              <a:latin typeface="Arial"/>
            </a:endParaRPr>
          </a:p>
        </p:txBody>
      </p:sp>
      <p:pic>
        <p:nvPicPr>
          <p:cNvPr id="1138" name="Picture 83" descr="p6_residual_s.png"/>
          <p:cNvPicPr/>
          <p:nvPr/>
        </p:nvPicPr>
        <p:blipFill>
          <a:blip r:embed="rId6"/>
          <a:stretch/>
        </p:blipFill>
        <p:spPr>
          <a:xfrm>
            <a:off x="1432440" y="4901040"/>
            <a:ext cx="1194840" cy="209880"/>
          </a:xfrm>
          <a:prstGeom prst="rect">
            <a:avLst/>
          </a:prstGeom>
          <a:ln w="0">
            <a:noFill/>
          </a:ln>
        </p:spPr>
      </p:pic>
      <p:pic>
        <p:nvPicPr>
          <p:cNvPr id="1139" name="Picture 84" descr="p6_residual_v.png"/>
          <p:cNvPicPr/>
          <p:nvPr/>
        </p:nvPicPr>
        <p:blipFill>
          <a:blip r:embed="rId7"/>
          <a:stretch/>
        </p:blipFill>
        <p:spPr>
          <a:xfrm>
            <a:off x="1336680" y="5221080"/>
            <a:ext cx="1386360" cy="209880"/>
          </a:xfrm>
          <a:prstGeom prst="rect">
            <a:avLst/>
          </a:prstGeom>
          <a:ln w="0">
            <a:noFill/>
          </a:ln>
        </p:spPr>
      </p:pic>
      <p:sp>
        <p:nvSpPr>
          <p:cNvPr id="1140" name="Connector 85"/>
          <p:cNvSpPr/>
          <p:nvPr/>
        </p:nvSpPr>
        <p:spPr>
          <a:xfrm>
            <a:off x="3401280" y="4846320"/>
            <a:ext cx="360" cy="822960"/>
          </a:xfrm>
          <a:prstGeom prst="line">
            <a:avLst/>
          </a:prstGeom>
          <a:ln w="7620">
            <a:solidFill>
              <a:srgbClr val="9bb9d8"/>
            </a:solidFill>
          </a:ln>
        </p:spPr>
        <p:style>
          <a:lnRef idx="2">
            <a:schemeClr val="accent1"/>
          </a:lnRef>
          <a:fillRef idx="0">
            <a:schemeClr val="accent1"/>
          </a:fillRef>
          <a:effectRef idx="1">
            <a:schemeClr val="accent1"/>
          </a:effectRef>
          <a:fontRef idx="minor"/>
        </p:style>
      </p:sp>
      <p:pic>
        <p:nvPicPr>
          <p:cNvPr id="1141" name="Picture 86" descr="p6_criterion.png"/>
          <p:cNvPicPr/>
          <p:nvPr/>
        </p:nvPicPr>
        <p:blipFill>
          <a:blip r:embed="rId8"/>
          <a:stretch/>
        </p:blipFill>
        <p:spPr>
          <a:xfrm>
            <a:off x="3746880" y="4937760"/>
            <a:ext cx="1338840" cy="209880"/>
          </a:xfrm>
          <a:prstGeom prst="rect">
            <a:avLst/>
          </a:prstGeom>
          <a:ln w="0">
            <a:noFill/>
          </a:ln>
        </p:spPr>
      </p:pic>
      <p:sp>
        <p:nvSpPr>
          <p:cNvPr id="1142" name="Rounded Rectangle 87"/>
          <p:cNvSpPr/>
          <p:nvPr/>
        </p:nvSpPr>
        <p:spPr>
          <a:xfrm>
            <a:off x="3602880" y="5257800"/>
            <a:ext cx="749520" cy="246600"/>
          </a:xfrm>
          <a:prstGeom prst="roundRect">
            <a:avLst>
              <a:gd name="adj" fmla="val 16667"/>
            </a:avLst>
          </a:prstGeom>
          <a:solidFill>
            <a:srgbClr val="f2f8ef"/>
          </a:solidFill>
          <a:ln>
            <a:solidFill>
              <a:srgbClr val="4e8c35"/>
            </a:solidFill>
          </a:ln>
        </p:spPr>
        <p:style>
          <a:lnRef idx="1">
            <a:schemeClr val="accent1"/>
          </a:lnRef>
          <a:fillRef idx="3">
            <a:schemeClr val="accent1"/>
          </a:fillRef>
          <a:effectRef idx="2">
            <a:schemeClr val="accent1"/>
          </a:effectRef>
          <a:fontRef idx="minor"/>
        </p:style>
      </p:sp>
      <p:sp>
        <p:nvSpPr>
          <p:cNvPr id="1143" name="TextBox 88"/>
          <p:cNvSpPr/>
          <p:nvPr/>
        </p:nvSpPr>
        <p:spPr>
          <a:xfrm>
            <a:off x="3620880" y="5316120"/>
            <a:ext cx="712800" cy="1206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60" spc="-1" strike="noStrike">
                <a:solidFill>
                  <a:srgbClr val="4e8c35"/>
                </a:solidFill>
                <a:latin typeface="微软雅黑"/>
              </a:rPr>
              <a:t>满足：输出</a:t>
            </a:r>
            <a:endParaRPr b="0" lang="en-US" sz="760" spc="-1" strike="noStrike">
              <a:latin typeface="Arial"/>
            </a:endParaRPr>
          </a:p>
        </p:txBody>
      </p:sp>
      <p:sp>
        <p:nvSpPr>
          <p:cNvPr id="1144" name="Rounded Rectangle 89"/>
          <p:cNvSpPr/>
          <p:nvPr/>
        </p:nvSpPr>
        <p:spPr>
          <a:xfrm>
            <a:off x="4416480" y="5257800"/>
            <a:ext cx="785880" cy="246600"/>
          </a:xfrm>
          <a:prstGeom prst="roundRect">
            <a:avLst>
              <a:gd name="adj" fmla="val 16667"/>
            </a:avLst>
          </a:prstGeom>
          <a:solidFill>
            <a:srgbClr val="fdf1f1"/>
          </a:solidFill>
          <a:ln>
            <a:solidFill>
              <a:srgbClr val="c72b2b"/>
            </a:solidFill>
          </a:ln>
        </p:spPr>
        <p:style>
          <a:lnRef idx="1">
            <a:schemeClr val="accent1"/>
          </a:lnRef>
          <a:fillRef idx="3">
            <a:schemeClr val="accent1"/>
          </a:fillRef>
          <a:effectRef idx="2">
            <a:schemeClr val="accent1"/>
          </a:effectRef>
          <a:fontRef idx="minor"/>
        </p:style>
      </p:sp>
      <p:sp>
        <p:nvSpPr>
          <p:cNvPr id="1145" name="TextBox 90"/>
          <p:cNvSpPr/>
          <p:nvPr/>
        </p:nvSpPr>
        <p:spPr>
          <a:xfrm>
            <a:off x="4434840" y="5318640"/>
            <a:ext cx="749520" cy="115200"/>
          </a:xfrm>
          <a:prstGeom prst="rect">
            <a:avLst/>
          </a:prstGeom>
          <a:noFill/>
          <a:ln w="0">
            <a:noFill/>
          </a:ln>
        </p:spPr>
        <p:style>
          <a:lnRef idx="0"/>
          <a:fillRef idx="0"/>
          <a:effectRef idx="0"/>
          <a:fontRef idx="minor"/>
        </p:style>
        <p:txBody>
          <a:bodyPr lIns="25560" rIns="25560" tIns="0" bIns="0" anchor="ctr">
            <a:spAutoFit/>
          </a:bodyPr>
          <a:p>
            <a:pPr algn="ctr">
              <a:lnSpc>
                <a:spcPct val="100000"/>
              </a:lnSpc>
              <a:buNone/>
            </a:pPr>
            <a:r>
              <a:rPr b="1" lang="zh-CN" sz="750" spc="-1" strike="noStrike">
                <a:solidFill>
                  <a:srgbClr val="d92d2d"/>
                </a:solidFill>
                <a:latin typeface="微软雅黑"/>
                <a:ea typeface="微软雅黑"/>
              </a:rPr>
              <a:t>否则：返回 </a:t>
            </a:r>
            <a:r>
              <a:rPr b="1" lang="en-US" sz="750" spc="-1" strike="noStrike">
                <a:solidFill>
                  <a:srgbClr val="d92d2d"/>
                </a:solidFill>
                <a:latin typeface="微软雅黑"/>
                <a:ea typeface="微软雅黑"/>
              </a:rPr>
              <a:t>1</a:t>
            </a:r>
            <a:endParaRPr b="0" lang="en-US" sz="750" spc="-1" strike="noStrike">
              <a:latin typeface="Arial"/>
            </a:endParaRPr>
          </a:p>
        </p:txBody>
      </p:sp>
      <p:sp>
        <p:nvSpPr>
          <p:cNvPr id="1146" name="TextBox 91"/>
          <p:cNvSpPr/>
          <p:nvPr/>
        </p:nvSpPr>
        <p:spPr>
          <a:xfrm>
            <a:off x="749880" y="5622840"/>
            <a:ext cx="2559960" cy="119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50" spc="-1" strike="noStrike">
                <a:solidFill>
                  <a:srgbClr val="1e5aa8"/>
                </a:solidFill>
                <a:latin typeface="微软雅黑"/>
              </a:rPr>
              <a:t>联合判据同时约束功率映射与电压变化</a:t>
            </a:r>
            <a:endParaRPr b="0" lang="en-US" sz="750" spc="-1" strike="noStrike">
              <a:latin typeface="Arial"/>
            </a:endParaRPr>
          </a:p>
        </p:txBody>
      </p:sp>
      <p:sp>
        <p:nvSpPr>
          <p:cNvPr id="1147" name="TextBox 96"/>
          <p:cNvSpPr/>
          <p:nvPr/>
        </p:nvSpPr>
        <p:spPr>
          <a:xfrm>
            <a:off x="914400" y="6099480"/>
            <a:ext cx="6583320" cy="1447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910" spc="-1" strike="noStrike">
                <a:solidFill>
                  <a:srgbClr val="c72b2b"/>
                </a:solidFill>
                <a:latin typeface="微软雅黑"/>
              </a:rPr>
              <a:t>未满足阈值：使用更新后的主配交换功率与微网等值注入进入下一轮协调</a:t>
            </a:r>
            <a:endParaRPr b="0" lang="en-US" sz="910" spc="-1" strike="noStrike">
              <a:latin typeface="Arial"/>
            </a:endParaRPr>
          </a:p>
        </p:txBody>
      </p:sp>
      <p:sp>
        <p:nvSpPr>
          <p:cNvPr id="1148" name="Rounded Rectangle 97"/>
          <p:cNvSpPr/>
          <p:nvPr/>
        </p:nvSpPr>
        <p:spPr>
          <a:xfrm>
            <a:off x="7973640" y="6016680"/>
            <a:ext cx="3456000" cy="383760"/>
          </a:xfrm>
          <a:prstGeom prst="roundRect">
            <a:avLst>
              <a:gd name="adj" fmla="val 16667"/>
            </a:avLst>
          </a:prstGeom>
          <a:solidFill>
            <a:srgbClr val="f2f8ef"/>
          </a:solidFill>
          <a:ln w="7620">
            <a:solidFill>
              <a:srgbClr val="4e8c35"/>
            </a:solidFill>
          </a:ln>
        </p:spPr>
        <p:style>
          <a:lnRef idx="1">
            <a:schemeClr val="accent1"/>
          </a:lnRef>
          <a:fillRef idx="3">
            <a:schemeClr val="accent1"/>
          </a:fillRef>
          <a:effectRef idx="2">
            <a:schemeClr val="accent1"/>
          </a:effectRef>
          <a:fontRef idx="minor"/>
        </p:style>
      </p:sp>
      <p:sp>
        <p:nvSpPr>
          <p:cNvPr id="1149" name="TextBox 98"/>
          <p:cNvSpPr/>
          <p:nvPr/>
        </p:nvSpPr>
        <p:spPr>
          <a:xfrm>
            <a:off x="8083440" y="6128640"/>
            <a:ext cx="3236760" cy="1414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89" spc="-1" strike="noStrike">
                <a:solidFill>
                  <a:srgbClr val="4e8c35"/>
                </a:solidFill>
                <a:latin typeface="微软雅黑"/>
              </a:rPr>
              <a:t>收敛后汇总主网、配网和微网状态量</a:t>
            </a:r>
            <a:endParaRPr b="0" lang="en-US" sz="889" spc="-1" strike="noStrike">
              <a:latin typeface="Arial"/>
            </a:endParaRPr>
          </a:p>
        </p:txBody>
      </p:sp>
      <p:sp>
        <p:nvSpPr>
          <p:cNvPr id="1150" name="Connector 131"/>
          <p:cNvSpPr/>
          <p:nvPr/>
        </p:nvSpPr>
        <p:spPr>
          <a:xfrm>
            <a:off x="274320" y="3492720"/>
            <a:ext cx="360" cy="2715840"/>
          </a:xfrm>
          <a:prstGeom prst="line">
            <a:avLst/>
          </a:prstGeom>
          <a:ln w="17145">
            <a:solidFill>
              <a:srgbClr val="d92d2d"/>
            </a:solidFill>
          </a:ln>
        </p:spPr>
        <p:style>
          <a:lnRef idx="2">
            <a:schemeClr val="accent1"/>
          </a:lnRef>
          <a:fillRef idx="0">
            <a:schemeClr val="accent1"/>
          </a:fillRef>
          <a:effectRef idx="1">
            <a:schemeClr val="accent1"/>
          </a:effectRef>
          <a:fontRef idx="minor"/>
        </p:style>
      </p:sp>
      <p:sp>
        <p:nvSpPr>
          <p:cNvPr id="1151" name="Connector 132"/>
          <p:cNvSpPr/>
          <p:nvPr/>
        </p:nvSpPr>
        <p:spPr>
          <a:xfrm>
            <a:off x="274320" y="6208560"/>
            <a:ext cx="438840" cy="360"/>
          </a:xfrm>
          <a:prstGeom prst="line">
            <a:avLst/>
          </a:prstGeom>
          <a:ln w="17145">
            <a:solidFill>
              <a:srgbClr val="d92d2d"/>
            </a:solidFill>
          </a:ln>
        </p:spPr>
        <p:style>
          <a:lnRef idx="2">
            <a:schemeClr val="accent1"/>
          </a:lnRef>
          <a:fillRef idx="0">
            <a:schemeClr val="accent1"/>
          </a:fillRef>
          <a:effectRef idx="1">
            <a:schemeClr val="accent1"/>
          </a:effectRef>
          <a:fontRef idx="minor"/>
        </p:style>
      </p:sp>
      <p:sp>
        <p:nvSpPr>
          <p:cNvPr id="1152" name="Connector 133"/>
          <p:cNvSpPr/>
          <p:nvPr/>
        </p:nvSpPr>
        <p:spPr>
          <a:xfrm flipV="1">
            <a:off x="713160" y="5879520"/>
            <a:ext cx="360" cy="329040"/>
          </a:xfrm>
          <a:prstGeom prst="line">
            <a:avLst/>
          </a:prstGeom>
          <a:ln w="17145">
            <a:solidFill>
              <a:srgbClr val="d92d2d"/>
            </a:solidFill>
          </a:ln>
        </p:spPr>
        <p:style>
          <a:lnRef idx="2">
            <a:schemeClr val="accent1"/>
          </a:lnRef>
          <a:fillRef idx="0">
            <a:schemeClr val="accent1"/>
          </a:fillRef>
          <a:effectRef idx="1">
            <a:schemeClr val="accent1"/>
          </a:effectRef>
          <a:fontRef idx="minor"/>
        </p:style>
      </p:sp>
      <p:sp>
        <p:nvSpPr>
          <p:cNvPr id="1153" name="Right Arrow 134"/>
          <p:cNvSpPr/>
          <p:nvPr/>
        </p:nvSpPr>
        <p:spPr>
          <a:xfrm>
            <a:off x="265320" y="3392280"/>
            <a:ext cx="264960" cy="200880"/>
          </a:xfrm>
          <a:prstGeom prst="rightArrow">
            <a:avLst>
              <a:gd name="adj1" fmla="val 50000"/>
              <a:gd name="adj2" fmla="val 50000"/>
            </a:avLst>
          </a:prstGeom>
          <a:solidFill>
            <a:srgbClr val="d92d2d"/>
          </a:solidFill>
          <a:ln>
            <a:noFill/>
          </a:ln>
        </p:spPr>
        <p:style>
          <a:lnRef idx="1">
            <a:schemeClr val="accent1"/>
          </a:lnRef>
          <a:fillRef idx="3">
            <a:schemeClr val="accent1"/>
          </a:fillRef>
          <a:effectRef idx="2">
            <a:schemeClr val="accent1"/>
          </a:effectRef>
          <a:fontRef idx="minor"/>
        </p:style>
      </p:sp>
      <p:sp>
        <p:nvSpPr>
          <p:cNvPr id="1068" name="Rounded Rectangle 13"/>
          <p:cNvSpPr/>
          <p:nvPr/>
        </p:nvSpPr>
        <p:spPr>
          <a:xfrm>
            <a:off x="502920" y="2880360"/>
            <a:ext cx="2788560" cy="1234080"/>
          </a:xfrm>
          <a:prstGeom prst="roundRect">
            <a:avLst>
              <a:gd name="adj" fmla="val 16667"/>
            </a:avLst>
          </a:prstGeom>
          <a:noFill/>
          <a:ln w="18415">
            <a:solidFill>
              <a:srgbClr val="1F66B1"/>
            </a:solidFill>
          </a:ln>
        </p:spPr>
        <p:style>
          <a:lnRef idx="1">
            <a:schemeClr val="accent1"/>
          </a:lnRef>
          <a:fillRef idx="3">
            <a:schemeClr val="accent1"/>
          </a:fillRef>
          <a:effectRef idx="2">
            <a:schemeClr val="accent1"/>
          </a:effectRef>
          <a:fontRef idx="minor"/>
        </p:style>
      </p:sp>
      <p:sp>
        <p:nvSpPr>
          <p:cNvPr id="1073" name="Rounded Rectangle 18"/>
          <p:cNvSpPr/>
          <p:nvPr/>
        </p:nvSpPr>
        <p:spPr>
          <a:xfrm>
            <a:off x="3675960" y="2880360"/>
            <a:ext cx="3785400" cy="1234080"/>
          </a:xfrm>
          <a:prstGeom prst="roundRect">
            <a:avLst>
              <a:gd name="adj" fmla="val 16667"/>
            </a:avLst>
          </a:prstGeom>
          <a:noFill/>
          <a:ln w="18415">
            <a:solidFill>
              <a:srgbClr val="4F9135"/>
            </a:solidFill>
          </a:ln>
        </p:spPr>
        <p:style>
          <a:lnRef idx="1">
            <a:schemeClr val="accent1"/>
          </a:lnRef>
          <a:fillRef idx="3">
            <a:schemeClr val="accent1"/>
          </a:fillRef>
          <a:effectRef idx="2">
            <a:schemeClr val="accent1"/>
          </a:effectRef>
          <a:fontRef idx="minor"/>
        </p:style>
      </p:sp>
      <p:sp>
        <p:nvSpPr>
          <p:cNvPr id="1078" name="Rounded Rectangle 23"/>
          <p:cNvSpPr/>
          <p:nvPr/>
        </p:nvSpPr>
        <p:spPr>
          <a:xfrm>
            <a:off x="7845480" y="2880360"/>
            <a:ext cx="3840120" cy="1234080"/>
          </a:xfrm>
          <a:prstGeom prst="roundRect">
            <a:avLst>
              <a:gd name="adj" fmla="val 16667"/>
            </a:avLst>
          </a:prstGeom>
          <a:noFill/>
          <a:ln w="18415">
            <a:solidFill>
              <a:srgbClr val="E9700A"/>
            </a:solidFill>
          </a:ln>
        </p:spPr>
        <p:style>
          <a:lnRef idx="1">
            <a:schemeClr val="accent1"/>
          </a:lnRef>
          <a:fillRef idx="3">
            <a:schemeClr val="accent1"/>
          </a:fillRef>
          <a:effectRef idx="2">
            <a:schemeClr val="accent1"/>
          </a:effectRef>
          <a:fontRef idx="minor"/>
        </p:style>
      </p:sp>
      <p:sp>
        <p:nvSpPr>
          <p:cNvPr id="1121" name="Rounded Rectangle 66"/>
          <p:cNvSpPr/>
          <p:nvPr/>
        </p:nvSpPr>
        <p:spPr>
          <a:xfrm>
            <a:off x="502920" y="4462200"/>
            <a:ext cx="5074560" cy="1416960"/>
          </a:xfrm>
          <a:prstGeom prst="roundRect">
            <a:avLst>
              <a:gd name="adj" fmla="val 16667"/>
            </a:avLst>
          </a:prstGeom>
          <a:noFill/>
          <a:ln w="18415">
            <a:solidFill>
              <a:srgbClr val="1F66B1"/>
            </a:solidFill>
          </a:ln>
        </p:spPr>
        <p:style>
          <a:lnRef idx="1">
            <a:schemeClr val="accent1"/>
          </a:lnRef>
          <a:fillRef idx="3">
            <a:schemeClr val="accent1"/>
          </a:fillRef>
          <a:effectRef idx="2">
            <a:schemeClr val="accent1"/>
          </a:effectRef>
          <a:fontRef idx="minor"/>
        </p:style>
      </p:sp>
      <p:sp>
        <p:nvSpPr>
          <p:cNvPr id="1126" name="Rounded Rectangle 71"/>
          <p:cNvSpPr/>
          <p:nvPr/>
        </p:nvSpPr>
        <p:spPr>
          <a:xfrm>
            <a:off x="5925240" y="4462200"/>
            <a:ext cx="5760360" cy="1416960"/>
          </a:xfrm>
          <a:prstGeom prst="roundRect">
            <a:avLst>
              <a:gd name="adj" fmla="val 16667"/>
            </a:avLst>
          </a:prstGeom>
          <a:noFill/>
          <a:ln w="18415">
            <a:solidFill>
              <a:srgbClr val="007873"/>
            </a:solidFill>
          </a:ln>
        </p:spPr>
        <p:style>
          <a:lnRef idx="1">
            <a:schemeClr val="accent1"/>
          </a:lnRef>
          <a:fillRef idx="3">
            <a:schemeClr val="accent1"/>
          </a:fillRef>
          <a:effectRef idx="2">
            <a:schemeClr val="accent1"/>
          </a:effectRef>
          <a:fontRef idx="minor"/>
        </p:style>
      </p:sp>
    </p:spTree>
  </p:cSld>
  <mc:AlternateContent>
    <mc:Choice Requires="p14">
      <p:transition spd="slow" advTm="12000" p14:dur="2000"/>
    </mc:Choice>
    <mc:Fallback>
      <p:transition spd="slow" advTm="12000"/>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4"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1155"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1156"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grpSp>
        <p:nvGrpSpPr>
          <p:cNvPr id="1157" name="组合 7"/>
          <p:cNvGrpSpPr/>
          <p:nvPr/>
        </p:nvGrpSpPr>
        <p:grpSpPr>
          <a:xfrm>
            <a:off x="325800" y="1364040"/>
            <a:ext cx="11379600" cy="1186920"/>
            <a:chOff x="325800" y="1364040"/>
            <a:chExt cx="11379600" cy="1186920"/>
          </a:xfrm>
        </p:grpSpPr>
        <p:sp>
          <p:nvSpPr>
            <p:cNvPr id="1158" name="任意多边形: 形状 128"/>
            <p:cNvSpPr/>
            <p:nvPr/>
          </p:nvSpPr>
          <p:spPr>
            <a:xfrm>
              <a:off x="325800" y="1463400"/>
              <a:ext cx="906120" cy="1049760"/>
            </a:xfrm>
            <a:custGeom>
              <a:avLst/>
              <a:gdLst/>
              <a:ahLst/>
              <a:rect l="l" t="t" r="r" b="b"/>
              <a:pathLst>
                <a:path w="906993" h="884766">
                  <a:moveTo>
                    <a:pt x="0" y="0"/>
                  </a:moveTo>
                  <a:lnTo>
                    <a:pt x="830106" y="0"/>
                  </a:lnTo>
                  <a:lnTo>
                    <a:pt x="830106" y="390642"/>
                  </a:lnTo>
                  <a:lnTo>
                    <a:pt x="906993" y="442382"/>
                  </a:lnTo>
                  <a:lnTo>
                    <a:pt x="830106" y="494122"/>
                  </a:lnTo>
                  <a:lnTo>
                    <a:pt x="830106" y="884766"/>
                  </a:lnTo>
                  <a:lnTo>
                    <a:pt x="0" y="884766"/>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1159" name="文本框 129"/>
            <p:cNvSpPr/>
            <p:nvPr/>
          </p:nvSpPr>
          <p:spPr>
            <a:xfrm>
              <a:off x="383040" y="1632960"/>
              <a:ext cx="728280" cy="70380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技术创新</a:t>
              </a:r>
              <a:endParaRPr b="0" lang="en-US" sz="1979" spc="-1" strike="noStrike">
                <a:latin typeface="Arial"/>
              </a:endParaRPr>
            </a:p>
          </p:txBody>
        </p:sp>
        <p:sp>
          <p:nvSpPr>
            <p:cNvPr id="1160" name="文本框 55"/>
            <p:cNvSpPr/>
            <p:nvPr/>
          </p:nvSpPr>
          <p:spPr>
            <a:xfrm>
              <a:off x="1232280" y="1364040"/>
              <a:ext cx="10473120" cy="1186920"/>
            </a:xfrm>
            <a:prstGeom prst="rect">
              <a:avLst/>
            </a:prstGeom>
            <a:noFill/>
            <a:ln w="9525">
              <a:noFill/>
            </a:ln>
          </p:spPr>
          <p:style>
            <a:lnRef idx="0"/>
            <a:fillRef idx="0"/>
            <a:effectRef idx="0"/>
            <a:fontRef idx="minor"/>
          </p:style>
          <p:txBody>
            <a:bodyPr lIns="90000" rIns="90000" tIns="45000" bIns="45000" anchor="t">
              <a:spAutoFit/>
            </a:bodyPr>
            <a:p>
              <a:pPr algn="just">
                <a:lnSpc>
                  <a:spcPct val="120000"/>
                </a:lnSpc>
                <a:spcBef>
                  <a:spcPts val="601"/>
                </a:spcBef>
                <a:buNone/>
                <a:tabLst>
                  <a:tab algn="l" pos="0"/>
                </a:tabLst>
              </a:pPr>
              <a:r>
                <a:rPr b="0" lang="zh-CN" sz="2000" spc="-1" strike="noStrike">
                  <a:solidFill>
                    <a:srgbClr val="000000"/>
                  </a:solidFill>
                  <a:latin typeface="微软雅黑"/>
                  <a:ea typeface="微软雅黑"/>
                </a:rPr>
                <a:t>将主网子区、配网实例和微网实例分别封装为独立潮流任务，按任务数量与可用计算资源配置工作进程。同层任务并行求解，层间按照边界变量依赖关系顺序协调，并在每层末端同步汇总计算结果。</a:t>
              </a:r>
              <a:endParaRPr b="0" lang="en-US" sz="2000" spc="-1" strike="noStrike">
                <a:latin typeface="Arial"/>
              </a:endParaRPr>
            </a:p>
          </p:txBody>
        </p:sp>
      </p:grpSp>
      <p:sp>
        <p:nvSpPr>
          <p:cNvPr id="1161" name="文本框 30"/>
          <p:cNvSpPr/>
          <p:nvPr/>
        </p:nvSpPr>
        <p:spPr>
          <a:xfrm>
            <a:off x="257760" y="786240"/>
            <a:ext cx="9894960" cy="42948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nSpc>
                <a:spcPct val="100000"/>
              </a:lnSpc>
              <a:buNone/>
            </a:pPr>
            <a:r>
              <a:rPr b="1" lang="zh-CN" sz="2200" spc="-1" strike="noStrike">
                <a:solidFill>
                  <a:srgbClr val="ffffff"/>
                </a:solidFill>
                <a:latin typeface="微软雅黑"/>
                <a:ea typeface="微软雅黑"/>
              </a:rPr>
              <a:t>研究进展</a:t>
            </a:r>
            <a:r>
              <a:rPr b="1" lang="en-US" sz="2200" spc="-1" strike="noStrike">
                <a:solidFill>
                  <a:srgbClr val="ffffff"/>
                </a:solidFill>
                <a:latin typeface="微软雅黑"/>
                <a:ea typeface="微软雅黑"/>
              </a:rPr>
              <a:t>2.4.1</a:t>
            </a:r>
            <a:r>
              <a:rPr b="1" lang="zh-CN" sz="2200" spc="-1" strike="noStrike">
                <a:solidFill>
                  <a:srgbClr val="ffffff"/>
                </a:solidFill>
                <a:latin typeface="微软雅黑"/>
                <a:ea typeface="微软雅黑"/>
              </a:rPr>
              <a:t>：主配微分层并行潮流求解方法</a:t>
            </a:r>
            <a:endParaRPr b="0" lang="en-US" sz="2200" spc="-1" strike="noStrike">
              <a:latin typeface="Arial"/>
            </a:endParaRPr>
          </a:p>
        </p:txBody>
      </p:sp>
      <p:sp>
        <p:nvSpPr>
          <p:cNvPr id="1162" name="Rounded Rectangle 13"/>
          <p:cNvSpPr/>
          <p:nvPr/>
        </p:nvSpPr>
        <p:spPr>
          <a:xfrm>
            <a:off x="459360" y="2658960"/>
            <a:ext cx="8009640" cy="1023840"/>
          </a:xfrm>
          <a:prstGeom prst="roundRect">
            <a:avLst>
              <a:gd name="adj" fmla="val 16667"/>
            </a:avLst>
          </a:prstGeom>
          <a:solidFill>
            <a:srgbClr val="f1f6fc"/>
          </a:solidFill>
          <a:ln w="10795">
            <a:solidFill>
              <a:srgbClr val="1e5aa8"/>
            </a:solidFill>
          </a:ln>
        </p:spPr>
        <p:style>
          <a:lnRef idx="1">
            <a:schemeClr val="accent1"/>
          </a:lnRef>
          <a:fillRef idx="3">
            <a:schemeClr val="accent1"/>
          </a:fillRef>
          <a:effectRef idx="2">
            <a:schemeClr val="accent1"/>
          </a:effectRef>
          <a:fontRef idx="minor"/>
        </p:style>
      </p:sp>
      <p:sp>
        <p:nvSpPr>
          <p:cNvPr id="1163" name="TextBox 14"/>
          <p:cNvSpPr/>
          <p:nvPr/>
        </p:nvSpPr>
        <p:spPr>
          <a:xfrm>
            <a:off x="632880" y="2742840"/>
            <a:ext cx="1572480" cy="16992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1070" spc="-1" strike="noStrike">
                <a:solidFill>
                  <a:srgbClr val="1e5aa8"/>
                </a:solidFill>
                <a:latin typeface="微软雅黑"/>
              </a:rPr>
              <a:t>主网分区任务</a:t>
            </a:r>
            <a:endParaRPr b="0" lang="en-US" sz="1070" spc="-1" strike="noStrike">
              <a:latin typeface="Arial"/>
            </a:endParaRPr>
          </a:p>
        </p:txBody>
      </p:sp>
      <p:sp>
        <p:nvSpPr>
          <p:cNvPr id="1164" name="Rounded Rectangle 15"/>
          <p:cNvSpPr/>
          <p:nvPr/>
        </p:nvSpPr>
        <p:spPr>
          <a:xfrm>
            <a:off x="678600" y="3052080"/>
            <a:ext cx="383760" cy="246600"/>
          </a:xfrm>
          <a:prstGeom prst="roundRect">
            <a:avLst>
              <a:gd name="adj" fmla="val 16667"/>
            </a:avLst>
          </a:prstGeom>
          <a:solidFill>
            <a:srgbClr val="ffffff"/>
          </a:solidFill>
          <a:ln w="8255">
            <a:solidFill>
              <a:srgbClr val="1e5aa8"/>
            </a:solidFill>
          </a:ln>
        </p:spPr>
        <p:style>
          <a:lnRef idx="1">
            <a:schemeClr val="accent1"/>
          </a:lnRef>
          <a:fillRef idx="3">
            <a:schemeClr val="accent1"/>
          </a:fillRef>
          <a:effectRef idx="2">
            <a:schemeClr val="accent1"/>
          </a:effectRef>
          <a:fontRef idx="minor"/>
        </p:style>
      </p:sp>
      <p:sp>
        <p:nvSpPr>
          <p:cNvPr id="1165" name="TextBox 16"/>
          <p:cNvSpPr/>
          <p:nvPr/>
        </p:nvSpPr>
        <p:spPr>
          <a:xfrm>
            <a:off x="678600" y="312192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1e5aa8"/>
                </a:solidFill>
                <a:latin typeface="微软雅黑"/>
              </a:rPr>
              <a:t>T1</a:t>
            </a:r>
            <a:endParaRPr b="0" lang="en-US" sz="670" spc="-1" strike="noStrike">
              <a:latin typeface="Arial"/>
            </a:endParaRPr>
          </a:p>
        </p:txBody>
      </p:sp>
      <p:sp>
        <p:nvSpPr>
          <p:cNvPr id="1166" name="Rounded Rectangle 17"/>
          <p:cNvSpPr/>
          <p:nvPr/>
        </p:nvSpPr>
        <p:spPr>
          <a:xfrm>
            <a:off x="1145160" y="3052080"/>
            <a:ext cx="383760" cy="246600"/>
          </a:xfrm>
          <a:prstGeom prst="roundRect">
            <a:avLst>
              <a:gd name="adj" fmla="val 16667"/>
            </a:avLst>
          </a:prstGeom>
          <a:solidFill>
            <a:srgbClr val="ffffff"/>
          </a:solidFill>
          <a:ln w="8255">
            <a:solidFill>
              <a:srgbClr val="1e5aa8"/>
            </a:solidFill>
          </a:ln>
        </p:spPr>
        <p:style>
          <a:lnRef idx="1">
            <a:schemeClr val="accent1"/>
          </a:lnRef>
          <a:fillRef idx="3">
            <a:schemeClr val="accent1"/>
          </a:fillRef>
          <a:effectRef idx="2">
            <a:schemeClr val="accent1"/>
          </a:effectRef>
          <a:fontRef idx="minor"/>
        </p:style>
      </p:sp>
      <p:sp>
        <p:nvSpPr>
          <p:cNvPr id="1167" name="TextBox 18"/>
          <p:cNvSpPr/>
          <p:nvPr/>
        </p:nvSpPr>
        <p:spPr>
          <a:xfrm>
            <a:off x="1145160" y="312192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1e5aa8"/>
                </a:solidFill>
                <a:latin typeface="微软雅黑"/>
              </a:rPr>
              <a:t>T2</a:t>
            </a:r>
            <a:endParaRPr b="0" lang="en-US" sz="670" spc="-1" strike="noStrike">
              <a:latin typeface="Arial"/>
            </a:endParaRPr>
          </a:p>
        </p:txBody>
      </p:sp>
      <p:sp>
        <p:nvSpPr>
          <p:cNvPr id="1168" name="Rounded Rectangle 19"/>
          <p:cNvSpPr/>
          <p:nvPr/>
        </p:nvSpPr>
        <p:spPr>
          <a:xfrm>
            <a:off x="1611360" y="3052080"/>
            <a:ext cx="383760" cy="246600"/>
          </a:xfrm>
          <a:prstGeom prst="roundRect">
            <a:avLst>
              <a:gd name="adj" fmla="val 16667"/>
            </a:avLst>
          </a:prstGeom>
          <a:solidFill>
            <a:srgbClr val="ffffff"/>
          </a:solidFill>
          <a:ln w="8255">
            <a:solidFill>
              <a:srgbClr val="1e5aa8"/>
            </a:solidFill>
          </a:ln>
        </p:spPr>
        <p:style>
          <a:lnRef idx="1">
            <a:schemeClr val="accent1"/>
          </a:lnRef>
          <a:fillRef idx="3">
            <a:schemeClr val="accent1"/>
          </a:fillRef>
          <a:effectRef idx="2">
            <a:schemeClr val="accent1"/>
          </a:effectRef>
          <a:fontRef idx="minor"/>
        </p:style>
      </p:sp>
      <p:sp>
        <p:nvSpPr>
          <p:cNvPr id="1169" name="TextBox 20"/>
          <p:cNvSpPr/>
          <p:nvPr/>
        </p:nvSpPr>
        <p:spPr>
          <a:xfrm>
            <a:off x="1611360" y="312192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1e5aa8"/>
                </a:solidFill>
                <a:latin typeface="微软雅黑"/>
              </a:rPr>
              <a:t>T3</a:t>
            </a:r>
            <a:endParaRPr b="0" lang="en-US" sz="670" spc="-1" strike="noStrike">
              <a:latin typeface="Arial"/>
            </a:endParaRPr>
          </a:p>
        </p:txBody>
      </p:sp>
      <p:sp>
        <p:nvSpPr>
          <p:cNvPr id="1170" name="Rounded Rectangle 21"/>
          <p:cNvSpPr/>
          <p:nvPr/>
        </p:nvSpPr>
        <p:spPr>
          <a:xfrm>
            <a:off x="2242440" y="3052080"/>
            <a:ext cx="383760" cy="246600"/>
          </a:xfrm>
          <a:prstGeom prst="roundRect">
            <a:avLst>
              <a:gd name="adj" fmla="val 16667"/>
            </a:avLst>
          </a:prstGeom>
          <a:solidFill>
            <a:srgbClr val="ffffff"/>
          </a:solidFill>
          <a:ln w="8255">
            <a:solidFill>
              <a:srgbClr val="1e5aa8"/>
            </a:solidFill>
          </a:ln>
        </p:spPr>
        <p:style>
          <a:lnRef idx="1">
            <a:schemeClr val="accent1"/>
          </a:lnRef>
          <a:fillRef idx="3">
            <a:schemeClr val="accent1"/>
          </a:fillRef>
          <a:effectRef idx="2">
            <a:schemeClr val="accent1"/>
          </a:effectRef>
          <a:fontRef idx="minor"/>
        </p:style>
      </p:sp>
      <p:sp>
        <p:nvSpPr>
          <p:cNvPr id="1171" name="TextBox 22"/>
          <p:cNvSpPr/>
          <p:nvPr/>
        </p:nvSpPr>
        <p:spPr>
          <a:xfrm>
            <a:off x="2242440" y="312192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1e5aa8"/>
                </a:solidFill>
                <a:latin typeface="微软雅黑"/>
              </a:rPr>
              <a:t>TN</a:t>
            </a:r>
            <a:endParaRPr b="0" lang="en-US" sz="670" spc="-1" strike="noStrike">
              <a:latin typeface="Arial"/>
            </a:endParaRPr>
          </a:p>
        </p:txBody>
      </p:sp>
      <p:sp>
        <p:nvSpPr>
          <p:cNvPr id="1172" name="TextBox 23"/>
          <p:cNvSpPr/>
          <p:nvPr/>
        </p:nvSpPr>
        <p:spPr>
          <a:xfrm>
            <a:off x="1986120" y="3107520"/>
            <a:ext cx="200880" cy="1353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50" spc="-1" strike="noStrike">
                <a:solidFill>
                  <a:srgbClr val="1e5aa8"/>
                </a:solidFill>
                <a:latin typeface="微软雅黑"/>
              </a:rPr>
              <a:t>…</a:t>
            </a:r>
            <a:endParaRPr b="0" lang="en-US" sz="850" spc="-1" strike="noStrike">
              <a:latin typeface="Arial"/>
            </a:endParaRPr>
          </a:p>
        </p:txBody>
      </p:sp>
      <p:sp>
        <p:nvSpPr>
          <p:cNvPr id="1173" name="Connector 24"/>
          <p:cNvSpPr/>
          <p:nvPr/>
        </p:nvSpPr>
        <p:spPr>
          <a:xfrm>
            <a:off x="733320" y="3417480"/>
            <a:ext cx="1838160" cy="360"/>
          </a:xfrm>
          <a:prstGeom prst="line">
            <a:avLst/>
          </a:prstGeom>
          <a:ln w="8255">
            <a:solidFill>
              <a:srgbClr val="1e5aa8"/>
            </a:solidFill>
            <a:prstDash val="dash"/>
          </a:ln>
        </p:spPr>
        <p:style>
          <a:lnRef idx="2">
            <a:schemeClr val="accent1"/>
          </a:lnRef>
          <a:fillRef idx="0">
            <a:schemeClr val="accent1"/>
          </a:fillRef>
          <a:effectRef idx="1">
            <a:schemeClr val="accent1"/>
          </a:effectRef>
          <a:fontRef idx="minor"/>
        </p:style>
      </p:sp>
      <p:sp>
        <p:nvSpPr>
          <p:cNvPr id="1174" name="Connector 25"/>
          <p:cNvSpPr/>
          <p:nvPr/>
        </p:nvSpPr>
        <p:spPr>
          <a:xfrm>
            <a:off x="870480" y="3298680"/>
            <a:ext cx="360" cy="118800"/>
          </a:xfrm>
          <a:prstGeom prst="line">
            <a:avLst/>
          </a:prstGeom>
          <a:ln w="6985">
            <a:solidFill>
              <a:srgbClr val="1e5aa8"/>
            </a:solidFill>
            <a:prstDash val="dash"/>
          </a:ln>
        </p:spPr>
        <p:style>
          <a:lnRef idx="2">
            <a:schemeClr val="accent1"/>
          </a:lnRef>
          <a:fillRef idx="0">
            <a:schemeClr val="accent1"/>
          </a:fillRef>
          <a:effectRef idx="1">
            <a:schemeClr val="accent1"/>
          </a:effectRef>
          <a:fontRef idx="minor"/>
        </p:style>
      </p:sp>
      <p:sp>
        <p:nvSpPr>
          <p:cNvPr id="1175" name="Connector 26"/>
          <p:cNvSpPr/>
          <p:nvPr/>
        </p:nvSpPr>
        <p:spPr>
          <a:xfrm>
            <a:off x="1337040" y="3298680"/>
            <a:ext cx="360" cy="118800"/>
          </a:xfrm>
          <a:prstGeom prst="line">
            <a:avLst/>
          </a:prstGeom>
          <a:ln w="6985">
            <a:solidFill>
              <a:srgbClr val="1e5aa8"/>
            </a:solidFill>
            <a:prstDash val="dash"/>
          </a:ln>
        </p:spPr>
        <p:style>
          <a:lnRef idx="2">
            <a:schemeClr val="accent1"/>
          </a:lnRef>
          <a:fillRef idx="0">
            <a:schemeClr val="accent1"/>
          </a:fillRef>
          <a:effectRef idx="1">
            <a:schemeClr val="accent1"/>
          </a:effectRef>
          <a:fontRef idx="minor"/>
        </p:style>
      </p:sp>
      <p:sp>
        <p:nvSpPr>
          <p:cNvPr id="1176" name="Connector 27"/>
          <p:cNvSpPr/>
          <p:nvPr/>
        </p:nvSpPr>
        <p:spPr>
          <a:xfrm>
            <a:off x="1803240" y="3298680"/>
            <a:ext cx="360" cy="118800"/>
          </a:xfrm>
          <a:prstGeom prst="line">
            <a:avLst/>
          </a:prstGeom>
          <a:ln w="6985">
            <a:solidFill>
              <a:srgbClr val="1e5aa8"/>
            </a:solidFill>
            <a:prstDash val="dash"/>
          </a:ln>
        </p:spPr>
        <p:style>
          <a:lnRef idx="2">
            <a:schemeClr val="accent1"/>
          </a:lnRef>
          <a:fillRef idx="0">
            <a:schemeClr val="accent1"/>
          </a:fillRef>
          <a:effectRef idx="1">
            <a:schemeClr val="accent1"/>
          </a:effectRef>
          <a:fontRef idx="minor"/>
        </p:style>
      </p:sp>
      <p:sp>
        <p:nvSpPr>
          <p:cNvPr id="1177" name="Connector 28"/>
          <p:cNvSpPr/>
          <p:nvPr/>
        </p:nvSpPr>
        <p:spPr>
          <a:xfrm>
            <a:off x="2434320" y="3298680"/>
            <a:ext cx="360" cy="118800"/>
          </a:xfrm>
          <a:prstGeom prst="line">
            <a:avLst/>
          </a:prstGeom>
          <a:ln w="6985">
            <a:solidFill>
              <a:srgbClr val="1e5aa8"/>
            </a:solidFill>
            <a:prstDash val="dash"/>
          </a:ln>
        </p:spPr>
        <p:style>
          <a:lnRef idx="2">
            <a:schemeClr val="accent1"/>
          </a:lnRef>
          <a:fillRef idx="0">
            <a:schemeClr val="accent1"/>
          </a:fillRef>
          <a:effectRef idx="1">
            <a:schemeClr val="accent1"/>
          </a:effectRef>
          <a:fontRef idx="minor"/>
        </p:style>
      </p:sp>
      <p:sp>
        <p:nvSpPr>
          <p:cNvPr id="1178" name="TextBox 29"/>
          <p:cNvSpPr/>
          <p:nvPr/>
        </p:nvSpPr>
        <p:spPr>
          <a:xfrm>
            <a:off x="1099440" y="3448800"/>
            <a:ext cx="1151640" cy="111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00" spc="-1" strike="noStrike">
                <a:solidFill>
                  <a:srgbClr val="1e5aa8"/>
                </a:solidFill>
                <a:latin typeface="微软雅黑"/>
              </a:rPr>
              <a:t>独立任务队列</a:t>
            </a:r>
            <a:endParaRPr b="0" lang="en-US" sz="700" spc="-1" strike="noStrike">
              <a:latin typeface="Arial"/>
            </a:endParaRPr>
          </a:p>
        </p:txBody>
      </p:sp>
      <p:sp>
        <p:nvSpPr>
          <p:cNvPr id="1179" name="Right Arrow 30"/>
          <p:cNvSpPr/>
          <p:nvPr/>
        </p:nvSpPr>
        <p:spPr>
          <a:xfrm>
            <a:off x="2699640" y="3143520"/>
            <a:ext cx="228240" cy="164160"/>
          </a:xfrm>
          <a:prstGeom prst="rightArrow">
            <a:avLst>
              <a:gd name="adj1" fmla="val 50000"/>
              <a:gd name="adj2" fmla="val 50000"/>
            </a:avLst>
          </a:prstGeom>
          <a:solidFill>
            <a:srgbClr val="1e5aa8"/>
          </a:solidFill>
          <a:ln>
            <a:noFill/>
          </a:ln>
        </p:spPr>
        <p:style>
          <a:lnRef idx="1">
            <a:schemeClr val="accent1"/>
          </a:lnRef>
          <a:fillRef idx="3">
            <a:schemeClr val="accent1"/>
          </a:fillRef>
          <a:effectRef idx="2">
            <a:schemeClr val="accent1"/>
          </a:effectRef>
          <a:fontRef idx="minor"/>
        </p:style>
      </p:sp>
      <p:sp>
        <p:nvSpPr>
          <p:cNvPr id="1180" name="Rounded Rectangle 31"/>
          <p:cNvSpPr/>
          <p:nvPr/>
        </p:nvSpPr>
        <p:spPr>
          <a:xfrm>
            <a:off x="2991960" y="2942280"/>
            <a:ext cx="1718640" cy="612360"/>
          </a:xfrm>
          <a:prstGeom prst="roundRect">
            <a:avLst>
              <a:gd name="adj" fmla="val 16667"/>
            </a:avLst>
          </a:prstGeom>
          <a:solidFill>
            <a:srgbClr val="ffffff"/>
          </a:solidFill>
          <a:ln w="8890">
            <a:solidFill>
              <a:srgbClr val="1e5aa8"/>
            </a:solidFill>
          </a:ln>
        </p:spPr>
        <p:style>
          <a:lnRef idx="1">
            <a:schemeClr val="accent1"/>
          </a:lnRef>
          <a:fillRef idx="3">
            <a:schemeClr val="accent1"/>
          </a:fillRef>
          <a:effectRef idx="2">
            <a:schemeClr val="accent1"/>
          </a:effectRef>
          <a:fontRef idx="minor"/>
        </p:style>
      </p:sp>
      <p:sp>
        <p:nvSpPr>
          <p:cNvPr id="1181" name="TextBox 32"/>
          <p:cNvSpPr/>
          <p:nvPr/>
        </p:nvSpPr>
        <p:spPr>
          <a:xfrm>
            <a:off x="3101760" y="2998080"/>
            <a:ext cx="1499400" cy="125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90" spc="-1" strike="noStrike">
                <a:solidFill>
                  <a:srgbClr val="1e5aa8"/>
                </a:solidFill>
                <a:latin typeface="微软雅黑"/>
              </a:rPr>
              <a:t>主网工作进程池</a:t>
            </a:r>
            <a:endParaRPr b="0" lang="en-US" sz="790" spc="-1" strike="noStrike">
              <a:latin typeface="Arial"/>
            </a:endParaRPr>
          </a:p>
        </p:txBody>
      </p:sp>
      <p:sp>
        <p:nvSpPr>
          <p:cNvPr id="1182" name="Rounded Rectangle 33"/>
          <p:cNvSpPr/>
          <p:nvPr/>
        </p:nvSpPr>
        <p:spPr>
          <a:xfrm>
            <a:off x="3184200" y="3216600"/>
            <a:ext cx="310680" cy="209880"/>
          </a:xfrm>
          <a:prstGeom prst="roundRect">
            <a:avLst>
              <a:gd name="adj" fmla="val 16667"/>
            </a:avLst>
          </a:prstGeom>
          <a:solidFill>
            <a:srgbClr val="f1f6fc"/>
          </a:solidFill>
          <a:ln>
            <a:solidFill>
              <a:srgbClr val="1e5aa8"/>
            </a:solidFill>
          </a:ln>
        </p:spPr>
        <p:style>
          <a:lnRef idx="1">
            <a:schemeClr val="accent1"/>
          </a:lnRef>
          <a:fillRef idx="3">
            <a:schemeClr val="accent1"/>
          </a:fillRef>
          <a:effectRef idx="2">
            <a:schemeClr val="accent1"/>
          </a:effectRef>
          <a:fontRef idx="minor"/>
        </p:style>
      </p:sp>
      <p:sp>
        <p:nvSpPr>
          <p:cNvPr id="1183" name="TextBox 34"/>
          <p:cNvSpPr/>
          <p:nvPr/>
        </p:nvSpPr>
        <p:spPr>
          <a:xfrm>
            <a:off x="3184200" y="3272760"/>
            <a:ext cx="310680" cy="9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10" spc="-1" strike="noStrike">
                <a:solidFill>
                  <a:srgbClr val="1e5aa8"/>
                </a:solidFill>
                <a:latin typeface="微软雅黑"/>
              </a:rPr>
              <a:t>w1</a:t>
            </a:r>
            <a:endParaRPr b="0" lang="en-US" sz="610" spc="-1" strike="noStrike">
              <a:latin typeface="Arial"/>
            </a:endParaRPr>
          </a:p>
        </p:txBody>
      </p:sp>
      <p:sp>
        <p:nvSpPr>
          <p:cNvPr id="1184" name="Rounded Rectangle 35"/>
          <p:cNvSpPr/>
          <p:nvPr/>
        </p:nvSpPr>
        <p:spPr>
          <a:xfrm>
            <a:off x="3604680" y="3216600"/>
            <a:ext cx="310680" cy="209880"/>
          </a:xfrm>
          <a:prstGeom prst="roundRect">
            <a:avLst>
              <a:gd name="adj" fmla="val 16667"/>
            </a:avLst>
          </a:prstGeom>
          <a:solidFill>
            <a:srgbClr val="f1f6fc"/>
          </a:solidFill>
          <a:ln>
            <a:solidFill>
              <a:srgbClr val="1e5aa8"/>
            </a:solidFill>
          </a:ln>
        </p:spPr>
        <p:style>
          <a:lnRef idx="1">
            <a:schemeClr val="accent1"/>
          </a:lnRef>
          <a:fillRef idx="3">
            <a:schemeClr val="accent1"/>
          </a:fillRef>
          <a:effectRef idx="2">
            <a:schemeClr val="accent1"/>
          </a:effectRef>
          <a:fontRef idx="minor"/>
        </p:style>
      </p:sp>
      <p:sp>
        <p:nvSpPr>
          <p:cNvPr id="1185" name="TextBox 36"/>
          <p:cNvSpPr/>
          <p:nvPr/>
        </p:nvSpPr>
        <p:spPr>
          <a:xfrm>
            <a:off x="3604680" y="3272760"/>
            <a:ext cx="310680" cy="9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10" spc="-1" strike="noStrike">
                <a:solidFill>
                  <a:srgbClr val="1e5aa8"/>
                </a:solidFill>
                <a:latin typeface="微软雅黑"/>
              </a:rPr>
              <a:t>w2</a:t>
            </a:r>
            <a:endParaRPr b="0" lang="en-US" sz="610" spc="-1" strike="noStrike">
              <a:latin typeface="Arial"/>
            </a:endParaRPr>
          </a:p>
        </p:txBody>
      </p:sp>
      <p:sp>
        <p:nvSpPr>
          <p:cNvPr id="1186" name="Rounded Rectangle 37"/>
          <p:cNvSpPr/>
          <p:nvPr/>
        </p:nvSpPr>
        <p:spPr>
          <a:xfrm>
            <a:off x="4025520" y="3216600"/>
            <a:ext cx="310680" cy="209880"/>
          </a:xfrm>
          <a:prstGeom prst="roundRect">
            <a:avLst>
              <a:gd name="adj" fmla="val 16667"/>
            </a:avLst>
          </a:prstGeom>
          <a:solidFill>
            <a:srgbClr val="f1f6fc"/>
          </a:solidFill>
          <a:ln>
            <a:solidFill>
              <a:srgbClr val="1e5aa8"/>
            </a:solidFill>
          </a:ln>
        </p:spPr>
        <p:style>
          <a:lnRef idx="1">
            <a:schemeClr val="accent1"/>
          </a:lnRef>
          <a:fillRef idx="3">
            <a:schemeClr val="accent1"/>
          </a:fillRef>
          <a:effectRef idx="2">
            <a:schemeClr val="accent1"/>
          </a:effectRef>
          <a:fontRef idx="minor"/>
        </p:style>
      </p:sp>
      <p:sp>
        <p:nvSpPr>
          <p:cNvPr id="1187" name="TextBox 38"/>
          <p:cNvSpPr/>
          <p:nvPr/>
        </p:nvSpPr>
        <p:spPr>
          <a:xfrm>
            <a:off x="4025520" y="3272760"/>
            <a:ext cx="310680" cy="9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10" spc="-1" strike="noStrike">
                <a:solidFill>
                  <a:srgbClr val="1e5aa8"/>
                </a:solidFill>
                <a:latin typeface="微软雅黑"/>
              </a:rPr>
              <a:t>w3</a:t>
            </a:r>
            <a:endParaRPr b="0" lang="en-US" sz="610" spc="-1" strike="noStrike">
              <a:latin typeface="Arial"/>
            </a:endParaRPr>
          </a:p>
        </p:txBody>
      </p:sp>
      <p:sp>
        <p:nvSpPr>
          <p:cNvPr id="1188" name="TextBox 39"/>
          <p:cNvSpPr/>
          <p:nvPr/>
        </p:nvSpPr>
        <p:spPr>
          <a:xfrm>
            <a:off x="4363560" y="3261960"/>
            <a:ext cx="182520" cy="119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750" spc="-1" strike="noStrike">
                <a:solidFill>
                  <a:srgbClr val="1e5aa8"/>
                </a:solidFill>
                <a:latin typeface="微软雅黑"/>
              </a:rPr>
              <a:t>…</a:t>
            </a:r>
            <a:endParaRPr b="0" lang="en-US" sz="750" spc="-1" strike="noStrike">
              <a:latin typeface="Arial"/>
            </a:endParaRPr>
          </a:p>
        </p:txBody>
      </p:sp>
      <p:sp>
        <p:nvSpPr>
          <p:cNvPr id="1189" name="Right Arrow 40"/>
          <p:cNvSpPr/>
          <p:nvPr/>
        </p:nvSpPr>
        <p:spPr>
          <a:xfrm>
            <a:off x="4757040" y="3143520"/>
            <a:ext cx="228240" cy="164160"/>
          </a:xfrm>
          <a:prstGeom prst="rightArrow">
            <a:avLst>
              <a:gd name="adj1" fmla="val 50000"/>
              <a:gd name="adj2" fmla="val 50000"/>
            </a:avLst>
          </a:prstGeom>
          <a:solidFill>
            <a:srgbClr val="1e5aa8"/>
          </a:solidFill>
          <a:ln>
            <a:noFill/>
          </a:ln>
        </p:spPr>
        <p:style>
          <a:lnRef idx="1">
            <a:schemeClr val="accent1"/>
          </a:lnRef>
          <a:fillRef idx="3">
            <a:schemeClr val="accent1"/>
          </a:fillRef>
          <a:effectRef idx="2">
            <a:schemeClr val="accent1"/>
          </a:effectRef>
          <a:fontRef idx="minor"/>
        </p:style>
      </p:sp>
      <p:sp>
        <p:nvSpPr>
          <p:cNvPr id="1190" name="Rounded Rectangle 41"/>
          <p:cNvSpPr/>
          <p:nvPr/>
        </p:nvSpPr>
        <p:spPr>
          <a:xfrm>
            <a:off x="5049360" y="2942280"/>
            <a:ext cx="1554120" cy="612360"/>
          </a:xfrm>
          <a:prstGeom prst="roundRect">
            <a:avLst>
              <a:gd name="adj" fmla="val 16667"/>
            </a:avLst>
          </a:prstGeom>
          <a:solidFill>
            <a:srgbClr val="ffffff"/>
          </a:solidFill>
          <a:ln w="8890">
            <a:solidFill>
              <a:srgbClr val="1e5aa8"/>
            </a:solidFill>
          </a:ln>
        </p:spPr>
        <p:style>
          <a:lnRef idx="1">
            <a:schemeClr val="accent1"/>
          </a:lnRef>
          <a:fillRef idx="3">
            <a:schemeClr val="accent1"/>
          </a:fillRef>
          <a:effectRef idx="2">
            <a:schemeClr val="accent1"/>
          </a:effectRef>
          <a:fontRef idx="minor"/>
        </p:style>
      </p:sp>
      <p:sp>
        <p:nvSpPr>
          <p:cNvPr id="1191" name="TextBox 42"/>
          <p:cNvSpPr/>
          <p:nvPr/>
        </p:nvSpPr>
        <p:spPr>
          <a:xfrm>
            <a:off x="5150160" y="2989440"/>
            <a:ext cx="1352880" cy="124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80" spc="-1" strike="noStrike">
                <a:solidFill>
                  <a:srgbClr val="1e5aa8"/>
                </a:solidFill>
                <a:latin typeface="微软雅黑"/>
              </a:rPr>
              <a:t>按任务顺序汇总</a:t>
            </a:r>
            <a:endParaRPr b="0" lang="en-US" sz="780" spc="-1" strike="noStrike">
              <a:latin typeface="Arial"/>
            </a:endParaRPr>
          </a:p>
        </p:txBody>
      </p:sp>
      <p:pic>
        <p:nvPicPr>
          <p:cNvPr id="1192" name="Picture 43" descr="p7_out_t.png"/>
          <p:cNvPicPr/>
          <p:nvPr/>
        </p:nvPicPr>
        <p:blipFill>
          <a:blip r:embed="rId1"/>
          <a:stretch/>
        </p:blipFill>
        <p:spPr>
          <a:xfrm>
            <a:off x="5660640" y="3207600"/>
            <a:ext cx="331920" cy="209880"/>
          </a:xfrm>
          <a:prstGeom prst="rect">
            <a:avLst/>
          </a:prstGeom>
          <a:ln w="0">
            <a:noFill/>
          </a:ln>
        </p:spPr>
      </p:pic>
      <p:sp>
        <p:nvSpPr>
          <p:cNvPr id="1193" name="Right Arrow 44"/>
          <p:cNvSpPr/>
          <p:nvPr/>
        </p:nvSpPr>
        <p:spPr>
          <a:xfrm>
            <a:off x="6649560" y="3143520"/>
            <a:ext cx="209880" cy="164160"/>
          </a:xfrm>
          <a:prstGeom prst="rightArrow">
            <a:avLst>
              <a:gd name="adj1" fmla="val 50000"/>
              <a:gd name="adj2" fmla="val 50000"/>
            </a:avLst>
          </a:prstGeom>
          <a:solidFill>
            <a:srgbClr val="1e5aa8"/>
          </a:solidFill>
          <a:ln>
            <a:noFill/>
          </a:ln>
        </p:spPr>
        <p:style>
          <a:lnRef idx="1">
            <a:schemeClr val="accent1"/>
          </a:lnRef>
          <a:fillRef idx="3">
            <a:schemeClr val="accent1"/>
          </a:fillRef>
          <a:effectRef idx="2">
            <a:schemeClr val="accent1"/>
          </a:effectRef>
          <a:fontRef idx="minor"/>
        </p:style>
      </p:sp>
      <p:sp>
        <p:nvSpPr>
          <p:cNvPr id="1194" name="Connector 45"/>
          <p:cNvSpPr/>
          <p:nvPr/>
        </p:nvSpPr>
        <p:spPr>
          <a:xfrm>
            <a:off x="7079400" y="2942280"/>
            <a:ext cx="360" cy="548640"/>
          </a:xfrm>
          <a:prstGeom prst="line">
            <a:avLst/>
          </a:prstGeom>
          <a:ln w="16510">
            <a:solidFill>
              <a:srgbClr val="7243a8"/>
            </a:solidFill>
          </a:ln>
        </p:spPr>
        <p:style>
          <a:lnRef idx="2">
            <a:schemeClr val="accent1"/>
          </a:lnRef>
          <a:fillRef idx="0">
            <a:schemeClr val="accent1"/>
          </a:fillRef>
          <a:effectRef idx="1">
            <a:schemeClr val="accent1"/>
          </a:effectRef>
          <a:fontRef idx="minor"/>
        </p:style>
      </p:sp>
      <p:sp>
        <p:nvSpPr>
          <p:cNvPr id="1195" name="Oval 46"/>
          <p:cNvSpPr/>
          <p:nvPr/>
        </p:nvSpPr>
        <p:spPr>
          <a:xfrm>
            <a:off x="7033680" y="2896560"/>
            <a:ext cx="91080" cy="91080"/>
          </a:xfrm>
          <a:prstGeom prst="ellipse">
            <a:avLst/>
          </a:prstGeom>
          <a:solidFill>
            <a:srgbClr val="7243a8"/>
          </a:solidFill>
          <a:ln w="5080">
            <a:solidFill>
              <a:srgbClr val="7243a8"/>
            </a:solidFill>
          </a:ln>
        </p:spPr>
        <p:style>
          <a:lnRef idx="1">
            <a:schemeClr val="accent1"/>
          </a:lnRef>
          <a:fillRef idx="3">
            <a:schemeClr val="accent1"/>
          </a:fillRef>
          <a:effectRef idx="2">
            <a:schemeClr val="accent1"/>
          </a:effectRef>
          <a:fontRef idx="minor"/>
        </p:style>
      </p:sp>
      <p:sp>
        <p:nvSpPr>
          <p:cNvPr id="1196" name="Oval 47"/>
          <p:cNvSpPr/>
          <p:nvPr/>
        </p:nvSpPr>
        <p:spPr>
          <a:xfrm>
            <a:off x="7033680" y="3445200"/>
            <a:ext cx="91080" cy="91080"/>
          </a:xfrm>
          <a:prstGeom prst="ellipse">
            <a:avLst/>
          </a:prstGeom>
          <a:solidFill>
            <a:srgbClr val="7243a8"/>
          </a:solidFill>
          <a:ln w="5080">
            <a:solidFill>
              <a:srgbClr val="7243a8"/>
            </a:solidFill>
          </a:ln>
        </p:spPr>
        <p:style>
          <a:lnRef idx="1">
            <a:schemeClr val="accent1"/>
          </a:lnRef>
          <a:fillRef idx="3">
            <a:schemeClr val="accent1"/>
          </a:fillRef>
          <a:effectRef idx="2">
            <a:schemeClr val="accent1"/>
          </a:effectRef>
          <a:fontRef idx="minor"/>
        </p:style>
      </p:sp>
      <p:sp>
        <p:nvSpPr>
          <p:cNvPr id="1197" name="TextBox 48"/>
          <p:cNvSpPr/>
          <p:nvPr/>
        </p:nvSpPr>
        <p:spPr>
          <a:xfrm>
            <a:off x="7216560" y="3073680"/>
            <a:ext cx="959760" cy="276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30" spc="-1" strike="noStrike">
                <a:solidFill>
                  <a:srgbClr val="7243a8"/>
                </a:solidFill>
                <a:latin typeface="微软雅黑"/>
              </a:rPr>
              <a:t>层末同步</a:t>
            </a:r>
            <a:endParaRPr b="0" lang="en-US" sz="830" spc="-1" strike="noStrike">
              <a:latin typeface="Arial"/>
            </a:endParaRPr>
          </a:p>
          <a:p>
            <a:pPr algn="ctr">
              <a:lnSpc>
                <a:spcPct val="104000"/>
              </a:lnSpc>
              <a:spcAft>
                <a:spcPts val="99"/>
              </a:spcAft>
              <a:buNone/>
            </a:pPr>
            <a:r>
              <a:rPr b="1" lang="zh-CN" sz="830" spc="-1" strike="noStrike">
                <a:solidFill>
                  <a:srgbClr val="7243a8"/>
                </a:solidFill>
                <a:latin typeface="微软雅黑"/>
              </a:rPr>
              <a:t>等待全部完成</a:t>
            </a:r>
            <a:endParaRPr b="0" lang="en-US" sz="830" spc="-1" strike="noStrike">
              <a:latin typeface="Arial"/>
            </a:endParaRPr>
          </a:p>
        </p:txBody>
      </p:sp>
      <p:sp>
        <p:nvSpPr>
          <p:cNvPr id="1198" name="Rounded Rectangle 49"/>
          <p:cNvSpPr/>
          <p:nvPr/>
        </p:nvSpPr>
        <p:spPr>
          <a:xfrm>
            <a:off x="459360" y="3893400"/>
            <a:ext cx="8009640" cy="1023840"/>
          </a:xfrm>
          <a:prstGeom prst="roundRect">
            <a:avLst>
              <a:gd name="adj" fmla="val 16667"/>
            </a:avLst>
          </a:prstGeom>
          <a:solidFill>
            <a:srgbClr val="f2f8ef"/>
          </a:solidFill>
          <a:ln w="10795">
            <a:solidFill>
              <a:srgbClr val="4e8c35"/>
            </a:solidFill>
          </a:ln>
        </p:spPr>
        <p:style>
          <a:lnRef idx="1">
            <a:schemeClr val="accent1"/>
          </a:lnRef>
          <a:fillRef idx="3">
            <a:schemeClr val="accent1"/>
          </a:fillRef>
          <a:effectRef idx="2">
            <a:schemeClr val="accent1"/>
          </a:effectRef>
          <a:fontRef idx="minor"/>
        </p:style>
      </p:sp>
      <p:sp>
        <p:nvSpPr>
          <p:cNvPr id="1199" name="TextBox 50"/>
          <p:cNvSpPr/>
          <p:nvPr/>
        </p:nvSpPr>
        <p:spPr>
          <a:xfrm>
            <a:off x="632880" y="3977280"/>
            <a:ext cx="1572480" cy="16992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1070" spc="-1" strike="noStrike">
                <a:solidFill>
                  <a:srgbClr val="4e8c35"/>
                </a:solidFill>
                <a:latin typeface="微软雅黑"/>
              </a:rPr>
              <a:t>配网潮流任务</a:t>
            </a:r>
            <a:endParaRPr b="0" lang="en-US" sz="1070" spc="-1" strike="noStrike">
              <a:latin typeface="Arial"/>
            </a:endParaRPr>
          </a:p>
        </p:txBody>
      </p:sp>
      <p:sp>
        <p:nvSpPr>
          <p:cNvPr id="1200" name="Rounded Rectangle 51"/>
          <p:cNvSpPr/>
          <p:nvPr/>
        </p:nvSpPr>
        <p:spPr>
          <a:xfrm>
            <a:off x="678600" y="4286520"/>
            <a:ext cx="383760" cy="246600"/>
          </a:xfrm>
          <a:prstGeom prst="roundRect">
            <a:avLst>
              <a:gd name="adj" fmla="val 16667"/>
            </a:avLst>
          </a:prstGeom>
          <a:solidFill>
            <a:srgbClr val="ffffff"/>
          </a:solidFill>
          <a:ln w="8255">
            <a:solidFill>
              <a:srgbClr val="4e8c35"/>
            </a:solidFill>
          </a:ln>
        </p:spPr>
        <p:style>
          <a:lnRef idx="1">
            <a:schemeClr val="accent1"/>
          </a:lnRef>
          <a:fillRef idx="3">
            <a:schemeClr val="accent1"/>
          </a:fillRef>
          <a:effectRef idx="2">
            <a:schemeClr val="accent1"/>
          </a:effectRef>
          <a:fontRef idx="minor"/>
        </p:style>
      </p:sp>
      <p:sp>
        <p:nvSpPr>
          <p:cNvPr id="1201" name="TextBox 52"/>
          <p:cNvSpPr/>
          <p:nvPr/>
        </p:nvSpPr>
        <p:spPr>
          <a:xfrm>
            <a:off x="678600" y="435636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4e8c35"/>
                </a:solidFill>
                <a:latin typeface="微软雅黑"/>
              </a:rPr>
              <a:t>D1</a:t>
            </a:r>
            <a:endParaRPr b="0" lang="en-US" sz="670" spc="-1" strike="noStrike">
              <a:latin typeface="Arial"/>
            </a:endParaRPr>
          </a:p>
        </p:txBody>
      </p:sp>
      <p:sp>
        <p:nvSpPr>
          <p:cNvPr id="1202" name="Rounded Rectangle 53"/>
          <p:cNvSpPr/>
          <p:nvPr/>
        </p:nvSpPr>
        <p:spPr>
          <a:xfrm>
            <a:off x="1145160" y="4286520"/>
            <a:ext cx="383760" cy="246600"/>
          </a:xfrm>
          <a:prstGeom prst="roundRect">
            <a:avLst>
              <a:gd name="adj" fmla="val 16667"/>
            </a:avLst>
          </a:prstGeom>
          <a:solidFill>
            <a:srgbClr val="ffffff"/>
          </a:solidFill>
          <a:ln w="8255">
            <a:solidFill>
              <a:srgbClr val="4e8c35"/>
            </a:solidFill>
          </a:ln>
        </p:spPr>
        <p:style>
          <a:lnRef idx="1">
            <a:schemeClr val="accent1"/>
          </a:lnRef>
          <a:fillRef idx="3">
            <a:schemeClr val="accent1"/>
          </a:fillRef>
          <a:effectRef idx="2">
            <a:schemeClr val="accent1"/>
          </a:effectRef>
          <a:fontRef idx="minor"/>
        </p:style>
      </p:sp>
      <p:sp>
        <p:nvSpPr>
          <p:cNvPr id="1203" name="TextBox 54"/>
          <p:cNvSpPr/>
          <p:nvPr/>
        </p:nvSpPr>
        <p:spPr>
          <a:xfrm>
            <a:off x="1145160" y="435636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4e8c35"/>
                </a:solidFill>
                <a:latin typeface="微软雅黑"/>
              </a:rPr>
              <a:t>D2</a:t>
            </a:r>
            <a:endParaRPr b="0" lang="en-US" sz="670" spc="-1" strike="noStrike">
              <a:latin typeface="Arial"/>
            </a:endParaRPr>
          </a:p>
        </p:txBody>
      </p:sp>
      <p:sp>
        <p:nvSpPr>
          <p:cNvPr id="1204" name="Rounded Rectangle 55"/>
          <p:cNvSpPr/>
          <p:nvPr/>
        </p:nvSpPr>
        <p:spPr>
          <a:xfrm>
            <a:off x="1611360" y="4286520"/>
            <a:ext cx="383760" cy="246600"/>
          </a:xfrm>
          <a:prstGeom prst="roundRect">
            <a:avLst>
              <a:gd name="adj" fmla="val 16667"/>
            </a:avLst>
          </a:prstGeom>
          <a:solidFill>
            <a:srgbClr val="ffffff"/>
          </a:solidFill>
          <a:ln w="8255">
            <a:solidFill>
              <a:srgbClr val="4e8c35"/>
            </a:solidFill>
          </a:ln>
        </p:spPr>
        <p:style>
          <a:lnRef idx="1">
            <a:schemeClr val="accent1"/>
          </a:lnRef>
          <a:fillRef idx="3">
            <a:schemeClr val="accent1"/>
          </a:fillRef>
          <a:effectRef idx="2">
            <a:schemeClr val="accent1"/>
          </a:effectRef>
          <a:fontRef idx="minor"/>
        </p:style>
      </p:sp>
      <p:sp>
        <p:nvSpPr>
          <p:cNvPr id="1205" name="TextBox 56"/>
          <p:cNvSpPr/>
          <p:nvPr/>
        </p:nvSpPr>
        <p:spPr>
          <a:xfrm>
            <a:off x="1611360" y="435636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4e8c35"/>
                </a:solidFill>
                <a:latin typeface="微软雅黑"/>
              </a:rPr>
              <a:t>D3</a:t>
            </a:r>
            <a:endParaRPr b="0" lang="en-US" sz="670" spc="-1" strike="noStrike">
              <a:latin typeface="Arial"/>
            </a:endParaRPr>
          </a:p>
        </p:txBody>
      </p:sp>
      <p:sp>
        <p:nvSpPr>
          <p:cNvPr id="1206" name="Rounded Rectangle 57"/>
          <p:cNvSpPr/>
          <p:nvPr/>
        </p:nvSpPr>
        <p:spPr>
          <a:xfrm>
            <a:off x="2242440" y="4286520"/>
            <a:ext cx="383760" cy="246600"/>
          </a:xfrm>
          <a:prstGeom prst="roundRect">
            <a:avLst>
              <a:gd name="adj" fmla="val 16667"/>
            </a:avLst>
          </a:prstGeom>
          <a:solidFill>
            <a:srgbClr val="ffffff"/>
          </a:solidFill>
          <a:ln w="8255">
            <a:solidFill>
              <a:srgbClr val="4e8c35"/>
            </a:solidFill>
          </a:ln>
        </p:spPr>
        <p:style>
          <a:lnRef idx="1">
            <a:schemeClr val="accent1"/>
          </a:lnRef>
          <a:fillRef idx="3">
            <a:schemeClr val="accent1"/>
          </a:fillRef>
          <a:effectRef idx="2">
            <a:schemeClr val="accent1"/>
          </a:effectRef>
          <a:fontRef idx="minor"/>
        </p:style>
      </p:sp>
      <p:sp>
        <p:nvSpPr>
          <p:cNvPr id="1207" name="TextBox 58"/>
          <p:cNvSpPr/>
          <p:nvPr/>
        </p:nvSpPr>
        <p:spPr>
          <a:xfrm>
            <a:off x="2242440" y="435636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4e8c35"/>
                </a:solidFill>
                <a:latin typeface="微软雅黑"/>
              </a:rPr>
              <a:t>DN</a:t>
            </a:r>
            <a:endParaRPr b="0" lang="en-US" sz="670" spc="-1" strike="noStrike">
              <a:latin typeface="Arial"/>
            </a:endParaRPr>
          </a:p>
        </p:txBody>
      </p:sp>
      <p:sp>
        <p:nvSpPr>
          <p:cNvPr id="1208" name="TextBox 59"/>
          <p:cNvSpPr/>
          <p:nvPr/>
        </p:nvSpPr>
        <p:spPr>
          <a:xfrm>
            <a:off x="1986120" y="4341960"/>
            <a:ext cx="200880" cy="1353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50" spc="-1" strike="noStrike">
                <a:solidFill>
                  <a:srgbClr val="4e8c35"/>
                </a:solidFill>
                <a:latin typeface="微软雅黑"/>
              </a:rPr>
              <a:t>…</a:t>
            </a:r>
            <a:endParaRPr b="0" lang="en-US" sz="850" spc="-1" strike="noStrike">
              <a:latin typeface="Arial"/>
            </a:endParaRPr>
          </a:p>
        </p:txBody>
      </p:sp>
      <p:sp>
        <p:nvSpPr>
          <p:cNvPr id="1209" name="Connector 60"/>
          <p:cNvSpPr/>
          <p:nvPr/>
        </p:nvSpPr>
        <p:spPr>
          <a:xfrm>
            <a:off x="733320" y="4651920"/>
            <a:ext cx="1838160" cy="360"/>
          </a:xfrm>
          <a:prstGeom prst="line">
            <a:avLst/>
          </a:prstGeom>
          <a:ln w="8255">
            <a:solidFill>
              <a:srgbClr val="4e8c35"/>
            </a:solidFill>
            <a:prstDash val="dash"/>
          </a:ln>
        </p:spPr>
        <p:style>
          <a:lnRef idx="2">
            <a:schemeClr val="accent1"/>
          </a:lnRef>
          <a:fillRef idx="0">
            <a:schemeClr val="accent1"/>
          </a:fillRef>
          <a:effectRef idx="1">
            <a:schemeClr val="accent1"/>
          </a:effectRef>
          <a:fontRef idx="minor"/>
        </p:style>
      </p:sp>
      <p:sp>
        <p:nvSpPr>
          <p:cNvPr id="1210" name="Connector 61"/>
          <p:cNvSpPr/>
          <p:nvPr/>
        </p:nvSpPr>
        <p:spPr>
          <a:xfrm>
            <a:off x="870480" y="4533120"/>
            <a:ext cx="360" cy="118800"/>
          </a:xfrm>
          <a:prstGeom prst="line">
            <a:avLst/>
          </a:prstGeom>
          <a:ln w="6985">
            <a:solidFill>
              <a:srgbClr val="4e8c35"/>
            </a:solidFill>
            <a:prstDash val="dash"/>
          </a:ln>
        </p:spPr>
        <p:style>
          <a:lnRef idx="2">
            <a:schemeClr val="accent1"/>
          </a:lnRef>
          <a:fillRef idx="0">
            <a:schemeClr val="accent1"/>
          </a:fillRef>
          <a:effectRef idx="1">
            <a:schemeClr val="accent1"/>
          </a:effectRef>
          <a:fontRef idx="minor"/>
        </p:style>
      </p:sp>
      <p:sp>
        <p:nvSpPr>
          <p:cNvPr id="1211" name="Connector 62"/>
          <p:cNvSpPr/>
          <p:nvPr/>
        </p:nvSpPr>
        <p:spPr>
          <a:xfrm>
            <a:off x="1337040" y="4533120"/>
            <a:ext cx="360" cy="118800"/>
          </a:xfrm>
          <a:prstGeom prst="line">
            <a:avLst/>
          </a:prstGeom>
          <a:ln w="6985">
            <a:solidFill>
              <a:srgbClr val="4e8c35"/>
            </a:solidFill>
            <a:prstDash val="dash"/>
          </a:ln>
        </p:spPr>
        <p:style>
          <a:lnRef idx="2">
            <a:schemeClr val="accent1"/>
          </a:lnRef>
          <a:fillRef idx="0">
            <a:schemeClr val="accent1"/>
          </a:fillRef>
          <a:effectRef idx="1">
            <a:schemeClr val="accent1"/>
          </a:effectRef>
          <a:fontRef idx="minor"/>
        </p:style>
      </p:sp>
      <p:sp>
        <p:nvSpPr>
          <p:cNvPr id="1212" name="Connector 63"/>
          <p:cNvSpPr/>
          <p:nvPr/>
        </p:nvSpPr>
        <p:spPr>
          <a:xfrm>
            <a:off x="1803240" y="4533120"/>
            <a:ext cx="360" cy="118800"/>
          </a:xfrm>
          <a:prstGeom prst="line">
            <a:avLst/>
          </a:prstGeom>
          <a:ln w="6985">
            <a:solidFill>
              <a:srgbClr val="4e8c35"/>
            </a:solidFill>
            <a:prstDash val="dash"/>
          </a:ln>
        </p:spPr>
        <p:style>
          <a:lnRef idx="2">
            <a:schemeClr val="accent1"/>
          </a:lnRef>
          <a:fillRef idx="0">
            <a:schemeClr val="accent1"/>
          </a:fillRef>
          <a:effectRef idx="1">
            <a:schemeClr val="accent1"/>
          </a:effectRef>
          <a:fontRef idx="minor"/>
        </p:style>
      </p:sp>
      <p:sp>
        <p:nvSpPr>
          <p:cNvPr id="1213" name="Connector 64"/>
          <p:cNvSpPr/>
          <p:nvPr/>
        </p:nvSpPr>
        <p:spPr>
          <a:xfrm>
            <a:off x="2434320" y="4533120"/>
            <a:ext cx="360" cy="118800"/>
          </a:xfrm>
          <a:prstGeom prst="line">
            <a:avLst/>
          </a:prstGeom>
          <a:ln w="6985">
            <a:solidFill>
              <a:srgbClr val="4e8c35"/>
            </a:solidFill>
            <a:prstDash val="dash"/>
          </a:ln>
        </p:spPr>
        <p:style>
          <a:lnRef idx="2">
            <a:schemeClr val="accent1"/>
          </a:lnRef>
          <a:fillRef idx="0">
            <a:schemeClr val="accent1"/>
          </a:fillRef>
          <a:effectRef idx="1">
            <a:schemeClr val="accent1"/>
          </a:effectRef>
          <a:fontRef idx="minor"/>
        </p:style>
      </p:sp>
      <p:sp>
        <p:nvSpPr>
          <p:cNvPr id="1214" name="TextBox 65"/>
          <p:cNvSpPr/>
          <p:nvPr/>
        </p:nvSpPr>
        <p:spPr>
          <a:xfrm>
            <a:off x="1099440" y="4683240"/>
            <a:ext cx="1151640" cy="111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00" spc="-1" strike="noStrike">
                <a:solidFill>
                  <a:srgbClr val="4e8c35"/>
                </a:solidFill>
                <a:latin typeface="微软雅黑"/>
              </a:rPr>
              <a:t>独立任务队列</a:t>
            </a:r>
            <a:endParaRPr b="0" lang="en-US" sz="700" spc="-1" strike="noStrike">
              <a:latin typeface="Arial"/>
            </a:endParaRPr>
          </a:p>
        </p:txBody>
      </p:sp>
      <p:sp>
        <p:nvSpPr>
          <p:cNvPr id="1215" name="Right Arrow 66"/>
          <p:cNvSpPr/>
          <p:nvPr/>
        </p:nvSpPr>
        <p:spPr>
          <a:xfrm>
            <a:off x="2699640" y="4377960"/>
            <a:ext cx="228240" cy="164160"/>
          </a:xfrm>
          <a:prstGeom prst="rightArrow">
            <a:avLst>
              <a:gd name="adj1" fmla="val 50000"/>
              <a:gd name="adj2" fmla="val 50000"/>
            </a:avLst>
          </a:prstGeom>
          <a:solidFill>
            <a:srgbClr val="4e8c35"/>
          </a:solidFill>
          <a:ln>
            <a:noFill/>
          </a:ln>
        </p:spPr>
        <p:style>
          <a:lnRef idx="1">
            <a:schemeClr val="accent1"/>
          </a:lnRef>
          <a:fillRef idx="3">
            <a:schemeClr val="accent1"/>
          </a:fillRef>
          <a:effectRef idx="2">
            <a:schemeClr val="accent1"/>
          </a:effectRef>
          <a:fontRef idx="minor"/>
        </p:style>
      </p:sp>
      <p:sp>
        <p:nvSpPr>
          <p:cNvPr id="1216" name="Rounded Rectangle 67"/>
          <p:cNvSpPr/>
          <p:nvPr/>
        </p:nvSpPr>
        <p:spPr>
          <a:xfrm>
            <a:off x="2991960" y="4176720"/>
            <a:ext cx="1718640" cy="612360"/>
          </a:xfrm>
          <a:prstGeom prst="roundRect">
            <a:avLst>
              <a:gd name="adj" fmla="val 16667"/>
            </a:avLst>
          </a:prstGeom>
          <a:solidFill>
            <a:srgbClr val="ffffff"/>
          </a:solidFill>
          <a:ln w="8890">
            <a:solidFill>
              <a:srgbClr val="4e8c35"/>
            </a:solidFill>
          </a:ln>
        </p:spPr>
        <p:style>
          <a:lnRef idx="1">
            <a:schemeClr val="accent1"/>
          </a:lnRef>
          <a:fillRef idx="3">
            <a:schemeClr val="accent1"/>
          </a:fillRef>
          <a:effectRef idx="2">
            <a:schemeClr val="accent1"/>
          </a:effectRef>
          <a:fontRef idx="minor"/>
        </p:style>
      </p:sp>
      <p:sp>
        <p:nvSpPr>
          <p:cNvPr id="1217" name="TextBox 68"/>
          <p:cNvSpPr/>
          <p:nvPr/>
        </p:nvSpPr>
        <p:spPr>
          <a:xfrm>
            <a:off x="3101760" y="4232520"/>
            <a:ext cx="1499400" cy="125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90" spc="-1" strike="noStrike">
                <a:solidFill>
                  <a:srgbClr val="4e8c35"/>
                </a:solidFill>
                <a:latin typeface="微软雅黑"/>
              </a:rPr>
              <a:t>配网工作进程池</a:t>
            </a:r>
            <a:endParaRPr b="0" lang="en-US" sz="790" spc="-1" strike="noStrike">
              <a:latin typeface="Arial"/>
            </a:endParaRPr>
          </a:p>
        </p:txBody>
      </p:sp>
      <p:sp>
        <p:nvSpPr>
          <p:cNvPr id="1218" name="Rounded Rectangle 69"/>
          <p:cNvSpPr/>
          <p:nvPr/>
        </p:nvSpPr>
        <p:spPr>
          <a:xfrm>
            <a:off x="3184200" y="4451040"/>
            <a:ext cx="310680" cy="209880"/>
          </a:xfrm>
          <a:prstGeom prst="roundRect">
            <a:avLst>
              <a:gd name="adj" fmla="val 16667"/>
            </a:avLst>
          </a:prstGeom>
          <a:solidFill>
            <a:srgbClr val="f2f8ef"/>
          </a:solidFill>
          <a:ln>
            <a:solidFill>
              <a:srgbClr val="4e8c35"/>
            </a:solidFill>
          </a:ln>
        </p:spPr>
        <p:style>
          <a:lnRef idx="1">
            <a:schemeClr val="accent1"/>
          </a:lnRef>
          <a:fillRef idx="3">
            <a:schemeClr val="accent1"/>
          </a:fillRef>
          <a:effectRef idx="2">
            <a:schemeClr val="accent1"/>
          </a:effectRef>
          <a:fontRef idx="minor"/>
        </p:style>
      </p:sp>
      <p:sp>
        <p:nvSpPr>
          <p:cNvPr id="1219" name="TextBox 70"/>
          <p:cNvSpPr/>
          <p:nvPr/>
        </p:nvSpPr>
        <p:spPr>
          <a:xfrm>
            <a:off x="3184200" y="4507200"/>
            <a:ext cx="310680" cy="9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10" spc="-1" strike="noStrike">
                <a:solidFill>
                  <a:srgbClr val="4e8c35"/>
                </a:solidFill>
                <a:latin typeface="微软雅黑"/>
              </a:rPr>
              <a:t>w1</a:t>
            </a:r>
            <a:endParaRPr b="0" lang="en-US" sz="610" spc="-1" strike="noStrike">
              <a:latin typeface="Arial"/>
            </a:endParaRPr>
          </a:p>
        </p:txBody>
      </p:sp>
      <p:sp>
        <p:nvSpPr>
          <p:cNvPr id="1220" name="Rounded Rectangle 71"/>
          <p:cNvSpPr/>
          <p:nvPr/>
        </p:nvSpPr>
        <p:spPr>
          <a:xfrm>
            <a:off x="3604680" y="4451040"/>
            <a:ext cx="310680" cy="209880"/>
          </a:xfrm>
          <a:prstGeom prst="roundRect">
            <a:avLst>
              <a:gd name="adj" fmla="val 16667"/>
            </a:avLst>
          </a:prstGeom>
          <a:solidFill>
            <a:srgbClr val="f2f8ef"/>
          </a:solidFill>
          <a:ln>
            <a:solidFill>
              <a:srgbClr val="4e8c35"/>
            </a:solidFill>
          </a:ln>
        </p:spPr>
        <p:style>
          <a:lnRef idx="1">
            <a:schemeClr val="accent1"/>
          </a:lnRef>
          <a:fillRef idx="3">
            <a:schemeClr val="accent1"/>
          </a:fillRef>
          <a:effectRef idx="2">
            <a:schemeClr val="accent1"/>
          </a:effectRef>
          <a:fontRef idx="minor"/>
        </p:style>
      </p:sp>
      <p:sp>
        <p:nvSpPr>
          <p:cNvPr id="1221" name="TextBox 72"/>
          <p:cNvSpPr/>
          <p:nvPr/>
        </p:nvSpPr>
        <p:spPr>
          <a:xfrm>
            <a:off x="3604680" y="4507200"/>
            <a:ext cx="310680" cy="9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10" spc="-1" strike="noStrike">
                <a:solidFill>
                  <a:srgbClr val="4e8c35"/>
                </a:solidFill>
                <a:latin typeface="微软雅黑"/>
              </a:rPr>
              <a:t>w2</a:t>
            </a:r>
            <a:endParaRPr b="0" lang="en-US" sz="610" spc="-1" strike="noStrike">
              <a:latin typeface="Arial"/>
            </a:endParaRPr>
          </a:p>
        </p:txBody>
      </p:sp>
      <p:sp>
        <p:nvSpPr>
          <p:cNvPr id="1222" name="Rounded Rectangle 73"/>
          <p:cNvSpPr/>
          <p:nvPr/>
        </p:nvSpPr>
        <p:spPr>
          <a:xfrm>
            <a:off x="4025520" y="4451040"/>
            <a:ext cx="310680" cy="209880"/>
          </a:xfrm>
          <a:prstGeom prst="roundRect">
            <a:avLst>
              <a:gd name="adj" fmla="val 16667"/>
            </a:avLst>
          </a:prstGeom>
          <a:solidFill>
            <a:srgbClr val="f2f8ef"/>
          </a:solidFill>
          <a:ln>
            <a:solidFill>
              <a:srgbClr val="4e8c35"/>
            </a:solidFill>
          </a:ln>
        </p:spPr>
        <p:style>
          <a:lnRef idx="1">
            <a:schemeClr val="accent1"/>
          </a:lnRef>
          <a:fillRef idx="3">
            <a:schemeClr val="accent1"/>
          </a:fillRef>
          <a:effectRef idx="2">
            <a:schemeClr val="accent1"/>
          </a:effectRef>
          <a:fontRef idx="minor"/>
        </p:style>
      </p:sp>
      <p:sp>
        <p:nvSpPr>
          <p:cNvPr id="1223" name="TextBox 74"/>
          <p:cNvSpPr/>
          <p:nvPr/>
        </p:nvSpPr>
        <p:spPr>
          <a:xfrm>
            <a:off x="4025520" y="4507200"/>
            <a:ext cx="310680" cy="9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10" spc="-1" strike="noStrike">
                <a:solidFill>
                  <a:srgbClr val="4e8c35"/>
                </a:solidFill>
                <a:latin typeface="微软雅黑"/>
              </a:rPr>
              <a:t>w3</a:t>
            </a:r>
            <a:endParaRPr b="0" lang="en-US" sz="610" spc="-1" strike="noStrike">
              <a:latin typeface="Arial"/>
            </a:endParaRPr>
          </a:p>
        </p:txBody>
      </p:sp>
      <p:sp>
        <p:nvSpPr>
          <p:cNvPr id="1224" name="TextBox 75"/>
          <p:cNvSpPr/>
          <p:nvPr/>
        </p:nvSpPr>
        <p:spPr>
          <a:xfrm>
            <a:off x="4363560" y="4496400"/>
            <a:ext cx="182520" cy="119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750" spc="-1" strike="noStrike">
                <a:solidFill>
                  <a:srgbClr val="4e8c35"/>
                </a:solidFill>
                <a:latin typeface="微软雅黑"/>
              </a:rPr>
              <a:t>…</a:t>
            </a:r>
            <a:endParaRPr b="0" lang="en-US" sz="750" spc="-1" strike="noStrike">
              <a:latin typeface="Arial"/>
            </a:endParaRPr>
          </a:p>
        </p:txBody>
      </p:sp>
      <p:sp>
        <p:nvSpPr>
          <p:cNvPr id="1225" name="Right Arrow 76"/>
          <p:cNvSpPr/>
          <p:nvPr/>
        </p:nvSpPr>
        <p:spPr>
          <a:xfrm>
            <a:off x="4757040" y="4377960"/>
            <a:ext cx="228240" cy="164160"/>
          </a:xfrm>
          <a:prstGeom prst="rightArrow">
            <a:avLst>
              <a:gd name="adj1" fmla="val 50000"/>
              <a:gd name="adj2" fmla="val 50000"/>
            </a:avLst>
          </a:prstGeom>
          <a:solidFill>
            <a:srgbClr val="4e8c35"/>
          </a:solidFill>
          <a:ln>
            <a:noFill/>
          </a:ln>
        </p:spPr>
        <p:style>
          <a:lnRef idx="1">
            <a:schemeClr val="accent1"/>
          </a:lnRef>
          <a:fillRef idx="3">
            <a:schemeClr val="accent1"/>
          </a:fillRef>
          <a:effectRef idx="2">
            <a:schemeClr val="accent1"/>
          </a:effectRef>
          <a:fontRef idx="minor"/>
        </p:style>
      </p:sp>
      <p:sp>
        <p:nvSpPr>
          <p:cNvPr id="1226" name="Rounded Rectangle 77"/>
          <p:cNvSpPr/>
          <p:nvPr/>
        </p:nvSpPr>
        <p:spPr>
          <a:xfrm>
            <a:off x="5049360" y="4176720"/>
            <a:ext cx="1554120" cy="612360"/>
          </a:xfrm>
          <a:prstGeom prst="roundRect">
            <a:avLst>
              <a:gd name="adj" fmla="val 16667"/>
            </a:avLst>
          </a:prstGeom>
          <a:solidFill>
            <a:srgbClr val="ffffff"/>
          </a:solidFill>
          <a:ln w="8890">
            <a:solidFill>
              <a:srgbClr val="4e8c35"/>
            </a:solidFill>
          </a:ln>
        </p:spPr>
        <p:style>
          <a:lnRef idx="1">
            <a:schemeClr val="accent1"/>
          </a:lnRef>
          <a:fillRef idx="3">
            <a:schemeClr val="accent1"/>
          </a:fillRef>
          <a:effectRef idx="2">
            <a:schemeClr val="accent1"/>
          </a:effectRef>
          <a:fontRef idx="minor"/>
        </p:style>
      </p:sp>
      <p:sp>
        <p:nvSpPr>
          <p:cNvPr id="1227" name="TextBox 78"/>
          <p:cNvSpPr/>
          <p:nvPr/>
        </p:nvSpPr>
        <p:spPr>
          <a:xfrm>
            <a:off x="5150160" y="4223880"/>
            <a:ext cx="1352880" cy="124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80" spc="-1" strike="noStrike">
                <a:solidFill>
                  <a:srgbClr val="4e8c35"/>
                </a:solidFill>
                <a:latin typeface="微软雅黑"/>
              </a:rPr>
              <a:t>按任务顺序汇总</a:t>
            </a:r>
            <a:endParaRPr b="0" lang="en-US" sz="780" spc="-1" strike="noStrike">
              <a:latin typeface="Arial"/>
            </a:endParaRPr>
          </a:p>
        </p:txBody>
      </p:sp>
      <p:pic>
        <p:nvPicPr>
          <p:cNvPr id="1228" name="Picture 79" descr="p7_out_d.png"/>
          <p:cNvPicPr/>
          <p:nvPr/>
        </p:nvPicPr>
        <p:blipFill>
          <a:blip r:embed="rId2"/>
          <a:stretch/>
        </p:blipFill>
        <p:spPr>
          <a:xfrm>
            <a:off x="5424480" y="4442040"/>
            <a:ext cx="804600" cy="209880"/>
          </a:xfrm>
          <a:prstGeom prst="rect">
            <a:avLst/>
          </a:prstGeom>
          <a:ln w="0">
            <a:noFill/>
          </a:ln>
        </p:spPr>
      </p:pic>
      <p:sp>
        <p:nvSpPr>
          <p:cNvPr id="1229" name="Right Arrow 80"/>
          <p:cNvSpPr/>
          <p:nvPr/>
        </p:nvSpPr>
        <p:spPr>
          <a:xfrm>
            <a:off x="6649560" y="4377960"/>
            <a:ext cx="209880" cy="164160"/>
          </a:xfrm>
          <a:prstGeom prst="rightArrow">
            <a:avLst>
              <a:gd name="adj1" fmla="val 50000"/>
              <a:gd name="adj2" fmla="val 50000"/>
            </a:avLst>
          </a:prstGeom>
          <a:solidFill>
            <a:srgbClr val="4e8c35"/>
          </a:solidFill>
          <a:ln>
            <a:noFill/>
          </a:ln>
        </p:spPr>
        <p:style>
          <a:lnRef idx="1">
            <a:schemeClr val="accent1"/>
          </a:lnRef>
          <a:fillRef idx="3">
            <a:schemeClr val="accent1"/>
          </a:fillRef>
          <a:effectRef idx="2">
            <a:schemeClr val="accent1"/>
          </a:effectRef>
          <a:fontRef idx="minor"/>
        </p:style>
      </p:sp>
      <p:sp>
        <p:nvSpPr>
          <p:cNvPr id="1230" name="Connector 81"/>
          <p:cNvSpPr/>
          <p:nvPr/>
        </p:nvSpPr>
        <p:spPr>
          <a:xfrm>
            <a:off x="7079400" y="4176720"/>
            <a:ext cx="360" cy="548640"/>
          </a:xfrm>
          <a:prstGeom prst="line">
            <a:avLst/>
          </a:prstGeom>
          <a:ln w="16510">
            <a:solidFill>
              <a:srgbClr val="7243a8"/>
            </a:solidFill>
          </a:ln>
        </p:spPr>
        <p:style>
          <a:lnRef idx="2">
            <a:schemeClr val="accent1"/>
          </a:lnRef>
          <a:fillRef idx="0">
            <a:schemeClr val="accent1"/>
          </a:fillRef>
          <a:effectRef idx="1">
            <a:schemeClr val="accent1"/>
          </a:effectRef>
          <a:fontRef idx="minor"/>
        </p:style>
      </p:sp>
      <p:sp>
        <p:nvSpPr>
          <p:cNvPr id="1231" name="Oval 82"/>
          <p:cNvSpPr/>
          <p:nvPr/>
        </p:nvSpPr>
        <p:spPr>
          <a:xfrm>
            <a:off x="7033680" y="4131000"/>
            <a:ext cx="91080" cy="91080"/>
          </a:xfrm>
          <a:prstGeom prst="ellipse">
            <a:avLst/>
          </a:prstGeom>
          <a:solidFill>
            <a:srgbClr val="7243a8"/>
          </a:solidFill>
          <a:ln w="5080">
            <a:solidFill>
              <a:srgbClr val="7243a8"/>
            </a:solidFill>
          </a:ln>
        </p:spPr>
        <p:style>
          <a:lnRef idx="1">
            <a:schemeClr val="accent1"/>
          </a:lnRef>
          <a:fillRef idx="3">
            <a:schemeClr val="accent1"/>
          </a:fillRef>
          <a:effectRef idx="2">
            <a:schemeClr val="accent1"/>
          </a:effectRef>
          <a:fontRef idx="minor"/>
        </p:style>
      </p:sp>
      <p:sp>
        <p:nvSpPr>
          <p:cNvPr id="1232" name="Oval 83"/>
          <p:cNvSpPr/>
          <p:nvPr/>
        </p:nvSpPr>
        <p:spPr>
          <a:xfrm>
            <a:off x="7033680" y="4679640"/>
            <a:ext cx="91080" cy="91080"/>
          </a:xfrm>
          <a:prstGeom prst="ellipse">
            <a:avLst/>
          </a:prstGeom>
          <a:solidFill>
            <a:srgbClr val="7243a8"/>
          </a:solidFill>
          <a:ln w="5080">
            <a:solidFill>
              <a:srgbClr val="7243a8"/>
            </a:solidFill>
          </a:ln>
        </p:spPr>
        <p:style>
          <a:lnRef idx="1">
            <a:schemeClr val="accent1"/>
          </a:lnRef>
          <a:fillRef idx="3">
            <a:schemeClr val="accent1"/>
          </a:fillRef>
          <a:effectRef idx="2">
            <a:schemeClr val="accent1"/>
          </a:effectRef>
          <a:fontRef idx="minor"/>
        </p:style>
      </p:sp>
      <p:sp>
        <p:nvSpPr>
          <p:cNvPr id="1233" name="TextBox 84"/>
          <p:cNvSpPr/>
          <p:nvPr/>
        </p:nvSpPr>
        <p:spPr>
          <a:xfrm>
            <a:off x="7216560" y="4308120"/>
            <a:ext cx="959760" cy="276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30" spc="-1" strike="noStrike">
                <a:solidFill>
                  <a:srgbClr val="7243a8"/>
                </a:solidFill>
                <a:latin typeface="微软雅黑"/>
              </a:rPr>
              <a:t>层末同步</a:t>
            </a:r>
            <a:endParaRPr b="0" lang="en-US" sz="830" spc="-1" strike="noStrike">
              <a:latin typeface="Arial"/>
            </a:endParaRPr>
          </a:p>
          <a:p>
            <a:pPr algn="ctr">
              <a:lnSpc>
                <a:spcPct val="104000"/>
              </a:lnSpc>
              <a:spcAft>
                <a:spcPts val="99"/>
              </a:spcAft>
              <a:buNone/>
            </a:pPr>
            <a:r>
              <a:rPr b="1" lang="zh-CN" sz="830" spc="-1" strike="noStrike">
                <a:solidFill>
                  <a:srgbClr val="7243a8"/>
                </a:solidFill>
                <a:latin typeface="微软雅黑"/>
              </a:rPr>
              <a:t>等待全部完成</a:t>
            </a:r>
            <a:endParaRPr b="0" lang="en-US" sz="830" spc="-1" strike="noStrike">
              <a:latin typeface="Arial"/>
            </a:endParaRPr>
          </a:p>
        </p:txBody>
      </p:sp>
      <p:sp>
        <p:nvSpPr>
          <p:cNvPr id="1234" name="Rounded Rectangle 85"/>
          <p:cNvSpPr/>
          <p:nvPr/>
        </p:nvSpPr>
        <p:spPr>
          <a:xfrm>
            <a:off x="459360" y="5127840"/>
            <a:ext cx="8009640" cy="1023840"/>
          </a:xfrm>
          <a:prstGeom prst="roundRect">
            <a:avLst>
              <a:gd name="adj" fmla="val 16667"/>
            </a:avLst>
          </a:prstGeom>
          <a:solidFill>
            <a:srgbClr val="fef5ec"/>
          </a:solidFill>
          <a:ln w="10795">
            <a:solidFill>
              <a:srgbClr val="dc6b12"/>
            </a:solidFill>
          </a:ln>
        </p:spPr>
        <p:style>
          <a:lnRef idx="1">
            <a:schemeClr val="accent1"/>
          </a:lnRef>
          <a:fillRef idx="3">
            <a:schemeClr val="accent1"/>
          </a:fillRef>
          <a:effectRef idx="2">
            <a:schemeClr val="accent1"/>
          </a:effectRef>
          <a:fontRef idx="minor"/>
        </p:style>
      </p:sp>
      <p:sp>
        <p:nvSpPr>
          <p:cNvPr id="1235" name="TextBox 86"/>
          <p:cNvSpPr/>
          <p:nvPr/>
        </p:nvSpPr>
        <p:spPr>
          <a:xfrm>
            <a:off x="632880" y="5211720"/>
            <a:ext cx="1572480" cy="16992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1070" spc="-1" strike="noStrike">
                <a:solidFill>
                  <a:srgbClr val="dc6b12"/>
                </a:solidFill>
                <a:latin typeface="微软雅黑"/>
              </a:rPr>
              <a:t>微网潮流任务</a:t>
            </a:r>
            <a:endParaRPr b="0" lang="en-US" sz="1070" spc="-1" strike="noStrike">
              <a:latin typeface="Arial"/>
            </a:endParaRPr>
          </a:p>
        </p:txBody>
      </p:sp>
      <p:sp>
        <p:nvSpPr>
          <p:cNvPr id="1236" name="Rounded Rectangle 87"/>
          <p:cNvSpPr/>
          <p:nvPr/>
        </p:nvSpPr>
        <p:spPr>
          <a:xfrm>
            <a:off x="678600" y="5520960"/>
            <a:ext cx="383760" cy="246600"/>
          </a:xfrm>
          <a:prstGeom prst="roundRect">
            <a:avLst>
              <a:gd name="adj" fmla="val 16667"/>
            </a:avLst>
          </a:prstGeom>
          <a:solidFill>
            <a:srgbClr val="ffffff"/>
          </a:solidFill>
          <a:ln w="8255">
            <a:solidFill>
              <a:srgbClr val="dc6b12"/>
            </a:solidFill>
          </a:ln>
        </p:spPr>
        <p:style>
          <a:lnRef idx="1">
            <a:schemeClr val="accent1"/>
          </a:lnRef>
          <a:fillRef idx="3">
            <a:schemeClr val="accent1"/>
          </a:fillRef>
          <a:effectRef idx="2">
            <a:schemeClr val="accent1"/>
          </a:effectRef>
          <a:fontRef idx="minor"/>
        </p:style>
      </p:sp>
      <p:sp>
        <p:nvSpPr>
          <p:cNvPr id="1237" name="TextBox 88"/>
          <p:cNvSpPr/>
          <p:nvPr/>
        </p:nvSpPr>
        <p:spPr>
          <a:xfrm>
            <a:off x="678600" y="559080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dc6b12"/>
                </a:solidFill>
                <a:latin typeface="微软雅黑"/>
              </a:rPr>
              <a:t>M1</a:t>
            </a:r>
            <a:endParaRPr b="0" lang="en-US" sz="670" spc="-1" strike="noStrike">
              <a:latin typeface="Arial"/>
            </a:endParaRPr>
          </a:p>
        </p:txBody>
      </p:sp>
      <p:sp>
        <p:nvSpPr>
          <p:cNvPr id="1238" name="Rounded Rectangle 89"/>
          <p:cNvSpPr/>
          <p:nvPr/>
        </p:nvSpPr>
        <p:spPr>
          <a:xfrm>
            <a:off x="1145160" y="5520960"/>
            <a:ext cx="383760" cy="246600"/>
          </a:xfrm>
          <a:prstGeom prst="roundRect">
            <a:avLst>
              <a:gd name="adj" fmla="val 16667"/>
            </a:avLst>
          </a:prstGeom>
          <a:solidFill>
            <a:srgbClr val="ffffff"/>
          </a:solidFill>
          <a:ln w="8255">
            <a:solidFill>
              <a:srgbClr val="dc6b12"/>
            </a:solidFill>
          </a:ln>
        </p:spPr>
        <p:style>
          <a:lnRef idx="1">
            <a:schemeClr val="accent1"/>
          </a:lnRef>
          <a:fillRef idx="3">
            <a:schemeClr val="accent1"/>
          </a:fillRef>
          <a:effectRef idx="2">
            <a:schemeClr val="accent1"/>
          </a:effectRef>
          <a:fontRef idx="minor"/>
        </p:style>
      </p:sp>
      <p:sp>
        <p:nvSpPr>
          <p:cNvPr id="1239" name="TextBox 90"/>
          <p:cNvSpPr/>
          <p:nvPr/>
        </p:nvSpPr>
        <p:spPr>
          <a:xfrm>
            <a:off x="1145160" y="559080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dc6b12"/>
                </a:solidFill>
                <a:latin typeface="微软雅黑"/>
              </a:rPr>
              <a:t>M2</a:t>
            </a:r>
            <a:endParaRPr b="0" lang="en-US" sz="670" spc="-1" strike="noStrike">
              <a:latin typeface="Arial"/>
            </a:endParaRPr>
          </a:p>
        </p:txBody>
      </p:sp>
      <p:sp>
        <p:nvSpPr>
          <p:cNvPr id="1240" name="Rounded Rectangle 91"/>
          <p:cNvSpPr/>
          <p:nvPr/>
        </p:nvSpPr>
        <p:spPr>
          <a:xfrm>
            <a:off x="1611360" y="5520960"/>
            <a:ext cx="383760" cy="246600"/>
          </a:xfrm>
          <a:prstGeom prst="roundRect">
            <a:avLst>
              <a:gd name="adj" fmla="val 16667"/>
            </a:avLst>
          </a:prstGeom>
          <a:solidFill>
            <a:srgbClr val="ffffff"/>
          </a:solidFill>
          <a:ln w="8255">
            <a:solidFill>
              <a:srgbClr val="dc6b12"/>
            </a:solidFill>
          </a:ln>
        </p:spPr>
        <p:style>
          <a:lnRef idx="1">
            <a:schemeClr val="accent1"/>
          </a:lnRef>
          <a:fillRef idx="3">
            <a:schemeClr val="accent1"/>
          </a:fillRef>
          <a:effectRef idx="2">
            <a:schemeClr val="accent1"/>
          </a:effectRef>
          <a:fontRef idx="minor"/>
        </p:style>
      </p:sp>
      <p:sp>
        <p:nvSpPr>
          <p:cNvPr id="1241" name="TextBox 92"/>
          <p:cNvSpPr/>
          <p:nvPr/>
        </p:nvSpPr>
        <p:spPr>
          <a:xfrm>
            <a:off x="1611360" y="559080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dc6b12"/>
                </a:solidFill>
                <a:latin typeface="微软雅黑"/>
              </a:rPr>
              <a:t>M3</a:t>
            </a:r>
            <a:endParaRPr b="0" lang="en-US" sz="670" spc="-1" strike="noStrike">
              <a:latin typeface="Arial"/>
            </a:endParaRPr>
          </a:p>
        </p:txBody>
      </p:sp>
      <p:sp>
        <p:nvSpPr>
          <p:cNvPr id="1242" name="Rounded Rectangle 93"/>
          <p:cNvSpPr/>
          <p:nvPr/>
        </p:nvSpPr>
        <p:spPr>
          <a:xfrm>
            <a:off x="2242440" y="5520960"/>
            <a:ext cx="383760" cy="246600"/>
          </a:xfrm>
          <a:prstGeom prst="roundRect">
            <a:avLst>
              <a:gd name="adj" fmla="val 16667"/>
            </a:avLst>
          </a:prstGeom>
          <a:solidFill>
            <a:srgbClr val="ffffff"/>
          </a:solidFill>
          <a:ln w="8255">
            <a:solidFill>
              <a:srgbClr val="dc6b12"/>
            </a:solidFill>
          </a:ln>
        </p:spPr>
        <p:style>
          <a:lnRef idx="1">
            <a:schemeClr val="accent1"/>
          </a:lnRef>
          <a:fillRef idx="3">
            <a:schemeClr val="accent1"/>
          </a:fillRef>
          <a:effectRef idx="2">
            <a:schemeClr val="accent1"/>
          </a:effectRef>
          <a:fontRef idx="minor"/>
        </p:style>
      </p:sp>
      <p:sp>
        <p:nvSpPr>
          <p:cNvPr id="1243" name="TextBox 94"/>
          <p:cNvSpPr/>
          <p:nvPr/>
        </p:nvSpPr>
        <p:spPr>
          <a:xfrm>
            <a:off x="2242440" y="5590800"/>
            <a:ext cx="383760" cy="1065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70" spc="-1" strike="noStrike">
                <a:solidFill>
                  <a:srgbClr val="dc6b12"/>
                </a:solidFill>
                <a:latin typeface="微软雅黑"/>
              </a:rPr>
              <a:t>MN</a:t>
            </a:r>
            <a:endParaRPr b="0" lang="en-US" sz="670" spc="-1" strike="noStrike">
              <a:latin typeface="Arial"/>
            </a:endParaRPr>
          </a:p>
        </p:txBody>
      </p:sp>
      <p:sp>
        <p:nvSpPr>
          <p:cNvPr id="1244" name="TextBox 95"/>
          <p:cNvSpPr/>
          <p:nvPr/>
        </p:nvSpPr>
        <p:spPr>
          <a:xfrm>
            <a:off x="1986120" y="5576400"/>
            <a:ext cx="200880" cy="13536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50" spc="-1" strike="noStrike">
                <a:solidFill>
                  <a:srgbClr val="dc6b12"/>
                </a:solidFill>
                <a:latin typeface="微软雅黑"/>
              </a:rPr>
              <a:t>…</a:t>
            </a:r>
            <a:endParaRPr b="0" lang="en-US" sz="850" spc="-1" strike="noStrike">
              <a:latin typeface="Arial"/>
            </a:endParaRPr>
          </a:p>
        </p:txBody>
      </p:sp>
      <p:sp>
        <p:nvSpPr>
          <p:cNvPr id="1245" name="Connector 96"/>
          <p:cNvSpPr/>
          <p:nvPr/>
        </p:nvSpPr>
        <p:spPr>
          <a:xfrm>
            <a:off x="733320" y="5886360"/>
            <a:ext cx="1838160" cy="360"/>
          </a:xfrm>
          <a:prstGeom prst="line">
            <a:avLst/>
          </a:prstGeom>
          <a:ln w="8255">
            <a:solidFill>
              <a:srgbClr val="dc6b12"/>
            </a:solidFill>
            <a:prstDash val="dash"/>
          </a:ln>
        </p:spPr>
        <p:style>
          <a:lnRef idx="2">
            <a:schemeClr val="accent1"/>
          </a:lnRef>
          <a:fillRef idx="0">
            <a:schemeClr val="accent1"/>
          </a:fillRef>
          <a:effectRef idx="1">
            <a:schemeClr val="accent1"/>
          </a:effectRef>
          <a:fontRef idx="minor"/>
        </p:style>
      </p:sp>
      <p:sp>
        <p:nvSpPr>
          <p:cNvPr id="1246" name="Connector 97"/>
          <p:cNvSpPr/>
          <p:nvPr/>
        </p:nvSpPr>
        <p:spPr>
          <a:xfrm>
            <a:off x="870480" y="5767560"/>
            <a:ext cx="360" cy="118800"/>
          </a:xfrm>
          <a:prstGeom prst="line">
            <a:avLst/>
          </a:prstGeom>
          <a:ln w="6985">
            <a:solidFill>
              <a:srgbClr val="dc6b12"/>
            </a:solidFill>
            <a:prstDash val="dash"/>
          </a:ln>
        </p:spPr>
        <p:style>
          <a:lnRef idx="2">
            <a:schemeClr val="accent1"/>
          </a:lnRef>
          <a:fillRef idx="0">
            <a:schemeClr val="accent1"/>
          </a:fillRef>
          <a:effectRef idx="1">
            <a:schemeClr val="accent1"/>
          </a:effectRef>
          <a:fontRef idx="minor"/>
        </p:style>
      </p:sp>
      <p:sp>
        <p:nvSpPr>
          <p:cNvPr id="1247" name="Connector 98"/>
          <p:cNvSpPr/>
          <p:nvPr/>
        </p:nvSpPr>
        <p:spPr>
          <a:xfrm>
            <a:off x="1337040" y="5767560"/>
            <a:ext cx="360" cy="118800"/>
          </a:xfrm>
          <a:prstGeom prst="line">
            <a:avLst/>
          </a:prstGeom>
          <a:ln w="6985">
            <a:solidFill>
              <a:srgbClr val="dc6b12"/>
            </a:solidFill>
            <a:prstDash val="dash"/>
          </a:ln>
        </p:spPr>
        <p:style>
          <a:lnRef idx="2">
            <a:schemeClr val="accent1"/>
          </a:lnRef>
          <a:fillRef idx="0">
            <a:schemeClr val="accent1"/>
          </a:fillRef>
          <a:effectRef idx="1">
            <a:schemeClr val="accent1"/>
          </a:effectRef>
          <a:fontRef idx="minor"/>
        </p:style>
      </p:sp>
      <p:sp>
        <p:nvSpPr>
          <p:cNvPr id="1248" name="Connector 99"/>
          <p:cNvSpPr/>
          <p:nvPr/>
        </p:nvSpPr>
        <p:spPr>
          <a:xfrm>
            <a:off x="1803240" y="5767560"/>
            <a:ext cx="360" cy="118800"/>
          </a:xfrm>
          <a:prstGeom prst="line">
            <a:avLst/>
          </a:prstGeom>
          <a:ln w="6985">
            <a:solidFill>
              <a:srgbClr val="dc6b12"/>
            </a:solidFill>
            <a:prstDash val="dash"/>
          </a:ln>
        </p:spPr>
        <p:style>
          <a:lnRef idx="2">
            <a:schemeClr val="accent1"/>
          </a:lnRef>
          <a:fillRef idx="0">
            <a:schemeClr val="accent1"/>
          </a:fillRef>
          <a:effectRef idx="1">
            <a:schemeClr val="accent1"/>
          </a:effectRef>
          <a:fontRef idx="minor"/>
        </p:style>
      </p:sp>
      <p:sp>
        <p:nvSpPr>
          <p:cNvPr id="1249" name="Connector 100"/>
          <p:cNvSpPr/>
          <p:nvPr/>
        </p:nvSpPr>
        <p:spPr>
          <a:xfrm>
            <a:off x="2434320" y="5767560"/>
            <a:ext cx="360" cy="118800"/>
          </a:xfrm>
          <a:prstGeom prst="line">
            <a:avLst/>
          </a:prstGeom>
          <a:ln w="6985">
            <a:solidFill>
              <a:srgbClr val="dc6b12"/>
            </a:solidFill>
            <a:prstDash val="dash"/>
          </a:ln>
        </p:spPr>
        <p:style>
          <a:lnRef idx="2">
            <a:schemeClr val="accent1"/>
          </a:lnRef>
          <a:fillRef idx="0">
            <a:schemeClr val="accent1"/>
          </a:fillRef>
          <a:effectRef idx="1">
            <a:schemeClr val="accent1"/>
          </a:effectRef>
          <a:fontRef idx="minor"/>
        </p:style>
      </p:sp>
      <p:sp>
        <p:nvSpPr>
          <p:cNvPr id="1250" name="TextBox 101"/>
          <p:cNvSpPr/>
          <p:nvPr/>
        </p:nvSpPr>
        <p:spPr>
          <a:xfrm>
            <a:off x="1099440" y="5917680"/>
            <a:ext cx="1151640" cy="1112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00" spc="-1" strike="noStrike">
                <a:solidFill>
                  <a:srgbClr val="dc6b12"/>
                </a:solidFill>
                <a:latin typeface="微软雅黑"/>
              </a:rPr>
              <a:t>独立任务队列</a:t>
            </a:r>
            <a:endParaRPr b="0" lang="en-US" sz="700" spc="-1" strike="noStrike">
              <a:latin typeface="Arial"/>
            </a:endParaRPr>
          </a:p>
        </p:txBody>
      </p:sp>
      <p:sp>
        <p:nvSpPr>
          <p:cNvPr id="1251" name="Right Arrow 102"/>
          <p:cNvSpPr/>
          <p:nvPr/>
        </p:nvSpPr>
        <p:spPr>
          <a:xfrm>
            <a:off x="2699640" y="5612400"/>
            <a:ext cx="228240" cy="164160"/>
          </a:xfrm>
          <a:prstGeom prst="rightArrow">
            <a:avLst>
              <a:gd name="adj1" fmla="val 50000"/>
              <a:gd name="adj2" fmla="val 50000"/>
            </a:avLst>
          </a:prstGeom>
          <a:solidFill>
            <a:srgbClr val="dc6b12"/>
          </a:solidFill>
          <a:ln>
            <a:noFill/>
          </a:ln>
        </p:spPr>
        <p:style>
          <a:lnRef idx="1">
            <a:schemeClr val="accent1"/>
          </a:lnRef>
          <a:fillRef idx="3">
            <a:schemeClr val="accent1"/>
          </a:fillRef>
          <a:effectRef idx="2">
            <a:schemeClr val="accent1"/>
          </a:effectRef>
          <a:fontRef idx="minor"/>
        </p:style>
      </p:sp>
      <p:sp>
        <p:nvSpPr>
          <p:cNvPr id="1252" name="Rounded Rectangle 103"/>
          <p:cNvSpPr/>
          <p:nvPr/>
        </p:nvSpPr>
        <p:spPr>
          <a:xfrm>
            <a:off x="2991960" y="5411160"/>
            <a:ext cx="1718640" cy="612360"/>
          </a:xfrm>
          <a:prstGeom prst="roundRect">
            <a:avLst>
              <a:gd name="adj" fmla="val 16667"/>
            </a:avLst>
          </a:prstGeom>
          <a:solidFill>
            <a:srgbClr val="ffffff"/>
          </a:solidFill>
          <a:ln w="8890">
            <a:solidFill>
              <a:srgbClr val="dc6b12"/>
            </a:solidFill>
          </a:ln>
        </p:spPr>
        <p:style>
          <a:lnRef idx="1">
            <a:schemeClr val="accent1"/>
          </a:lnRef>
          <a:fillRef idx="3">
            <a:schemeClr val="accent1"/>
          </a:fillRef>
          <a:effectRef idx="2">
            <a:schemeClr val="accent1"/>
          </a:effectRef>
          <a:fontRef idx="minor"/>
        </p:style>
      </p:sp>
      <p:sp>
        <p:nvSpPr>
          <p:cNvPr id="1253" name="TextBox 104"/>
          <p:cNvSpPr/>
          <p:nvPr/>
        </p:nvSpPr>
        <p:spPr>
          <a:xfrm>
            <a:off x="3101760" y="5466960"/>
            <a:ext cx="1499400" cy="1256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90" spc="-1" strike="noStrike">
                <a:solidFill>
                  <a:srgbClr val="dc6b12"/>
                </a:solidFill>
                <a:latin typeface="微软雅黑"/>
              </a:rPr>
              <a:t>微网工作进程池</a:t>
            </a:r>
            <a:endParaRPr b="0" lang="en-US" sz="790" spc="-1" strike="noStrike">
              <a:latin typeface="Arial"/>
            </a:endParaRPr>
          </a:p>
        </p:txBody>
      </p:sp>
      <p:sp>
        <p:nvSpPr>
          <p:cNvPr id="1254" name="Rounded Rectangle 105"/>
          <p:cNvSpPr/>
          <p:nvPr/>
        </p:nvSpPr>
        <p:spPr>
          <a:xfrm>
            <a:off x="3184200" y="5685480"/>
            <a:ext cx="310680" cy="209880"/>
          </a:xfrm>
          <a:prstGeom prst="roundRect">
            <a:avLst>
              <a:gd name="adj" fmla="val 16667"/>
            </a:avLst>
          </a:prstGeom>
          <a:solidFill>
            <a:srgbClr val="fef5ec"/>
          </a:solidFill>
          <a:ln>
            <a:solidFill>
              <a:srgbClr val="dc6b12"/>
            </a:solidFill>
          </a:ln>
        </p:spPr>
        <p:style>
          <a:lnRef idx="1">
            <a:schemeClr val="accent1"/>
          </a:lnRef>
          <a:fillRef idx="3">
            <a:schemeClr val="accent1"/>
          </a:fillRef>
          <a:effectRef idx="2">
            <a:schemeClr val="accent1"/>
          </a:effectRef>
          <a:fontRef idx="minor"/>
        </p:style>
      </p:sp>
      <p:sp>
        <p:nvSpPr>
          <p:cNvPr id="1255" name="TextBox 106"/>
          <p:cNvSpPr/>
          <p:nvPr/>
        </p:nvSpPr>
        <p:spPr>
          <a:xfrm>
            <a:off x="3184200" y="5741640"/>
            <a:ext cx="310680" cy="9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10" spc="-1" strike="noStrike">
                <a:solidFill>
                  <a:srgbClr val="dc6b12"/>
                </a:solidFill>
                <a:latin typeface="微软雅黑"/>
              </a:rPr>
              <a:t>w1</a:t>
            </a:r>
            <a:endParaRPr b="0" lang="en-US" sz="610" spc="-1" strike="noStrike">
              <a:latin typeface="Arial"/>
            </a:endParaRPr>
          </a:p>
        </p:txBody>
      </p:sp>
      <p:sp>
        <p:nvSpPr>
          <p:cNvPr id="1256" name="Rounded Rectangle 107"/>
          <p:cNvSpPr/>
          <p:nvPr/>
        </p:nvSpPr>
        <p:spPr>
          <a:xfrm>
            <a:off x="3604680" y="5685480"/>
            <a:ext cx="310680" cy="209880"/>
          </a:xfrm>
          <a:prstGeom prst="roundRect">
            <a:avLst>
              <a:gd name="adj" fmla="val 16667"/>
            </a:avLst>
          </a:prstGeom>
          <a:solidFill>
            <a:srgbClr val="fef5ec"/>
          </a:solidFill>
          <a:ln>
            <a:solidFill>
              <a:srgbClr val="dc6b12"/>
            </a:solidFill>
          </a:ln>
        </p:spPr>
        <p:style>
          <a:lnRef idx="1">
            <a:schemeClr val="accent1"/>
          </a:lnRef>
          <a:fillRef idx="3">
            <a:schemeClr val="accent1"/>
          </a:fillRef>
          <a:effectRef idx="2">
            <a:schemeClr val="accent1"/>
          </a:effectRef>
          <a:fontRef idx="minor"/>
        </p:style>
      </p:sp>
      <p:sp>
        <p:nvSpPr>
          <p:cNvPr id="1257" name="TextBox 108"/>
          <p:cNvSpPr/>
          <p:nvPr/>
        </p:nvSpPr>
        <p:spPr>
          <a:xfrm>
            <a:off x="3604680" y="5741640"/>
            <a:ext cx="310680" cy="9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10" spc="-1" strike="noStrike">
                <a:solidFill>
                  <a:srgbClr val="dc6b12"/>
                </a:solidFill>
                <a:latin typeface="微软雅黑"/>
              </a:rPr>
              <a:t>w2</a:t>
            </a:r>
            <a:endParaRPr b="0" lang="en-US" sz="610" spc="-1" strike="noStrike">
              <a:latin typeface="Arial"/>
            </a:endParaRPr>
          </a:p>
        </p:txBody>
      </p:sp>
      <p:sp>
        <p:nvSpPr>
          <p:cNvPr id="1258" name="Rounded Rectangle 109"/>
          <p:cNvSpPr/>
          <p:nvPr/>
        </p:nvSpPr>
        <p:spPr>
          <a:xfrm>
            <a:off x="4025520" y="5685480"/>
            <a:ext cx="310680" cy="209880"/>
          </a:xfrm>
          <a:prstGeom prst="roundRect">
            <a:avLst>
              <a:gd name="adj" fmla="val 16667"/>
            </a:avLst>
          </a:prstGeom>
          <a:solidFill>
            <a:srgbClr val="fef5ec"/>
          </a:solidFill>
          <a:ln>
            <a:solidFill>
              <a:srgbClr val="dc6b12"/>
            </a:solidFill>
          </a:ln>
        </p:spPr>
        <p:style>
          <a:lnRef idx="1">
            <a:schemeClr val="accent1"/>
          </a:lnRef>
          <a:fillRef idx="3">
            <a:schemeClr val="accent1"/>
          </a:fillRef>
          <a:effectRef idx="2">
            <a:schemeClr val="accent1"/>
          </a:effectRef>
          <a:fontRef idx="minor"/>
        </p:style>
      </p:sp>
      <p:sp>
        <p:nvSpPr>
          <p:cNvPr id="1259" name="TextBox 110"/>
          <p:cNvSpPr/>
          <p:nvPr/>
        </p:nvSpPr>
        <p:spPr>
          <a:xfrm>
            <a:off x="4025520" y="5741640"/>
            <a:ext cx="310680" cy="97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610" spc="-1" strike="noStrike">
                <a:solidFill>
                  <a:srgbClr val="dc6b12"/>
                </a:solidFill>
                <a:latin typeface="微软雅黑"/>
              </a:rPr>
              <a:t>w3</a:t>
            </a:r>
            <a:endParaRPr b="0" lang="en-US" sz="610" spc="-1" strike="noStrike">
              <a:latin typeface="Arial"/>
            </a:endParaRPr>
          </a:p>
        </p:txBody>
      </p:sp>
      <p:sp>
        <p:nvSpPr>
          <p:cNvPr id="1260" name="TextBox 111"/>
          <p:cNvSpPr/>
          <p:nvPr/>
        </p:nvSpPr>
        <p:spPr>
          <a:xfrm>
            <a:off x="4363560" y="5730840"/>
            <a:ext cx="182520" cy="1195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750" spc="-1" strike="noStrike">
                <a:solidFill>
                  <a:srgbClr val="dc6b12"/>
                </a:solidFill>
                <a:latin typeface="微软雅黑"/>
              </a:rPr>
              <a:t>…</a:t>
            </a:r>
            <a:endParaRPr b="0" lang="en-US" sz="750" spc="-1" strike="noStrike">
              <a:latin typeface="Arial"/>
            </a:endParaRPr>
          </a:p>
        </p:txBody>
      </p:sp>
      <p:sp>
        <p:nvSpPr>
          <p:cNvPr id="1261" name="Right Arrow 112"/>
          <p:cNvSpPr/>
          <p:nvPr/>
        </p:nvSpPr>
        <p:spPr>
          <a:xfrm>
            <a:off x="4757040" y="5612400"/>
            <a:ext cx="228240" cy="164160"/>
          </a:xfrm>
          <a:prstGeom prst="rightArrow">
            <a:avLst>
              <a:gd name="adj1" fmla="val 50000"/>
              <a:gd name="adj2" fmla="val 50000"/>
            </a:avLst>
          </a:prstGeom>
          <a:solidFill>
            <a:srgbClr val="dc6b12"/>
          </a:solidFill>
          <a:ln>
            <a:noFill/>
          </a:ln>
        </p:spPr>
        <p:style>
          <a:lnRef idx="1">
            <a:schemeClr val="accent1"/>
          </a:lnRef>
          <a:fillRef idx="3">
            <a:schemeClr val="accent1"/>
          </a:fillRef>
          <a:effectRef idx="2">
            <a:schemeClr val="accent1"/>
          </a:effectRef>
          <a:fontRef idx="minor"/>
        </p:style>
      </p:sp>
      <p:sp>
        <p:nvSpPr>
          <p:cNvPr id="1262" name="Rounded Rectangle 113"/>
          <p:cNvSpPr/>
          <p:nvPr/>
        </p:nvSpPr>
        <p:spPr>
          <a:xfrm>
            <a:off x="5049360" y="5411160"/>
            <a:ext cx="1554120" cy="612360"/>
          </a:xfrm>
          <a:prstGeom prst="roundRect">
            <a:avLst>
              <a:gd name="adj" fmla="val 16667"/>
            </a:avLst>
          </a:prstGeom>
          <a:solidFill>
            <a:srgbClr val="ffffff"/>
          </a:solidFill>
          <a:ln w="8890">
            <a:solidFill>
              <a:srgbClr val="dc6b12"/>
            </a:solidFill>
          </a:ln>
        </p:spPr>
        <p:style>
          <a:lnRef idx="1">
            <a:schemeClr val="accent1"/>
          </a:lnRef>
          <a:fillRef idx="3">
            <a:schemeClr val="accent1"/>
          </a:fillRef>
          <a:effectRef idx="2">
            <a:schemeClr val="accent1"/>
          </a:effectRef>
          <a:fontRef idx="minor"/>
        </p:style>
      </p:sp>
      <p:sp>
        <p:nvSpPr>
          <p:cNvPr id="1263" name="TextBox 114"/>
          <p:cNvSpPr/>
          <p:nvPr/>
        </p:nvSpPr>
        <p:spPr>
          <a:xfrm>
            <a:off x="5150160" y="5458320"/>
            <a:ext cx="1352880" cy="124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80" spc="-1" strike="noStrike">
                <a:solidFill>
                  <a:srgbClr val="dc6b12"/>
                </a:solidFill>
                <a:latin typeface="微软雅黑"/>
              </a:rPr>
              <a:t>按任务顺序汇总</a:t>
            </a:r>
            <a:endParaRPr b="0" lang="en-US" sz="780" spc="-1" strike="noStrike">
              <a:latin typeface="Arial"/>
            </a:endParaRPr>
          </a:p>
        </p:txBody>
      </p:sp>
      <p:pic>
        <p:nvPicPr>
          <p:cNvPr id="1264" name="Picture 115" descr="p7_out_m.png"/>
          <p:cNvPicPr/>
          <p:nvPr/>
        </p:nvPicPr>
        <p:blipFill>
          <a:blip r:embed="rId3"/>
          <a:stretch/>
        </p:blipFill>
        <p:spPr>
          <a:xfrm>
            <a:off x="5679720" y="5676480"/>
            <a:ext cx="294120" cy="209880"/>
          </a:xfrm>
          <a:prstGeom prst="rect">
            <a:avLst/>
          </a:prstGeom>
          <a:ln w="0">
            <a:noFill/>
          </a:ln>
        </p:spPr>
      </p:pic>
      <p:sp>
        <p:nvSpPr>
          <p:cNvPr id="1265" name="Right Arrow 116"/>
          <p:cNvSpPr/>
          <p:nvPr/>
        </p:nvSpPr>
        <p:spPr>
          <a:xfrm>
            <a:off x="6649560" y="5612400"/>
            <a:ext cx="209880" cy="164160"/>
          </a:xfrm>
          <a:prstGeom prst="rightArrow">
            <a:avLst>
              <a:gd name="adj1" fmla="val 50000"/>
              <a:gd name="adj2" fmla="val 50000"/>
            </a:avLst>
          </a:prstGeom>
          <a:solidFill>
            <a:srgbClr val="dc6b12"/>
          </a:solidFill>
          <a:ln>
            <a:noFill/>
          </a:ln>
        </p:spPr>
        <p:style>
          <a:lnRef idx="1">
            <a:schemeClr val="accent1"/>
          </a:lnRef>
          <a:fillRef idx="3">
            <a:schemeClr val="accent1"/>
          </a:fillRef>
          <a:effectRef idx="2">
            <a:schemeClr val="accent1"/>
          </a:effectRef>
          <a:fontRef idx="minor"/>
        </p:style>
      </p:sp>
      <p:sp>
        <p:nvSpPr>
          <p:cNvPr id="1266" name="Connector 117"/>
          <p:cNvSpPr/>
          <p:nvPr/>
        </p:nvSpPr>
        <p:spPr>
          <a:xfrm>
            <a:off x="7079400" y="5411160"/>
            <a:ext cx="360" cy="548640"/>
          </a:xfrm>
          <a:prstGeom prst="line">
            <a:avLst/>
          </a:prstGeom>
          <a:ln w="16510">
            <a:solidFill>
              <a:srgbClr val="7243a8"/>
            </a:solidFill>
          </a:ln>
        </p:spPr>
        <p:style>
          <a:lnRef idx="2">
            <a:schemeClr val="accent1"/>
          </a:lnRef>
          <a:fillRef idx="0">
            <a:schemeClr val="accent1"/>
          </a:fillRef>
          <a:effectRef idx="1">
            <a:schemeClr val="accent1"/>
          </a:effectRef>
          <a:fontRef idx="minor"/>
        </p:style>
      </p:sp>
      <p:sp>
        <p:nvSpPr>
          <p:cNvPr id="1267" name="Oval 118"/>
          <p:cNvSpPr/>
          <p:nvPr/>
        </p:nvSpPr>
        <p:spPr>
          <a:xfrm>
            <a:off x="7033680" y="5365440"/>
            <a:ext cx="91080" cy="91080"/>
          </a:xfrm>
          <a:prstGeom prst="ellipse">
            <a:avLst/>
          </a:prstGeom>
          <a:solidFill>
            <a:srgbClr val="7243a8"/>
          </a:solidFill>
          <a:ln w="5080">
            <a:solidFill>
              <a:srgbClr val="7243a8"/>
            </a:solidFill>
          </a:ln>
        </p:spPr>
        <p:style>
          <a:lnRef idx="1">
            <a:schemeClr val="accent1"/>
          </a:lnRef>
          <a:fillRef idx="3">
            <a:schemeClr val="accent1"/>
          </a:fillRef>
          <a:effectRef idx="2">
            <a:schemeClr val="accent1"/>
          </a:effectRef>
          <a:fontRef idx="minor"/>
        </p:style>
      </p:sp>
      <p:sp>
        <p:nvSpPr>
          <p:cNvPr id="1268" name="Oval 119"/>
          <p:cNvSpPr/>
          <p:nvPr/>
        </p:nvSpPr>
        <p:spPr>
          <a:xfrm>
            <a:off x="7033680" y="5914080"/>
            <a:ext cx="91080" cy="91080"/>
          </a:xfrm>
          <a:prstGeom prst="ellipse">
            <a:avLst/>
          </a:prstGeom>
          <a:solidFill>
            <a:srgbClr val="7243a8"/>
          </a:solidFill>
          <a:ln w="5080">
            <a:solidFill>
              <a:srgbClr val="7243a8"/>
            </a:solidFill>
          </a:ln>
        </p:spPr>
        <p:style>
          <a:lnRef idx="1">
            <a:schemeClr val="accent1"/>
          </a:lnRef>
          <a:fillRef idx="3">
            <a:schemeClr val="accent1"/>
          </a:fillRef>
          <a:effectRef idx="2">
            <a:schemeClr val="accent1"/>
          </a:effectRef>
          <a:fontRef idx="minor"/>
        </p:style>
      </p:sp>
      <p:sp>
        <p:nvSpPr>
          <p:cNvPr id="1269" name="TextBox 120"/>
          <p:cNvSpPr/>
          <p:nvPr/>
        </p:nvSpPr>
        <p:spPr>
          <a:xfrm>
            <a:off x="7216560" y="5542560"/>
            <a:ext cx="959760" cy="276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830" spc="-1" strike="noStrike">
                <a:solidFill>
                  <a:srgbClr val="7243a8"/>
                </a:solidFill>
                <a:latin typeface="微软雅黑"/>
              </a:rPr>
              <a:t>层末同步</a:t>
            </a:r>
            <a:endParaRPr b="0" lang="en-US" sz="830" spc="-1" strike="noStrike">
              <a:latin typeface="Arial"/>
            </a:endParaRPr>
          </a:p>
          <a:p>
            <a:pPr algn="ctr">
              <a:lnSpc>
                <a:spcPct val="104000"/>
              </a:lnSpc>
              <a:spcAft>
                <a:spcPts val="99"/>
              </a:spcAft>
              <a:buNone/>
            </a:pPr>
            <a:r>
              <a:rPr b="1" lang="zh-CN" sz="830" spc="-1" strike="noStrike">
                <a:solidFill>
                  <a:srgbClr val="7243a8"/>
                </a:solidFill>
                <a:latin typeface="微软雅黑"/>
              </a:rPr>
              <a:t>等待全部完成</a:t>
            </a:r>
            <a:endParaRPr b="0" lang="en-US" sz="830" spc="-1" strike="noStrike">
              <a:latin typeface="Arial"/>
            </a:endParaRPr>
          </a:p>
        </p:txBody>
      </p:sp>
      <p:sp>
        <p:nvSpPr>
          <p:cNvPr id="1270" name="Down Arrow 121"/>
          <p:cNvSpPr/>
          <p:nvPr/>
        </p:nvSpPr>
        <p:spPr>
          <a:xfrm>
            <a:off x="5735160" y="3701160"/>
            <a:ext cx="200880" cy="155160"/>
          </a:xfrm>
          <a:prstGeom prst="downArrow">
            <a:avLst>
              <a:gd name="adj1" fmla="val 50000"/>
              <a:gd name="adj2" fmla="val 50000"/>
            </a:avLst>
          </a:prstGeom>
          <a:solidFill>
            <a:srgbClr val="1e5aa8"/>
          </a:solidFill>
          <a:ln>
            <a:noFill/>
          </a:ln>
        </p:spPr>
        <p:style>
          <a:lnRef idx="1">
            <a:schemeClr val="accent1"/>
          </a:lnRef>
          <a:fillRef idx="3">
            <a:schemeClr val="accent1"/>
          </a:fillRef>
          <a:effectRef idx="2">
            <a:schemeClr val="accent1"/>
          </a:effectRef>
          <a:fontRef idx="minor"/>
        </p:style>
      </p:sp>
      <p:sp>
        <p:nvSpPr>
          <p:cNvPr id="1271" name="TextBox 122"/>
          <p:cNvSpPr/>
          <p:nvPr/>
        </p:nvSpPr>
        <p:spPr>
          <a:xfrm>
            <a:off x="5954760" y="3714840"/>
            <a:ext cx="804240" cy="10944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690" spc="-1" strike="noStrike">
                <a:solidFill>
                  <a:srgbClr val="1e5aa8"/>
                </a:solidFill>
                <a:latin typeface="微软雅黑"/>
              </a:rPr>
              <a:t>下发边界电压</a:t>
            </a:r>
            <a:endParaRPr b="0" lang="en-US" sz="690" spc="-1" strike="noStrike">
              <a:latin typeface="Arial"/>
            </a:endParaRPr>
          </a:p>
        </p:txBody>
      </p:sp>
      <p:sp>
        <p:nvSpPr>
          <p:cNvPr id="1272" name="Down Arrow 123"/>
          <p:cNvSpPr/>
          <p:nvPr/>
        </p:nvSpPr>
        <p:spPr>
          <a:xfrm>
            <a:off x="5735160" y="4935600"/>
            <a:ext cx="200880" cy="155160"/>
          </a:xfrm>
          <a:prstGeom prst="downArrow">
            <a:avLst>
              <a:gd name="adj1" fmla="val 50000"/>
              <a:gd name="adj2" fmla="val 50000"/>
            </a:avLst>
          </a:prstGeom>
          <a:solidFill>
            <a:srgbClr val="4e8c35"/>
          </a:solidFill>
          <a:ln>
            <a:noFill/>
          </a:ln>
        </p:spPr>
        <p:style>
          <a:lnRef idx="1">
            <a:schemeClr val="accent1"/>
          </a:lnRef>
          <a:fillRef idx="3">
            <a:schemeClr val="accent1"/>
          </a:fillRef>
          <a:effectRef idx="2">
            <a:schemeClr val="accent1"/>
          </a:effectRef>
          <a:fontRef idx="minor"/>
        </p:style>
      </p:sp>
      <p:sp>
        <p:nvSpPr>
          <p:cNvPr id="1273" name="TextBox 124"/>
          <p:cNvSpPr/>
          <p:nvPr/>
        </p:nvSpPr>
        <p:spPr>
          <a:xfrm>
            <a:off x="5954760" y="4949280"/>
            <a:ext cx="895680" cy="10944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690" spc="-1" strike="noStrike">
                <a:solidFill>
                  <a:srgbClr val="4e8c35"/>
                </a:solidFill>
                <a:latin typeface="微软雅黑"/>
              </a:rPr>
              <a:t>下发 </a:t>
            </a:r>
            <a:r>
              <a:rPr b="1" lang="en-US" sz="690" spc="-1" strike="noStrike">
                <a:solidFill>
                  <a:srgbClr val="4e8c35"/>
                </a:solidFill>
                <a:latin typeface="微软雅黑"/>
              </a:rPr>
              <a:t>PCC </a:t>
            </a:r>
            <a:r>
              <a:rPr b="1" lang="zh-CN" sz="690" spc="-1" strike="noStrike">
                <a:solidFill>
                  <a:srgbClr val="4e8c35"/>
                </a:solidFill>
                <a:latin typeface="微软雅黑"/>
              </a:rPr>
              <a:t>电压</a:t>
            </a:r>
            <a:endParaRPr b="0" lang="en-US" sz="690" spc="-1" strike="noStrike">
              <a:latin typeface="Arial"/>
            </a:endParaRPr>
          </a:p>
        </p:txBody>
      </p:sp>
      <p:sp>
        <p:nvSpPr>
          <p:cNvPr id="1274" name="Rounded Rectangle 125"/>
          <p:cNvSpPr/>
          <p:nvPr/>
        </p:nvSpPr>
        <p:spPr>
          <a:xfrm>
            <a:off x="459360" y="6307200"/>
            <a:ext cx="8009640" cy="347040"/>
          </a:xfrm>
          <a:prstGeom prst="roundRect">
            <a:avLst>
              <a:gd name="adj" fmla="val 16667"/>
            </a:avLst>
          </a:prstGeom>
          <a:solidFill>
            <a:srgbClr val="f1f7f6"/>
          </a:solidFill>
          <a:ln w="8255">
            <a:solidFill>
              <a:srgbClr val="8fb5af"/>
            </a:solidFill>
          </a:ln>
        </p:spPr>
        <p:style>
          <a:lnRef idx="1">
            <a:schemeClr val="accent1"/>
          </a:lnRef>
          <a:fillRef idx="3">
            <a:schemeClr val="accent1"/>
          </a:fillRef>
          <a:effectRef idx="2">
            <a:schemeClr val="accent1"/>
          </a:effectRef>
          <a:fontRef idx="minor"/>
        </p:style>
      </p:sp>
      <p:sp>
        <p:nvSpPr>
          <p:cNvPr id="1275" name="TextBox 126"/>
          <p:cNvSpPr/>
          <p:nvPr/>
        </p:nvSpPr>
        <p:spPr>
          <a:xfrm>
            <a:off x="632880" y="6395400"/>
            <a:ext cx="7662240" cy="1432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900" spc="-1" strike="noStrike">
                <a:solidFill>
                  <a:srgbClr val="005d58"/>
                </a:solidFill>
                <a:latin typeface="微软雅黑"/>
              </a:rPr>
              <a:t>层内批量提交并行求解  </a:t>
            </a:r>
            <a:r>
              <a:rPr b="1" lang="en-US" sz="900" spc="-1" strike="noStrike">
                <a:solidFill>
                  <a:srgbClr val="005d58"/>
                </a:solidFill>
                <a:latin typeface="微软雅黑"/>
              </a:rPr>
              <a:t>|  </a:t>
            </a:r>
            <a:r>
              <a:rPr b="1" lang="zh-CN" sz="900" spc="-1" strike="noStrike">
                <a:solidFill>
                  <a:srgbClr val="005d58"/>
                </a:solidFill>
                <a:latin typeface="微软雅黑"/>
              </a:rPr>
              <a:t>层末按任务顺序汇总  </a:t>
            </a:r>
            <a:r>
              <a:rPr b="1" lang="en-US" sz="900" spc="-1" strike="noStrike">
                <a:solidFill>
                  <a:srgbClr val="005d58"/>
                </a:solidFill>
                <a:latin typeface="微软雅黑"/>
              </a:rPr>
              <a:t>|  </a:t>
            </a:r>
            <a:r>
              <a:rPr b="1" lang="zh-CN" sz="900" spc="-1" strike="noStrike">
                <a:solidFill>
                  <a:srgbClr val="005d58"/>
                </a:solidFill>
                <a:latin typeface="微软雅黑"/>
              </a:rPr>
              <a:t>层间依据边界变量顺序推进</a:t>
            </a:r>
            <a:endParaRPr b="0" lang="en-US" sz="900" spc="-1" strike="noStrike">
              <a:latin typeface="Arial"/>
            </a:endParaRPr>
          </a:p>
        </p:txBody>
      </p:sp>
      <p:sp>
        <p:nvSpPr>
          <p:cNvPr id="1276" name="Rounded Rectangle 127"/>
          <p:cNvSpPr/>
          <p:nvPr/>
        </p:nvSpPr>
        <p:spPr>
          <a:xfrm>
            <a:off x="8661240" y="2658960"/>
            <a:ext cx="3090240" cy="1325520"/>
          </a:xfrm>
          <a:prstGeom prst="roundRect">
            <a:avLst>
              <a:gd name="adj" fmla="val 16667"/>
            </a:avLst>
          </a:prstGeom>
          <a:solidFill>
            <a:srgbClr val="fafbfc"/>
          </a:solidFill>
          <a:ln w="10160">
            <a:solidFill>
              <a:srgbClr val="9bb9d8"/>
            </a:solidFill>
          </a:ln>
        </p:spPr>
        <p:style>
          <a:lnRef idx="1">
            <a:schemeClr val="accent1"/>
          </a:lnRef>
          <a:fillRef idx="3">
            <a:schemeClr val="accent1"/>
          </a:fillRef>
          <a:effectRef idx="2">
            <a:schemeClr val="accent1"/>
          </a:effectRef>
          <a:fontRef idx="minor"/>
        </p:style>
      </p:sp>
      <p:sp>
        <p:nvSpPr>
          <p:cNvPr id="1277" name="TextBox 128"/>
          <p:cNvSpPr/>
          <p:nvPr/>
        </p:nvSpPr>
        <p:spPr>
          <a:xfrm>
            <a:off x="8835120" y="2757240"/>
            <a:ext cx="2742840" cy="17784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20" spc="-1" strike="noStrike">
                <a:solidFill>
                  <a:srgbClr val="1e5aa8"/>
                </a:solidFill>
                <a:latin typeface="微软雅黑"/>
              </a:rPr>
              <a:t>动态工作进程配置</a:t>
            </a:r>
            <a:endParaRPr b="0" lang="en-US" sz="1120" spc="-1" strike="noStrike">
              <a:latin typeface="Arial"/>
            </a:endParaRPr>
          </a:p>
        </p:txBody>
      </p:sp>
      <p:sp>
        <p:nvSpPr>
          <p:cNvPr id="1278" name="Connector 129"/>
          <p:cNvSpPr/>
          <p:nvPr/>
        </p:nvSpPr>
        <p:spPr>
          <a:xfrm>
            <a:off x="8835120" y="2997000"/>
            <a:ext cx="2743200" cy="360"/>
          </a:xfrm>
          <a:prstGeom prst="line">
            <a:avLst/>
          </a:prstGeom>
          <a:ln w="8255">
            <a:solidFill>
              <a:srgbClr val="9bb9d8"/>
            </a:solidFill>
          </a:ln>
        </p:spPr>
        <p:style>
          <a:lnRef idx="2">
            <a:schemeClr val="accent1"/>
          </a:lnRef>
          <a:fillRef idx="0">
            <a:schemeClr val="accent1"/>
          </a:fillRef>
          <a:effectRef idx="1">
            <a:schemeClr val="accent1"/>
          </a:effectRef>
          <a:fontRef idx="minor"/>
        </p:style>
      </p:sp>
      <p:pic>
        <p:nvPicPr>
          <p:cNvPr id="1279" name="Picture 130" descr="p7_worker_rule.png"/>
          <p:cNvPicPr/>
          <p:nvPr/>
        </p:nvPicPr>
        <p:blipFill>
          <a:blip r:embed="rId4"/>
          <a:stretch/>
        </p:blipFill>
        <p:spPr>
          <a:xfrm>
            <a:off x="8935560" y="3160440"/>
            <a:ext cx="2532600" cy="158040"/>
          </a:xfrm>
          <a:prstGeom prst="rect">
            <a:avLst/>
          </a:prstGeom>
          <a:ln w="0">
            <a:noFill/>
          </a:ln>
        </p:spPr>
      </p:pic>
      <p:sp>
        <p:nvSpPr>
          <p:cNvPr id="1280" name="TextBox 131"/>
          <p:cNvSpPr/>
          <p:nvPr/>
        </p:nvSpPr>
        <p:spPr>
          <a:xfrm>
            <a:off x="8889840" y="3476160"/>
            <a:ext cx="2624040" cy="27612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en-US" sz="830" spc="-1" strike="noStrike">
                <a:solidFill>
                  <a:srgbClr val="181b1d"/>
                </a:solidFill>
                <a:latin typeface="微软雅黑"/>
              </a:rPr>
              <a:t>Nℓ</a:t>
            </a:r>
            <a:r>
              <a:rPr b="0" lang="zh-CN" sz="830" spc="-1" strike="noStrike">
                <a:solidFill>
                  <a:srgbClr val="181b1d"/>
                </a:solidFill>
                <a:latin typeface="微软雅黑"/>
              </a:rPr>
              <a:t>：本层任务数    </a:t>
            </a:r>
            <a:r>
              <a:rPr b="0" lang="en-US" sz="830" spc="-1" strike="noStrike">
                <a:solidFill>
                  <a:srgbClr val="181b1d"/>
                </a:solidFill>
                <a:latin typeface="微软雅黑"/>
              </a:rPr>
              <a:t>C</a:t>
            </a:r>
            <a:r>
              <a:rPr b="0" lang="zh-CN" sz="830" spc="-1" strike="noStrike">
                <a:solidFill>
                  <a:srgbClr val="181b1d"/>
                </a:solidFill>
                <a:latin typeface="微软雅黑"/>
              </a:rPr>
              <a:t>：可用处理核心数</a:t>
            </a:r>
            <a:endParaRPr b="0" lang="en-US" sz="830" spc="-1" strike="noStrike">
              <a:latin typeface="Arial"/>
            </a:endParaRPr>
          </a:p>
          <a:p>
            <a:pPr algn="ctr">
              <a:lnSpc>
                <a:spcPct val="104000"/>
              </a:lnSpc>
              <a:spcAft>
                <a:spcPts val="99"/>
              </a:spcAft>
              <a:buNone/>
            </a:pPr>
            <a:r>
              <a:rPr b="0" lang="zh-CN" sz="830" spc="-1" strike="noStrike">
                <a:solidFill>
                  <a:srgbClr val="181b1d"/>
                </a:solidFill>
                <a:latin typeface="微软雅黑"/>
              </a:rPr>
              <a:t>任务少时不空占进程，任务多时受资源上限约束</a:t>
            </a:r>
            <a:endParaRPr b="0" lang="en-US" sz="830" spc="-1" strike="noStrike">
              <a:latin typeface="Arial"/>
            </a:endParaRPr>
          </a:p>
        </p:txBody>
      </p:sp>
      <p:sp>
        <p:nvSpPr>
          <p:cNvPr id="1281" name="Rounded Rectangle 132"/>
          <p:cNvSpPr/>
          <p:nvPr/>
        </p:nvSpPr>
        <p:spPr>
          <a:xfrm>
            <a:off x="8661240" y="4103640"/>
            <a:ext cx="3090240" cy="1078560"/>
          </a:xfrm>
          <a:prstGeom prst="roundRect">
            <a:avLst>
              <a:gd name="adj" fmla="val 16667"/>
            </a:avLst>
          </a:prstGeom>
          <a:solidFill>
            <a:srgbClr val="fafbfc"/>
          </a:solidFill>
          <a:ln w="10160">
            <a:solidFill>
              <a:srgbClr val="9bb9d8"/>
            </a:solidFill>
          </a:ln>
        </p:spPr>
        <p:style>
          <a:lnRef idx="1">
            <a:schemeClr val="accent1"/>
          </a:lnRef>
          <a:fillRef idx="3">
            <a:schemeClr val="accent1"/>
          </a:fillRef>
          <a:effectRef idx="2">
            <a:schemeClr val="accent1"/>
          </a:effectRef>
          <a:fontRef idx="minor"/>
        </p:style>
      </p:sp>
      <p:sp>
        <p:nvSpPr>
          <p:cNvPr id="1282" name="TextBox 133"/>
          <p:cNvSpPr/>
          <p:nvPr/>
        </p:nvSpPr>
        <p:spPr>
          <a:xfrm>
            <a:off x="8835120" y="4197960"/>
            <a:ext cx="2742840" cy="176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10" spc="-1" strike="noStrike">
                <a:solidFill>
                  <a:srgbClr val="005d58"/>
                </a:solidFill>
                <a:latin typeface="微软雅黑"/>
              </a:rPr>
              <a:t>层内耗时与负载均衡</a:t>
            </a:r>
            <a:endParaRPr b="0" lang="en-US" sz="1110" spc="-1" strike="noStrike">
              <a:latin typeface="Arial"/>
            </a:endParaRPr>
          </a:p>
        </p:txBody>
      </p:sp>
      <p:sp>
        <p:nvSpPr>
          <p:cNvPr id="1283" name="Connector 134"/>
          <p:cNvSpPr/>
          <p:nvPr/>
        </p:nvSpPr>
        <p:spPr>
          <a:xfrm>
            <a:off x="8835120" y="4432680"/>
            <a:ext cx="2743200" cy="360"/>
          </a:xfrm>
          <a:prstGeom prst="line">
            <a:avLst/>
          </a:prstGeom>
          <a:ln w="8255">
            <a:solidFill>
              <a:srgbClr val="9bb9d8"/>
            </a:solidFill>
          </a:ln>
        </p:spPr>
        <p:style>
          <a:lnRef idx="2">
            <a:schemeClr val="accent1"/>
          </a:lnRef>
          <a:fillRef idx="0">
            <a:schemeClr val="accent1"/>
          </a:fillRef>
          <a:effectRef idx="1">
            <a:schemeClr val="accent1"/>
          </a:effectRef>
          <a:fontRef idx="minor"/>
        </p:style>
      </p:sp>
      <p:pic>
        <p:nvPicPr>
          <p:cNvPr id="1284" name="Picture 135" descr="p7_time_rule.png"/>
          <p:cNvPicPr/>
          <p:nvPr/>
        </p:nvPicPr>
        <p:blipFill>
          <a:blip r:embed="rId5"/>
          <a:stretch/>
        </p:blipFill>
        <p:spPr>
          <a:xfrm>
            <a:off x="9574560" y="4533480"/>
            <a:ext cx="1245600" cy="228240"/>
          </a:xfrm>
          <a:prstGeom prst="rect">
            <a:avLst/>
          </a:prstGeom>
          <a:ln w="0">
            <a:noFill/>
          </a:ln>
        </p:spPr>
      </p:pic>
      <p:sp>
        <p:nvSpPr>
          <p:cNvPr id="1285" name="TextBox 136"/>
          <p:cNvSpPr/>
          <p:nvPr/>
        </p:nvSpPr>
        <p:spPr>
          <a:xfrm>
            <a:off x="8917560" y="4804920"/>
            <a:ext cx="2559960" cy="2520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0" lang="zh-CN" sz="800" spc="-1" strike="noStrike">
                <a:solidFill>
                  <a:srgbClr val="181b1d"/>
                </a:solidFill>
                <a:latin typeface="微软雅黑"/>
              </a:rPr>
              <a:t>最慢任务决定层内等待时间，分区均衡直接影响并行效率</a:t>
            </a:r>
            <a:endParaRPr b="0" lang="en-US" sz="800" spc="-1" strike="noStrike">
              <a:latin typeface="Arial"/>
            </a:endParaRPr>
          </a:p>
        </p:txBody>
      </p:sp>
      <p:sp>
        <p:nvSpPr>
          <p:cNvPr id="1286" name="Rounded Rectangle 137"/>
          <p:cNvSpPr/>
          <p:nvPr/>
        </p:nvSpPr>
        <p:spPr>
          <a:xfrm>
            <a:off x="8661240" y="5301360"/>
            <a:ext cx="3090240" cy="1352880"/>
          </a:xfrm>
          <a:prstGeom prst="roundRect">
            <a:avLst>
              <a:gd name="adj" fmla="val 16667"/>
            </a:avLst>
          </a:prstGeom>
          <a:solidFill>
            <a:srgbClr val="fafbfc"/>
          </a:solidFill>
          <a:ln w="10160">
            <a:solidFill>
              <a:srgbClr val="9bb9d8"/>
            </a:solidFill>
          </a:ln>
        </p:spPr>
        <p:style>
          <a:lnRef idx="1">
            <a:schemeClr val="accent1"/>
          </a:lnRef>
          <a:fillRef idx="3">
            <a:schemeClr val="accent1"/>
          </a:fillRef>
          <a:effectRef idx="2">
            <a:schemeClr val="accent1"/>
          </a:effectRef>
          <a:fontRef idx="minor"/>
        </p:style>
      </p:sp>
      <p:sp>
        <p:nvSpPr>
          <p:cNvPr id="1287" name="TextBox 138"/>
          <p:cNvSpPr/>
          <p:nvPr/>
        </p:nvSpPr>
        <p:spPr>
          <a:xfrm>
            <a:off x="8835120" y="5396040"/>
            <a:ext cx="2742840" cy="1764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1110" spc="-1" strike="noStrike">
                <a:solidFill>
                  <a:srgbClr val="7243a8"/>
                </a:solidFill>
                <a:latin typeface="微软雅黑"/>
              </a:rPr>
              <a:t>并行启用、回退与复用</a:t>
            </a:r>
            <a:endParaRPr b="0" lang="en-US" sz="1110" spc="-1" strike="noStrike">
              <a:latin typeface="Arial"/>
            </a:endParaRPr>
          </a:p>
        </p:txBody>
      </p:sp>
      <p:sp>
        <p:nvSpPr>
          <p:cNvPr id="1288" name="Connector 139"/>
          <p:cNvSpPr/>
          <p:nvPr/>
        </p:nvSpPr>
        <p:spPr>
          <a:xfrm>
            <a:off x="8835120" y="5630400"/>
            <a:ext cx="2743200" cy="360"/>
          </a:xfrm>
          <a:prstGeom prst="line">
            <a:avLst/>
          </a:prstGeom>
          <a:ln w="8255">
            <a:solidFill>
              <a:srgbClr val="9bb9d8"/>
            </a:solidFill>
          </a:ln>
        </p:spPr>
        <p:style>
          <a:lnRef idx="2">
            <a:schemeClr val="accent1"/>
          </a:lnRef>
          <a:fillRef idx="0">
            <a:schemeClr val="accent1"/>
          </a:fillRef>
          <a:effectRef idx="1">
            <a:schemeClr val="accent1"/>
          </a:effectRef>
          <a:fontRef idx="minor"/>
        </p:style>
      </p:sp>
      <p:sp>
        <p:nvSpPr>
          <p:cNvPr id="1289" name="Oval 140"/>
          <p:cNvSpPr/>
          <p:nvPr/>
        </p:nvSpPr>
        <p:spPr>
          <a:xfrm>
            <a:off x="8880840" y="5776920"/>
            <a:ext cx="164160" cy="164160"/>
          </a:xfrm>
          <a:prstGeom prst="ellipse">
            <a:avLst/>
          </a:prstGeom>
          <a:solidFill>
            <a:srgbClr val="4e8c35"/>
          </a:solidFill>
          <a:ln>
            <a:solidFill>
              <a:srgbClr val="4e8c35"/>
            </a:solidFill>
          </a:ln>
        </p:spPr>
        <p:style>
          <a:lnRef idx="1">
            <a:schemeClr val="accent1"/>
          </a:lnRef>
          <a:fillRef idx="3">
            <a:schemeClr val="accent1"/>
          </a:fillRef>
          <a:effectRef idx="2">
            <a:schemeClr val="accent1"/>
          </a:effectRef>
          <a:fontRef idx="minor"/>
        </p:style>
      </p:sp>
      <p:sp>
        <p:nvSpPr>
          <p:cNvPr id="1290" name="TextBox 141"/>
          <p:cNvSpPr/>
          <p:nvPr/>
        </p:nvSpPr>
        <p:spPr>
          <a:xfrm>
            <a:off x="8880840" y="5795280"/>
            <a:ext cx="164160" cy="127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00" spc="-1" strike="noStrike">
                <a:solidFill>
                  <a:srgbClr val="ffffff"/>
                </a:solidFill>
                <a:latin typeface="微软雅黑"/>
              </a:rPr>
              <a:t>✓</a:t>
            </a:r>
            <a:endParaRPr b="0" lang="en-US" sz="800" spc="-1" strike="noStrike">
              <a:latin typeface="Arial"/>
            </a:endParaRPr>
          </a:p>
        </p:txBody>
      </p:sp>
      <p:sp>
        <p:nvSpPr>
          <p:cNvPr id="1291" name="TextBox 142"/>
          <p:cNvSpPr/>
          <p:nvPr/>
        </p:nvSpPr>
        <p:spPr>
          <a:xfrm>
            <a:off x="9127800" y="5790960"/>
            <a:ext cx="2331360" cy="12708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800" spc="-1" strike="noStrike">
                <a:solidFill>
                  <a:srgbClr val="4e8c35"/>
                </a:solidFill>
                <a:latin typeface="微软雅黑"/>
              </a:rPr>
              <a:t>可并行且进程数大于 </a:t>
            </a:r>
            <a:r>
              <a:rPr b="1" lang="en-US" sz="800" spc="-1" strike="noStrike">
                <a:solidFill>
                  <a:srgbClr val="4e8c35"/>
                </a:solidFill>
                <a:latin typeface="微软雅黑"/>
              </a:rPr>
              <a:t>1</a:t>
            </a:r>
            <a:r>
              <a:rPr b="1" lang="zh-CN" sz="800" spc="-1" strike="noStrike">
                <a:solidFill>
                  <a:srgbClr val="4e8c35"/>
                </a:solidFill>
                <a:latin typeface="微软雅黑"/>
              </a:rPr>
              <a:t>：进入工作进程池</a:t>
            </a:r>
            <a:endParaRPr b="0" lang="en-US" sz="800" spc="-1" strike="noStrike">
              <a:latin typeface="Arial"/>
            </a:endParaRPr>
          </a:p>
        </p:txBody>
      </p:sp>
      <p:sp>
        <p:nvSpPr>
          <p:cNvPr id="1292" name="Oval 143"/>
          <p:cNvSpPr/>
          <p:nvPr/>
        </p:nvSpPr>
        <p:spPr>
          <a:xfrm>
            <a:off x="8880840" y="6069600"/>
            <a:ext cx="164160" cy="164160"/>
          </a:xfrm>
          <a:prstGeom prst="ellipse">
            <a:avLst/>
          </a:prstGeom>
          <a:solidFill>
            <a:srgbClr val="b53737"/>
          </a:solidFill>
          <a:ln>
            <a:solidFill>
              <a:srgbClr val="b53737"/>
            </a:solidFill>
          </a:ln>
        </p:spPr>
        <p:style>
          <a:lnRef idx="1">
            <a:schemeClr val="accent1"/>
          </a:lnRef>
          <a:fillRef idx="3">
            <a:schemeClr val="accent1"/>
          </a:fillRef>
          <a:effectRef idx="2">
            <a:schemeClr val="accent1"/>
          </a:effectRef>
          <a:fontRef idx="minor"/>
        </p:style>
      </p:sp>
      <p:sp>
        <p:nvSpPr>
          <p:cNvPr id="1293" name="TextBox 144"/>
          <p:cNvSpPr/>
          <p:nvPr/>
        </p:nvSpPr>
        <p:spPr>
          <a:xfrm>
            <a:off x="8880840" y="6087960"/>
            <a:ext cx="164160" cy="12708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en-US" sz="800" spc="-1" strike="noStrike">
                <a:solidFill>
                  <a:srgbClr val="ffffff"/>
                </a:solidFill>
                <a:latin typeface="微软雅黑"/>
              </a:rPr>
              <a:t>×</a:t>
            </a:r>
            <a:endParaRPr b="0" lang="en-US" sz="800" spc="-1" strike="noStrike">
              <a:latin typeface="Arial"/>
            </a:endParaRPr>
          </a:p>
        </p:txBody>
      </p:sp>
      <p:sp>
        <p:nvSpPr>
          <p:cNvPr id="1294" name="TextBox 145"/>
          <p:cNvSpPr/>
          <p:nvPr/>
        </p:nvSpPr>
        <p:spPr>
          <a:xfrm>
            <a:off x="9127800" y="6082200"/>
            <a:ext cx="2331360" cy="129960"/>
          </a:xfrm>
          <a:prstGeom prst="rect">
            <a:avLst/>
          </a:prstGeom>
          <a:noFill/>
          <a:ln w="0">
            <a:noFill/>
          </a:ln>
        </p:spPr>
        <p:style>
          <a:lnRef idx="0"/>
          <a:fillRef idx="0"/>
          <a:effectRef idx="0"/>
          <a:fontRef idx="minor"/>
        </p:style>
        <p:txBody>
          <a:bodyPr lIns="25560" rIns="25560" tIns="0" bIns="0" anchor="ctr">
            <a:spAutoFit/>
          </a:bodyPr>
          <a:p>
            <a:pPr>
              <a:lnSpc>
                <a:spcPct val="104000"/>
              </a:lnSpc>
              <a:spcAft>
                <a:spcPts val="99"/>
              </a:spcAft>
              <a:buNone/>
            </a:pPr>
            <a:r>
              <a:rPr b="1" lang="zh-CN" sz="820" spc="-1" strike="noStrike">
                <a:solidFill>
                  <a:srgbClr val="a03232"/>
                </a:solidFill>
                <a:latin typeface="微软雅黑"/>
              </a:rPr>
              <a:t>不可序列化或并行关闭：自动串行求解</a:t>
            </a:r>
            <a:endParaRPr b="0" lang="en-US" sz="820" spc="-1" strike="noStrike">
              <a:latin typeface="Arial"/>
            </a:endParaRPr>
          </a:p>
        </p:txBody>
      </p:sp>
      <p:sp>
        <p:nvSpPr>
          <p:cNvPr id="1295" name="TextBox 146"/>
          <p:cNvSpPr/>
          <p:nvPr/>
        </p:nvSpPr>
        <p:spPr>
          <a:xfrm>
            <a:off x="8889840" y="6382080"/>
            <a:ext cx="2624040" cy="124200"/>
          </a:xfrm>
          <a:prstGeom prst="rect">
            <a:avLst/>
          </a:prstGeom>
          <a:noFill/>
          <a:ln w="0">
            <a:noFill/>
          </a:ln>
        </p:spPr>
        <p:style>
          <a:lnRef idx="0"/>
          <a:fillRef idx="0"/>
          <a:effectRef idx="0"/>
          <a:fontRef idx="minor"/>
        </p:style>
        <p:txBody>
          <a:bodyPr lIns="25560" rIns="25560" tIns="0" bIns="0" anchor="ctr">
            <a:spAutoFit/>
          </a:bodyPr>
          <a:p>
            <a:pPr algn="ctr">
              <a:lnSpc>
                <a:spcPct val="104000"/>
              </a:lnSpc>
              <a:spcAft>
                <a:spcPts val="99"/>
              </a:spcAft>
              <a:buNone/>
            </a:pPr>
            <a:r>
              <a:rPr b="1" lang="zh-CN" sz="780" spc="-1" strike="noStrike">
                <a:solidFill>
                  <a:srgbClr val="7243a8"/>
                </a:solidFill>
                <a:latin typeface="微软雅黑"/>
              </a:rPr>
              <a:t>配网与微网进程池跨外层迭代复用，减少重复创建开销</a:t>
            </a:r>
            <a:endParaRPr b="0" lang="en-US" sz="780" spc="-1" strike="noStrike">
              <a:latin typeface="Arial"/>
            </a:endParaRPr>
          </a:p>
        </p:txBody>
      </p:sp>
    </p:spTree>
  </p:cSld>
  <mc:AlternateContent>
    <mc:Choice Requires="p14">
      <p:transition spd="slow" advTm="12000" p14:dur="2000"/>
    </mc:Choice>
    <mc:Fallback>
      <p:transition spd="slow" advTm="12000"/>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6"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1297"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1298"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二 、任务进展情况</a:t>
            </a:r>
            <a:endParaRPr b="0" lang="en-US" sz="2400" spc="-1" strike="noStrike">
              <a:latin typeface="Arial"/>
            </a:endParaRPr>
          </a:p>
        </p:txBody>
      </p:sp>
      <p:sp>
        <p:nvSpPr>
          <p:cNvPr id="1299" name="灯片编号占位符 3"/>
          <p:cNvSpPr/>
          <p:nvPr/>
        </p:nvSpPr>
        <p:spPr>
          <a:xfrm>
            <a:off x="11790000" y="6546960"/>
            <a:ext cx="463320" cy="413640"/>
          </a:xfrm>
          <a:prstGeom prst="rect">
            <a:avLst/>
          </a:prstGeom>
          <a:noFill/>
          <a:ln w="0">
            <a:noFill/>
          </a:ln>
        </p:spPr>
        <p:style>
          <a:lnRef idx="0"/>
          <a:fillRef idx="0"/>
          <a:effectRef idx="0"/>
          <a:fontRef idx="minor"/>
        </p:style>
        <p:txBody>
          <a:bodyPr anchor="ctr">
            <a:noAutofit/>
          </a:bodyPr>
          <a:p>
            <a:pPr algn="r">
              <a:lnSpc>
                <a:spcPct val="100000"/>
              </a:lnSpc>
              <a:buNone/>
              <a:tabLst>
                <a:tab algn="l" pos="0"/>
              </a:tabLst>
            </a:pPr>
            <a:fld id="{0C806443-E8D7-477A-A417-57780B74D6A3}" type="slidenum">
              <a:rPr b="0" lang="en-US" sz="1600" spc="-1" strike="noStrike">
                <a:solidFill>
                  <a:srgbClr val="898989"/>
                </a:solidFill>
                <a:latin typeface="微软雅黑"/>
                <a:ea typeface="微软雅黑"/>
              </a:rPr>
              <a:t>&lt;number&gt;</a:t>
            </a:fld>
            <a:endParaRPr b="0" lang="en-US" sz="1600" spc="-1" strike="noStrike">
              <a:latin typeface="Arial"/>
            </a:endParaRPr>
          </a:p>
        </p:txBody>
      </p:sp>
      <p:sp>
        <p:nvSpPr>
          <p:cNvPr id="1300" name="矩形 3"/>
          <p:cNvSpPr/>
          <p:nvPr/>
        </p:nvSpPr>
        <p:spPr>
          <a:xfrm>
            <a:off x="535320" y="1381680"/>
            <a:ext cx="108010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1800" spc="-1" strike="noStrike">
                <a:solidFill>
                  <a:srgbClr val="000000"/>
                </a:solidFill>
                <a:latin typeface="微软雅黑"/>
                <a:ea typeface="微软雅黑"/>
              </a:rPr>
              <a:t>已形成发明专利成果 </a:t>
            </a:r>
            <a:r>
              <a:rPr b="1" lang="en-US" sz="1800" spc="-1" strike="noStrike">
                <a:solidFill>
                  <a:srgbClr val="c00000"/>
                </a:solidFill>
                <a:latin typeface="微软雅黑"/>
                <a:ea typeface="微软雅黑"/>
              </a:rPr>
              <a:t>1</a:t>
            </a:r>
            <a:r>
              <a:rPr b="0" lang="en-US" sz="1800" spc="-1" strike="noStrike">
                <a:solidFill>
                  <a:srgbClr val="000000"/>
                </a:solidFill>
                <a:latin typeface="微软雅黑"/>
                <a:ea typeface="微软雅黑"/>
              </a:rPr>
              <a:t> </a:t>
            </a:r>
            <a:r>
              <a:rPr b="0" lang="zh-CN" sz="1800" spc="-1" strike="noStrike">
                <a:solidFill>
                  <a:srgbClr val="000000"/>
                </a:solidFill>
                <a:latin typeface="微软雅黑"/>
                <a:ea typeface="微软雅黑"/>
              </a:rPr>
              <a:t>项。</a:t>
            </a:r>
            <a:endParaRPr b="0" lang="en-US" sz="1800" spc="-1" strike="noStrike">
              <a:latin typeface="Arial"/>
            </a:endParaRPr>
          </a:p>
        </p:txBody>
      </p:sp>
      <p:graphicFrame>
        <p:nvGraphicFramePr>
          <p:cNvPr id="1301" name="表格 8"/>
          <p:cNvGraphicFramePr/>
          <p:nvPr/>
        </p:nvGraphicFramePr>
        <p:xfrm>
          <a:off x="548280" y="1823760"/>
          <a:ext cx="11120400" cy="804240"/>
        </p:xfrm>
        <a:graphic>
          <a:graphicData uri="http://schemas.openxmlformats.org/drawingml/2006/table">
            <a:tbl>
              <a:tblPr/>
              <a:tblGrid>
                <a:gridCol w="729720"/>
                <a:gridCol w="5390640"/>
                <a:gridCol w="2499840"/>
                <a:gridCol w="2500200"/>
              </a:tblGrid>
              <a:tr h="376200">
                <a:tc>
                  <a:txBody>
                    <a:bodyPr anchor="t">
                      <a:noAutofit/>
                    </a:bodyPr>
                    <a:p>
                      <a:pPr algn="ctr">
                        <a:lnSpc>
                          <a:spcPct val="95000"/>
                        </a:lnSpc>
                        <a:buNone/>
                      </a:pPr>
                      <a:r>
                        <a:rPr b="1" lang="zh-CN" sz="1700" spc="-1" strike="noStrike">
                          <a:solidFill>
                            <a:srgbClr val="000000"/>
                          </a:solidFill>
                          <a:latin typeface="微软雅黑"/>
                          <a:ea typeface="微软雅黑"/>
                        </a:rPr>
                        <a:t>序号</a:t>
                      </a:r>
                      <a:endParaRPr b="0" lang="en-US" sz="17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a:txBody>
                    <a:bodyPr anchor="t">
                      <a:noAutofit/>
                    </a:bodyPr>
                    <a:p>
                      <a:pPr algn="ctr">
                        <a:lnSpc>
                          <a:spcPct val="95000"/>
                        </a:lnSpc>
                        <a:buNone/>
                      </a:pPr>
                      <a:r>
                        <a:rPr b="1" lang="zh-CN" sz="1700" spc="-1" strike="noStrike">
                          <a:solidFill>
                            <a:srgbClr val="000000"/>
                          </a:solidFill>
                          <a:latin typeface="微软雅黑"/>
                          <a:ea typeface="微软雅黑"/>
                        </a:rPr>
                        <a:t>专利名称</a:t>
                      </a:r>
                      <a:endParaRPr b="0" lang="en-US" sz="17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a:txBody>
                    <a:bodyPr anchor="t">
                      <a:noAutofit/>
                    </a:bodyPr>
                    <a:p>
                      <a:pPr algn="ctr">
                        <a:lnSpc>
                          <a:spcPct val="95000"/>
                        </a:lnSpc>
                        <a:buNone/>
                      </a:pPr>
                      <a:r>
                        <a:rPr b="1" lang="zh-CN" sz="1700" spc="-1" strike="noStrike">
                          <a:solidFill>
                            <a:srgbClr val="000000"/>
                          </a:solidFill>
                          <a:latin typeface="微软雅黑"/>
                          <a:ea typeface="微软雅黑"/>
                        </a:rPr>
                        <a:t>成果状态</a:t>
                      </a:r>
                      <a:endParaRPr b="0" lang="en-US" sz="17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a:txBody>
                    <a:bodyPr anchor="t">
                      <a:noAutofit/>
                    </a:bodyPr>
                    <a:p>
                      <a:pPr algn="ctr">
                        <a:lnSpc>
                          <a:spcPct val="95000"/>
                        </a:lnSpc>
                        <a:buNone/>
                      </a:pPr>
                      <a:r>
                        <a:rPr b="1" lang="zh-CN" sz="1700" spc="-1" strike="noStrike">
                          <a:solidFill>
                            <a:srgbClr val="000000"/>
                          </a:solidFill>
                          <a:latin typeface="微软雅黑"/>
                          <a:ea typeface="微软雅黑"/>
                        </a:rPr>
                        <a:t>完成时间</a:t>
                      </a:r>
                      <a:endParaRPr b="0" lang="en-US" sz="17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r>
              <a:tr h="428040">
                <a:tc>
                  <a:txBody>
                    <a:bodyPr anchor="ctr">
                      <a:noAutofit/>
                    </a:bodyPr>
                    <a:p>
                      <a:pPr algn="ctr">
                        <a:lnSpc>
                          <a:spcPct val="95000"/>
                        </a:lnSpc>
                        <a:buNone/>
                      </a:pPr>
                      <a:r>
                        <a:rPr b="0" lang="en-US" sz="1500" spc="-1" strike="noStrike">
                          <a:solidFill>
                            <a:srgbClr val="000000"/>
                          </a:solidFill>
                          <a:latin typeface="微软雅黑"/>
                          <a:ea typeface="微软雅黑"/>
                        </a:rPr>
                        <a:t>1</a:t>
                      </a:r>
                      <a:endParaRPr b="0" lang="en-US" sz="15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lIns="68400" rIns="68400" tIns="0" bIns="0" anchor="ctr">
                      <a:noAutofit/>
                    </a:bodyPr>
                    <a:p>
                      <a:pPr>
                        <a:lnSpc>
                          <a:spcPct val="95000"/>
                        </a:lnSpc>
                        <a:buNone/>
                      </a:pPr>
                      <a:r>
                        <a:rPr b="0" lang="zh-CN" sz="1500" spc="-1" strike="noStrike">
                          <a:solidFill>
                            <a:srgbClr val="000000"/>
                          </a:solidFill>
                          <a:latin typeface="微软雅黑"/>
                          <a:ea typeface="微软雅黑"/>
                        </a:rPr>
                        <a:t>一种面向数据异构的元素级顺序解耦联邦学习方法</a:t>
                      </a:r>
                      <a:endParaRPr b="0" lang="en-US" sz="1500" spc="-1" strike="noStrike">
                        <a:latin typeface="Arial"/>
                      </a:endParaRPr>
                    </a:p>
                  </a:txBody>
                  <a:tcPr anchor="ct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lIns="68400" rIns="68400" tIns="0" bIns="0" anchor="ctr">
                      <a:noAutofit/>
                    </a:bodyPr>
                    <a:p>
                      <a:pPr algn="ctr">
                        <a:lnSpc>
                          <a:spcPct val="95000"/>
                        </a:lnSpc>
                        <a:buNone/>
                        <a:tabLst>
                          <a:tab algn="l" pos="0"/>
                        </a:tabLst>
                      </a:pPr>
                      <a:r>
                        <a:rPr b="0" lang="zh-CN" sz="1500" spc="-1" strike="noStrike">
                          <a:solidFill>
                            <a:srgbClr val="000000"/>
                          </a:solidFill>
                          <a:latin typeface="微软雅黑"/>
                          <a:ea typeface="微软雅黑"/>
                        </a:rPr>
                        <a:t>申请文本已形成</a:t>
                      </a:r>
                      <a:endParaRPr b="0" lang="en-US" sz="1500" spc="-1" strike="noStrike">
                        <a:latin typeface="Arial"/>
                      </a:endParaRPr>
                    </a:p>
                  </a:txBody>
                  <a:tcPr anchor="ct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lIns="68400" rIns="68400" tIns="0" bIns="0" anchor="ctr">
                      <a:noAutofit/>
                    </a:bodyPr>
                    <a:p>
                      <a:pPr algn="ctr">
                        <a:lnSpc>
                          <a:spcPct val="95000"/>
                        </a:lnSpc>
                        <a:buNone/>
                        <a:tabLst>
                          <a:tab algn="l" pos="0"/>
                        </a:tabLst>
                      </a:pPr>
                      <a:r>
                        <a:rPr b="0" lang="en-US" sz="1500" spc="-1" strike="noStrike">
                          <a:solidFill>
                            <a:srgbClr val="000000"/>
                          </a:solidFill>
                          <a:latin typeface="微软雅黑"/>
                          <a:ea typeface="微软雅黑"/>
                        </a:rPr>
                        <a:t>2026.08</a:t>
                      </a:r>
                      <a:endParaRPr b="0" lang="en-US" sz="1500" spc="-1" strike="noStrike">
                        <a:latin typeface="Arial"/>
                      </a:endParaRPr>
                    </a:p>
                  </a:txBody>
                  <a:tcPr anchor="ct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r>
            </a:tbl>
          </a:graphicData>
        </a:graphic>
      </p:graphicFrame>
      <p:sp>
        <p:nvSpPr>
          <p:cNvPr id="1302" name="矩形 5"/>
          <p:cNvSpPr/>
          <p:nvPr/>
        </p:nvSpPr>
        <p:spPr>
          <a:xfrm>
            <a:off x="270360" y="859680"/>
            <a:ext cx="2228400" cy="39636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gn="ctr">
              <a:lnSpc>
                <a:spcPct val="100000"/>
              </a:lnSpc>
              <a:buNone/>
              <a:tabLst>
                <a:tab algn="l" pos="0"/>
              </a:tabLst>
            </a:pPr>
            <a:r>
              <a:rPr b="1" lang="zh-CN" sz="2000" spc="-1" strike="noStrike">
                <a:solidFill>
                  <a:srgbClr val="ffffff"/>
                </a:solidFill>
                <a:latin typeface="微软雅黑"/>
                <a:ea typeface="微软雅黑"/>
              </a:rPr>
              <a:t>发明专利</a:t>
            </a:r>
            <a:endParaRPr b="0" lang="en-US" sz="2000" spc="-1" strike="noStrike">
              <a:latin typeface="Arial"/>
            </a:endParaRPr>
          </a:p>
        </p:txBody>
      </p:sp>
      <p:graphicFrame>
        <p:nvGraphicFramePr>
          <p:cNvPr id="1303" name="表格 1"/>
          <p:cNvGraphicFramePr/>
          <p:nvPr/>
        </p:nvGraphicFramePr>
        <p:xfrm>
          <a:off x="578160" y="5043240"/>
          <a:ext cx="11136960" cy="804240"/>
        </p:xfrm>
        <a:graphic>
          <a:graphicData uri="http://schemas.openxmlformats.org/drawingml/2006/table">
            <a:tbl>
              <a:tblPr/>
              <a:tblGrid>
                <a:gridCol w="734760"/>
                <a:gridCol w="5484960"/>
                <a:gridCol w="2458440"/>
                <a:gridCol w="2458800"/>
              </a:tblGrid>
              <a:tr h="376200">
                <a:tc>
                  <a:txBody>
                    <a:bodyPr anchor="t">
                      <a:noAutofit/>
                    </a:bodyPr>
                    <a:p>
                      <a:pPr algn="ctr">
                        <a:lnSpc>
                          <a:spcPct val="95000"/>
                        </a:lnSpc>
                        <a:buNone/>
                      </a:pPr>
                      <a:r>
                        <a:rPr b="1" lang="zh-CN" sz="1700" spc="-1" strike="noStrike">
                          <a:solidFill>
                            <a:srgbClr val="000000"/>
                          </a:solidFill>
                          <a:latin typeface="微软雅黑"/>
                          <a:ea typeface="微软雅黑"/>
                        </a:rPr>
                        <a:t>序号</a:t>
                      </a:r>
                      <a:endParaRPr b="0" lang="en-US" sz="17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a:txBody>
                    <a:bodyPr anchor="t">
                      <a:noAutofit/>
                    </a:bodyPr>
                    <a:p>
                      <a:pPr algn="ctr">
                        <a:lnSpc>
                          <a:spcPct val="95000"/>
                        </a:lnSpc>
                        <a:buNone/>
                      </a:pPr>
                      <a:r>
                        <a:rPr b="1" lang="zh-CN" sz="1700" spc="-1" strike="noStrike">
                          <a:solidFill>
                            <a:srgbClr val="000000"/>
                          </a:solidFill>
                          <a:latin typeface="微软雅黑"/>
                          <a:ea typeface="微软雅黑"/>
                        </a:rPr>
                        <a:t>论文名称</a:t>
                      </a:r>
                      <a:endParaRPr b="0" lang="en-US" sz="17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a:txBody>
                    <a:bodyPr anchor="t">
                      <a:noAutofit/>
                    </a:bodyPr>
                    <a:p>
                      <a:pPr algn="ctr">
                        <a:lnSpc>
                          <a:spcPct val="95000"/>
                        </a:lnSpc>
                        <a:buNone/>
                      </a:pPr>
                      <a:r>
                        <a:rPr b="1" lang="zh-CN" sz="1700" spc="-1" strike="noStrike">
                          <a:solidFill>
                            <a:srgbClr val="000000"/>
                          </a:solidFill>
                          <a:latin typeface="微软雅黑"/>
                          <a:ea typeface="微软雅黑"/>
                        </a:rPr>
                        <a:t>期刊</a:t>
                      </a:r>
                      <a:endParaRPr b="0" lang="en-US" sz="17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a:txBody>
                    <a:bodyPr anchor="t">
                      <a:noAutofit/>
                    </a:bodyPr>
                    <a:p>
                      <a:pPr algn="ctr">
                        <a:lnSpc>
                          <a:spcPct val="95000"/>
                        </a:lnSpc>
                        <a:buNone/>
                        <a:tabLst>
                          <a:tab algn="l" pos="0"/>
                        </a:tabLst>
                      </a:pPr>
                      <a:r>
                        <a:rPr b="1" lang="zh-CN" sz="1700" spc="-1" strike="noStrike">
                          <a:solidFill>
                            <a:srgbClr val="000000"/>
                          </a:solidFill>
                          <a:latin typeface="微软雅黑"/>
                          <a:ea typeface="微软雅黑"/>
                        </a:rPr>
                        <a:t>发表时间</a:t>
                      </a:r>
                      <a:endParaRPr b="0" lang="en-US" sz="17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r>
              <a:tr h="511560">
                <a:tc>
                  <a:txBody>
                    <a:bodyPr anchor="ctr">
                      <a:noAutofit/>
                    </a:bodyPr>
                    <a:p>
                      <a:pPr algn="ctr">
                        <a:lnSpc>
                          <a:spcPct val="95000"/>
                        </a:lnSpc>
                        <a:buNone/>
                      </a:pPr>
                      <a:r>
                        <a:rPr b="0" lang="en-US" sz="1450" spc="-1" strike="noStrike">
                          <a:solidFill>
                            <a:srgbClr val="000000"/>
                          </a:solidFill>
                          <a:latin typeface="微软雅黑"/>
                          <a:ea typeface="微软雅黑"/>
                        </a:rPr>
                        <a:t>1</a:t>
                      </a:r>
                      <a:endParaRPr b="0" lang="en-US" sz="1450" spc="-1" strike="noStrike">
                        <a:latin typeface="Arial"/>
                      </a:endParaRPr>
                    </a:p>
                    <a:p>
                      <a:pPr algn="ctr">
                        <a:lnSpc>
                          <a:spcPct val="95000"/>
                        </a:lnSpc>
                        <a:buNone/>
                      </a:pPr>
                      <a:r>
                        <a:rPr b="0" lang="en-US" sz="1450" spc="-1" strike="noStrike">
                          <a:solidFill>
                            <a:srgbClr val="000000"/>
                          </a:solidFill>
                          <a:latin typeface="微软雅黑"/>
                          <a:ea typeface="微软雅黑"/>
                        </a:rPr>
                        <a:t>2</a:t>
                      </a:r>
                      <a:endParaRPr b="0" lang="en-US" sz="145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lIns="68400" rIns="68400" tIns="0" bIns="0" anchor="ctr">
                      <a:noAutofit/>
                    </a:bodyPr>
                    <a:p>
                      <a:pPr>
                        <a:lnSpc>
                          <a:spcPct val="95000"/>
                        </a:lnSpc>
                        <a:buNone/>
                      </a:pPr>
                      <a:r>
                        <a:rPr b="0" lang="en-US" sz="1300" spc="-1" strike="noStrike">
                          <a:solidFill>
                            <a:srgbClr val="000000"/>
                          </a:solidFill>
                          <a:latin typeface="微软雅黑"/>
                          <a:ea typeface="微软雅黑"/>
                        </a:rPr>
                        <a:t>SeqFedEDT: Element-Wise Decoupled Training</a:t>
                      </a:r>
                      <a:endParaRPr b="0" lang="en-US" sz="1300" spc="-1" strike="noStrike">
                        <a:latin typeface="Arial"/>
                      </a:endParaRPr>
                    </a:p>
                    <a:p>
                      <a:pPr>
                        <a:lnSpc>
                          <a:spcPct val="95000"/>
                        </a:lnSpc>
                        <a:buNone/>
                      </a:pPr>
                      <a:r>
                        <a:rPr b="0" lang="en-US" sz="1300" spc="-1" strike="noStrike">
                          <a:solidFill>
                            <a:srgbClr val="000000"/>
                          </a:solidFill>
                          <a:latin typeface="微软雅黑"/>
                          <a:ea typeface="微软雅黑"/>
                        </a:rPr>
                        <a:t>SeqFedRPC: Regularized Parameter Clustering</a:t>
                      </a:r>
                      <a:endParaRPr b="0" lang="en-US" sz="1300" spc="-1" strike="noStrike">
                        <a:latin typeface="Arial"/>
                      </a:endParaRPr>
                    </a:p>
                  </a:txBody>
                  <a:tcPr anchor="ct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lIns="68400" rIns="68400" tIns="0" bIns="0" anchor="ctr">
                      <a:noAutofit/>
                    </a:bodyPr>
                    <a:p>
                      <a:pPr algn="ctr">
                        <a:lnSpc>
                          <a:spcPct val="95000"/>
                        </a:lnSpc>
                        <a:buNone/>
                        <a:tabLst>
                          <a:tab algn="l" pos="0"/>
                        </a:tabLst>
                      </a:pPr>
                      <a:r>
                        <a:rPr b="0" lang="en-US" sz="1450" spc="-1" strike="noStrike">
                          <a:solidFill>
                            <a:srgbClr val="000000"/>
                          </a:solidFill>
                          <a:latin typeface="微软雅黑"/>
                          <a:ea typeface="微软雅黑"/>
                        </a:rPr>
                        <a:t>IEEE TMC</a:t>
                      </a:r>
                      <a:endParaRPr b="0" lang="en-US" sz="1450" spc="-1" strike="noStrike">
                        <a:latin typeface="Arial"/>
                      </a:endParaRPr>
                    </a:p>
                    <a:p>
                      <a:pPr algn="ctr">
                        <a:lnSpc>
                          <a:spcPct val="95000"/>
                        </a:lnSpc>
                        <a:buNone/>
                        <a:tabLst>
                          <a:tab algn="l" pos="0"/>
                        </a:tabLst>
                      </a:pPr>
                      <a:r>
                        <a:rPr b="0" lang="en-US" sz="1450" spc="-1" strike="noStrike">
                          <a:solidFill>
                            <a:srgbClr val="000000"/>
                          </a:solidFill>
                          <a:latin typeface="微软雅黑"/>
                          <a:ea typeface="微软雅黑"/>
                        </a:rPr>
                        <a:t>TETT</a:t>
                      </a:r>
                      <a:endParaRPr b="0" lang="en-US" sz="1450" spc="-1" strike="noStrike">
                        <a:latin typeface="Arial"/>
                      </a:endParaRPr>
                    </a:p>
                  </a:txBody>
                  <a:tcPr anchor="ct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lIns="68400" rIns="68400" tIns="0" bIns="0" anchor="ctr">
                      <a:noAutofit/>
                    </a:bodyPr>
                    <a:p>
                      <a:pPr algn="ctr">
                        <a:lnSpc>
                          <a:spcPct val="95000"/>
                        </a:lnSpc>
                        <a:buNone/>
                        <a:tabLst>
                          <a:tab algn="l" pos="0"/>
                        </a:tabLst>
                      </a:pPr>
                      <a:r>
                        <a:rPr b="0" lang="en-US" sz="1450" spc="-1" strike="noStrike">
                          <a:solidFill>
                            <a:srgbClr val="000000"/>
                          </a:solidFill>
                          <a:latin typeface="微软雅黑"/>
                          <a:ea typeface="微软雅黑"/>
                        </a:rPr>
                        <a:t>2026.05</a:t>
                      </a:r>
                      <a:endParaRPr b="0" lang="en-US" sz="1450" spc="-1" strike="noStrike">
                        <a:latin typeface="Arial"/>
                      </a:endParaRPr>
                    </a:p>
                    <a:p>
                      <a:pPr algn="ctr">
                        <a:lnSpc>
                          <a:spcPct val="95000"/>
                        </a:lnSpc>
                        <a:buNone/>
                        <a:tabLst>
                          <a:tab algn="l" pos="0"/>
                        </a:tabLst>
                      </a:pPr>
                      <a:r>
                        <a:rPr b="0" lang="en-US" sz="1450" spc="-1" strike="noStrike">
                          <a:solidFill>
                            <a:srgbClr val="000000"/>
                          </a:solidFill>
                          <a:latin typeface="微软雅黑"/>
                          <a:ea typeface="微软雅黑"/>
                        </a:rPr>
                        <a:t>2026.07</a:t>
                      </a:r>
                      <a:endParaRPr b="0" lang="en-US" sz="1450" spc="-1" strike="noStrike">
                        <a:latin typeface="Arial"/>
                      </a:endParaRPr>
                    </a:p>
                  </a:txBody>
                  <a:tcPr anchor="ctr" marL="68400" marR="68400">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r>
            </a:tbl>
          </a:graphicData>
        </a:graphic>
      </p:graphicFrame>
      <p:sp>
        <p:nvSpPr>
          <p:cNvPr id="1304" name="矩形 4"/>
          <p:cNvSpPr/>
          <p:nvPr/>
        </p:nvSpPr>
        <p:spPr>
          <a:xfrm>
            <a:off x="353160" y="4136400"/>
            <a:ext cx="2228400" cy="396360"/>
          </a:xfrm>
          <a:prstGeom prst="rect">
            <a:avLst/>
          </a:prstGeom>
          <a:solidFill>
            <a:srgbClr val="006f6b"/>
          </a:solidFill>
          <a:ln w="9525">
            <a:solidFill>
              <a:srgbClr val="006f6b"/>
            </a:solidFill>
            <a:round/>
          </a:ln>
        </p:spPr>
        <p:style>
          <a:lnRef idx="0"/>
          <a:fillRef idx="0"/>
          <a:effectRef idx="0"/>
          <a:fontRef idx="minor"/>
        </p:style>
        <p:txBody>
          <a:bodyPr lIns="90000" rIns="90000" tIns="45000" bIns="45000" anchor="t">
            <a:noAutofit/>
          </a:bodyPr>
          <a:p>
            <a:pPr algn="ctr">
              <a:lnSpc>
                <a:spcPct val="100000"/>
              </a:lnSpc>
              <a:buNone/>
              <a:tabLst>
                <a:tab algn="l" pos="0"/>
              </a:tabLst>
            </a:pPr>
            <a:r>
              <a:rPr b="1" lang="zh-CN" sz="2000" spc="-1" strike="noStrike">
                <a:solidFill>
                  <a:srgbClr val="ffffff"/>
                </a:solidFill>
                <a:latin typeface="微软雅黑"/>
                <a:ea typeface="微软雅黑"/>
              </a:rPr>
              <a:t>论文</a:t>
            </a:r>
            <a:endParaRPr b="0" lang="en-US" sz="2000" spc="-1" strike="noStrike">
              <a:latin typeface="Arial"/>
            </a:endParaRPr>
          </a:p>
        </p:txBody>
      </p:sp>
      <p:sp>
        <p:nvSpPr>
          <p:cNvPr id="1305" name="矩形 7"/>
          <p:cNvSpPr/>
          <p:nvPr/>
        </p:nvSpPr>
        <p:spPr>
          <a:xfrm>
            <a:off x="459000" y="4591800"/>
            <a:ext cx="108010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1800" spc="-1" strike="noStrike">
                <a:solidFill>
                  <a:srgbClr val="000000"/>
                </a:solidFill>
                <a:latin typeface="微软雅黑"/>
                <a:ea typeface="微软雅黑"/>
              </a:rPr>
              <a:t>已发表论文 </a:t>
            </a:r>
            <a:r>
              <a:rPr b="1" lang="en-US" sz="1800" spc="-1" strike="noStrike">
                <a:solidFill>
                  <a:srgbClr val="c00000"/>
                </a:solidFill>
                <a:latin typeface="微软雅黑"/>
                <a:ea typeface="微软雅黑"/>
              </a:rPr>
              <a:t>2</a:t>
            </a:r>
            <a:r>
              <a:rPr b="0" lang="en-US" sz="1800" spc="-1" strike="noStrike">
                <a:solidFill>
                  <a:srgbClr val="000000"/>
                </a:solidFill>
                <a:latin typeface="微软雅黑"/>
                <a:ea typeface="微软雅黑"/>
              </a:rPr>
              <a:t> </a:t>
            </a:r>
            <a:r>
              <a:rPr b="0" lang="zh-CN" sz="1800" spc="-1" strike="noStrike">
                <a:solidFill>
                  <a:srgbClr val="000000"/>
                </a:solidFill>
                <a:latin typeface="微软雅黑"/>
                <a:ea typeface="微软雅黑"/>
              </a:rPr>
              <a:t>篇。</a:t>
            </a:r>
            <a:endParaRPr b="0" lang="en-US" sz="1800" spc="-1" strike="noStrike">
              <a:latin typeface="Arial"/>
            </a:endParaRPr>
          </a:p>
        </p:txBody>
      </p:sp>
    </p:spTree>
  </p:cSld>
  <mc:AlternateContent>
    <mc:Choice Requires="p14">
      <p:transition spd="slow" advTm="12000" p14:dur="2000"/>
    </mc:Choice>
    <mc:Fallback>
      <p:transition spd="slow" advTm="12000"/>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Rectangle 1"/>
          <p:cNvSpPr/>
          <p:nvPr/>
        </p:nvSpPr>
        <p:spPr>
          <a:xfrm>
            <a:off x="0" y="0"/>
            <a:ext cx="146304" cy="694944"/>
          </a:xfrm>
          <a:prstGeom prst="rect">
            <a:avLst/>
          </a:prstGeom>
          <a:solidFill>
            <a:srgbClr val="007873"/>
          </a:solidFill>
          <a:ln w="1143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694944"/>
            <a:ext cx="11356848" cy="0"/>
          </a:xfrm>
          <a:prstGeom prst="line">
            <a:avLst/>
          </a:prstGeom>
          <a:ln w="18415">
            <a:solidFill>
              <a:srgbClr val="00787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20040" y="118872"/>
            <a:ext cx="5394960" cy="420624"/>
          </a:xfrm>
          <a:prstGeom prst="rect">
            <a:avLst/>
          </a:prstGeom>
          <a:noFill/>
        </p:spPr>
        <p:txBody>
          <a:bodyPr wrap="square" anchor="ctr" lIns="45720" rIns="45720" tIns="27432" bIns="27432">
            <a:spAutoFit/>
          </a:bodyPr>
          <a:lstStyle/>
          <a:p>
            <a:pPr algn="l">
              <a:spcBef>
                <a:spcPts val="0"/>
              </a:spcBef>
              <a:spcAft>
                <a:spcPts val="0"/>
              </a:spcAft>
            </a:pPr>
            <a:r>
              <a:rPr sz="2600" b="1">
                <a:solidFill>
                  <a:srgbClr val="000000"/>
                </a:solidFill>
                <a:latin typeface="黑体"/>
                <a:ea typeface="黑体"/>
              </a:rPr>
              <a:t>二 、任务进展情况</a:t>
            </a:r>
          </a:p>
        </p:txBody>
      </p:sp>
      <p:sp>
        <p:nvSpPr>
          <p:cNvPr id="5" name="TextBox 4"/>
          <p:cNvSpPr txBox="1"/>
          <p:nvPr/>
        </p:nvSpPr>
        <p:spPr>
          <a:xfrm>
            <a:off x="11658600" y="6574536"/>
            <a:ext cx="329184" cy="164592"/>
          </a:xfrm>
          <a:prstGeom prst="rect">
            <a:avLst/>
          </a:prstGeom>
          <a:noFill/>
        </p:spPr>
        <p:txBody>
          <a:bodyPr wrap="square" anchor="ctr" lIns="0" rIns="0" tIns="0" bIns="0">
            <a:spAutoFit/>
          </a:bodyPr>
          <a:lstStyle/>
          <a:p>
            <a:pPr algn="r">
              <a:spcBef>
                <a:spcPts val="0"/>
              </a:spcBef>
              <a:spcAft>
                <a:spcPts val="0"/>
              </a:spcAft>
            </a:pPr>
            <a:r>
              <a:rPr sz="950" b="0">
                <a:solidFill>
                  <a:srgbClr val="888888"/>
                </a:solidFill>
                <a:latin typeface="微软雅黑"/>
                <a:ea typeface="微软雅黑"/>
              </a:rPr>
              <a:t>18</a:t>
            </a:r>
          </a:p>
        </p:txBody>
      </p:sp>
      <p:sp>
        <p:nvSpPr>
          <p:cNvPr id="6" name="TextBox 5"/>
          <p:cNvSpPr txBox="1"/>
          <p:nvPr/>
        </p:nvSpPr>
        <p:spPr>
          <a:xfrm>
            <a:off x="320040" y="859536"/>
            <a:ext cx="11475720" cy="402336"/>
          </a:xfrm>
          <a:prstGeom prst="rect">
            <a:avLst/>
          </a:prstGeom>
          <a:noFill/>
        </p:spPr>
        <p:txBody>
          <a:bodyPr wrap="square" anchor="ctr" lIns="0" rIns="0" tIns="0" bIns="0">
            <a:spAutoFit/>
          </a:bodyPr>
          <a:lstStyle/>
          <a:p>
            <a:pPr algn="l">
              <a:spcBef>
                <a:spcPts val="0"/>
              </a:spcBef>
              <a:spcAft>
                <a:spcPts val="0"/>
              </a:spcAft>
            </a:pPr>
            <a:r>
              <a:rPr sz="2250" b="1">
                <a:solidFill>
                  <a:srgbClr val="006666"/>
                </a:solidFill>
                <a:latin typeface="微软雅黑"/>
                <a:ea typeface="微软雅黑"/>
              </a:rPr>
              <a:t>算例验证1：石家庄主配微电网算例设置与分区结果</a:t>
            </a:r>
          </a:p>
        </p:txBody>
      </p:sp>
      <p:sp>
        <p:nvSpPr>
          <p:cNvPr id="7" name="Rectangle 6"/>
          <p:cNvSpPr/>
          <p:nvPr/>
        </p:nvSpPr>
        <p:spPr>
          <a:xfrm>
            <a:off x="320040" y="1362456"/>
            <a:ext cx="1024128" cy="566928"/>
          </a:xfrm>
          <a:prstGeom prst="rect">
            <a:avLst/>
          </a:prstGeom>
          <a:solidFill>
            <a:srgbClr val="007873"/>
          </a:solidFill>
          <a:ln w="11430">
            <a:solidFill>
              <a:srgbClr val="007873"/>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1550" b="1">
                <a:solidFill>
                  <a:srgbClr val="FFFFFF"/>
                </a:solidFill>
                <a:latin typeface="微软雅黑"/>
                <a:ea typeface="微软雅黑"/>
              </a:rPr>
              <a:t>算例设置</a:t>
            </a:r>
          </a:p>
        </p:txBody>
      </p:sp>
      <p:sp>
        <p:nvSpPr>
          <p:cNvPr id="8" name="Rectangle 7"/>
          <p:cNvSpPr/>
          <p:nvPr/>
        </p:nvSpPr>
        <p:spPr>
          <a:xfrm>
            <a:off x="1380744" y="1362456"/>
            <a:ext cx="10442448" cy="566928"/>
          </a:xfrm>
          <a:prstGeom prst="rect">
            <a:avLst/>
          </a:prstGeom>
          <a:solidFill>
            <a:srgbClr val="F4F7F7"/>
          </a:solidFill>
          <a:ln w="11430">
            <a:solidFill>
              <a:srgbClr val="C9D5D9"/>
            </a:solidFill>
          </a:ln>
        </p:spPr>
        <p:style>
          <a:lnRef idx="1">
            <a:schemeClr val="accent1"/>
          </a:lnRef>
          <a:fillRef idx="3">
            <a:schemeClr val="accent1"/>
          </a:fillRef>
          <a:effectRef idx="2">
            <a:schemeClr val="accent1"/>
          </a:effectRef>
          <a:fontRef idx="minor">
            <a:schemeClr val="lt1"/>
          </a:fontRef>
        </p:style>
        <p:txBody>
          <a:bodyPr rtlCol="0" anchor="ctr" wrap="square" lIns="137160" tIns="27432" bIns="27432"/>
          <a:lstStyle/>
          <a:p>
            <a:pPr algn="l">
              <a:spcBef>
                <a:spcPts val="0"/>
              </a:spcBef>
              <a:spcAft>
                <a:spcPts val="0"/>
              </a:spcAft>
            </a:pPr>
            <a:r>
              <a:rPr sz="1480" b="0">
                <a:solidFill>
                  <a:srgbClr val="162024"/>
                </a:solidFill>
                <a:latin typeface="微软雅黑"/>
                <a:ea typeface="微软雅黑"/>
              </a:rPr>
              <a:t>基于石家庄实际主配网运行断面，叠加馈线时序注入与PCC微网等值模型，完成主配接口识别、加权多级图分区及局部潮流结果校核。</a:t>
            </a:r>
          </a:p>
        </p:txBody>
      </p:sp>
      <p:pic>
        <p:nvPicPr>
          <p:cNvPr id="9" name="Picture 8" descr="case_setting_and_partition.png"/>
          <p:cNvPicPr>
            <a:picLocks noChangeAspect="1"/>
          </p:cNvPicPr>
          <p:nvPr/>
        </p:nvPicPr>
        <p:blipFill>
          <a:blip r:embed="rId3"/>
          <a:stretch>
            <a:fillRect/>
          </a:stretch>
        </p:blipFill>
        <p:spPr>
          <a:xfrm>
            <a:off x="320040" y="2033316"/>
            <a:ext cx="11503152" cy="3952654"/>
          </a:xfrm>
          <a:prstGeom prst="rect">
            <a:avLst/>
          </a:prstGeom>
        </p:spPr>
      </p:pic>
      <p:sp>
        <p:nvSpPr>
          <p:cNvPr id="10" name="Rounded Rectangle 9"/>
          <p:cNvSpPr/>
          <p:nvPr/>
        </p:nvSpPr>
        <p:spPr>
          <a:xfrm>
            <a:off x="320040" y="6144768"/>
            <a:ext cx="11503152" cy="374904"/>
          </a:xfrm>
          <a:prstGeom prst="roundRect">
            <a:avLst/>
          </a:prstGeom>
          <a:solidFill>
            <a:srgbClr val="F0F7F6"/>
          </a:solidFill>
          <a:ln w="12065">
            <a:solidFill>
              <a:srgbClr val="007873"/>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320" b="1">
                <a:solidFill>
                  <a:srgbClr val="006666"/>
                </a:solidFill>
                <a:latin typeface="微软雅黑"/>
                <a:ea typeface="微软雅黑"/>
              </a:rPr>
              <a:t>实际运行断面  →  主配接口识别  →  微网PCC等值接入  →  加权多级分区  →  拓扑完整的局部潮流子问题</a:t>
            </a: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94944"/>
          </a:xfrm>
          <a:prstGeom prst="rect">
            <a:avLst/>
          </a:prstGeom>
          <a:solidFill>
            <a:srgbClr val="007873"/>
          </a:solidFill>
          <a:ln w="1143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0" y="694944"/>
            <a:ext cx="11356848" cy="0"/>
          </a:xfrm>
          <a:prstGeom prst="line">
            <a:avLst/>
          </a:prstGeom>
          <a:ln w="18415">
            <a:solidFill>
              <a:srgbClr val="00787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20040" y="118872"/>
            <a:ext cx="5394960" cy="420624"/>
          </a:xfrm>
          <a:prstGeom prst="rect">
            <a:avLst/>
          </a:prstGeom>
          <a:noFill/>
        </p:spPr>
        <p:txBody>
          <a:bodyPr wrap="square" anchor="ctr" lIns="45720" rIns="45720" tIns="27432" bIns="27432">
            <a:spAutoFit/>
          </a:bodyPr>
          <a:lstStyle/>
          <a:p>
            <a:pPr algn="l">
              <a:spcBef>
                <a:spcPts val="0"/>
              </a:spcBef>
              <a:spcAft>
                <a:spcPts val="0"/>
              </a:spcAft>
            </a:pPr>
            <a:r>
              <a:rPr sz="2600" b="1">
                <a:solidFill>
                  <a:srgbClr val="000000"/>
                </a:solidFill>
                <a:latin typeface="黑体"/>
                <a:ea typeface="黑体"/>
              </a:rPr>
              <a:t>二 、任务进展情况</a:t>
            </a:r>
          </a:p>
        </p:txBody>
      </p:sp>
      <p:sp>
        <p:nvSpPr>
          <p:cNvPr id="5" name="TextBox 4"/>
          <p:cNvSpPr txBox="1"/>
          <p:nvPr/>
        </p:nvSpPr>
        <p:spPr>
          <a:xfrm>
            <a:off x="11658600" y="6574536"/>
            <a:ext cx="329184" cy="164592"/>
          </a:xfrm>
          <a:prstGeom prst="rect">
            <a:avLst/>
          </a:prstGeom>
          <a:noFill/>
        </p:spPr>
        <p:txBody>
          <a:bodyPr wrap="square" anchor="ctr" lIns="0" rIns="0" tIns="0" bIns="0">
            <a:spAutoFit/>
          </a:bodyPr>
          <a:lstStyle/>
          <a:p>
            <a:pPr algn="r">
              <a:spcBef>
                <a:spcPts val="0"/>
              </a:spcBef>
              <a:spcAft>
                <a:spcPts val="0"/>
              </a:spcAft>
            </a:pPr>
            <a:r>
              <a:rPr sz="950" b="0">
                <a:solidFill>
                  <a:srgbClr val="888888"/>
                </a:solidFill>
                <a:latin typeface="微软雅黑"/>
                <a:ea typeface="微软雅黑"/>
              </a:rPr>
              <a:t>19</a:t>
            </a:r>
          </a:p>
        </p:txBody>
      </p:sp>
      <p:sp>
        <p:nvSpPr>
          <p:cNvPr id="6" name="TextBox 5"/>
          <p:cNvSpPr txBox="1"/>
          <p:nvPr/>
        </p:nvSpPr>
        <p:spPr>
          <a:xfrm>
            <a:off x="320040" y="859536"/>
            <a:ext cx="11475720" cy="402336"/>
          </a:xfrm>
          <a:prstGeom prst="rect">
            <a:avLst/>
          </a:prstGeom>
          <a:noFill/>
        </p:spPr>
        <p:txBody>
          <a:bodyPr wrap="square" anchor="ctr" lIns="0" rIns="0" tIns="0" bIns="0">
            <a:spAutoFit/>
          </a:bodyPr>
          <a:lstStyle/>
          <a:p>
            <a:pPr algn="l">
              <a:spcBef>
                <a:spcPts val="0"/>
              </a:spcBef>
              <a:spcAft>
                <a:spcPts val="0"/>
              </a:spcAft>
            </a:pPr>
            <a:r>
              <a:rPr sz="2250" b="1">
                <a:solidFill>
                  <a:srgbClr val="006666"/>
                </a:solidFill>
                <a:latin typeface="微软雅黑"/>
                <a:ea typeface="微软雅黑"/>
              </a:rPr>
              <a:t>算例验证2：协调收敛特性与并行求解效果</a:t>
            </a:r>
          </a:p>
        </p:txBody>
      </p:sp>
      <p:sp>
        <p:nvSpPr>
          <p:cNvPr id="7" name="Rectangle 6"/>
          <p:cNvSpPr/>
          <p:nvPr/>
        </p:nvSpPr>
        <p:spPr>
          <a:xfrm>
            <a:off x="320040" y="1362456"/>
            <a:ext cx="1024128" cy="566928"/>
          </a:xfrm>
          <a:prstGeom prst="rect">
            <a:avLst/>
          </a:prstGeom>
          <a:solidFill>
            <a:srgbClr val="007873"/>
          </a:solidFill>
          <a:ln w="11430">
            <a:solidFill>
              <a:srgbClr val="007873"/>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0"/>
              </a:spcAft>
            </a:pPr>
            <a:r>
              <a:rPr sz="1550" b="1">
                <a:solidFill>
                  <a:srgbClr val="FFFFFF"/>
                </a:solidFill>
                <a:latin typeface="微软雅黑"/>
                <a:ea typeface="微软雅黑"/>
              </a:rPr>
              <a:t>验证方法</a:t>
            </a:r>
          </a:p>
        </p:txBody>
      </p:sp>
      <p:sp>
        <p:nvSpPr>
          <p:cNvPr id="8" name="Rectangle 7"/>
          <p:cNvSpPr/>
          <p:nvPr/>
        </p:nvSpPr>
        <p:spPr>
          <a:xfrm>
            <a:off x="1380744" y="1362456"/>
            <a:ext cx="10442448" cy="566928"/>
          </a:xfrm>
          <a:prstGeom prst="rect">
            <a:avLst/>
          </a:prstGeom>
          <a:solidFill>
            <a:srgbClr val="F4F7F7"/>
          </a:solidFill>
          <a:ln w="11430">
            <a:solidFill>
              <a:srgbClr val="C9D5D9"/>
            </a:solidFill>
          </a:ln>
        </p:spPr>
        <p:style>
          <a:lnRef idx="1">
            <a:schemeClr val="accent1"/>
          </a:lnRef>
          <a:fillRef idx="3">
            <a:schemeClr val="accent1"/>
          </a:fillRef>
          <a:effectRef idx="2">
            <a:schemeClr val="accent1"/>
          </a:effectRef>
          <a:fontRef idx="minor">
            <a:schemeClr val="lt1"/>
          </a:fontRef>
        </p:style>
        <p:txBody>
          <a:bodyPr rtlCol="0" anchor="ctr" wrap="square" lIns="137160" tIns="27432" bIns="27432"/>
          <a:lstStyle/>
          <a:p>
            <a:pPr algn="l">
              <a:spcBef>
                <a:spcPts val="0"/>
              </a:spcBef>
              <a:spcAft>
                <a:spcPts val="0"/>
              </a:spcAft>
            </a:pPr>
            <a:r>
              <a:rPr sz="1480" b="0">
                <a:solidFill>
                  <a:srgbClr val="162024"/>
                </a:solidFill>
                <a:latin typeface="微软雅黑"/>
                <a:ea typeface="微软雅黑"/>
              </a:rPr>
              <a:t>在同一运行断面与求解容差下记录边界功率、电压和相角残差，并对局部潮流任务采用不同工作进程数重复计时，以检验协调收敛与并行扩展特性。</a:t>
            </a:r>
          </a:p>
        </p:txBody>
      </p:sp>
      <p:pic>
        <p:nvPicPr>
          <p:cNvPr id="9" name="Picture 8" descr="coordination_and_parallel.png"/>
          <p:cNvPicPr>
            <a:picLocks noChangeAspect="1"/>
          </p:cNvPicPr>
          <p:nvPr/>
        </p:nvPicPr>
        <p:blipFill>
          <a:blip r:embed="rId4"/>
          <a:stretch>
            <a:fillRect/>
          </a:stretch>
        </p:blipFill>
        <p:spPr>
          <a:xfrm>
            <a:off x="320040" y="2059735"/>
            <a:ext cx="11503152" cy="3899817"/>
          </a:xfrm>
          <a:prstGeom prst="rect">
            <a:avLst/>
          </a:prstGeom>
        </p:spPr>
      </p:pic>
      <p:sp>
        <p:nvSpPr>
          <p:cNvPr id="10" name="Rounded Rectangle 9"/>
          <p:cNvSpPr/>
          <p:nvPr/>
        </p:nvSpPr>
        <p:spPr>
          <a:xfrm>
            <a:off x="320040" y="6144768"/>
            <a:ext cx="11503152" cy="374904"/>
          </a:xfrm>
          <a:prstGeom prst="roundRect">
            <a:avLst/>
          </a:prstGeom>
          <a:solidFill>
            <a:srgbClr val="F0F7F6"/>
          </a:solidFill>
          <a:ln w="12065">
            <a:solidFill>
              <a:srgbClr val="007873"/>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320" b="1">
                <a:solidFill>
                  <a:srgbClr val="006666"/>
                </a:solidFill>
                <a:latin typeface="微软雅黑"/>
                <a:ea typeface="微软雅黑"/>
              </a:rPr>
              <a:t>联合残差第 9 轮满足阈值；8 个工作进程取得 2.50× 实测加速，但单位进程效率随并行度提高而下降，进一步扩展受任务粒度与调度开销约束。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0"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1321"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1322"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四、下一步工作计划</a:t>
            </a:r>
            <a:endParaRPr b="0" lang="en-US" sz="2400" spc="-1" strike="noStrike">
              <a:latin typeface="Arial"/>
            </a:endParaRPr>
          </a:p>
        </p:txBody>
      </p:sp>
      <p:sp>
        <p:nvSpPr>
          <p:cNvPr id="1323" name="灯片编号占位符 3"/>
          <p:cNvSpPr/>
          <p:nvPr/>
        </p:nvSpPr>
        <p:spPr>
          <a:xfrm>
            <a:off x="11790000" y="6546960"/>
            <a:ext cx="463320" cy="413640"/>
          </a:xfrm>
          <a:prstGeom prst="rect">
            <a:avLst/>
          </a:prstGeom>
          <a:noFill/>
          <a:ln w="0">
            <a:noFill/>
          </a:ln>
        </p:spPr>
        <p:style>
          <a:lnRef idx="0"/>
          <a:fillRef idx="0"/>
          <a:effectRef idx="0"/>
          <a:fontRef idx="minor"/>
        </p:style>
        <p:txBody>
          <a:bodyPr anchor="ctr">
            <a:noAutofit/>
          </a:bodyPr>
          <a:p>
            <a:pPr algn="r">
              <a:lnSpc>
                <a:spcPct val="100000"/>
              </a:lnSpc>
              <a:buNone/>
              <a:tabLst>
                <a:tab algn="l" pos="0"/>
              </a:tabLst>
            </a:pPr>
            <a:fld id="{E78A8817-ECCA-49E5-B02C-FD693C09485C}" type="slidenum">
              <a:rPr b="0" lang="en-US" sz="1600" spc="-1" strike="noStrike">
                <a:solidFill>
                  <a:srgbClr val="898989"/>
                </a:solidFill>
                <a:latin typeface="微软雅黑"/>
                <a:ea typeface="微软雅黑"/>
              </a:rPr>
              <a:t>&lt;number&gt;</a:t>
            </a:fld>
            <a:endParaRPr b="0" lang="en-US" sz="1600" spc="-1" strike="noStrike">
              <a:latin typeface="Arial"/>
            </a:endParaRPr>
          </a:p>
        </p:txBody>
      </p:sp>
      <p:graphicFrame>
        <p:nvGraphicFramePr>
          <p:cNvPr id="1324" name="表格 22"/>
          <p:cNvGraphicFramePr/>
          <p:nvPr/>
        </p:nvGraphicFramePr>
        <p:xfrm>
          <a:off x="327240" y="829800"/>
          <a:ext cx="11536920" cy="5594760"/>
        </p:xfrm>
        <a:graphic>
          <a:graphicData uri="http://schemas.openxmlformats.org/drawingml/2006/table">
            <a:tbl>
              <a:tblPr/>
              <a:tblGrid>
                <a:gridCol w="1172520"/>
                <a:gridCol w="5068800"/>
                <a:gridCol w="5295600"/>
              </a:tblGrid>
              <a:tr h="353520">
                <a:tc>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a:txBody>
                    <a:bodyPr anchor="ctr">
                      <a:noAutofit/>
                    </a:bodyPr>
                    <a:p>
                      <a:pPr algn="ctr">
                        <a:lnSpc>
                          <a:spcPct val="95000"/>
                        </a:lnSpc>
                        <a:buNone/>
                      </a:pPr>
                      <a:r>
                        <a:rPr b="1" lang="en-US" sz="1600" spc="-1" strike="noStrike">
                          <a:solidFill>
                            <a:srgbClr val="ffffff"/>
                          </a:solidFill>
                          <a:latin typeface="微软雅黑"/>
                          <a:ea typeface="微软雅黑"/>
                        </a:rPr>
                        <a:t>2026</a:t>
                      </a:r>
                      <a:r>
                        <a:rPr b="1" lang="zh-CN" sz="1600" spc="-1" strike="noStrike">
                          <a:solidFill>
                            <a:srgbClr val="ffffff"/>
                          </a:solidFill>
                          <a:latin typeface="微软雅黑"/>
                          <a:ea typeface="微软雅黑"/>
                        </a:rPr>
                        <a:t>年</a:t>
                      </a:r>
                      <a:r>
                        <a:rPr b="1" lang="en-US" sz="1600" spc="-1" strike="noStrike">
                          <a:solidFill>
                            <a:srgbClr val="ffffff"/>
                          </a:solidFill>
                          <a:latin typeface="微软雅黑"/>
                          <a:ea typeface="微软雅黑"/>
                        </a:rPr>
                        <a:t>9</a:t>
                      </a:r>
                      <a:r>
                        <a:rPr b="1" lang="zh-CN" sz="1600" spc="-1" strike="noStrike">
                          <a:solidFill>
                            <a:srgbClr val="ffffff"/>
                          </a:solidFill>
                          <a:latin typeface="微软雅黑"/>
                          <a:ea typeface="微软雅黑"/>
                        </a:rPr>
                        <a:t>月</a:t>
                      </a:r>
                      <a:endParaRPr b="0" lang="en-US" sz="16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c>
                  <a:txBody>
                    <a:bodyPr anchor="ctr">
                      <a:noAutofit/>
                    </a:bodyPr>
                    <a:p>
                      <a:pPr algn="ctr">
                        <a:lnSpc>
                          <a:spcPct val="95000"/>
                        </a:lnSpc>
                        <a:buNone/>
                        <a:tabLst>
                          <a:tab algn="l" pos="0"/>
                        </a:tabLst>
                      </a:pPr>
                      <a:r>
                        <a:rPr b="1" lang="en-US" sz="1600" spc="-1" strike="noStrike">
                          <a:solidFill>
                            <a:srgbClr val="ffffff"/>
                          </a:solidFill>
                          <a:latin typeface="微软雅黑"/>
                          <a:ea typeface="微软雅黑"/>
                        </a:rPr>
                        <a:t>2026</a:t>
                      </a:r>
                      <a:r>
                        <a:rPr b="1" lang="zh-CN" sz="1600" spc="-1" strike="noStrike">
                          <a:solidFill>
                            <a:srgbClr val="ffffff"/>
                          </a:solidFill>
                          <a:latin typeface="微软雅黑"/>
                          <a:ea typeface="微软雅黑"/>
                        </a:rPr>
                        <a:t>年</a:t>
                      </a:r>
                      <a:r>
                        <a:rPr b="1" lang="en-US" sz="1600" spc="-1" strike="noStrike">
                          <a:solidFill>
                            <a:srgbClr val="ffffff"/>
                          </a:solidFill>
                          <a:latin typeface="微软雅黑"/>
                          <a:ea typeface="微软雅黑"/>
                        </a:rPr>
                        <a:t>12</a:t>
                      </a:r>
                      <a:r>
                        <a:rPr b="1" lang="zh-CN" sz="1600" spc="-1" strike="noStrike">
                          <a:solidFill>
                            <a:srgbClr val="ffffff"/>
                          </a:solidFill>
                          <a:latin typeface="微软雅黑"/>
                          <a:ea typeface="微软雅黑"/>
                        </a:rPr>
                        <a:t>月</a:t>
                      </a:r>
                      <a:endParaRPr b="0" lang="en-US" sz="16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solidFill>
                      <a:srgbClr val="006f6b"/>
                    </a:solidFill>
                  </a:tcPr>
                </a:tc>
              </a:tr>
              <a:tr h="5241240">
                <a:tc>
                  <a:txBody>
                    <a:bodyPr lIns="68400" rIns="68400" tIns="0" bIns="0" anchor="ctr">
                      <a:noAutofit/>
                    </a:bodyPr>
                    <a:p>
                      <a:pPr algn="ctr">
                        <a:lnSpc>
                          <a:spcPct val="100000"/>
                        </a:lnSpc>
                        <a:buNone/>
                        <a:tabLst>
                          <a:tab algn="l" pos="0"/>
                        </a:tabLst>
                      </a:pPr>
                      <a:r>
                        <a:rPr b="1" lang="zh-CN" sz="1600" spc="-1" strike="noStrike">
                          <a:solidFill>
                            <a:srgbClr val="000000"/>
                          </a:solidFill>
                          <a:latin typeface="Arial"/>
                          <a:ea typeface="微软雅黑"/>
                        </a:rPr>
                        <a:t>技术研究</a:t>
                      </a:r>
                      <a:endParaRPr b="0" lang="en-US" sz="1600" spc="-1" strike="noStrike">
                        <a:latin typeface="Arial"/>
                      </a:endParaRPr>
                    </a:p>
                  </a:txBody>
                  <a:tcPr anchor="ctr" marL="68400" marR="68400">
                    <a:lnL w="12240">
                      <a:solidFill>
                        <a:srgbClr val="000000"/>
                      </a:solidFill>
                    </a:lnL>
                    <a:lnR w="12240">
                      <a:solidFill>
                        <a:srgbClr val="000000"/>
                      </a:solidFill>
                    </a:lnR>
                    <a:lnT w="12240">
                      <a:solidFill>
                        <a:srgbClr val="000000"/>
                      </a:solidFill>
                    </a:lnT>
                    <a:lnB w="12240">
                      <a:solidFill>
                        <a:srgbClr val="000000"/>
                      </a:solidFill>
                    </a:lnB>
                    <a:noFill/>
                  </a:tcPr>
                </a:tc>
                <a:tc>
                  <a:txBody>
                    <a:bodyPr anchor="ctr">
                      <a:noAutofit/>
                    </a:bodyPr>
                    <a:p>
                      <a:pPr>
                        <a:lnSpc>
                          <a:spcPct val="100000"/>
                        </a:lnSpc>
                        <a:buNone/>
                      </a:pPr>
                      <a:r>
                        <a:rPr b="1" lang="en-US" sz="1600" spc="-1" strike="noStrike">
                          <a:solidFill>
                            <a:srgbClr val="000000"/>
                          </a:solidFill>
                          <a:latin typeface="微软雅黑"/>
                          <a:ea typeface="微软雅黑"/>
                        </a:rPr>
                        <a:t>2.2.1. </a:t>
                      </a:r>
                      <a:r>
                        <a:rPr b="1" lang="zh-CN" sz="1600" spc="-1" strike="noStrike">
                          <a:solidFill>
                            <a:srgbClr val="000000"/>
                          </a:solidFill>
                          <a:latin typeface="微软雅黑"/>
                          <a:ea typeface="微软雅黑"/>
                        </a:rPr>
                        <a:t>完善主配微层级分区与边界协调算法。</a:t>
                      </a:r>
                      <a:r>
                        <a:rPr b="0" lang="zh-CN" sz="1600" spc="-1" strike="noStrike">
                          <a:solidFill>
                            <a:srgbClr val="000000"/>
                          </a:solidFill>
                          <a:latin typeface="微软雅黑"/>
                          <a:ea typeface="微软雅黑"/>
                        </a:rPr>
                        <a:t>面向石家庄实际电网数据，完成模型转换、主配接口识别与分区结果校核；针对弱耦合边界和不平衡分区，优化锚点选种、多级缩约及连通修复策略，形成可重复的分区解耦流程。</a:t>
                      </a:r>
                      <a:endParaRPr b="0" lang="en-US" sz="16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anchor="ctr">
                      <a:noAutofit/>
                    </a:bodyPr>
                    <a:p>
                      <a:pPr>
                        <a:lnSpc>
                          <a:spcPct val="100000"/>
                        </a:lnSpc>
                        <a:buNone/>
                      </a:pPr>
                      <a:r>
                        <a:rPr b="1" lang="en-US" sz="1600" spc="-1" strike="noStrike">
                          <a:solidFill>
                            <a:srgbClr val="000000"/>
                          </a:solidFill>
                          <a:latin typeface="微软雅黑"/>
                          <a:ea typeface="微软雅黑"/>
                        </a:rPr>
                        <a:t>2.2.2. </a:t>
                      </a:r>
                      <a:r>
                        <a:rPr b="1" lang="zh-CN" sz="1600" spc="-1" strike="noStrike">
                          <a:solidFill>
                            <a:srgbClr val="000000"/>
                          </a:solidFill>
                          <a:latin typeface="微软雅黑"/>
                          <a:ea typeface="微软雅黑"/>
                        </a:rPr>
                        <a:t>完成主配微分层并行潮流与多时间断面验证。</a:t>
                      </a:r>
                      <a:r>
                        <a:rPr b="0" lang="zh-CN" sz="1600" spc="-1" strike="noStrike">
                          <a:solidFill>
                            <a:srgbClr val="000000"/>
                          </a:solidFill>
                          <a:latin typeface="微软雅黑"/>
                          <a:ea typeface="微软雅黑"/>
                        </a:rPr>
                        <a:t>完善边界电压—交换功率—微网等值注入的协调迭代与残差判据，研究任务调度、热启动和异常回退机制；基于石家庄数据开展精度、收敛性与计算效率对比，形成算法模块及验证材料。</a:t>
                      </a:r>
                      <a:endParaRPr b="0" lang="en-US" sz="1600" spc="-1" strike="noStrike">
                        <a:latin typeface="Arial"/>
                      </a:endParaRPr>
                    </a:p>
                  </a:txBody>
                  <a:tcPr anchor="ctr" marL="91440" marR="9144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Tree>
  </p:cSld>
  <mc:AlternateContent>
    <mc:Choice Requires="p14">
      <p:transition spd="slow" advTm="12000" p14:dur="2000"/>
    </mc:Choice>
    <mc:Fallback>
      <p:transition spd="slow" advTm="12000"/>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5" name="直接连接符 9"/>
          <p:cNvSpPr/>
          <p:nvPr/>
        </p:nvSpPr>
        <p:spPr>
          <a:xfrm>
            <a:off x="0" y="695880"/>
            <a:ext cx="12191760" cy="360"/>
          </a:xfrm>
          <a:prstGeom prst="line">
            <a:avLst/>
          </a:prstGeom>
          <a:ln w="28575">
            <a:solidFill>
              <a:srgbClr val="006666"/>
            </a:solidFill>
          </a:ln>
        </p:spPr>
        <p:style>
          <a:lnRef idx="1">
            <a:schemeClr val="accent1"/>
          </a:lnRef>
          <a:fillRef idx="0">
            <a:schemeClr val="accent1"/>
          </a:fillRef>
          <a:effectRef idx="0">
            <a:schemeClr val="accent1"/>
          </a:effectRef>
          <a:fontRef idx="minor"/>
        </p:style>
      </p:sp>
      <p:sp>
        <p:nvSpPr>
          <p:cNvPr id="1326" name="矩形 26"/>
          <p:cNvSpPr/>
          <p:nvPr/>
        </p:nvSpPr>
        <p:spPr>
          <a:xfrm>
            <a:off x="0" y="0"/>
            <a:ext cx="151920" cy="713880"/>
          </a:xfrm>
          <a:prstGeom prst="rect">
            <a:avLst/>
          </a:prstGeom>
          <a:solidFill>
            <a:srgbClr val="006f6b"/>
          </a:solidFill>
          <a:ln>
            <a:noFill/>
          </a:ln>
        </p:spPr>
        <p:style>
          <a:lnRef idx="2">
            <a:schemeClr val="accent1">
              <a:shade val="50000"/>
            </a:schemeClr>
          </a:lnRef>
          <a:fillRef idx="1">
            <a:schemeClr val="accent1"/>
          </a:fillRef>
          <a:effectRef idx="0">
            <a:schemeClr val="accent1"/>
          </a:effectRef>
          <a:fontRef idx="minor"/>
        </p:style>
      </p:sp>
      <p:sp>
        <p:nvSpPr>
          <p:cNvPr id="1327" name="文本框 2"/>
          <p:cNvSpPr/>
          <p:nvPr/>
        </p:nvSpPr>
        <p:spPr>
          <a:xfrm>
            <a:off x="212040" y="100440"/>
            <a:ext cx="11979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zh-CN" sz="2400" spc="-1" strike="noStrike">
                <a:solidFill>
                  <a:srgbClr val="000000"/>
                </a:solidFill>
                <a:latin typeface="微软雅黑"/>
                <a:ea typeface="微软雅黑"/>
              </a:rPr>
              <a:t>四、下一步工作计划</a:t>
            </a:r>
            <a:endParaRPr b="0" lang="en-US" sz="2400" spc="-1" strike="noStrike">
              <a:latin typeface="Arial"/>
            </a:endParaRPr>
          </a:p>
        </p:txBody>
      </p:sp>
      <p:sp>
        <p:nvSpPr>
          <p:cNvPr id="1328" name="灯片编号占位符 3"/>
          <p:cNvSpPr/>
          <p:nvPr/>
        </p:nvSpPr>
        <p:spPr>
          <a:xfrm>
            <a:off x="11790000" y="6546960"/>
            <a:ext cx="463320" cy="413640"/>
          </a:xfrm>
          <a:prstGeom prst="rect">
            <a:avLst/>
          </a:prstGeom>
          <a:noFill/>
          <a:ln w="0">
            <a:noFill/>
          </a:ln>
        </p:spPr>
        <p:style>
          <a:lnRef idx="0"/>
          <a:fillRef idx="0"/>
          <a:effectRef idx="0"/>
          <a:fontRef idx="minor"/>
        </p:style>
        <p:txBody>
          <a:bodyPr anchor="ctr">
            <a:noAutofit/>
          </a:bodyPr>
          <a:p>
            <a:pPr algn="r">
              <a:lnSpc>
                <a:spcPct val="100000"/>
              </a:lnSpc>
              <a:buNone/>
              <a:tabLst>
                <a:tab algn="l" pos="0"/>
              </a:tabLst>
            </a:pPr>
            <a:fld id="{8D33A64D-6CFA-46A7-AA8F-E875B26CDE5A}" type="slidenum">
              <a:rPr b="0" lang="en-US" sz="1600" spc="-1" strike="noStrike">
                <a:solidFill>
                  <a:srgbClr val="898989"/>
                </a:solidFill>
                <a:latin typeface="微软雅黑"/>
                <a:ea typeface="微软雅黑"/>
              </a:rPr>
              <a:t>&lt;number&gt;</a:t>
            </a:fld>
            <a:endParaRPr b="0" lang="en-US" sz="1600" spc="-1" strike="noStrike">
              <a:latin typeface="Arial"/>
            </a:endParaRPr>
          </a:p>
        </p:txBody>
      </p:sp>
      <p:sp>
        <p:nvSpPr>
          <p:cNvPr id="1329" name="文本框 3"/>
          <p:cNvSpPr/>
          <p:nvPr/>
        </p:nvSpPr>
        <p:spPr>
          <a:xfrm>
            <a:off x="3456360" y="1452960"/>
            <a:ext cx="5123520" cy="367920"/>
          </a:xfrm>
          <a:prstGeom prst="rect">
            <a:avLst/>
          </a:prstGeom>
          <a:noFill/>
          <a:ln w="0">
            <a:noFill/>
          </a:ln>
        </p:spPr>
        <p:style>
          <a:lnRef idx="0"/>
          <a:fillRef idx="0"/>
          <a:effectRef idx="0"/>
          <a:fontRef idx="minor"/>
        </p:style>
      </p:sp>
      <p:grpSp>
        <p:nvGrpSpPr>
          <p:cNvPr id="1330" name="组合 14"/>
          <p:cNvGrpSpPr/>
          <p:nvPr/>
        </p:nvGrpSpPr>
        <p:grpSpPr>
          <a:xfrm>
            <a:off x="299160" y="1039320"/>
            <a:ext cx="11781360" cy="1764720"/>
            <a:chOff x="299160" y="1039320"/>
            <a:chExt cx="11781360" cy="1764720"/>
          </a:xfrm>
        </p:grpSpPr>
        <p:grpSp>
          <p:nvGrpSpPr>
            <p:cNvPr id="1331" name="组合 10"/>
            <p:cNvGrpSpPr/>
            <p:nvPr/>
          </p:nvGrpSpPr>
          <p:grpSpPr>
            <a:xfrm>
              <a:off x="299160" y="1039320"/>
              <a:ext cx="11781360" cy="1546560"/>
              <a:chOff x="299160" y="1039320"/>
              <a:chExt cx="11781360" cy="1546560"/>
            </a:xfrm>
          </p:grpSpPr>
          <p:sp>
            <p:nvSpPr>
              <p:cNvPr id="1332" name="圆角矩形 86"/>
              <p:cNvSpPr/>
              <p:nvPr/>
            </p:nvSpPr>
            <p:spPr>
              <a:xfrm>
                <a:off x="299160" y="1039320"/>
                <a:ext cx="11781360" cy="1546560"/>
              </a:xfrm>
              <a:prstGeom prst="roundRect">
                <a:avLst>
                  <a:gd name="adj" fmla="val 0"/>
                </a:avLst>
              </a:prstGeom>
              <a:solidFill>
                <a:schemeClr val="bg1"/>
              </a:solidFill>
              <a:ln w="6350">
                <a:solidFill>
                  <a:srgbClr val="4472c4">
                    <a:lumMod val="50000"/>
                    <a:alpha val="30000"/>
                  </a:srgbClr>
                </a:solidFill>
                <a:miter/>
              </a:ln>
              <a:effectLst>
                <a:outerShdw algn="t" blurRad="355680" dir="5400000" dist="152280" rotWithShape="0" sx="99000" sy="99000">
                  <a:schemeClr val="accent1">
                    <a:lumMod val="50000"/>
                    <a:alpha val="15000"/>
                  </a:schemeClr>
                </a:outerShdw>
              </a:effectLst>
            </p:spPr>
            <p:style>
              <a:lnRef idx="0"/>
              <a:fillRef idx="0"/>
              <a:effectRef idx="0"/>
              <a:fontRef idx="minor"/>
            </p:style>
          </p:sp>
          <p:sp>
            <p:nvSpPr>
              <p:cNvPr id="1333" name="任意多边形: 形状 18"/>
              <p:cNvSpPr/>
              <p:nvPr/>
            </p:nvSpPr>
            <p:spPr>
              <a:xfrm rot="5400000">
                <a:off x="1800" y="1362240"/>
                <a:ext cx="1546560" cy="900360"/>
              </a:xfrm>
              <a:custGeom>
                <a:avLst/>
                <a:gdLst/>
                <a:ahLst/>
                <a:rect l="l" t="t" r="r" b="b"/>
                <a:pathLst>
                  <a:path w="1631950" h="856075">
                    <a:moveTo>
                      <a:pt x="0" y="856075"/>
                    </a:moveTo>
                    <a:lnTo>
                      <a:pt x="0" y="88883"/>
                    </a:lnTo>
                    <a:lnTo>
                      <a:pt x="746749" y="88883"/>
                    </a:lnTo>
                    <a:lnTo>
                      <a:pt x="815975" y="0"/>
                    </a:lnTo>
                    <a:lnTo>
                      <a:pt x="885201" y="88883"/>
                    </a:lnTo>
                    <a:lnTo>
                      <a:pt x="1631950" y="88883"/>
                    </a:lnTo>
                    <a:lnTo>
                      <a:pt x="1631950" y="856075"/>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1334" name="文本框 20"/>
              <p:cNvSpPr/>
              <p:nvPr/>
            </p:nvSpPr>
            <p:spPr>
              <a:xfrm>
                <a:off x="315000" y="1342800"/>
                <a:ext cx="766080" cy="100548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层级分区解耦</a:t>
                </a:r>
                <a:endParaRPr b="0" lang="en-US" sz="1979" spc="-1" strike="noStrike">
                  <a:latin typeface="Arial"/>
                </a:endParaRPr>
              </a:p>
            </p:txBody>
          </p:sp>
          <p:sp>
            <p:nvSpPr>
              <p:cNvPr id="1335" name="文本框 36"/>
              <p:cNvSpPr/>
              <p:nvPr/>
            </p:nvSpPr>
            <p:spPr>
              <a:xfrm>
                <a:off x="2213640" y="1522080"/>
                <a:ext cx="1089000" cy="348840"/>
              </a:xfrm>
              <a:prstGeom prst="rect">
                <a:avLst/>
              </a:prstGeom>
              <a:noFill/>
              <a:ln w="0">
                <a:noFill/>
              </a:ln>
            </p:spPr>
            <p:style>
              <a:lnRef idx="0"/>
              <a:fillRef idx="0"/>
              <a:effectRef idx="0"/>
              <a:fontRef idx="minor"/>
            </p:style>
          </p:sp>
        </p:grpSp>
        <p:sp>
          <p:nvSpPr>
            <p:cNvPr id="1336" name="文本框 12"/>
            <p:cNvSpPr/>
            <p:nvPr/>
          </p:nvSpPr>
          <p:spPr>
            <a:xfrm>
              <a:off x="1225440" y="1090440"/>
              <a:ext cx="10855080" cy="171360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buNone/>
                <a:tabLst>
                  <a:tab algn="l" pos="0"/>
                </a:tabLst>
              </a:pPr>
              <a:r>
                <a:rPr b="0" lang="zh-CN" sz="1800" spc="-1" strike="noStrike">
                  <a:solidFill>
                    <a:srgbClr val="000000"/>
                  </a:solidFill>
                  <a:latin typeface="微软雅黑"/>
                  <a:ea typeface="微软雅黑"/>
                </a:rPr>
                <a:t>面向石家庄实际电网数据，完善“电压等级分层—跨域变压器识别—</a:t>
              </a:r>
              <a:r>
                <a:rPr b="0" lang="en-US" sz="1800" spc="-1" strike="noStrike">
                  <a:solidFill>
                    <a:srgbClr val="000000"/>
                  </a:solidFill>
                  <a:latin typeface="微软雅黑"/>
                  <a:ea typeface="微软雅黑"/>
                </a:rPr>
                <a:t>PCC</a:t>
              </a:r>
              <a:r>
                <a:rPr b="0" lang="zh-CN" sz="1800" spc="-1" strike="noStrike">
                  <a:solidFill>
                    <a:srgbClr val="000000"/>
                  </a:solidFill>
                  <a:latin typeface="微软雅黑"/>
                  <a:ea typeface="微软雅黑"/>
                </a:rPr>
                <a:t>映射—接口锚点选种—电气耦合分区”的完整流程；研究边界节点复制与接口等值模型，校核子区连通性、规模均衡性和边界可协调性，形成可解释、可复现的主配微层级分区结果。</a:t>
              </a:r>
              <a:endParaRPr b="0" lang="en-US" sz="1800" spc="-1" strike="noStrike">
                <a:latin typeface="Arial"/>
              </a:endParaRPr>
            </a:p>
            <a:p>
              <a:pPr algn="just">
                <a:lnSpc>
                  <a:spcPct val="150000"/>
                </a:lnSpc>
                <a:buNone/>
                <a:tabLst>
                  <a:tab algn="l" pos="0"/>
                </a:tabLst>
              </a:pPr>
              <a:endParaRPr b="0" lang="en-US" sz="1800" spc="-1" strike="noStrike">
                <a:latin typeface="Arial"/>
              </a:endParaRPr>
            </a:p>
            <a:p>
              <a:pPr>
                <a:lnSpc>
                  <a:spcPct val="100000"/>
                </a:lnSpc>
                <a:buNone/>
                <a:tabLst>
                  <a:tab algn="l" pos="0"/>
                </a:tabLst>
              </a:pPr>
              <a:endParaRPr b="0" lang="en-US" sz="1800" spc="-1" strike="noStrike">
                <a:latin typeface="Arial"/>
              </a:endParaRPr>
            </a:p>
          </p:txBody>
        </p:sp>
      </p:grpSp>
      <p:grpSp>
        <p:nvGrpSpPr>
          <p:cNvPr id="1337" name="组合 35"/>
          <p:cNvGrpSpPr/>
          <p:nvPr/>
        </p:nvGrpSpPr>
        <p:grpSpPr>
          <a:xfrm>
            <a:off x="304920" y="3054960"/>
            <a:ext cx="11775240" cy="1688760"/>
            <a:chOff x="304920" y="3054960"/>
            <a:chExt cx="11775240" cy="1688760"/>
          </a:xfrm>
        </p:grpSpPr>
        <p:grpSp>
          <p:nvGrpSpPr>
            <p:cNvPr id="1338" name="组合 37"/>
            <p:cNvGrpSpPr/>
            <p:nvPr/>
          </p:nvGrpSpPr>
          <p:grpSpPr>
            <a:xfrm>
              <a:off x="304920" y="3054960"/>
              <a:ext cx="11775240" cy="1546560"/>
              <a:chOff x="304920" y="3054960"/>
              <a:chExt cx="11775240" cy="1546560"/>
            </a:xfrm>
          </p:grpSpPr>
          <p:sp>
            <p:nvSpPr>
              <p:cNvPr id="1339" name="圆角矩形 86"/>
              <p:cNvSpPr/>
              <p:nvPr/>
            </p:nvSpPr>
            <p:spPr>
              <a:xfrm>
                <a:off x="304920" y="3054960"/>
                <a:ext cx="11775240" cy="1546560"/>
              </a:xfrm>
              <a:prstGeom prst="roundRect">
                <a:avLst>
                  <a:gd name="adj" fmla="val 0"/>
                </a:avLst>
              </a:prstGeom>
              <a:solidFill>
                <a:schemeClr val="bg1"/>
              </a:solidFill>
              <a:ln w="6350">
                <a:solidFill>
                  <a:srgbClr val="4472c4">
                    <a:lumMod val="50000"/>
                    <a:alpha val="30000"/>
                  </a:srgbClr>
                </a:solidFill>
                <a:miter/>
              </a:ln>
              <a:effectLst>
                <a:outerShdw algn="t" blurRad="355680" dir="5400000" dist="152280" rotWithShape="0" sx="99000" sy="99000">
                  <a:schemeClr val="accent1">
                    <a:lumMod val="50000"/>
                    <a:alpha val="15000"/>
                  </a:schemeClr>
                </a:outerShdw>
              </a:effectLst>
            </p:spPr>
            <p:style>
              <a:lnRef idx="0"/>
              <a:fillRef idx="0"/>
              <a:effectRef idx="0"/>
              <a:fontRef idx="minor"/>
            </p:style>
          </p:sp>
          <p:sp>
            <p:nvSpPr>
              <p:cNvPr id="1340" name="任意多边形: 形状 18"/>
              <p:cNvSpPr/>
              <p:nvPr/>
            </p:nvSpPr>
            <p:spPr>
              <a:xfrm rot="5400000">
                <a:off x="6840" y="3378240"/>
                <a:ext cx="1546560" cy="900000"/>
              </a:xfrm>
              <a:custGeom>
                <a:avLst/>
                <a:gdLst/>
                <a:ahLst/>
                <a:rect l="l" t="t" r="r" b="b"/>
                <a:pathLst>
                  <a:path w="1631950" h="856075">
                    <a:moveTo>
                      <a:pt x="0" y="856075"/>
                    </a:moveTo>
                    <a:lnTo>
                      <a:pt x="0" y="88883"/>
                    </a:lnTo>
                    <a:lnTo>
                      <a:pt x="746749" y="88883"/>
                    </a:lnTo>
                    <a:lnTo>
                      <a:pt x="815975" y="0"/>
                    </a:lnTo>
                    <a:lnTo>
                      <a:pt x="885201" y="88883"/>
                    </a:lnTo>
                    <a:lnTo>
                      <a:pt x="1631950" y="88883"/>
                    </a:lnTo>
                    <a:lnTo>
                      <a:pt x="1631950" y="856075"/>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1341" name="文本框 40"/>
              <p:cNvSpPr/>
              <p:nvPr/>
            </p:nvSpPr>
            <p:spPr>
              <a:xfrm>
                <a:off x="320760" y="3358440"/>
                <a:ext cx="765720" cy="100548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并行潮流求解</a:t>
                </a:r>
                <a:endParaRPr b="0" lang="en-US" sz="1979" spc="-1" strike="noStrike">
                  <a:latin typeface="Arial"/>
                </a:endParaRPr>
              </a:p>
            </p:txBody>
          </p:sp>
          <p:sp>
            <p:nvSpPr>
              <p:cNvPr id="1342" name="文本框 41"/>
              <p:cNvSpPr/>
              <p:nvPr/>
            </p:nvSpPr>
            <p:spPr>
              <a:xfrm>
                <a:off x="2218680" y="3537720"/>
                <a:ext cx="1088280" cy="348840"/>
              </a:xfrm>
              <a:prstGeom prst="rect">
                <a:avLst/>
              </a:prstGeom>
              <a:noFill/>
              <a:ln w="0">
                <a:noFill/>
              </a:ln>
            </p:spPr>
            <p:style>
              <a:lnRef idx="0"/>
              <a:fillRef idx="0"/>
              <a:effectRef idx="0"/>
              <a:fontRef idx="minor"/>
            </p:style>
          </p:sp>
        </p:grpSp>
        <p:sp>
          <p:nvSpPr>
            <p:cNvPr id="1343" name="文本框 42"/>
            <p:cNvSpPr/>
            <p:nvPr/>
          </p:nvSpPr>
          <p:spPr>
            <a:xfrm>
              <a:off x="1220040" y="3115800"/>
              <a:ext cx="10849320" cy="162792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buNone/>
                <a:tabLst>
                  <a:tab algn="l" pos="0"/>
                </a:tabLst>
              </a:pPr>
              <a:r>
                <a:rPr b="0" lang="zh-CN" sz="1800" spc="-1" strike="noStrike">
                  <a:solidFill>
                    <a:srgbClr val="000000"/>
                  </a:solidFill>
                  <a:latin typeface="微软雅黑"/>
                  <a:ea typeface="微软雅黑"/>
                </a:rPr>
                <a:t>完善主网子区、配网实例与微网实例的独立任务封装及分层并行调度，建立按计算资源动态配置工作进程、层内同步汇总和层间顺序协调机制；结合热启动、超时回退与负载均衡，开展串并行对比，评价求解精度、收敛稳定性和计算效率。</a:t>
              </a:r>
              <a:endParaRPr b="0" lang="en-US" sz="1800" spc="-1" strike="noStrike">
                <a:latin typeface="Arial"/>
              </a:endParaRPr>
            </a:p>
          </p:txBody>
        </p:sp>
      </p:grpSp>
      <p:grpSp>
        <p:nvGrpSpPr>
          <p:cNvPr id="1344" name="组合 43"/>
          <p:cNvGrpSpPr/>
          <p:nvPr/>
        </p:nvGrpSpPr>
        <p:grpSpPr>
          <a:xfrm>
            <a:off x="299880" y="5083920"/>
            <a:ext cx="11769840" cy="1743840"/>
            <a:chOff x="299880" y="5083920"/>
            <a:chExt cx="11769840" cy="1743840"/>
          </a:xfrm>
        </p:grpSpPr>
        <p:grpSp>
          <p:nvGrpSpPr>
            <p:cNvPr id="1345" name="组合 44"/>
            <p:cNvGrpSpPr/>
            <p:nvPr/>
          </p:nvGrpSpPr>
          <p:grpSpPr>
            <a:xfrm>
              <a:off x="299880" y="5083920"/>
              <a:ext cx="11769840" cy="1546560"/>
              <a:chOff x="299880" y="5083920"/>
              <a:chExt cx="11769840" cy="1546560"/>
            </a:xfrm>
          </p:grpSpPr>
          <p:sp>
            <p:nvSpPr>
              <p:cNvPr id="1346" name="圆角矩形 86"/>
              <p:cNvSpPr/>
              <p:nvPr/>
            </p:nvSpPr>
            <p:spPr>
              <a:xfrm>
                <a:off x="299880" y="5083920"/>
                <a:ext cx="11769840" cy="1546560"/>
              </a:xfrm>
              <a:prstGeom prst="roundRect">
                <a:avLst>
                  <a:gd name="adj" fmla="val 0"/>
                </a:avLst>
              </a:prstGeom>
              <a:solidFill>
                <a:schemeClr val="bg1"/>
              </a:solidFill>
              <a:ln w="6350">
                <a:solidFill>
                  <a:srgbClr val="4472c4">
                    <a:lumMod val="50000"/>
                    <a:alpha val="30000"/>
                  </a:srgbClr>
                </a:solidFill>
                <a:miter/>
              </a:ln>
              <a:effectLst>
                <a:outerShdw algn="t" blurRad="355680" dir="5400000" dist="152280" rotWithShape="0" sx="99000" sy="99000">
                  <a:schemeClr val="accent1">
                    <a:lumMod val="50000"/>
                    <a:alpha val="15000"/>
                  </a:schemeClr>
                </a:outerShdw>
              </a:effectLst>
            </p:spPr>
            <p:style>
              <a:lnRef idx="0"/>
              <a:fillRef idx="0"/>
              <a:effectRef idx="0"/>
              <a:fontRef idx="minor"/>
            </p:style>
          </p:sp>
          <p:sp>
            <p:nvSpPr>
              <p:cNvPr id="1347" name="任意多边形: 形状 18"/>
              <p:cNvSpPr/>
              <p:nvPr/>
            </p:nvSpPr>
            <p:spPr>
              <a:xfrm rot="5400000">
                <a:off x="1800" y="5407200"/>
                <a:ext cx="1546560" cy="899640"/>
              </a:xfrm>
              <a:custGeom>
                <a:avLst/>
                <a:gdLst/>
                <a:ahLst/>
                <a:rect l="l" t="t" r="r" b="b"/>
                <a:pathLst>
                  <a:path w="1631950" h="856075">
                    <a:moveTo>
                      <a:pt x="0" y="856075"/>
                    </a:moveTo>
                    <a:lnTo>
                      <a:pt x="0" y="88883"/>
                    </a:lnTo>
                    <a:lnTo>
                      <a:pt x="746749" y="88883"/>
                    </a:lnTo>
                    <a:lnTo>
                      <a:pt x="815975" y="0"/>
                    </a:lnTo>
                    <a:lnTo>
                      <a:pt x="885201" y="88883"/>
                    </a:lnTo>
                    <a:lnTo>
                      <a:pt x="1631950" y="88883"/>
                    </a:lnTo>
                    <a:lnTo>
                      <a:pt x="1631950" y="856075"/>
                    </a:lnTo>
                    <a:close/>
                  </a:path>
                </a:pathLst>
              </a:custGeom>
              <a:solidFill>
                <a:srgbClr val="006f6b"/>
              </a:solidFill>
              <a:ln w="20955">
                <a:solidFill>
                  <a:srgbClr val="ffffff"/>
                </a:solidFill>
              </a:ln>
              <a:effectLst>
                <a:outerShdw algn="tl" blurRad="223560" dir="2700000" dist="41747"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p:style>
          </p:sp>
          <p:sp>
            <p:nvSpPr>
              <p:cNvPr id="1348" name="文本框 47"/>
              <p:cNvSpPr/>
              <p:nvPr/>
            </p:nvSpPr>
            <p:spPr>
              <a:xfrm>
                <a:off x="315720" y="5387040"/>
                <a:ext cx="765360" cy="1005480"/>
              </a:xfrm>
              <a:prstGeom prst="rect">
                <a:avLst/>
              </a:prstGeom>
              <a:noFill/>
              <a:ln w="0">
                <a:noFill/>
              </a:ln>
            </p:spPr>
            <p:style>
              <a:lnRef idx="0"/>
              <a:fillRef idx="0"/>
              <a:effectRef idx="0"/>
              <a:fontRef idx="minor"/>
            </p:style>
            <p:txBody>
              <a:bodyPr lIns="100440" rIns="100440" tIns="50400" bIns="50400" anchor="t">
                <a:spAutoFit/>
              </a:bodyPr>
              <a:p>
                <a:pPr algn="ctr">
                  <a:lnSpc>
                    <a:spcPct val="100000"/>
                  </a:lnSpc>
                  <a:buNone/>
                  <a:tabLst>
                    <a:tab algn="l" pos="0"/>
                  </a:tabLst>
                </a:pPr>
                <a:r>
                  <a:rPr b="1" lang="zh-CN" sz="1979" spc="-1" strike="noStrike">
                    <a:solidFill>
                      <a:srgbClr val="ffffff"/>
                    </a:solidFill>
                    <a:latin typeface="微软雅黑"/>
                    <a:ea typeface="微软雅黑"/>
                  </a:rPr>
                  <a:t>异构求解器</a:t>
                </a:r>
                <a:endParaRPr b="0" lang="en-US" sz="1979" spc="-1" strike="noStrike">
                  <a:latin typeface="Arial"/>
                </a:endParaRPr>
              </a:p>
            </p:txBody>
          </p:sp>
          <p:sp>
            <p:nvSpPr>
              <p:cNvPr id="1349" name="文本框 48"/>
              <p:cNvSpPr/>
              <p:nvPr/>
            </p:nvSpPr>
            <p:spPr>
              <a:xfrm>
                <a:off x="2212560" y="5566680"/>
                <a:ext cx="1087920" cy="348840"/>
              </a:xfrm>
              <a:prstGeom prst="rect">
                <a:avLst/>
              </a:prstGeom>
              <a:noFill/>
              <a:ln w="0">
                <a:noFill/>
              </a:ln>
            </p:spPr>
            <p:style>
              <a:lnRef idx="0"/>
              <a:fillRef idx="0"/>
              <a:effectRef idx="0"/>
              <a:fontRef idx="minor"/>
            </p:style>
          </p:sp>
        </p:grpSp>
        <p:sp>
          <p:nvSpPr>
            <p:cNvPr id="1350" name="文本框 49"/>
            <p:cNvSpPr/>
            <p:nvPr/>
          </p:nvSpPr>
          <p:spPr>
            <a:xfrm>
              <a:off x="1204560" y="5114160"/>
              <a:ext cx="10844640" cy="171360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buNone/>
                <a:tabLst>
                  <a:tab algn="l" pos="0"/>
                </a:tabLst>
              </a:pPr>
              <a:r>
                <a:rPr b="0" lang="zh-CN" sz="1800" spc="-1" strike="noStrike">
                  <a:solidFill>
                    <a:srgbClr val="000000"/>
                  </a:solidFill>
                  <a:latin typeface="微软雅黑"/>
                  <a:ea typeface="微软雅黑"/>
                </a:rPr>
                <a:t>统一主网正序、配网三相和微网局部潮流的数据契约与状态量映射，完善边界电压、交换功率及微网等值注入的双向传递；研究松弛参数自适应与功率—电压联合残差判据，解决异构求解器协同过程中的振荡、失配和局部不收敛问题。</a:t>
              </a:r>
              <a:endParaRPr b="0" lang="en-US" sz="1800" spc="-1" strike="noStrike">
                <a:latin typeface="Arial"/>
              </a:endParaRPr>
            </a:p>
          </p:txBody>
        </p:sp>
      </p:grpSp>
    </p:spTree>
  </p:cSld>
  <mc:AlternateContent>
    <mc:Choice Requires="p14">
      <p:transition spd="slow" advTm="12000" p14:dur="2000"/>
    </mc:Choice>
    <mc:Fallback>
      <p:transition spd="slow" advTm="12000"/>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1" name="矩形 7"/>
          <p:cNvSpPr/>
          <p:nvPr/>
        </p:nvSpPr>
        <p:spPr>
          <a:xfrm>
            <a:off x="0" y="2158560"/>
            <a:ext cx="12191760" cy="2159640"/>
          </a:xfrm>
          <a:prstGeom prst="rect">
            <a:avLst/>
          </a:prstGeom>
          <a:solidFill>
            <a:srgbClr val="006f6b"/>
          </a:solidFill>
          <a:ln>
            <a:solidFill>
              <a:srgbClr val="006f6b"/>
            </a:solidFill>
          </a:ln>
        </p:spPr>
        <p:style>
          <a:lnRef idx="2">
            <a:schemeClr val="accent1">
              <a:shade val="50000"/>
            </a:schemeClr>
          </a:lnRef>
          <a:fillRef idx="1">
            <a:schemeClr val="accent1"/>
          </a:fillRef>
          <a:effectRef idx="0">
            <a:schemeClr val="accent1"/>
          </a:effectRef>
          <a:fontRef idx="minor"/>
        </p:style>
      </p:sp>
      <p:sp>
        <p:nvSpPr>
          <p:cNvPr id="1352" name="文本框 3"/>
          <p:cNvSpPr/>
          <p:nvPr/>
        </p:nvSpPr>
        <p:spPr>
          <a:xfrm>
            <a:off x="-720" y="2577600"/>
            <a:ext cx="12191760" cy="1308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zh-CN" sz="8000" spc="-1" strike="noStrike">
                <a:solidFill>
                  <a:srgbClr val="ffffff"/>
                </a:solidFill>
                <a:latin typeface="微软雅黑"/>
                <a:ea typeface="微软雅黑"/>
              </a:rPr>
              <a:t>汇报完毕，谢谢！</a:t>
            </a:r>
            <a:endParaRPr b="0" lang="en-US" sz="8000" spc="-1" strike="noStrike">
              <a:latin typeface="Arial"/>
            </a:endParaRPr>
          </a:p>
        </p:txBody>
      </p:sp>
      <p:pic>
        <p:nvPicPr>
          <p:cNvPr id="1353" name="图片 4" descr=""/>
          <p:cNvPicPr/>
          <p:nvPr/>
        </p:nvPicPr>
        <p:blipFill>
          <a:blip r:embed="rId1"/>
          <a:srcRect l="0" t="0" r="64444" b="-12552"/>
          <a:stretch/>
        </p:blipFill>
        <p:spPr>
          <a:xfrm>
            <a:off x="101520" y="126000"/>
            <a:ext cx="1137960" cy="1043280"/>
          </a:xfrm>
          <a:prstGeom prst="rect">
            <a:avLst/>
          </a:prstGeom>
          <a:ln w="0">
            <a:noFill/>
          </a:ln>
        </p:spPr>
      </p:pic>
    </p:spTree>
  </p:cSld>
  <mc:AlternateContent>
    <mc:Choice Requires="p14">
      <p:transition p14:dur="10"/>
    </mc:Choice>
    <mc:Fallback>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LibreOffice/7.3.7.2$Linux_X86_64 LibreOffice_project/30$Build-2</Application>
  <AppVersion>15.0000</AppVersion>
  <Words>5887</Words>
  <Paragraphs>1037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2022-07-26T03:55:00Z</dcterms:created>
  <dc:creator>H zh</dc:creator>
  <dc:description/>
  <dc:language>en-US</dc:language>
  <cp:lastModifiedBy/>
  <dcterms:modified xsi:type="dcterms:W3CDTF">2026-08-05T12:43:34Z</dcterms:modified>
  <cp:revision>1227</cp:revision>
  <dc:subject/>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E961F8048F274E91B7CEF83D4D23809F_12</vt:lpwstr>
  </property>
  <property fmtid="{D5CDD505-2E9C-101B-9397-08002B2CF9AE}" pid="3" name="KSOProductBuildVer">
    <vt:lpwstr>2052-12.1.0.20784</vt:lpwstr>
  </property>
  <property fmtid="{D5CDD505-2E9C-101B-9397-08002B2CF9AE}" pid="4" name="Notes">
    <vt:i4>20</vt:i4>
  </property>
  <property fmtid="{D5CDD505-2E9C-101B-9397-08002B2CF9AE}" pid="5" name="PresentationFormat">
    <vt:lpwstr>宽屏</vt:lpwstr>
  </property>
  <property fmtid="{D5CDD505-2E9C-101B-9397-08002B2CF9AE}" pid="6" name="Slides">
    <vt:i4>21</vt:i4>
  </property>
</Properties>
</file>